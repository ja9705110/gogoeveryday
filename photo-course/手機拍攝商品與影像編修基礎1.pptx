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</p:sldIdLst>
  <p:notesMasterIdLst>
    <p:notesMasterId r:id="rId9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notesMaster" Target="notesMasters/notesMaster1.xml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自我介紹兩分鐘就好，不要久。
· 開場最重要的一件事：請所有人現在就把手機拿出來，確認電量、確認相機打得開、確認相簿有空間。
· 這件事在九點做，比在十點半發現有人手機滿了要好太多。
【互動提問】
· 問：今天有帶自己的商品或小東西來的舉手？（沒帶的人現場借杯子、鑰匙、水瓶都可以）
【學員實作】
· 請所有人把手機拿出來放桌上，螢幕朝上。
【預期看到的差異】
· 學員會意識到今天是要動手的，不是聽課。
【進度快：可以補充】
· 可以請一兩位學員說自己做什麼商品，後面舉例時用得到。
【進度慢：可以刪掉】
· 自我介紹壓到一分鐘，直接進第 2 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把終點講得很具體，中高齡學員才有安全感。
· 最後一句「做完一半也是成功」一定要講，這是整天不讓人放棄的關鍵。
【互動提問】
· 問：你們現在拍商品最大的困擾是什麼？（多半會說「拍起來很暗」「看起來很雜」）
【預期看到的差異】
· 學員的表情會從「又要上課」變成「原來今天有東西可以帶走」。
【進度快：可以補充】
· 把學員說的困擾寫在白板上，下午對應到哪一段解決。
【進度慢：可以刪掉】
· 只講四張卡片的標題，不展開。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這一頁是整天的操作手冊，要講清楚。
· 「一次只改一個變因」是所有比較能成立的前提，也是學員回家自己練習的方法。
· 提醒：每一次「再拍」都不要刪掉舊的那張，兩張都要留著。
【互動提問】
· 問：等一下拍完，如果你看不出兩張哪裡不一樣，要怎麼辦？（答：舉手，我們一起看）
【學員實作】
· 請學員在相簿裡開一個新相簿叫「09/13 上課」，今天拍的都丟進去。
【預期看到的差異】
· 學員會開始留意「這一張跟上一張差在哪」，而不是只看好不好看。
【進度快：可以補充】
· 示範一次相簿建立的路徑。
【進度慢：可以刪掉】
· 跳過建相簿，直接口頭提醒不要刪照片。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第一點要講得斬釘截鐵。班上一定有人用舊手機，這句話是在告訴她「你可以」。
· 第三點先埋下伏筆，下午 PART 11 會回來收。
【互動提問】
· 問：你們覺得一張商品照最重要的是什麼？（引導到「看得清楚」）
【預期看到的差異】
· 用舊手機的學員會放鬆下來。
【進度快：可以補充】
· 舉例：同一個場景用五年前的手機和最新的手機，光線對了差距很小。
【進度慢：可以刪掉】
· 只講第一點和第三點。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逐列念過去，每一列都用「動作」收尾，不要停在名詞解釋。
· 白平衡這一列一定要照實講。教材 P.56 明載 iOS 內建沒有白平衡功能，講錯學員回家會找不到。
· 這一頁不用背，附錄有同樣的表。
【互動提問】
· 問：這五個字裡面，哪一個你以前聽過但不知道意思？
【預期看到的差異】
· 學員不再被術語卡住，後面講對焦、曝光時能直接跟上。
【進度快：可以補充】
· 補一個「解析度＝照片有多少格子」，接第 15 頁。
【進度慢：可以刪掉】
· 只講對焦與曝光兩列，其餘留給附錄。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這一頁完全不要解釋，先讓學員用眼睛看。
· 四張是同一罐果醬、同一個商品，差別只有拍法。這件事先不要說破，等她們自己發現。
· 停久一點，至少三十秒，讓大家真的看進去。
【互動提問】
· 問：A 給你什麼感覺？（讓學員自己講詞：溫暖、乾淨、新鮮、高級⋯⋯）
· 問：B 呢？C 呢？D 呢？（把學員說的形容詞寫在白板上）
· 問：哪一張最像你想給客人的感覺？舉手投票。
【學員實作】
· 四張各舉手投票一次，看班上分布。
【預期看到的差異】
· 學員會發現「同一個東西，拍法不同，感覺差很多」——這是整天最重要的一次體會。
【進度快：可以補充】
· 請投給不同選項的學員各說一句為什麼，答案會很有趣。
【進度慢：可以刪掉】
· 只問「哪一張最像你想給客人的感覺」一題。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這一頁是整天的主軸，講慢一點。
· 四種感覺不是規則，是四條現成的路。學員只要選一條走，就不會每拍一張都在猶豫。
· 請學員現在心裡先選一種，不用講出來，下午總實作時會再確認一次。
【互動提問】
· 問：你的商品，你希望客人看到照片時第一個感覺是什麼？
· 問：手作果醬適合哪一種？（沒有標準答案，四種都可以，重點是要選一種）
【學員實作】
· 請學員在講義上圈選一種感覺。
【預期看到的差異】
· 之後每一段的頁尾呼應帶出現時，學員會開始自己對照自己圈的那一列。
【進度快：可以補充】
· 請兩三位學員說自己選哪一種、為什麼，全班一起討論合不合適。
【進度慢：可以刪掉】
· 只講「先問感覺，再問怎麼拍」這句話，四張卡片快速帶過。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這一段完全不要給提示。給了提示，下午的對照就沒有說服力了。
· 五分鐘就好，不要拖。有人拍很久就說「就這樣，先拍一張」。
· 拍完之後，三個問題一個一個問，讓學員自己講。
【互動提問】
· 問：你覺得這張哪裡不錯？
· 問：哪裡還可以更好？
· 問：你覺得是手機的問題，還是拍法可以調整？（多數人會說手機，這正是今天要翻轉的）
【學員實作】
· 每人用自己的商品或現場物件，拍一張，存在「09/13 上課」相簿。
【預期看到的差異】
· 多數人會拍出：光線不足、背景雜亂、商品放正中央但很小。這三個問題正好對應今天的三大段。
【進度快：可以補充】
· 請兩位學員的照片投影出來，全班一起講哪裡可以更好。
【進度慢：可以刪掉】
· 縮短到三分鐘，三個問題只問第三個。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這一段是後面所有實作的地基，慢一點沒關係。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先解決學員心裡的焦慮：「我用 Android，是不是比較差？」不是。
· 重點放在「差別很小，而且可以補」，不要花時間比較優劣。
· 白平衡那一點先提，第 5 頁講過，下午修圖段會再回來。
【互動提問】
· 問：現場用 iPhone 的舉手？用 Android 的舉手？（先知道比例，後面示範才知道要投影哪一台）
【預期看到的差異】
· 用 Android 的學員不會覺得自己被冷落。
【進度快：可以補充】
· 請一位 Android 學員的手機投影，讓大家看專業模式長什麼樣。
【進度慢：可以刪掉】
· 只講最後那句結論。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這一頁的觀念比內容重要：介面會改版，記位置沒用，要記「我在找什麼」。
· 這句話今天會用到很多次，尤其現場有人的手機跟投影不一樣時。
【互動提問】
· 問：有人手機的相機介面跟我投影的長得不一樣嗎？（找一台出來當範例）
【學員實作】
· 請學員打開自己的相機 App，試著找出這六個在哪裡，找不到的舉手。
【預期看到的差異】
· 助教這時候會很忙，這是正常的，讓大家花三分鐘找。
【進度快：可以補充】
· 示範用設定搜尋找「格線」。
【進度慢：可以刪掉】
· 六個只找對焦、亮度、格線三個。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一次只講一個步驟，講完停下來等大家做完。
· Android 的學員名稱可能不一樣，請她們找「有九宮格圖示」的那一項。
· 格線打開之後不要關掉，今天整天都會用到。
【互動提問】
· 問：Android 的同學，你們的選項叫什麼名字？（收集不同說法，寫在白板上）
【學員實作】
· 所有人現在打開格線。助教走動確認每一台都開好。
【預期看到的差異】
· 打開格線後，學員拍照時會自然開始留意有沒有拍歪。
【進度快：可以補充】
· iPhone 順便打開水平儀，示範俯拍時兩個十字對齊。
【進度慢：可以刪掉】
· 只講 iPhone，Android 交給助教個別協助。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這是今天第一個「全班一起做」的動作，節奏要抓好。
· 確認每個人螢幕上都有線再往下，不要留人。
【互動提問】
· 問：看得到四條線的舉手。（沒舉手的請助教過去）
【學員實作】
· 打開格線，隨便拍一張，確認畫面上有線。
【預期看到的差異】
· 學員第一次看到畫面被分成九格，會開始意識到「商品可以不放正中間」。
【進度快：可以補充】
· 順便講一句：線的交叉點就是等一下構圖要用的位置。
【進度慢：可以刪掉】
· 不拍照，只確認線有出現。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三張是同一個場景，只有比例不同。請學員注意 16:9 上下被切掉多少。
· 不要講定義，直接看畫面。
【互動提問】
· 問：這三張，哪一張你最有可能之後想裁成正方形發 IG？（引導到 4:3 保留最多）
【學員實作】
· 請學員在自己的相機裡找到比例切換的位置，試著切一次再切回來。
【預期看到的差異】
· 學員會發現 16:9 拍起來「比較有電影感」但東西少很多。
【進度快：可以補充】
· 講一下教材 P.58–59 用同一盆花做的對照。
【進度慢：可以刪掉】
· 只講 4:3 和 1:1，16:9 帶過。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「留得多才有得裁」是這一頁唯一要記住的。
· 接社群課：上一堂教過 IG 貼文是 4:5、限動是 9:16，都是從 4:3 裁出來的。
【互動提問】
· 問：如果你拍的時候就裁成正方形，事後想改成直式，救得回來嗎？（救不回來）
【學員實作】
· 把相機的比例設定成 4:3，今天之後都用這個。
【預期看到的差異】
· 學員之後拍照會習慣留一點空間，不再把商品塞滿畫面。
【進度快：可以補充】
· 接社群課的尺寸速查表，講一次三個平台的常用比例。
【進度慢：可以刪掉】
· 只講理由 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這一頁是在幫學員省錢：不用為了拍照換手機。
· 右邊四件事是今天課程的預告，講完可以說「這四個等一下都會做到」。
【互動提問】
· 問：有人知道自己手機幾 MP 嗎？（多半不知道，這正好證明「不用管」）
【預期看到的差異】
· 學員不再糾結手機規格，注意力回到操作。
【進度快：可以補充】
· 教怎麼查：手機設定 → 關於本機，或搜尋官網規格。
【進度慢：可以刪掉】
· 整頁只講「畫素都夠用了，不用管」一句。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不要深入講 Codec、Bitrate、Log 這些，今天用不到。
· 60fps 的例子要具體：倒果醬、撒粉、切蛋糕，學員才知道什麼時候要用。
【互動提問】
· 問：你們拍過製作過程的影片嗎？
【學員實作】
· 在相機設定裡把錄影設成 1080p / 30fps。
【預期看到的差異】
· 之後拍幕後影片時不會因為 4K 把手機空間塞爆。
【進度快：可以補充】
· 講慢動作與縮時攝影各適合什麼（教材 P.55）。
【進度慢：可以刪掉】
· 整頁只留最後那句結論。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這是 PART 1 的收攏頁，五項一起確認一次。
· 閃光燈關閉這一項，等一下 PART 3 會解釋為什麼。
· 最後那句「設完就忘掉它」很重要，讓學員知道設定階段結束了。
【互動提問】
· 問：五項都設好的舉手。（沒舉手的請助教處理，不要拖全班）
【學員實作】
· 五項逐一確認，助教走動檢查。
【預期看到的差異】
· 接下來所有實作的起點都一致，比較才有意義。
【進度快：可以補充】
· 順便把上傳畫質也一起設好（FB 設定 → 媒體；IG 設定和隱私 → 媒體品質）。
【進度慢：可以刪掉】
· 只確認格線、比例、閃光燈三項。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這一段很短但效果最直接，學員會立刻看到差別。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這一步的重點是「先不要處理」，對照才有力量。
· 有人會忍不住先擦，請她們忍住。
【互動提問】
· 問：你多久擦一次手機鏡頭？（多數人會說「沒擦過」）
【學員實作】
· 對著商品拍一張，不做任何處理。
【預期看到的差異】
· 多數人的鏡頭其實很髒，等一下的對照會很明顯。
【進度快：可以補充】
· 請一位學員的手機鏡頭投影放大，讓全班看指紋。
【進度慢：可以刪掉】
· 縮到兩分鐘。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這一頁講完就讓大家擦，不要拖。
· 「衣服下擺」是最多人的習慣，要特別點出來為什麼不行。
【互動提問】
· 問：你們平常用什麼擦手機？
【學員實作】
· 現在擦鏡頭。沒有眼鏡布的請助教發，或用乾淨的衛生紙輕輕擦（不理想但比不擦好）。
【預期看到的差異】
· 擦完的照片會明顯變透、對比變高。
【進度快：可以補充】
· 講鏡頭鍍膜為什麼怕粗糙材質。
【進度慢：可以刪掉】
· 只講「用眼鏡布，不要用衣服」。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這是今天第一個 Before/After，一定要讓學員自己看自己的兩張。
· 再次強調「只改一個地方」的邏輯。
【互動提問】
· 問：兩張差多少？看得出來的舉手。（通常會有人驚訝）
【學員實作】
· 擦完鏡頭，同一個位置再拍一張，兩張並排看。
【預期看到的差異】
· 照片會變透、顏色會變乾淨。鏡頭很髒的人差異會非常明顯。
【進度快：可以補充】
· 請差異最大的一位投影出來給全班看。
【進度慢：可以刪掉】
· 不並排，口頭問「有沒有比較清楚」。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這一頁的重點是「不會改照片，但會改你的判斷」，這句話要說清楚。
· 很多人在戶外看照片覺得太暗，回家一看又太亮，就是這個原因。
· 下午修圖段會再回來提醒一次。
【互動提問】
· 問：有人貼防窺貼的舉手？（有的話請她把手機轉個角度給旁邊的人看，很有感）
【學員實作】
· 把螢幕亮度調到中間，關掉護眼／夜間模式。
【預期看到的差異】
· 學員會發現自己一直是在錯誤的螢幕狀態下判斷照片。
【進度快：可以補充】
· 示範同一張照片在護眼模式開／關下看起來差多少。
【進度慢：可以刪掉】
· 只講螢幕亮度那一項。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這張表附錄有，會印給大家，現在不用抄。
· 最後那句「只來得及做一件事就擦鏡頭」是這一段的結論。
【互動提問】
· 問：這八項裡，哪一項你以前完全沒想過？
【學員實作】
· 八項逐一確認一次。
【預期看到的差異】
· 之後每次實作前，學員會自動先看一眼鏡頭。
【進度快：可以補充】
· 讓學員在講義上圈出自己最容易忘的兩項。
【進度慢：可以刪掉】
· 只念一遍，不逐項確認。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這一段全部都要動手，每講一個就拍一次。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一定要示範：點螢幕 → 出現方框 → 那裡就變清楚。
· 請學員注意方框出現的位置，這是判斷有沒有對到的唯一依據。
【互動提問】
· 問：你們平常拍照會點螢幕嗎？（多數人不會，都讓手機自己決定）
【學員實作】
· 打開相機，對著商品點一下，確認方框出現。
【預期看到的差異】
· 學員第一次意識到自己可以決定哪裡清楚。
【進度快：可以補充】
· 示範長按可以鎖定對焦（AE/AF 鎖定）。
【進度慢：可以刪掉】
· 只講「點螢幕會出現方框」。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讓學員自己拍兩張，不要只看投影。
· 拍完問「哪一張是你平常會拍出來的？」多數人會承認是左邊那張。
【互動提問】
· 問：點背景那張，商品看得清楚嗎？
· 問：你以前拍糊的照片，會不會其實就是這個原因？
【學員實作】
· 同一個畫面拍兩張：一張點商品、一張點背景（或後面的牆），並排比較。
【預期看到的差異】
· 對焦點不同，清楚的地方就不同。這是全天最容易看出來的差異之一。
【進度快：可以補充】
· 講景深：離商品越近，背景越模糊，這是好事。
【進度慢：可以刪掉】
· 只拍點商品那一張，口頭說明另一種。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太陽圖示很小，一定要投影放大示範一次。
· 「寧可亮一點」是商品照的實務原則，跟藝術攝影不一樣。
【互動提問】
· 問：找得到太陽圖示的舉手？
【學員實作】
· 點商品後，把太陽往上滑一點點，拍一張。
【預期看到的差異】
· 亮度可以自己控制之後，學員不會再抱怨「室內拍起來都很暗」。
【進度快：可以補充】
· iPhone 可以長按鎖定曝光，Android 專業模式有 EV 數值。
【進度慢：可以刪掉】
· 只示範一次，不做實作。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不要幫學員選，讓她們自己講哪一張最像實品。
· 這裡可以帶出一個重要觀念：商品照的標準是「像不像實品」，不是「美不美」。
· 下午講濾鏡與 AI 紅線時會回來呼應這一句。
【互動提問】
· 問：你選哪一張？為什麼？
· 問：如果客人收到東西，發現顏色跟照片不一樣，會怎麼想？
【學員實作】
· 同一個商品拍太暗、正常、太亮各一張，三張並排選一張。
【預期看到的差異】
· 多數人會選中間那張，並且第一次意識到亮度是自己可以控制的。
【進度快：可以補充】
· 講一下太暗的照片放大會有雜訊，救不回來。
【進度慢：可以刪掉】
· 只拍正常與太暗兩張。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三張是同一個位置拍的，只有倍率不同。
· 0.5x 變形這件事對拍商品很致命，方形的東西會變成梯形。
【互動提問】
· 問：你們平常會用 0.5x 嗎？什麼時候用？
【學員實作】
· 同一個位置，三個倍率各拍一張。
【預期看到的差異】
· 學員會看到 0.5x 的邊緣變形和 2x 的畫質下降。
【進度快：可以補充】
· 講光學變焦與數位變焦的差別（教材 P.37）。
【進度慢：可以刪掉】
· 只講「商品用 1x」。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這一頁的口訣就一句：「用腳靠近，不要用手指放大」。
· 兩張圖的商品大小一樣，差別只在清晰度，這正是數位變焦的代價。
【互動提問】
· 問：你們拍細節的時候，是走過去還是用手指放大？
【學員實作】
· 選一個商品的細節（標籤、紋理），走近拍一張。
【預期看到的差異】
· 走近拍的細節照會明顯清楚很多。
【進度快：可以補充】
· 提醒太近會對不到焦，手機最近對焦距離大約 8–10 公分。
【進度慢：可以刪掉】
· 和上一頁合併講。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第四張是關鍵，一定要做。
· 「放大到 100% 再看」這個習慣要教，不然學員永遠看不出差別。
【互動提問】
· 問：四張裡面，哪一張放大之後最清楚？
【學員實作】
· 四張都拍，放大比較。
【預期看到的差異】
· 2x 那張放大後會看到明顯的塗抹感。
【進度快：可以補充】
· 講手機的主鏡頭通常畫質最好，這就是 1x。
【進度慢：可以刪掉】
· 只拍 ② 和 ④ 兩張。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閃光燈是初學者最常犯的錯，這一頁要講得明確。
· 最後一句「不是開閃光燈，是走到窗邊」是下一段光線的伏筆。
· 教材 P.80 小朋友室內照、P.82 食物那兩題都在講同一件事。
【互動提問】
· 問：你們拍東西會開閃光燈嗎？什麼時候會開？
【學員實作】
· 確認閃光燈是「關閉」不是「自動」。
【預期看到的差異】
· 關掉之後照片顏色會變自然，反光白點消失。
【進度快：可以補充】
· 講「自動」模式為什麼也不建議：手機判斷不準，該亮的時候不亮。
【進度慢：可以刪掉】
· 只確認關閉，不解釋原因。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「會動的只有你的手」這句話要講，學員才知道問題在哪。
· 四個動作現場一起做一次，尤其是手肘靠身體。
【互動提問】
· 問：你們拍照的時候手會不會伸很直？
【學員實作】
· 全班一起做一次四個動作。
【預期看到的差異】
· 同樣的光線條件下，照片會明顯變清楚。
【進度快：可以補充】
· 講快門速度低於 1/60 秒就有手震風險（教材 P.14）。
【進度慢：可以刪掉】
· 只講「雙手」和「靠桌子」。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「按完停一秒再放」是最多人忽略的，按下去馬上移開手機一定糊。
· 直式橫式不用講太久，一句話帶過。
【互動提問】
· 問：有人是按完馬上把手機拿起來看的嗎？（幾乎所有人）
【預期看到的差異】
· 按完停一秒之後，糊掉的機率會明顯下降。
【進度快：可以補充】
· 講可以用音量鍵當快門，比點螢幕穩。
【進度慢：可以刪掉】
· 只講左右兩欄的第一項。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「糊掉救不回來」要在這裡先講一次，下午修圖段會回收。
· 請學員一定要放大看，小螢幕上兩張都很好看。
【互動提問】
· 問：放大之後，兩張差多少？
【學員實作】
· 故意晃一張、穩穩拍一張，放大比較。
【預期看到的差異】
· 晃到的那張放大後字會有殘影。
【進度快：可以補充】
· 介紹腳架與自拍棒（教材 P.179–180），但強調現在不用買。
【進度慢：可以刪掉】
· 只拍穩的那一張。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這一段完全不用器材，只要動手整理，效果非常明顯。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先讓學員看，再問問題，不要先講道理。
· 這一頁的兩張圖只差背景雜物，光線和角度都一樣。
【互動提問】
· 問：左邊那張，你第一眼看到什麼？
· 問：如果你是客人，哪一張你會想點進去？
【預期看到的差異】
· 幾乎所有人都會說右邊比較好，但講不出為什麼——下一頁就給他們理由。
【進度快：可以補充】
· 把學員早上的 Before 照片投影出來，一起找背景雜物。
【進度慢：可以刪掉】
· 直接進下一頁。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「看四個邊」是一個可以馬上養成的習慣，比講構圖理論有用。
· 深淺對比這一點借自教材 P.74 拍白髮長輩的原理，用在商品上一樣成立。
【互動提問】
· 問：你們家最容易拍照的乾淨檯面在哪裡？
【學員實作】
· 把桌上跟商品無關的東西全部移開，再拍一張。
【預期看到的差異】
· 只是移開雜物，照片就會像換了一台相機。
【進度快：可以補充】
· 示範用一張 A4 白紙當背景板，立起來當背景牆。
【進度慢：可以刪掉】
· 只講「看四個邊」。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這一頁是感覺主軸第一次回收，要明確講「這就是早上第 6 頁那張表」。
· 四張只差背景，其他變因都固定，這正是「一次只改一個」的示範。
【互動提問】
· 問：你早上圈的是哪一種感覺？那你應該用哪一種背景？
【學員實作】
· 換一張背景（白紙／布／木桌）再拍一張，跟原本的並排。
【預期看到的差異】
· 同一個商品換背景後，感覺完全不同，但商品本身沒變。
【進度快：可以補充】
· 講背景不要有花紋，花紋會跟商品搶。
【進度慢：可以刪掉】
· 只留白色與木紋兩張。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四個字：前後、高低、遠近、數量。講完就讓學員動手排一次。
· 「配角是來襯托的」這句話下午講配件時會再用一次。
【互動提問】
· 問：你的商品有沒有可以一起入鏡的東西？（原料、包裝、器具）
【學員實作】
· 把商品重新排一次，用前後或高低做出層次，拍一張。
【預期看到的差異】
· 排過的畫面會有前後關係，不再是「東西平平地擺著」。
【進度快：可以補充】
· 進 PART 10 配件段（如果進度快）。
【進度慢：可以刪掉】
· 只講「一個主角 ＋ 1–3 個配角」。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午休剛結束，這一段要讓大家站起來走到窗邊，正好醒神。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慢慢念完那句話，停兩秒。
· 「不要拍壞」到「怎麼拍好」的轉折要講清楚，這是上下午的分界。
【互動提問】
· 問：你們平常都在哪裡拍商品？（多半是餐桌、客廳，很少人會特地找窗戶）
【預期看到的差異】
· 學員會意識到前面都是基本功，重頭戲現在才開始。
【進度慢：可以刪掉】
· 直接進下一頁。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「現在還不用買燈」一定要講。中高齡學員很容易覺得要買器材才能拍好。
· 陰天窗邊光最漂亮這件事很反直覺，講了學員會記得。
【互動提問】
· 問：你家哪一扇窗戶白天光最好？
【學員實作】
· 全班移動到窗邊（或最亮的位置）。
【預期看到的差異】
· 光源換了，照片立刻不一樣。
【進度快：可以補充】
· 講薄窗簾可以當柔光罩。
【進度慢：可以刪掉】
· 不移動，只講原理。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順光是最安全的選擇，講給沒把握的學員聽。
· 「不要把自己的影子拍進去」是順光唯一要注意的事，教材 P.26 也提到。
【互動提問】
· 問：你背對窗戶站，影子會落在哪裡？
【學員實作】
· 背對窗戶，商品放前面，拍一張。
【預期看到的差異】
· 顏色會變飽和，商品的字看得清楚。
【進度快：可以補充】
· 講順光適合哪種商品：有文字標籤的、顏色重要的。
【進度慢：可以刪掉】
· 三個光向合併成一頁講。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側光是手作商品最好用的光，要多花一點時間。
· 「陰影不是壞事」這個觀念要建立，很多人以為有陰影就是拍壞了。
【互動提問】
· 問：你摸得到商品的紋理，但照片上看不出來，為什麼？（因為光太平）
【學員實作】
· 商品移到窗戶旁邊，站在垂直方向拍一張。
【預期看到的差異】
· 商品會突然「立起來」，有厚度。
【進度快：可以補充】
· 講陰影太重時可以用白紙補（下一頁的伏筆）。
【進度慢：可以刪掉】
· 和順光合併。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逆光不要教太深，讓學員知道存在、知道難就好。
· 透光商品（果醬、蜂蜜、飲料）是唯一值得初學者嘗試逆光的情況。
【互動提問】
· 問：你的商品會透光嗎？
【學員實作】
· 有透光商品的學員可以試一張，其他人先看就好。
【預期看到的差異】
· 透光商品逆光會發亮，非常漂亮；不透光的會變黑。
【進度快：可以補充】
· 講側逆光是折衷做法（教材 P.28）。
【進度慢：可以刪掉】
· 整頁只留一句「逆光很難，今天先不做」。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這一頁在打破「光越強越好」的直覺。
· 教材 P.28 有提到正午頂光與逆光的表現不同。
【互動提問】
· 問：你們拍照會特地選時間嗎？
【預期看到的差異】
· 學員以後會避開正午直射，改用窗邊。
【進度快：可以補充】
· 講薄窗簾、描圖紙可以把直射光變柔。
【進度慢：可以刪掉】
· 一句話帶過：「不要在大太陽底下拍」。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這一招最有感，一定要現場示範。
· 教材 P.32 說白色反光效果不佳、要靠近，這一點要照實講，不然學員放太遠會沒效果。
【互動提問】
· 問：你家裡有什麼白色的東西可以當反光板？
【學員實作】
· 發 A4 白紙，每人立一張在商品的陰影側，拍一張。
【預期看到的差異】
· 暗的那一側會被打亮，陰影變柔，商品細節出來。
【進度快：可以補充】
· 講銀色反光板（鋁箔紙）反射更強，但要拉遠（教材 P.31）。
【進度慢：可以刪掉】
· 講師示範一次就好，不發紙。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這是全天最重要的一次實作，給足八分鐘。
· 一定要四張都拍，少一張對照就不完整。
· 拍完先不要講評，讓學員自己看，下一頁才問問題。
【學員實作】
· 四張依序拍完，存在同一個相簿，並排比較。
【預期看到的差異】
· 從①到④是連續變好的過程，學員會非常有感。
【進度快：可以補充】
· 多拍一張逆光加白紙。
【進度慢：可以刪掉】
· 只拍 ① 和 ④ 兩張。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三個問題一個一個問，讓學員舉手投票。
· 三個問題的答案可能不是同一張，這很正常——這時候就用早上圈的「感覺」來決定。
· 這一頁是感覺主軸第二次回收。
【互動提問】
· 問：哪一張最清楚？哪一張最有立體感？哪一張最舒服？
· 問：如果三個答案不一樣，你要選哪一張？（答：看你要給人什麼感覺）
【學員實作】
· 在講義上寫下自己選的那一張是第幾張，以及為什麼。
【預期看到的差異】
· 學員會發現「最好看」跟「最清楚」不一定是同一張，開始有判斷力。
【進度快：可以補充】
· 請兩三位學員投影自己的四張，全班一起判讀。
【進度慢：可以刪掉】
· 只問第一個問題。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開場就把「這不是規則」講清楚，學員才不會綁手綁腳。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把早上打開格線的伏筆收回來。
· 左右兩張就是這一段的全部內容，後面三頁只是把選擇說清楚。
【互動提問】
· 問：這兩張你比較喜歡哪一張？（沒有標準答案）
【預期看到的差異】
· 學員第一次把格線和構圖連在一起。
【進度快：可以補充】
· 講四分法（教材 P.21）。
【進度慢：可以刪掉】
· 直接進第 55 頁留白。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中央構圖不是「初學者才用」，電商主圖幾乎都是中央構圖。
· 要幫學員建立信心：放中間不是偷懶。
【互動提問】
· 問：你在網路上買東西，商品主圖大多長什麼樣？
【學員實作】
· 用中央構圖拍一張，這張就是等一下六張照片的主圖。
【預期看到的差異】
· 學員拍出的第一張「像商品照」的照片。
【進度慢：可以刪掉】
· 和下一頁合併。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不用講數學，就說「往旁邊移，移到線上」。
· 很多學員第一次把東西放偏會很不習慣，要鼓勵。
【互動提問】
· 問：把商品移到旁邊，你會不會覺得怪怪的？（會，但多看兩次就習慣了）
【學員實作】
· 把商品移到格線上，拍一張。
【預期看到的差異】
· 畫面會鬆開，不再像證件照。
【進度快：可以補充】
· 講交叉點比線上更強調主體。
【進度慢：可以刪掉】
· 只講「往旁邊移一點」。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留白對做生意的人最有用，因為之後要加字。
· 對稱與重複排列在這裡一起帶過，不另外開頁。
【互動提問】
· 問：你的貼文會在照片上加字嗎？加在哪裡？
【學員實作】
· 拍一張留白的照片，想像左邊要放商品名稱。
【預期看到的差異】
· 學員開始為了「之後要用」而拍，不是只為了「現在好看」。
【進度快：可以補充】
· 講對角線、框架式、曲線構圖（教材 P.22–23）。
【進度慢：可以刪掉】
· 只講「加字的話先留位置」。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三張拍完馬上進下一段，不要停留太久。
· 提醒學員這三張等一下六張照片會用到。
【互動提問】
· 問：你早上圈的感覺，對應哪一種構圖？
【學員實作】
· 三種構圖各拍一張。
【預期看到的差異】
· 同一個商品，三種擺法給人的感覺完全不同。
【進度快：可以補充】
· 加拍一張對稱或重複排列。
【進度慢：可以刪掉】
· 只拍中央與三分法。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這一段最短，但 45 度這個答案要記牢。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45 度是這一段唯一要記住的答案。
· 俯拍不是不好，是「單一商品」不適合；多個商品排列俯拍很好看。
· 最後那句「不確定就多拍幾張」要講，這是最實用的建議。
【互動提問】
· 問：你平常拍東西都是從哪個角度？（多數人是隨手往下拍，就是俯拍）
【預期看到的差異】
· 學員會發現自己一直用俯拍，難怪商品看起來扁扁的。
【進度快：可以補充】
· 講仰拍（教材 P.25），適合拍高大物件，商品很少用。
【進度慢：可以刪掉】
· 只講 45 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三張並排讓學員自己看，不要先講結論。
· 「45 度兩邊都看得到一點」是最好記的解釋。
【互動提問】
· 問：如果你只能發一張，你發哪一張？
【預期看到的差異】
· 俯拍那張會明顯扁平，學員會有感。
【進度慢：可以刪掉】
· 和上一頁合併。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提醒學員第 ④ 步：挑出來的那張等一下要用，不要拍完就忘記。
· 中高齡學員蹲下來可能不方便，可以把商品放高一點代替。
【互動提問】
· 問：你挑哪一張？為什麼？
【學員實作】
· 三個角度各拍一張，挑一張留著。
【預期看到的差異】
· 學員手上開始累積「有用途」的照片，不是隨手拍。
【進度快：可以補充】
· 加拍一張特寫細節。
【進度慢：可以刪掉】
· 只拍 45 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這是拍攝段的總結，也是今天最有成就感的一段。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這一頁是全課的收攏，一定要停下來讓學員對照自己早上圈的那一種。
· 「一組作品 vs 六張散照」這個對比要講清楚，這是專業與業餘的差別。
【互動提問】
· 問：你早上圈的是哪一種？現在還是同一種嗎？（可以改，但要選定一種）
【學員實作】
· 在講義上圈選最終要用的那一列。
【預期看到的差異】
· 學員從「隨便拍」變成「照著一個標準拍」。
【進度快：可以補充】
· 請學員說自己為什麼選那一種，全班討論適不適合她的商品。
【進度慢：可以刪掉】
· 直接指定「不確定的人就用乾淨專業那一列」。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六張不是六個好看的角度，是六個不同的用途。
· 第 6 張幕後照最多人忽略，但它是社群上最容易有互動的一張。
【互動提問】
· 問：你現在手機裡有哪幾張？（多數人只有第 1 和第 2 張）
【預期看到的差異】
· 學員理解為什麼要拍那麼多張。
【進度快：可以補充】
· 教材 P.94：拍攪拌、夾起、拿取的肢體動作，可增加自然與活潑度。
【進度慢：可以刪掉】
· 只講前四張。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這一頁把上一堂社群課接起來，學員會覺得兩堂課是連著的。
· 幕後照配限動與 Reels，是最容易讓人留言的內容。
【互動提問】
· 問：上一堂課我們有做 IG 輪播嗎？那需要幾張？
【預期看到的差異】
· 學員知道每一張的去處，拍的時候更有目的。
【進度快：可以補充】
· 回顧社群課的尺寸速查表：主圖 1080×1080，限動 1080×1920。
【進度慢：可以刪掉】
· 只講主圖與幕後照兩列。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八分鐘一定不夠拍六張，先講清楚「拍不完沒關係，先拍 ①③⑥」。
· 走動時提醒每個人：光線、背景、角度都要照自己選的那一列。
【互動提問】
· 問：拍到第幾張了？（隨時掌握進度）
【學員實作】
· 六張依序拍，拍不完先完成 ①③⑥。
【預期看到的差異】
· 六張放在一起會像同一組作品，這是學員最有成就感的時刻。
【進度快：可以補充】
· 請兩位學員投影自己的六張，全班一起看風格有沒有一致。
【進度慢：可以刪掉】
· 只做 ① 和 ③ 兩張，其餘回家補。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這一段是緩衝，進度慢就整段跳過，不會影響今天的成果。
· 重點是「配件跟商品要有關」，不是隨便找漂亮的東西放。
【互動提問】
· 問：你的商品，可以放什麼配件？
【預期看到的差異】
· 學員的情境照會從「擺一堆東西」變成「有理由的擺設」。
【進度快：可以補充】
· 教材 P.90：可在主體附近擺放調味料、筷子、湯匙或餐盤當裝飾。
【進度慢：可以刪掉】
· 整段跳過。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一句話：配角是來襯托的，不是來搶戲的。
【互動提問】
· 問：左邊那張，你的眼睛第一個看到哪裡？
【學員實作】
· 加一個配角重拍情境照。
【預期看到的差異】
· 畫面會變乾淨，商品重新變成主角。
【進度慢：可以刪掉】
· 整段跳過。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先確認每個人手上都有上午拍的照片，等一下要用。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這一頁是整個編修段的地基，一定要講清楚界線。
· 把早上「先拍好再修圖」的伏筆明確收回來。
· 右邊五項可以請學員對照自己上午拍壞的照片。
【互動提問】
· 問：你上午有沒有拍到糊掉的照片？現在打開看看，修得回來嗎？
【學員實作】
· 打開上午拍的照片，判斷屬於左邊還是右邊。
【預期看到的差異】
· 學員會理解修圖不是萬能，回頭更重視拍攝。
【進度快：可以補充】
· 示範把一張糊掉的照片用「銳利化」拉，證明救不回來。
【進度慢：可以刪掉】
· 只講「糊掉救不回來」一句。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「修圖一次就是一次損傷」這句直接引用教材，講出來很有份量。
· iPhone 的編輯可以「回復原始照片」，但用 App 修完另存的就回不去了，要提醒。
【互動提問】
· 問：你有沒有修過一張照片，後來後悔想改回來？
【學員實作】
· 把要修的照片先複製一份。
【預期看到的差異】
· 學員養成留原檔的習慣。
【進度快：可以補充】
· 講 iPhone 的「回復」按鈕在哪裡。
【進度慢：可以刪掉】
· 只講「先複製一份再修」。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先讓所有人找到「編輯」按鈕，找不到的不要往下走。
· 「只教三個，其他先不用碰」要講，不然學員會被十幾個選項嚇到。
【互動提問】
· 問：找到編輯按鈕的舉手？
【學員實作】
· 打開上午拍的一張照片，按下編輯。
【預期看到的差異】
· 多數學員第一次進到編輯畫面。
【進度快：可以補充】
· 講「自動」按鈕可以一鍵調整，適合沒把握的時候。
【進度慢：可以刪掉】
· 講師示範，學員看就好。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「先裁切再調亮度」的順序要講，這是實務經驗。
· 把早上 4:3 的伏筆收回來。
【互動提問】
· 問：你上午拍的照片，邊邊有沒有多餘的東西？
【學員實作】
· 把一張照片裁切、拉正，並切成 1:1。
【預期看到的差異】
· 只是裁切，照片就變得像「有在經營」的商品照。
【進度快：可以補充】
· 教材 P.171：直向、橫向可以修正廣角造成的變形。
【進度慢：可以刪掉】
· 只做裁切，不做拉正。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「陰影」這根滑桿最多人不知道，但對側光照片效果最好，要重點示範。
· 一直強調「小幅度調」，中高齡學員很容易拉到底。
【互動提問】
· 問：你的照片是整張太暗，還是只有一邊太暗？（整張→亮度；一邊→陰影）
【學員實作】
· 用亮度與陰影兩根滑桿調一張照片。
【預期看到的差異】
· 側光照片的暗部細節會回來，立體感還在但看得清楚了。
【進度快：可以補充】
· 講「對比」可以讓照片更有精神，但商品照不要加太多。
【進度慢：可以刪掉】
· 只調亮度。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這一頁明確回收早上第 5 頁的白平衡伏筆，要講出來。
· 「跟實品一不一樣」是商品照唯一的顏色標準，這句話下午講紅線時會再用。
· 飽和度加太多是最常見的錯誤，特別是食物照。
【互動提問】
· 問：把手機拿起來對照你的實品，顏色一樣嗎？
【學員實作】
· 調色溫與飽和度，調到跟實品一樣為止。
【預期看到的差異】
· 偏黃的照片會變乾淨，商品顏色回到真實。
【進度快：可以補充】
· 講「色調」可以微調偏綠偏紫。
【進度慢：可以刪掉】
· 只調色溫。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四步照順序做，不要跳。
· 「像另一張照片就是修過頭」是很好用的判斷標準。
· 走動時特別看有沒有人把飽和度拉到底。
【互動提問】
· 問：修完跟原本差多少？會不會太多？
【學員實作】
· 選一張上午拍的照片，四步做完。
【預期看到的差異】
· 照片會變乾淨、變亮，但商品本身沒變。
【進度快：可以補充】
· 修第二張，練熟。
【進度慢：可以刪掉】
· 只做 ①②③ 三步。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這一頁是紅線的前哨站，語氣要明確。
· 教材列了鮮豔、戲劇、黑白、銀色調、復古五種，講一句帶過就好。
· 重點是「一致」與「失真」的差別。
【互動提問】
· 問：你買過跟照片顏色差很多的東西嗎？當下的感覺是什麼？
【學員實作】
· 如果要用濾鏡，六張照片用同一個，強度調到最低。
【預期看到的差異】
· 學員會理解濾鏡是風格工具，不是修正工具。
【進度快：可以補充】
· 講食物照特別忌諱加濾鏡。
【進度慢：可以刪掉】
· 只講最後那句結論。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 AI 段的地基，一定要講到學員能複述。
· 「它生出來的果醬罐，不是你的果醬罐」這句話最有效，要慢慢講。
· 不要把生圖講成壞東西，它有正當用途，只是不能拿來當實品。
【互動提問】
· 問：如果客人看到 AI 生成的商品圖，下單後收到實品，會怎麼想？
【預期看到的差異】
· 學員建立起分辨兩者的能力，後面的紅線才聽得懂。
【進度快：可以補充】
· 講平台規範：多數電商平台要求商品主圖必須是實拍。
【進度慢：可以刪掉】
· 只講最後那一句結論。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四個功能裡，「去除雜物」和「去背換白底」對做生意的人最實用。
· 最後的提醒很重要：AI 放大是「猜」，不是「還原」。這呼應前面「糊掉救不回來」。
【互動提問】
· 問：你的照片裡最想去掉什麼東西？
【預期看到的差異】
· 學員知道 AI 能做什麼，也知道它的極限。
【進度快：可以補充】
· 講去背之後邊緣可能有殘留，要檢查。
【進度慢：可以刪掉】
· 只講去除雜物與去背兩項。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先確認學員的帳號狀況，沒帳號的請助教協助或兩人一組。
· 「找的原則一樣」這句要講，呼應早上「不要背按鈕位置」。
· 上課前一週務必用自己的手機實機走一次這三條路徑。
【互動提問】
· 問：手機裡找得到「清除」或「物件擦除」的舉手？
【學員實作】
· 先找找看自己的手機有沒有內建，沒有的準備用網頁。
【預期看到的差異】
· 學員知道自己走哪一條路。
【進度快：可以補充】
· 講上傳照片到網頁 AI 的隱私提醒：不要傳有個資的照片。
【進度慢：可以刪掉】
· 全班統一用 Google 相簿，不分兩路。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四個要素照順序講，然後念一次完整範例。
· 「保留什麼」這一項要特別強調——不寫這句，AI 很可能順手把商品也改了。
· 附錄有指令範本，學員不用抄。
【互動提問】
· 問：如果不寫「果醬罐本身不要改變」，你猜 AI 會做什麼？
【學員實作】
· 在紙上寫下自己的一句指令，四個部分都要有。
【預期看到的差異】
· 學員第一次知道指令是有結構的，不是隨便講。
【進度快：可以補充】
· 講可以追加「不要改變顏色」「不要加任何文字」。
【進度慢：可以刪掉】
· 只講前三項。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左右對照講，讓學員自己看出差別。
· 「你不講，它就自己猜」是這一頁的核心。
【互動提問】
· 問：左邊那張如果拿去賣，會有什麼問題？
【預期看到的差異】
· 學員理解為什麼要把指令寫清楚。
【進度快：可以補充】
· 現場示範一次壞指令的結果，效果最好。
【進度慢：可以刪掉】
· 只念兩個指令，不展開。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「修完放大檢查商品本身」是這個實作最重要的步驟，不要讓學員只看整體。
· 沒有帳號、手機沒內建的學員，請兩人一組共用一台。
· 教室三十人同時上傳，網路可能會慢，先講在前面讓大家有心理準備。
【互動提問】
· 問：AI 有沒有順手改到你的商品？
【學員實作】
· 去掉一個雜物，跟原檔並排比較，放大檢查商品。
【預期看到的差異】
· 雜物消失，但學員也會發現 AI 有時會改到不該改的地方。
【進度快：可以補充】
· 再試一次去背換白底。
【進度慢：可以刪掉】
· 講師示範一次，學員回家做。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先講可以做的，再講不可以做的，語氣才不會像在禁止。
· 「生背景板印出來」這一招最實用，學員回家馬上能用。
· 情境示意圖一定要標示「示意圖」，這是誠信也是自保。
【互動提問】
· 問：你會想生一張什麼樣的背景？
【預期看到的差異】
· 學員知道 AI 生圖有正當用途，不會因噎廢食。
【進度快：可以補充】
· 示範生一張背景圖的指令：「一張淺灰色水泥質感的桌面，正上方俯視，沒有任何物品，柔和自然光」。
【進度慢：可以刪掉】
· 只講「生圖不能拿來當商品主圖」。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這一頁是整個 AI 段最重要的一頁，講最久，語氣要嚴肅但不要恐嚇。
· 三條紅線都用「客人收到會怎麼想」來說明，比講法規有效。
· 最後那個判斷方法要讓學員記住，回家自己判斷用的。
【互動提問】
· 問：你買過跟照片差很多的東西嗎？當下什麼感覺？還會再買嗎？
· 問：如果是你自己的客人這樣覺得，你會損失什麼？
【學員實作】
· 檢查剛剛修的照片，三條紅線有沒有踩到。
【預期看到的差異】
· 學員會開始自我審查，這正是目的。
【進度快：可以補充】
· 講食品標示與廣告不實的基本概念，但不要講成法律課。
【進度慢：可以刪掉】
· 只講第 1 條與最後的判斷方法。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二選一是為了讓不同程度的學員都有事做。
· 選 B 的提醒很重要：背景可以是 AI 的，商品一定要是自己拍的。
· 這一步做完，PART 11 就結束了。
【互動提問】
· 問：你選 A 還是 B？
【學員實作】
· A 或 B 擇一完成。
【預期看到的差異】
· 學員手上會多一張可以直接上架的白底圖，或一張可以重複使用的背景板。
【進度快：可以補充】
· 兩個都做。
【進度慢：可以刪掉】
· 講師示範 A，學員看完回家做。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這一頁快速帶過，重點是「現在不用裝」。
· Snapseed 的局部修飾是唯一內建做不到、又真的實用的功能，可以多講一句。
· iPhone 使用者想調白平衡的話，Lightroom 是唯一免費解法。
【互動提問】
· 問：你手機裡有裝修圖 App 嗎？
【預期看到的差異】
· 學員不會因為看到一堆 App 就焦慮。
【進度快：可以補充】
· 示範 Snapseed 的局部修飾。
【進度慢：可以刪掉】
· 整頁跳過，附錄有表。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這是今天的高潮，不要趕。讓學員自己看自己的兩張。
· 八個檢查點一項一項念，讓學員自己打勾。
· 第七項「看得出想給人什麼感覺嗎」是今天主軸的最後一次回收。
【互動提問】
· 問：兩張差最多的是哪一項？
· 問：如果只能挑一件今天學到的事帶回家，你會挑哪一件？
【學員實作】
· 把 Before 與 After 並排，八個檢查點逐一打勾。
【預期看到的差異】
· 幾乎每個人的差異都會很大，尤其是光線與背景兩項。
【進度快：可以補充】
· 請三四位學員投影自己的前後對照，全班一起看。
【進度慢：可以刪掉】
· 只做並排，不逐項打勾。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「不是最漂亮，是最像實品」——今天的顏色標準在這裡最後講一次。
· 互相分享這一步不要省，學員之間的鼓勵比講師的稱讚有用。
【互動提問】
· 問：你選哪一張？為什麼是這張？
【學員實作】
· 兩人一組互相看照片，各說一句為什麼選它。
【預期看到的差異】
· 學員會發現自己真的說得出理由，這就是今天最大的收穫。
【進度快：可以補充】
· 請學員互相追蹤 IG，回家看彼此發的照片。
【進度慢：可以刪掉】
· 只請三位學員發表。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慢慢念「已經拍出來了」這句，停三秒再說「今天辛苦了」。
· 三張卡片是回家的最小承諾，不要開太高的目標。
· 預告下一堂，讓學員知道還有後續。
【學員實作】
· 發回饋單。鼓勵學員互相追蹤，回家看彼此的照片。
【進度快：可以補充】
· 請學員承諾一個「這週要拍的商品」，寫在講義上。
【進度慢：可以刪掉】
· 只念最後一句。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這一頁與下一頁會單獨印成 A4 發給學員。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【講師說明】
· 這一頁印出來讓學員貼在手機殼背面或工作檯前。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image" Target="../media/image-77-5.png"/><Relationship Id="rId6" Type="http://schemas.openxmlformats.org/officeDocument/2006/relationships/image" Target="../media/image-7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image" Target="../media/image-79-5.png"/><Relationship Id="rId6" Type="http://schemas.openxmlformats.org/officeDocument/2006/relationships/image" Target="../media/image-7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image" Target="../media/image-8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image" Target="../media/image-88-2.png"/><Relationship Id="rId3" Type="http://schemas.openxmlformats.org/officeDocument/2006/relationships/image" Target="../media/image-8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image" Target="../media/image-90-2.png"/><Relationship Id="rId3" Type="http://schemas.openxmlformats.org/officeDocument/2006/relationships/image" Target="../media/image-90-3.png"/><Relationship Id="rId4" Type="http://schemas.openxmlformats.org/officeDocument/2006/relationships/image" Target="../media/image-9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image" Target="../media/image-9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0100" y="1460114"/>
            <a:ext cx="4568982" cy="162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5"/>
              </a:lnSpc>
              <a:buNone/>
            </a:pPr>
            <a:r>
              <a:rPr lang="en-US" sz="4950" b="1" spc="-198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手機拍攝商品</a:t>
            </a:r>
            <a:endParaRPr lang="en-US" sz="4950" dirty="0"/>
          </a:p>
          <a:p>
            <a:pPr algn="l" indent="0" marL="0">
              <a:lnSpc>
                <a:spcPts val="5445"/>
              </a:lnSpc>
              <a:buNone/>
            </a:pPr>
            <a:r>
              <a:rPr lang="en-US" sz="4950" b="1" spc="-198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與影像編修基礎</a:t>
            </a:r>
            <a:endParaRPr lang="en-US" sz="4950" dirty="0"/>
          </a:p>
        </p:txBody>
      </p:sp>
      <p:sp>
        <p:nvSpPr>
          <p:cNvPr id="4" name="Text 1"/>
          <p:cNvSpPr txBox="1"/>
          <p:nvPr/>
        </p:nvSpPr>
        <p:spPr>
          <a:xfrm>
            <a:off x="800100" y="3357402"/>
            <a:ext cx="5543001" cy="122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0"/>
              </a:lnSpc>
              <a:buNone/>
            </a:pPr>
            <a:r>
              <a:rPr lang="en-US" sz="20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今天不聽理論。</a:t>
            </a:r>
            <a:endParaRPr lang="en-US" sz="2025" dirty="0"/>
          </a:p>
          <a:p>
            <a:pPr algn="l" indent="0" marL="0">
              <a:lnSpc>
                <a:spcPts val="3280"/>
              </a:lnSpc>
              <a:buNone/>
            </a:pPr>
            <a:r>
              <a:rPr lang="en-US" sz="20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你會用自己的手機，把一個商品</a:t>
            </a:r>
            <a:pPr algn="l" indent="0" marL="0">
              <a:lnSpc>
                <a:spcPts val="3280"/>
              </a:lnSpc>
              <a:buNone/>
            </a:pPr>
            <a:r>
              <a:rPr lang="en-US" sz="20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真的拍好、真的修好</a:t>
            </a:r>
            <a:pPr algn="l" indent="0" marL="0">
              <a:lnSpc>
                <a:spcPts val="3280"/>
              </a:lnSpc>
              <a:buNone/>
            </a:pPr>
            <a:r>
              <a:rPr lang="en-US" sz="20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838230" y="4845223"/>
            <a:ext cx="1047720" cy="4286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743F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43021" y="4911882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溫暖手作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981230" y="4845223"/>
            <a:ext cx="1047720" cy="4286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7FA5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086021" y="4911882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乾淨專業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124230" y="4845223"/>
            <a:ext cx="1047720" cy="4286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A9160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229021" y="4911882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新鮮現做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67230" y="4845223"/>
            <a:ext cx="1047720" cy="4286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B5A86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372021" y="4911882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高級精緻</a:t>
            </a:r>
            <a:endParaRPr lang="en-US" sz="1500" dirty="0"/>
          </a:p>
        </p:txBody>
      </p:sp>
      <p:pic>
        <p:nvPicPr>
          <p:cNvPr id="13" name="Image 1" descr="/home/user/gogoeveryday/photo-course/export-pptx/build/img/p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399" y="2000250"/>
            <a:ext cx="3429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418509"/>
            <a:ext cx="497881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不是筆記，是四樣做好的成果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2250613"/>
            <a:ext cx="2519355" cy="2074408"/>
          </a:xfrm>
          <a:prstGeom prst="roundRect">
            <a:avLst>
              <a:gd name="adj" fmla="val 11020"/>
            </a:avLst>
          </a:prstGeom>
          <a:solidFill>
            <a:srgbClr val="FBEEE6"/>
          </a:solidFill>
          <a:ln/>
        </p:spPr>
      </p:sp>
      <p:pic>
        <p:nvPicPr>
          <p:cNvPr id="5" name="Image 1" descr="/home/user/gogoeveryday/photo-course/export-pptx/build/img/p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71" y="2488722"/>
            <a:ext cx="400050" cy="4000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2040" y="3060222"/>
            <a:ext cx="17001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一組六張商品照</a:t>
            </a:r>
            <a:endParaRPr lang="en-US" sz="1725" dirty="0"/>
          </a:p>
        </p:txBody>
      </p:sp>
      <p:sp>
        <p:nvSpPr>
          <p:cNvPr id="7" name="Text 3"/>
          <p:cNvSpPr txBox="1"/>
          <p:nvPr/>
        </p:nvSpPr>
        <p:spPr>
          <a:xfrm>
            <a:off x="962040" y="3469782"/>
            <a:ext cx="2312060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同一個商品，六種用途，風格一致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3490905" y="2250613"/>
            <a:ext cx="2519355" cy="2074408"/>
          </a:xfrm>
          <a:prstGeom prst="roundRect">
            <a:avLst>
              <a:gd name="adj" fmla="val 11020"/>
            </a:avLst>
          </a:prstGeom>
          <a:solidFill>
            <a:srgbClr val="DFE8DC"/>
          </a:solidFill>
          <a:ln/>
        </p:spPr>
      </p:sp>
      <p:pic>
        <p:nvPicPr>
          <p:cNvPr id="9" name="Image 2" descr="/home/user/gogoeveryday/photo-course/export-pptx/build/img/p2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976" y="2488722"/>
            <a:ext cx="400050" cy="40005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652845" y="3060222"/>
            <a:ext cx="17001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一張修過的照片</a:t>
            </a:r>
            <a:endParaRPr lang="en-US" sz="1725" dirty="0"/>
          </a:p>
        </p:txBody>
      </p:sp>
      <p:sp>
        <p:nvSpPr>
          <p:cNvPr id="11" name="Text 6"/>
          <p:cNvSpPr txBox="1"/>
          <p:nvPr/>
        </p:nvSpPr>
        <p:spPr>
          <a:xfrm>
            <a:off x="3652845" y="3469782"/>
            <a:ext cx="2110161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裁切、亮度、顏色都調過，可以直接上架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181710" y="2250613"/>
            <a:ext cx="2519355" cy="2074408"/>
          </a:xfrm>
          <a:prstGeom prst="roundRect">
            <a:avLst>
              <a:gd name="adj" fmla="val 11020"/>
            </a:avLst>
          </a:prstGeom>
          <a:solidFill>
            <a:srgbClr val="F8E6C9"/>
          </a:solidFill>
          <a:ln/>
        </p:spPr>
      </p:sp>
      <p:pic>
        <p:nvPicPr>
          <p:cNvPr id="13" name="Image 3" descr="/home/user/gogoeveryday/photo-course/export-pptx/build/img/p2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80" y="2488722"/>
            <a:ext cx="400050" cy="40005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343650" y="3060222"/>
            <a:ext cx="1930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一張拍攝前檢查表</a:t>
            </a:r>
            <a:endParaRPr lang="en-US" sz="1725" dirty="0"/>
          </a:p>
        </p:txBody>
      </p:sp>
      <p:sp>
        <p:nvSpPr>
          <p:cNvPr id="15" name="Text 9"/>
          <p:cNvSpPr txBox="1"/>
          <p:nvPr/>
        </p:nvSpPr>
        <p:spPr>
          <a:xfrm>
            <a:off x="6343650" y="3469782"/>
            <a:ext cx="2312060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回家照著走，不會再忘記擦鏡頭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872515" y="2250613"/>
            <a:ext cx="2519355" cy="2074408"/>
          </a:xfrm>
          <a:prstGeom prst="roundRect">
            <a:avLst>
              <a:gd name="adj" fmla="val 11020"/>
            </a:avLst>
          </a:prstGeom>
          <a:solidFill>
            <a:srgbClr val="F0DFE4"/>
          </a:solidFill>
          <a:ln/>
        </p:spPr>
      </p:sp>
      <p:pic>
        <p:nvPicPr>
          <p:cNvPr id="17" name="Image 4" descr="/home/user/gogoeveryday/photo-course/export-pptx/build/img/p2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585" y="2488722"/>
            <a:ext cx="400050" cy="40005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34455" y="3060222"/>
            <a:ext cx="1930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一個屬於你的風格</a:t>
            </a:r>
            <a:endParaRPr lang="en-US" sz="1725" dirty="0"/>
          </a:p>
        </p:txBody>
      </p:sp>
      <p:sp>
        <p:nvSpPr>
          <p:cNvPr id="19" name="Text 12"/>
          <p:cNvSpPr txBox="1"/>
          <p:nvPr/>
        </p:nvSpPr>
        <p:spPr>
          <a:xfrm>
            <a:off x="9034455" y="3469782"/>
            <a:ext cx="2312060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四種感覺挑一種，以後拍什麼都照這個調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800100" y="4486869"/>
            <a:ext cx="10591770" cy="704820"/>
          </a:xfrm>
          <a:prstGeom prst="roundRect">
            <a:avLst>
              <a:gd name="adj" fmla="val 24325"/>
            </a:avLst>
          </a:prstGeom>
          <a:solidFill>
            <a:srgbClr val="F8E6C9"/>
          </a:solidFill>
          <a:ln/>
        </p:spPr>
      </p:sp>
      <p:sp>
        <p:nvSpPr>
          <p:cNvPr id="21" name="Shape 14"/>
          <p:cNvSpPr/>
          <p:nvPr/>
        </p:nvSpPr>
        <p:spPr>
          <a:xfrm>
            <a:off x="800100" y="4486869"/>
            <a:ext cx="47640" cy="704820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22" name="Image 5" descr="/home/user/gogoeveryday/photo-course/export-pptx/build/img/p2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60" y="4677339"/>
            <a:ext cx="323880" cy="3238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533540" y="4684197"/>
            <a:ext cx="623968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做不完沒關係。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做完一半也是成功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——重點是回家知道怎麼繼續。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703802"/>
            <a:ext cx="4703399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先拍 → 再講 → 再拍 → 比較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2535906"/>
            <a:ext cx="2205076" cy="1503731"/>
          </a:xfrm>
          <a:prstGeom prst="roundRect">
            <a:avLst>
              <a:gd name="adj" fmla="val 114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535906"/>
            <a:ext cx="2205076" cy="47640"/>
          </a:xfrm>
          <a:prstGeom prst="rect">
            <a:avLst/>
          </a:prstGeom>
          <a:solidFill>
            <a:srgbClr val="9C8B7C"/>
          </a:solidFill>
          <a:ln/>
        </p:spPr>
      </p:sp>
      <p:sp>
        <p:nvSpPr>
          <p:cNvPr id="6" name="Shape 3"/>
          <p:cNvSpPr/>
          <p:nvPr/>
        </p:nvSpPr>
        <p:spPr>
          <a:xfrm>
            <a:off x="2995574" y="2535906"/>
            <a:ext cx="18288" cy="150373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030127"/>
            <a:ext cx="22050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535906"/>
            <a:ext cx="18288" cy="150373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3021" y="2783525"/>
            <a:ext cx="645841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先拍</a:t>
            </a:r>
            <a:endParaRPr lang="en-US" sz="2025" dirty="0"/>
          </a:p>
        </p:txBody>
      </p:sp>
      <p:sp>
        <p:nvSpPr>
          <p:cNvPr id="10" name="Text 7"/>
          <p:cNvSpPr txBox="1"/>
          <p:nvPr/>
        </p:nvSpPr>
        <p:spPr>
          <a:xfrm>
            <a:off x="943021" y="3231215"/>
            <a:ext cx="1999061" cy="59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用你平常的方式拍一張</a:t>
            </a:r>
            <a:endParaRPr lang="en-US" sz="1575" dirty="0"/>
          </a:p>
        </p:txBody>
      </p:sp>
      <p:sp>
        <p:nvSpPr>
          <p:cNvPr id="11" name="Text 8"/>
          <p:cNvSpPr txBox="1"/>
          <p:nvPr/>
        </p:nvSpPr>
        <p:spPr>
          <a:xfrm>
            <a:off x="3100365" y="3044861"/>
            <a:ext cx="455280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3595695" y="2680838"/>
            <a:ext cx="2205076" cy="1213866"/>
          </a:xfrm>
          <a:prstGeom prst="roundRect">
            <a:avLst>
              <a:gd name="adj" fmla="val 14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95695" y="2680838"/>
            <a:ext cx="2205076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4" name="Shape 11"/>
          <p:cNvSpPr/>
          <p:nvPr/>
        </p:nvSpPr>
        <p:spPr>
          <a:xfrm>
            <a:off x="5791170" y="2680838"/>
            <a:ext cx="18288" cy="121386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595695" y="3885194"/>
            <a:ext cx="22050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595695" y="2680838"/>
            <a:ext cx="18288" cy="121386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738524" y="2928457"/>
            <a:ext cx="645841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再講</a:t>
            </a:r>
            <a:endParaRPr lang="en-US" sz="2025" dirty="0"/>
          </a:p>
        </p:txBody>
      </p:sp>
      <p:sp>
        <p:nvSpPr>
          <p:cNvPr id="18" name="Text 15"/>
          <p:cNvSpPr txBox="1"/>
          <p:nvPr/>
        </p:nvSpPr>
        <p:spPr>
          <a:xfrm>
            <a:off x="3738524" y="3376148"/>
            <a:ext cx="157505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我只講一個技巧</a:t>
            </a:r>
            <a:endParaRPr lang="en-US" sz="1575" dirty="0"/>
          </a:p>
        </p:txBody>
      </p:sp>
      <p:sp>
        <p:nvSpPr>
          <p:cNvPr id="19" name="Text 16"/>
          <p:cNvSpPr txBox="1"/>
          <p:nvPr/>
        </p:nvSpPr>
        <p:spPr>
          <a:xfrm>
            <a:off x="5895960" y="3044861"/>
            <a:ext cx="455280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50" dirty="0"/>
          </a:p>
        </p:txBody>
      </p:sp>
      <p:sp>
        <p:nvSpPr>
          <p:cNvPr id="20" name="Shape 17"/>
          <p:cNvSpPr/>
          <p:nvPr/>
        </p:nvSpPr>
        <p:spPr>
          <a:xfrm>
            <a:off x="6391290" y="2680838"/>
            <a:ext cx="2205076" cy="1213866"/>
          </a:xfrm>
          <a:prstGeom prst="roundRect">
            <a:avLst>
              <a:gd name="adj" fmla="val 14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91290" y="2680838"/>
            <a:ext cx="2205076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22" name="Shape 19"/>
          <p:cNvSpPr/>
          <p:nvPr/>
        </p:nvSpPr>
        <p:spPr>
          <a:xfrm>
            <a:off x="8586765" y="2680838"/>
            <a:ext cx="18288" cy="121386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391290" y="3885194"/>
            <a:ext cx="22050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391290" y="2680838"/>
            <a:ext cx="18288" cy="121386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534120" y="2928457"/>
            <a:ext cx="645841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再拍</a:t>
            </a:r>
            <a:endParaRPr lang="en-US" sz="2025" dirty="0"/>
          </a:p>
        </p:txBody>
      </p:sp>
      <p:sp>
        <p:nvSpPr>
          <p:cNvPr id="26" name="Text 23"/>
          <p:cNvSpPr txBox="1"/>
          <p:nvPr/>
        </p:nvSpPr>
        <p:spPr>
          <a:xfrm>
            <a:off x="6534120" y="3376148"/>
            <a:ext cx="178710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用剛學的再拍一張</a:t>
            </a:r>
            <a:endParaRPr lang="en-US" sz="1575" dirty="0"/>
          </a:p>
        </p:txBody>
      </p:sp>
      <p:sp>
        <p:nvSpPr>
          <p:cNvPr id="27" name="Text 24"/>
          <p:cNvSpPr txBox="1"/>
          <p:nvPr/>
        </p:nvSpPr>
        <p:spPr>
          <a:xfrm>
            <a:off x="8691555" y="3044861"/>
            <a:ext cx="455280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50" dirty="0"/>
          </a:p>
        </p:txBody>
      </p:sp>
      <p:sp>
        <p:nvSpPr>
          <p:cNvPr id="28" name="Shape 25"/>
          <p:cNvSpPr/>
          <p:nvPr/>
        </p:nvSpPr>
        <p:spPr>
          <a:xfrm>
            <a:off x="9186885" y="2535906"/>
            <a:ext cx="2205076" cy="1503731"/>
          </a:xfrm>
          <a:prstGeom prst="roundRect">
            <a:avLst>
              <a:gd name="adj" fmla="val 114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186885" y="2535906"/>
            <a:ext cx="2205076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30" name="Shape 27"/>
          <p:cNvSpPr/>
          <p:nvPr/>
        </p:nvSpPr>
        <p:spPr>
          <a:xfrm>
            <a:off x="11382360" y="2535906"/>
            <a:ext cx="18288" cy="150373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9186885" y="4030127"/>
            <a:ext cx="220507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9186885" y="2535906"/>
            <a:ext cx="18288" cy="150373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329715" y="2783525"/>
            <a:ext cx="645841" cy="39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比較</a:t>
            </a:r>
            <a:endParaRPr lang="en-US" sz="2025" dirty="0"/>
          </a:p>
        </p:txBody>
      </p:sp>
      <p:sp>
        <p:nvSpPr>
          <p:cNvPr id="34" name="Text 31"/>
          <p:cNvSpPr txBox="1"/>
          <p:nvPr/>
        </p:nvSpPr>
        <p:spPr>
          <a:xfrm>
            <a:off x="9329715" y="3231215"/>
            <a:ext cx="1999061" cy="59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兩張並排，自己看差別</a:t>
            </a:r>
            <a:endParaRPr lang="en-US" sz="1575" dirty="0"/>
          </a:p>
        </p:txBody>
      </p:sp>
      <p:sp>
        <p:nvSpPr>
          <p:cNvPr id="35" name="Shape 32"/>
          <p:cNvSpPr/>
          <p:nvPr/>
        </p:nvSpPr>
        <p:spPr>
          <a:xfrm>
            <a:off x="800100" y="4201577"/>
            <a:ext cx="10591770" cy="704820"/>
          </a:xfrm>
          <a:prstGeom prst="roundRect">
            <a:avLst>
              <a:gd name="adj" fmla="val 24325"/>
            </a:avLst>
          </a:prstGeom>
          <a:solidFill>
            <a:srgbClr val="FBEEE6"/>
          </a:solidFill>
          <a:ln/>
        </p:spPr>
      </p:sp>
      <p:sp>
        <p:nvSpPr>
          <p:cNvPr id="36" name="Shape 33"/>
          <p:cNvSpPr/>
          <p:nvPr/>
        </p:nvSpPr>
        <p:spPr>
          <a:xfrm>
            <a:off x="800100" y="4201577"/>
            <a:ext cx="47640" cy="704820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7" name="Image 1" descr="/home/user/gogoeveryday/photo-course/export-pptx/build/img/p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392046"/>
            <a:ext cx="323880" cy="32388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1533540" y="4398904"/>
            <a:ext cx="687573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我不會一次講四件事。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一次只改一個地方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，你才看得出來是哪裡變好的。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302837"/>
            <a:ext cx="460290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拍好一張商品照的四個前提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2134941"/>
            <a:ext cx="5214915" cy="1505285"/>
          </a:xfrm>
          <a:prstGeom prst="roundRect">
            <a:avLst>
              <a:gd name="adj" fmla="val 15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134941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005505" y="2134941"/>
            <a:ext cx="18288" cy="1505285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3630625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134941"/>
            <a:ext cx="47640" cy="1505285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38210" y="2344522"/>
            <a:ext cx="2839852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手機貴，不代表照片好看</a:t>
            </a:r>
            <a:endParaRPr lang="en-US" sz="1875" dirty="0"/>
          </a:p>
        </p:txBody>
      </p:sp>
      <p:sp>
        <p:nvSpPr>
          <p:cNvPr id="10" name="Text 7"/>
          <p:cNvSpPr txBox="1"/>
          <p:nvPr/>
        </p:nvSpPr>
        <p:spPr>
          <a:xfrm>
            <a:off x="1038210" y="2782611"/>
            <a:ext cx="4967478" cy="62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決定照片好不好的是光線、對焦、有沒有晃。這三件事跟你手機多少錢無關。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6176955" y="2134941"/>
            <a:ext cx="5214915" cy="1505285"/>
          </a:xfrm>
          <a:prstGeom prst="roundRect">
            <a:avLst>
              <a:gd name="adj" fmla="val 15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6955" y="2134941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1382360" y="2134941"/>
            <a:ext cx="18288" cy="1505285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176955" y="3630625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176955" y="2134941"/>
            <a:ext cx="47640" cy="1505285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15065" y="2344522"/>
            <a:ext cx="2589855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商品照只要做到三件事</a:t>
            </a:r>
            <a:endParaRPr lang="en-US" sz="1875" dirty="0"/>
          </a:p>
        </p:txBody>
      </p:sp>
      <p:sp>
        <p:nvSpPr>
          <p:cNvPr id="17" name="Text 14"/>
          <p:cNvSpPr txBox="1"/>
          <p:nvPr/>
        </p:nvSpPr>
        <p:spPr>
          <a:xfrm>
            <a:off x="6415065" y="2782611"/>
            <a:ext cx="4967478" cy="62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2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看得清楚</a:t>
            </a:r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</a:t>
            </a:r>
            <a:pPr algn="l" indent="0" marL="0">
              <a:lnSpc>
                <a:spcPts val="2552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看得舒服</a:t>
            </a:r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、</a:t>
            </a:r>
            <a:pPr algn="l" indent="0" marL="0">
              <a:lnSpc>
                <a:spcPts val="2552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看得懂重點</a:t>
            </a:r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。做到這三件就夠了，不用追求藝術感。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800100" y="3802075"/>
            <a:ext cx="5214915" cy="1505285"/>
          </a:xfrm>
          <a:prstGeom prst="roundRect">
            <a:avLst>
              <a:gd name="adj" fmla="val 15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0100" y="3802075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005505" y="3802075"/>
            <a:ext cx="18288" cy="1505285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00100" y="5297851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00100" y="3802075"/>
            <a:ext cx="47640" cy="1505285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38210" y="4011656"/>
            <a:ext cx="2839852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先把照片拍好，再談修圖</a:t>
            </a:r>
            <a:endParaRPr lang="en-US" sz="1875" dirty="0"/>
          </a:p>
        </p:txBody>
      </p:sp>
      <p:sp>
        <p:nvSpPr>
          <p:cNvPr id="24" name="Text 21"/>
          <p:cNvSpPr txBox="1"/>
          <p:nvPr/>
        </p:nvSpPr>
        <p:spPr>
          <a:xfrm>
            <a:off x="1038210" y="4449836"/>
            <a:ext cx="4967478" cy="62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修圖救得回太暗、有點歪；救不回沒對到焦、手震糊掉。下午你會親眼看到界線在哪。</a:t>
            </a:r>
            <a:endParaRPr lang="en-US" sz="1575" dirty="0"/>
          </a:p>
        </p:txBody>
      </p:sp>
      <p:sp>
        <p:nvSpPr>
          <p:cNvPr id="25" name="Shape 22"/>
          <p:cNvSpPr/>
          <p:nvPr/>
        </p:nvSpPr>
        <p:spPr>
          <a:xfrm>
            <a:off x="6176955" y="3802075"/>
            <a:ext cx="5214915" cy="1505285"/>
          </a:xfrm>
          <a:prstGeom prst="roundRect">
            <a:avLst>
              <a:gd name="adj" fmla="val 15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76955" y="3802075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1382360" y="3802075"/>
            <a:ext cx="18288" cy="1505285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176955" y="5297851"/>
            <a:ext cx="521491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176955" y="3802075"/>
            <a:ext cx="47640" cy="1505285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15065" y="4011656"/>
            <a:ext cx="2090136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一次只改一個地方</a:t>
            </a:r>
            <a:endParaRPr lang="en-US" sz="1875" dirty="0"/>
          </a:p>
        </p:txBody>
      </p:sp>
      <p:sp>
        <p:nvSpPr>
          <p:cNvPr id="31" name="Text 28"/>
          <p:cNvSpPr txBox="1"/>
          <p:nvPr/>
        </p:nvSpPr>
        <p:spPr>
          <a:xfrm>
            <a:off x="6415065" y="4449836"/>
            <a:ext cx="4967478" cy="62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同時改光線又換背景，你永遠不知道是哪個讓照片變好。</a:t>
            </a:r>
            <a:endParaRPr lang="en-US" sz="15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593080"/>
            <a:ext cx="5354909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聽到這些字，心裡想的是這句話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425184"/>
            <a:ext cx="171450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1949044"/>
            <a:ext cx="17145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52530" y="1558503"/>
            <a:ext cx="116110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聽到這個字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14600" y="1425184"/>
            <a:ext cx="314325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514600" y="1949044"/>
            <a:ext cx="314325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67030" y="1558503"/>
            <a:ext cx="137516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心裡想這句話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57850" y="1425184"/>
            <a:ext cx="573402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657850" y="1949044"/>
            <a:ext cx="57340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810280" y="1558503"/>
            <a:ext cx="201744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今天你要會做的動作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" y="1958553"/>
            <a:ext cx="171450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00100" y="2530053"/>
            <a:ext cx="1714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52530" y="2091964"/>
            <a:ext cx="5315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對焦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2514600" y="1958553"/>
            <a:ext cx="314325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2514600" y="2530053"/>
            <a:ext cx="31432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667030" y="2091964"/>
            <a:ext cx="115104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哪裡要清楚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5657850" y="1958553"/>
            <a:ext cx="573402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657850" y="2530053"/>
            <a:ext cx="57340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810280" y="2091964"/>
            <a:ext cx="3483315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用手指點商品，畫面出現方框就對了</a:t>
            </a:r>
            <a:endParaRPr lang="en-US" sz="1575" dirty="0"/>
          </a:p>
        </p:txBody>
      </p:sp>
      <p:sp>
        <p:nvSpPr>
          <p:cNvPr id="22" name="Shape 19"/>
          <p:cNvSpPr/>
          <p:nvPr/>
        </p:nvSpPr>
        <p:spPr>
          <a:xfrm>
            <a:off x="800100" y="2539563"/>
            <a:ext cx="171450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800100" y="3111063"/>
            <a:ext cx="1714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52530" y="2672974"/>
            <a:ext cx="5315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曝光</a:t>
            </a:r>
            <a:endParaRPr lang="en-US" sz="1575" dirty="0"/>
          </a:p>
        </p:txBody>
      </p:sp>
      <p:sp>
        <p:nvSpPr>
          <p:cNvPr id="25" name="Shape 22"/>
          <p:cNvSpPr/>
          <p:nvPr/>
        </p:nvSpPr>
        <p:spPr>
          <a:xfrm>
            <a:off x="2514600" y="2539563"/>
            <a:ext cx="314325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514600" y="3111063"/>
            <a:ext cx="31432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667030" y="2672974"/>
            <a:ext cx="136309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太亮還是太暗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5657850" y="2539563"/>
            <a:ext cx="573402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5657850" y="3111063"/>
            <a:ext cx="57340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810280" y="2672974"/>
            <a:ext cx="390741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點完之後按住旁邊的太陽圖示，上下移動</a:t>
            </a:r>
            <a:endParaRPr lang="en-US" sz="1575" dirty="0"/>
          </a:p>
        </p:txBody>
      </p:sp>
      <p:sp>
        <p:nvSpPr>
          <p:cNvPr id="31" name="Shape 28"/>
          <p:cNvSpPr/>
          <p:nvPr/>
        </p:nvSpPr>
        <p:spPr>
          <a:xfrm>
            <a:off x="800100" y="3120664"/>
            <a:ext cx="171450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00100" y="3692164"/>
            <a:ext cx="1714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52530" y="3253984"/>
            <a:ext cx="5315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構圖</a:t>
            </a:r>
            <a:endParaRPr lang="en-US" sz="1575" dirty="0"/>
          </a:p>
        </p:txBody>
      </p:sp>
      <p:sp>
        <p:nvSpPr>
          <p:cNvPr id="34" name="Shape 31"/>
          <p:cNvSpPr/>
          <p:nvPr/>
        </p:nvSpPr>
        <p:spPr>
          <a:xfrm>
            <a:off x="2514600" y="3120664"/>
            <a:ext cx="314325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2514600" y="3692164"/>
            <a:ext cx="31432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667030" y="3253984"/>
            <a:ext cx="221120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商品放在哪裡比較舒服</a:t>
            </a:r>
            <a:endParaRPr lang="en-US" sz="1575" dirty="0"/>
          </a:p>
        </p:txBody>
      </p:sp>
      <p:sp>
        <p:nvSpPr>
          <p:cNvPr id="37" name="Shape 34"/>
          <p:cNvSpPr/>
          <p:nvPr/>
        </p:nvSpPr>
        <p:spPr>
          <a:xfrm>
            <a:off x="5657850" y="3120664"/>
            <a:ext cx="573402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657850" y="3692164"/>
            <a:ext cx="57340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810280" y="3253984"/>
            <a:ext cx="3483315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打開格線，把商品放在線上或交叉點</a:t>
            </a:r>
            <a:endParaRPr lang="en-US" sz="1575" dirty="0"/>
          </a:p>
        </p:txBody>
      </p:sp>
      <p:sp>
        <p:nvSpPr>
          <p:cNvPr id="40" name="Shape 37"/>
          <p:cNvSpPr/>
          <p:nvPr/>
        </p:nvSpPr>
        <p:spPr>
          <a:xfrm>
            <a:off x="800100" y="3701674"/>
            <a:ext cx="171450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800100" y="4273174"/>
            <a:ext cx="1714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52530" y="3834994"/>
            <a:ext cx="5315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景深</a:t>
            </a:r>
            <a:endParaRPr lang="en-US" sz="1575" dirty="0"/>
          </a:p>
        </p:txBody>
      </p:sp>
      <p:sp>
        <p:nvSpPr>
          <p:cNvPr id="43" name="Shape 40"/>
          <p:cNvSpPr/>
          <p:nvPr/>
        </p:nvSpPr>
        <p:spPr>
          <a:xfrm>
            <a:off x="2514600" y="3701674"/>
            <a:ext cx="314325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2514600" y="4273174"/>
            <a:ext cx="31432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667030" y="3834994"/>
            <a:ext cx="199906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背景是清楚還是模糊</a:t>
            </a:r>
            <a:endParaRPr lang="en-US" sz="1575" dirty="0"/>
          </a:p>
        </p:txBody>
      </p:sp>
      <p:sp>
        <p:nvSpPr>
          <p:cNvPr id="46" name="Shape 43"/>
          <p:cNvSpPr/>
          <p:nvPr/>
        </p:nvSpPr>
        <p:spPr>
          <a:xfrm>
            <a:off x="5657850" y="3701674"/>
            <a:ext cx="573402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657850" y="4273174"/>
            <a:ext cx="57340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810280" y="3834994"/>
            <a:ext cx="305930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離商品近一點，背景自然會糊掉</a:t>
            </a:r>
            <a:endParaRPr lang="en-US" sz="1575" dirty="0"/>
          </a:p>
        </p:txBody>
      </p:sp>
      <p:sp>
        <p:nvSpPr>
          <p:cNvPr id="49" name="Text 46"/>
          <p:cNvSpPr txBox="1"/>
          <p:nvPr/>
        </p:nvSpPr>
        <p:spPr>
          <a:xfrm>
            <a:off x="952530" y="4416003"/>
            <a:ext cx="73152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白平衡</a:t>
            </a:r>
            <a:endParaRPr lang="en-US" sz="1575" dirty="0"/>
          </a:p>
        </p:txBody>
      </p:sp>
      <p:sp>
        <p:nvSpPr>
          <p:cNvPr id="50" name="Text 47"/>
          <p:cNvSpPr txBox="1"/>
          <p:nvPr/>
        </p:nvSpPr>
        <p:spPr>
          <a:xfrm>
            <a:off x="2667030" y="4416003"/>
            <a:ext cx="221120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顏色有沒有偏黃或偏藍</a:t>
            </a:r>
            <a:endParaRPr lang="en-US" sz="1575" dirty="0"/>
          </a:p>
        </p:txBody>
      </p:sp>
      <p:sp>
        <p:nvSpPr>
          <p:cNvPr id="51" name="Text 48"/>
          <p:cNvSpPr txBox="1"/>
          <p:nvPr/>
        </p:nvSpPr>
        <p:spPr>
          <a:xfrm>
            <a:off x="5810280" y="4416003"/>
            <a:ext cx="384084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iPhone 拍的時候調不了，</a:t>
            </a:r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下午用修圖救</a:t>
            </a:r>
            <a:endParaRPr lang="en-US" sz="1575" dirty="0"/>
          </a:p>
        </p:txBody>
      </p:sp>
      <p:sp>
        <p:nvSpPr>
          <p:cNvPr id="52" name="Shape 49"/>
          <p:cNvSpPr/>
          <p:nvPr/>
        </p:nvSpPr>
        <p:spPr>
          <a:xfrm>
            <a:off x="800100" y="5016124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53" name="Shape 50"/>
          <p:cNvSpPr/>
          <p:nvPr/>
        </p:nvSpPr>
        <p:spPr>
          <a:xfrm>
            <a:off x="800100" y="5016124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54" name="Image 1" descr="/home/user/gogoeveryday/photo-course/export-pptx/build/img/p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5364236"/>
            <a:ext cx="298094" cy="304770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1507754" y="5206594"/>
            <a:ext cx="10069647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最後一列要注意：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iPhone 內建相機沒有白平衡功能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 只能換角度或事後修圖；Android 的專業模式才調得到。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75333" y="683605"/>
            <a:ext cx="3850904" cy="98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同一罐果醬，四個人拍</a:t>
            </a:r>
            <a:endParaRPr lang="en-US" sz="2850" dirty="0"/>
          </a:p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給你的感覺一樣嗎？</a:t>
            </a:r>
            <a:endParaRPr lang="en-US" sz="2850" dirty="0"/>
          </a:p>
        </p:txBody>
      </p:sp>
      <p:pic>
        <p:nvPicPr>
          <p:cNvPr id="4" name="Image 1" descr="/home/user/gogoeveryday/photo-course/export-pptx/build/img/p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10" y="1957273"/>
            <a:ext cx="2457450" cy="30670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38210" y="2071573"/>
            <a:ext cx="361920" cy="361920"/>
          </a:xfrm>
          <a:prstGeom prst="roundRect">
            <a:avLst>
              <a:gd name="adj" fmla="val 50000"/>
            </a:avLst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1090971" y="2090593"/>
            <a:ext cx="26581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</a:t>
            </a:r>
            <a:endParaRPr lang="en-US" sz="1650" dirty="0"/>
          </a:p>
        </p:txBody>
      </p:sp>
      <p:pic>
        <p:nvPicPr>
          <p:cNvPr id="7" name="Image 2" descr="/home/user/gogoeveryday/photo-course/export-pptx/build/img/p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810" y="1957273"/>
            <a:ext cx="2457450" cy="30670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667110" y="2071573"/>
            <a:ext cx="361920" cy="361920"/>
          </a:xfrm>
          <a:prstGeom prst="roundRect">
            <a:avLst>
              <a:gd name="adj" fmla="val 50000"/>
            </a:avLst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3715664" y="2090593"/>
            <a:ext cx="274137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B</a:t>
            </a:r>
            <a:endParaRPr lang="en-US" sz="1650" dirty="0"/>
          </a:p>
        </p:txBody>
      </p:sp>
      <p:pic>
        <p:nvPicPr>
          <p:cNvPr id="10" name="Image 3" descr="/home/user/gogoeveryday/photo-course/export-pptx/build/img/p6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10" y="1957273"/>
            <a:ext cx="2457450" cy="306708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296010" y="2071573"/>
            <a:ext cx="361920" cy="361920"/>
          </a:xfrm>
          <a:prstGeom prst="roundRect">
            <a:avLst>
              <a:gd name="adj" fmla="val 50000"/>
            </a:avLst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Text 6"/>
          <p:cNvSpPr txBox="1"/>
          <p:nvPr/>
        </p:nvSpPr>
        <p:spPr>
          <a:xfrm>
            <a:off x="6347308" y="2090593"/>
            <a:ext cx="268925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C</a:t>
            </a:r>
            <a:endParaRPr lang="en-US" sz="1650" dirty="0"/>
          </a:p>
        </p:txBody>
      </p:sp>
      <p:pic>
        <p:nvPicPr>
          <p:cNvPr id="13" name="Image 4" descr="/home/user/gogoeveryday/photo-course/export-pptx/build/img/p6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610" y="1957273"/>
            <a:ext cx="2457450" cy="3067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924910" y="2071573"/>
            <a:ext cx="361920" cy="361920"/>
          </a:xfrm>
          <a:prstGeom prst="roundRect">
            <a:avLst>
              <a:gd name="adj" fmla="val 50000"/>
            </a:avLst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Text 8"/>
          <p:cNvSpPr txBox="1"/>
          <p:nvPr/>
        </p:nvSpPr>
        <p:spPr>
          <a:xfrm>
            <a:off x="8970081" y="2090593"/>
            <a:ext cx="281178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D</a:t>
            </a:r>
            <a:endParaRPr lang="en-US" sz="1650" dirty="0"/>
          </a:p>
        </p:txBody>
      </p:sp>
      <p:sp>
        <p:nvSpPr>
          <p:cNvPr id="16" name="Text 9"/>
          <p:cNvSpPr txBox="1"/>
          <p:nvPr/>
        </p:nvSpPr>
        <p:spPr>
          <a:xfrm>
            <a:off x="3995654" y="5186202"/>
            <a:ext cx="4210263" cy="722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16"/>
              </a:lnSpc>
              <a:buNone/>
            </a:pPr>
            <a:r>
              <a:rPr lang="en-US" sz="18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先不要想技巧、不要管哪張比較好看。</a:t>
            </a:r>
            <a:endParaRPr lang="en-US" sz="1800" dirty="0"/>
          </a:p>
          <a:p>
            <a:pPr algn="ctr" indent="0" marL="0">
              <a:lnSpc>
                <a:spcPts val="2916"/>
              </a:lnSpc>
              <a:buNone/>
            </a:pPr>
            <a:r>
              <a:rPr lang="en-US" sz="18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哪一張，最像你想給客人的感覺？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764073"/>
            <a:ext cx="7162495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剛剛那四張，差別在這裡——</a:t>
            </a:r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感覺，決定怎麼拍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647670" y="1349563"/>
            <a:ext cx="2617013" cy="3457621"/>
          </a:xfrm>
          <a:prstGeom prst="roundRect">
            <a:avLst>
              <a:gd name="adj" fmla="val 873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501993"/>
            <a:ext cx="2312152" cy="47640"/>
          </a:xfrm>
          <a:prstGeom prst="roundRect">
            <a:avLst>
              <a:gd name="adj" fmla="val 49904"/>
            </a:avLst>
          </a:prstGeom>
          <a:solidFill>
            <a:srgbClr val="C9743F"/>
          </a:solidFill>
          <a:ln/>
        </p:spPr>
      </p:sp>
      <p:pic>
        <p:nvPicPr>
          <p:cNvPr id="6" name="Image 1" descr="/home/user/gogoeveryday/photo-course/export-pptx/build/img/p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44823"/>
            <a:ext cx="1924080" cy="126681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61970" y="2997403"/>
            <a:ext cx="1443289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溫暖手作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61970" y="338794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247790" y="338794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側光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61970" y="3711732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47790" y="3711732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木質、素色布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61970" y="403561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角度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47790" y="4035613"/>
            <a:ext cx="5899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45 度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61970" y="435949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構圖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247790" y="4359493"/>
            <a:ext cx="15043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留一點手的動作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407603" y="1349563"/>
            <a:ext cx="2617013" cy="3457621"/>
          </a:xfrm>
          <a:prstGeom prst="roundRect">
            <a:avLst>
              <a:gd name="adj" fmla="val 873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59942" y="1501993"/>
            <a:ext cx="2312152" cy="47640"/>
          </a:xfrm>
          <a:prstGeom prst="roundRect">
            <a:avLst>
              <a:gd name="adj" fmla="val 49904"/>
            </a:avLst>
          </a:prstGeom>
          <a:solidFill>
            <a:srgbClr val="4A7FA5"/>
          </a:solidFill>
          <a:ln/>
        </p:spPr>
      </p:sp>
      <p:pic>
        <p:nvPicPr>
          <p:cNvPr id="18" name="Image 2" descr="/home/user/gogoeveryday/photo-course/export-pptx/build/img/p7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942" y="1644823"/>
            <a:ext cx="1924080" cy="126681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521903" y="2997403"/>
            <a:ext cx="1452890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 乾淨專業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3521903" y="338794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007632" y="338794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順光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3521903" y="3711732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4007632" y="3711732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白或淺灰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3521903" y="403561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角度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4007632" y="4035613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平拍或正俯拍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3521903" y="435949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構圖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007632" y="4359493"/>
            <a:ext cx="15043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置中、不加濾鏡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167445" y="1349563"/>
            <a:ext cx="2617013" cy="3457621"/>
          </a:xfrm>
          <a:prstGeom prst="roundRect">
            <a:avLst>
              <a:gd name="adj" fmla="val 873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319876" y="1501993"/>
            <a:ext cx="2312152" cy="47640"/>
          </a:xfrm>
          <a:prstGeom prst="roundRect">
            <a:avLst>
              <a:gd name="adj" fmla="val 49904"/>
            </a:avLst>
          </a:prstGeom>
          <a:solidFill>
            <a:srgbClr val="6A9160"/>
          </a:solidFill>
          <a:ln/>
        </p:spPr>
      </p:sp>
      <p:pic>
        <p:nvPicPr>
          <p:cNvPr id="30" name="Image 3" descr="/home/user/gogoeveryday/photo-course/export-pptx/build/img/p7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876" y="1644823"/>
            <a:ext cx="1924080" cy="126681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281745" y="2997403"/>
            <a:ext cx="1446947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 新鮮現做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6281745" y="338794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6767474" y="3387943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窗邊自然光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6281745" y="3711732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6767474" y="3711732"/>
            <a:ext cx="170627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有製作痕跡的檯面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6281745" y="403561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角度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6767474" y="4035613"/>
            <a:ext cx="1228679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俯拍或 45 度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6281745" y="435949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構圖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6767474" y="4359493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加肢體動作</a:t>
            </a:r>
            <a:endParaRPr lang="en-US" sz="1500" dirty="0"/>
          </a:p>
        </p:txBody>
      </p:sp>
      <p:sp>
        <p:nvSpPr>
          <p:cNvPr id="40" name="Shape 34"/>
          <p:cNvSpPr/>
          <p:nvPr/>
        </p:nvSpPr>
        <p:spPr>
          <a:xfrm>
            <a:off x="8927287" y="1349563"/>
            <a:ext cx="2617013" cy="3457621"/>
          </a:xfrm>
          <a:prstGeom prst="roundRect">
            <a:avLst>
              <a:gd name="adj" fmla="val 873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9079718" y="1501993"/>
            <a:ext cx="2312152" cy="47640"/>
          </a:xfrm>
          <a:prstGeom prst="roundRect">
            <a:avLst>
              <a:gd name="adj" fmla="val 49904"/>
            </a:avLst>
          </a:prstGeom>
          <a:solidFill>
            <a:srgbClr val="7B5A86"/>
          </a:solidFill>
          <a:ln/>
        </p:spPr>
      </p:sp>
      <p:pic>
        <p:nvPicPr>
          <p:cNvPr id="42" name="Image 4" descr="/home/user/gogoeveryday/photo-course/export-pptx/build/img/p7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718" y="1644823"/>
            <a:ext cx="1924080" cy="126681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9041587" y="2997403"/>
            <a:ext cx="1460937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 高級精緻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041587" y="338794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9527408" y="3387943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側光或逆光</a:t>
            </a:r>
            <a:endParaRPr lang="en-US" sz="1500" dirty="0"/>
          </a:p>
        </p:txBody>
      </p:sp>
      <p:sp>
        <p:nvSpPr>
          <p:cNvPr id="46" name="Text 39"/>
          <p:cNvSpPr txBox="1"/>
          <p:nvPr/>
        </p:nvSpPr>
        <p:spPr>
          <a:xfrm>
            <a:off x="9041587" y="3711732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</a:t>
            </a:r>
            <a:endParaRPr lang="en-US" sz="1500" dirty="0"/>
          </a:p>
        </p:txBody>
      </p:sp>
      <p:sp>
        <p:nvSpPr>
          <p:cNvPr id="47" name="Text 40"/>
          <p:cNvSpPr txBox="1"/>
          <p:nvPr/>
        </p:nvSpPr>
        <p:spPr>
          <a:xfrm>
            <a:off x="9527408" y="3711732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深色</a:t>
            </a:r>
            <a:endParaRPr lang="en-US" sz="1500" dirty="0"/>
          </a:p>
        </p:txBody>
      </p:sp>
      <p:sp>
        <p:nvSpPr>
          <p:cNvPr id="48" name="Text 41"/>
          <p:cNvSpPr txBox="1"/>
          <p:nvPr/>
        </p:nvSpPr>
        <p:spPr>
          <a:xfrm>
            <a:off x="9041587" y="403561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角度</a:t>
            </a:r>
            <a:endParaRPr lang="en-US" sz="1500" dirty="0"/>
          </a:p>
        </p:txBody>
      </p:sp>
      <p:sp>
        <p:nvSpPr>
          <p:cNvPr id="49" name="Text 42"/>
          <p:cNvSpPr txBox="1"/>
          <p:nvPr/>
        </p:nvSpPr>
        <p:spPr>
          <a:xfrm>
            <a:off x="9527408" y="403561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1500" dirty="0"/>
          </a:p>
        </p:txBody>
      </p:sp>
      <p:sp>
        <p:nvSpPr>
          <p:cNvPr id="50" name="Text 43"/>
          <p:cNvSpPr txBox="1"/>
          <p:nvPr/>
        </p:nvSpPr>
        <p:spPr>
          <a:xfrm>
            <a:off x="9041587" y="435949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構圖</a:t>
            </a:r>
            <a:endParaRPr lang="en-US" sz="1500" dirty="0"/>
          </a:p>
        </p:txBody>
      </p:sp>
      <p:sp>
        <p:nvSpPr>
          <p:cNvPr id="51" name="Text 44"/>
          <p:cNvSpPr txBox="1"/>
          <p:nvPr/>
        </p:nvSpPr>
        <p:spPr>
          <a:xfrm>
            <a:off x="9527408" y="4359493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大量留白</a:t>
            </a:r>
            <a:endParaRPr lang="en-US" sz="1500" dirty="0"/>
          </a:p>
        </p:txBody>
      </p:sp>
      <p:sp>
        <p:nvSpPr>
          <p:cNvPr id="52" name="Shape 45"/>
          <p:cNvSpPr/>
          <p:nvPr/>
        </p:nvSpPr>
        <p:spPr>
          <a:xfrm>
            <a:off x="647670" y="4911882"/>
            <a:ext cx="10896630" cy="905805"/>
          </a:xfrm>
          <a:prstGeom prst="roundRect">
            <a:avLst>
              <a:gd name="adj" fmla="val 18928"/>
            </a:avLst>
          </a:prstGeom>
          <a:solidFill>
            <a:srgbClr val="FBEEE6"/>
          </a:solidFill>
          <a:ln/>
        </p:spPr>
      </p:sp>
      <p:sp>
        <p:nvSpPr>
          <p:cNvPr id="53" name="Shape 46"/>
          <p:cNvSpPr/>
          <p:nvPr/>
        </p:nvSpPr>
        <p:spPr>
          <a:xfrm>
            <a:off x="647670" y="4911882"/>
            <a:ext cx="47640" cy="905805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54" name="Image 5" descr="/home/user/gogoeveryday/photo-course/export-pptx/build/img/p7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10" y="5212446"/>
            <a:ext cx="274869" cy="304770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1313078" y="5054803"/>
            <a:ext cx="10528219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感覺定了，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光線、背景、角度、構圖四件事就都有答案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 不用每一項重新猜。今天每一段結束，我們都會回來對一次這張表。</a:t>
            </a:r>
            <a:endParaRPr lang="en-US" sz="15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946861"/>
            <a:ext cx="2073219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0 · 五分鐘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1327800"/>
            <a:ext cx="4048689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先不要想太多</a:t>
            </a:r>
            <a:endParaRPr lang="en-US" sz="3000" dirty="0"/>
          </a:p>
          <a:p>
            <a:pPr algn="l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照你平常的方式拍一張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61970" y="2647920"/>
            <a:ext cx="4735220" cy="69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不用擦鏡頭、不用找地方、不用調任何東西。</a:t>
            </a:r>
            <a:endParaRPr lang="en-US" sz="1725" dirty="0"/>
          </a:p>
          <a:p>
            <a:pPr algn="l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就像你平常拍要放到臉書那樣，拍一張就好。</a:t>
            </a:r>
            <a:endParaRPr lang="en-US" sz="1725" dirty="0"/>
          </a:p>
        </p:txBody>
      </p:sp>
      <p:sp>
        <p:nvSpPr>
          <p:cNvPr id="6" name="Shape 3"/>
          <p:cNvSpPr/>
          <p:nvPr/>
        </p:nvSpPr>
        <p:spPr>
          <a:xfrm>
            <a:off x="800100" y="3519526"/>
            <a:ext cx="5849234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3519526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8" name="Image 1" descr="/home/user/gogoeveryday/photo-course/export-pptx/build/img/p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3867638"/>
            <a:ext cx="202722" cy="30477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2382" y="3709995"/>
            <a:ext cx="5179527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這張照片千萬不要刪掉。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下午四點我們會把它拿出來， 跟你最後拍的那張並排比較。</a:t>
            </a:r>
            <a:endParaRPr lang="en-US" sz="1575" dirty="0"/>
          </a:p>
        </p:txBody>
      </p:sp>
      <p:sp>
        <p:nvSpPr>
          <p:cNvPr id="10" name="Shape 6"/>
          <p:cNvSpPr/>
          <p:nvPr/>
        </p:nvSpPr>
        <p:spPr>
          <a:xfrm>
            <a:off x="800100" y="4682460"/>
            <a:ext cx="1891162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3910" y="4768139"/>
            <a:ext cx="175226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這張哪裡不錯？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786543" y="4682460"/>
            <a:ext cx="2081632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2910352" y="4768139"/>
            <a:ext cx="195416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哪裡還可以更好？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0100" y="5244450"/>
            <a:ext cx="3415193" cy="46671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923910" y="5330129"/>
            <a:ext cx="336764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是手機的問題，還是拍法的問題？</a:t>
            </a:r>
            <a:endParaRPr lang="en-US" sz="1500" dirty="0"/>
          </a:p>
        </p:txBody>
      </p:sp>
      <p:pic>
        <p:nvPicPr>
          <p:cNvPr id="16" name="Image 2" descr="/home/user/gogoeveryday/photo-course/export-pptx/build/img/p8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557" y="1428750"/>
            <a:ext cx="3143250" cy="3810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925830"/>
            <a:ext cx="1726662" cy="208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2735610"/>
            <a:ext cx="2284628" cy="156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認識你的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手機相機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678710"/>
            <a:ext cx="6360749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找得到功能，後面才做得動。這一段不求快，求每個人都跟得上。</a:t>
            </a:r>
            <a:endParaRPr lang="en-US" sz="1725" dirty="0"/>
          </a:p>
        </p:txBody>
      </p:sp>
      <p:pic>
        <p:nvPicPr>
          <p:cNvPr id="6" name="Image 1" descr="/home/user/gogoeveryday/photo-course/export-pptx/build/img/p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050280"/>
            <a:ext cx="460290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兩邊的核心功能，其實一樣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882384"/>
            <a:ext cx="5191140" cy="25146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882384"/>
            <a:ext cx="5191140" cy="4764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6" name="Shape 3"/>
          <p:cNvSpPr/>
          <p:nvPr/>
        </p:nvSpPr>
        <p:spPr>
          <a:xfrm>
            <a:off x="5981730" y="1882384"/>
            <a:ext cx="18288" cy="25146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387474"/>
            <a:ext cx="519114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882384"/>
            <a:ext cx="18288" cy="25146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19190" y="2168134"/>
            <a:ext cx="193194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iPhone · iOS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19170" y="2539563"/>
            <a:ext cx="369527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介面各機型幾乎一致，教一次大家都通</a:t>
            </a:r>
            <a:endParaRPr lang="en-US" sz="1575" dirty="0"/>
          </a:p>
        </p:txBody>
      </p:sp>
      <p:sp>
        <p:nvSpPr>
          <p:cNvPr id="11" name="Text 8"/>
          <p:cNvSpPr txBox="1"/>
          <p:nvPr/>
        </p:nvSpPr>
        <p:spPr>
          <a:xfrm>
            <a:off x="1219170" y="2963479"/>
            <a:ext cx="263520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內建水平儀，拍俯拍很好用</a:t>
            </a:r>
            <a:endParaRPr lang="en-US" sz="1575" dirty="0"/>
          </a:p>
        </p:txBody>
      </p:sp>
      <p:sp>
        <p:nvSpPr>
          <p:cNvPr id="12" name="Text 9"/>
          <p:cNvSpPr txBox="1"/>
          <p:nvPr/>
        </p:nvSpPr>
        <p:spPr>
          <a:xfrm>
            <a:off x="1219170" y="3387303"/>
            <a:ext cx="2978475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沒有白平衡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，顏色只能事後修</a:t>
            </a:r>
            <a:endParaRPr lang="en-US" sz="1575" dirty="0"/>
          </a:p>
        </p:txBody>
      </p:sp>
      <p:sp>
        <p:nvSpPr>
          <p:cNvPr id="13" name="Text 10"/>
          <p:cNvSpPr txBox="1"/>
          <p:nvPr/>
        </p:nvSpPr>
        <p:spPr>
          <a:xfrm>
            <a:off x="1219170" y="3811219"/>
            <a:ext cx="284725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有原況照片、方形畫面、全景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6200821" y="1882384"/>
            <a:ext cx="5191140" cy="25146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00821" y="1882384"/>
            <a:ext cx="5191140" cy="47640"/>
          </a:xfrm>
          <a:prstGeom prst="rect">
            <a:avLst/>
          </a:prstGeom>
          <a:solidFill>
            <a:srgbClr val="6A9160"/>
          </a:solidFill>
          <a:ln/>
        </p:spPr>
      </p:sp>
      <p:sp>
        <p:nvSpPr>
          <p:cNvPr id="16" name="Shape 13"/>
          <p:cNvSpPr/>
          <p:nvPr/>
        </p:nvSpPr>
        <p:spPr>
          <a:xfrm>
            <a:off x="11382360" y="1882384"/>
            <a:ext cx="18288" cy="25146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200821" y="4387474"/>
            <a:ext cx="519114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200821" y="1882384"/>
            <a:ext cx="18288" cy="25146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19820" y="2168134"/>
            <a:ext cx="441774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Android · Samsung／OPPO／小米…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19890" y="2539563"/>
            <a:ext cx="32712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各廠牌介面差很多，位置要自己找</a:t>
            </a:r>
            <a:endParaRPr lang="en-US" sz="1575" dirty="0"/>
          </a:p>
        </p:txBody>
      </p:sp>
      <p:sp>
        <p:nvSpPr>
          <p:cNvPr id="21" name="Text 18"/>
          <p:cNvSpPr txBox="1"/>
          <p:nvPr/>
        </p:nvSpPr>
        <p:spPr>
          <a:xfrm>
            <a:off x="6619890" y="2963479"/>
            <a:ext cx="416106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多半有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專業模式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，可調白平衡、EV、ISO</a:t>
            </a:r>
            <a:endParaRPr lang="en-US" sz="1575" dirty="0"/>
          </a:p>
        </p:txBody>
      </p:sp>
      <p:sp>
        <p:nvSpPr>
          <p:cNvPr id="22" name="Text 19"/>
          <p:cNvSpPr txBox="1"/>
          <p:nvPr/>
        </p:nvSpPr>
        <p:spPr>
          <a:xfrm>
            <a:off x="6619890" y="3387303"/>
            <a:ext cx="329266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格線可能叫「構圖線」或「Grid」</a:t>
            </a:r>
            <a:endParaRPr lang="en-US" sz="1575" dirty="0"/>
          </a:p>
        </p:txBody>
      </p:sp>
      <p:sp>
        <p:nvSpPr>
          <p:cNvPr id="23" name="Text 20"/>
          <p:cNvSpPr txBox="1"/>
          <p:nvPr/>
        </p:nvSpPr>
        <p:spPr>
          <a:xfrm>
            <a:off x="6619890" y="3811219"/>
            <a:ext cx="24563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水平儀有些要另外裝 App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0100" y="4558924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DFE8DC"/>
          </a:solidFill>
          <a:ln/>
        </p:spPr>
      </p:sp>
      <p:sp>
        <p:nvSpPr>
          <p:cNvPr id="25" name="Shape 22"/>
          <p:cNvSpPr/>
          <p:nvPr/>
        </p:nvSpPr>
        <p:spPr>
          <a:xfrm>
            <a:off x="800100" y="4558924"/>
            <a:ext cx="47640" cy="1000994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26" name="Image 1" descr="/home/user/gogoeveryday/photo-course/export-pptx/build/img/p1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907036"/>
            <a:ext cx="282184" cy="30477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491844" y="4749394"/>
            <a:ext cx="10249875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「iOS 與 Android 在手機相機內建的功能中，有些微的差別，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但基本上都可以透過下載 App 補足各自缺少的功能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。」</a:t>
            </a:r>
            <a:endParaRPr lang="en-US" sz="15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363553"/>
            <a:ext cx="460290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每支手機都要找得到這六個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2195657"/>
            <a:ext cx="3429000" cy="1022939"/>
          </a:xfrm>
          <a:prstGeom prst="roundRect">
            <a:avLst>
              <a:gd name="adj" fmla="val 22347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pic>
        <p:nvPicPr>
          <p:cNvPr id="5" name="Image 1" descr="/home/user/gogoeveryday/photo-course/export-pptx/build/img/p1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71" y="2521275"/>
            <a:ext cx="323880" cy="323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19240" y="2367107"/>
            <a:ext cx="5652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對焦</a:t>
            </a:r>
            <a:endParaRPr lang="en-US" sz="1725" dirty="0"/>
          </a:p>
        </p:txBody>
      </p:sp>
      <p:sp>
        <p:nvSpPr>
          <p:cNvPr id="7" name="Text 3"/>
          <p:cNvSpPr txBox="1"/>
          <p:nvPr/>
        </p:nvSpPr>
        <p:spPr>
          <a:xfrm>
            <a:off x="1419240" y="2729027"/>
            <a:ext cx="170627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點螢幕，出現方框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4381530" y="2195657"/>
            <a:ext cx="3429000" cy="1022939"/>
          </a:xfrm>
          <a:prstGeom prst="roundRect">
            <a:avLst>
              <a:gd name="adj" fmla="val 22347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pic>
        <p:nvPicPr>
          <p:cNvPr id="9" name="Image 2" descr="/home/user/gogoeveryday/photo-course/export-pptx/build/img/p11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10" y="2521275"/>
            <a:ext cx="323880" cy="3238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00671" y="2367107"/>
            <a:ext cx="5652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亮度</a:t>
            </a:r>
            <a:endParaRPr lang="en-US" sz="1725" dirty="0"/>
          </a:p>
        </p:txBody>
      </p:sp>
      <p:sp>
        <p:nvSpPr>
          <p:cNvPr id="11" name="Text 6"/>
          <p:cNvSpPr txBox="1"/>
          <p:nvPr/>
        </p:nvSpPr>
        <p:spPr>
          <a:xfrm>
            <a:off x="5000671" y="2729027"/>
            <a:ext cx="15043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方框旁邊的太陽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962870" y="2195657"/>
            <a:ext cx="3429000" cy="1022939"/>
          </a:xfrm>
          <a:prstGeom prst="roundRect">
            <a:avLst>
              <a:gd name="adj" fmla="val 22347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pic>
        <p:nvPicPr>
          <p:cNvPr id="13" name="Image 3" descr="/home/user/gogoeveryday/photo-course/export-pptx/build/img/p11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940" y="2521275"/>
            <a:ext cx="323880" cy="323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582010" y="2367107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鏡頭切換</a:t>
            </a:r>
            <a:endParaRPr lang="en-US" sz="1725" dirty="0"/>
          </a:p>
        </p:txBody>
      </p:sp>
      <p:sp>
        <p:nvSpPr>
          <p:cNvPr id="15" name="Text 9"/>
          <p:cNvSpPr txBox="1"/>
          <p:nvPr/>
        </p:nvSpPr>
        <p:spPr>
          <a:xfrm>
            <a:off x="8582010" y="2729027"/>
            <a:ext cx="130082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0.5x／1x／2x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00100" y="3370936"/>
            <a:ext cx="3429000" cy="1022939"/>
          </a:xfrm>
          <a:prstGeom prst="roundRect">
            <a:avLst>
              <a:gd name="adj" fmla="val 22347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pic>
        <p:nvPicPr>
          <p:cNvPr id="17" name="Image 4" descr="/home/user/gogoeveryday/photo-course/export-pptx/build/img/p11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71" y="3696553"/>
            <a:ext cx="323880" cy="3238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19240" y="3542386"/>
            <a:ext cx="5652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格線</a:t>
            </a:r>
            <a:endParaRPr lang="en-US" sz="1725" dirty="0"/>
          </a:p>
        </p:txBody>
      </p:sp>
      <p:sp>
        <p:nvSpPr>
          <p:cNvPr id="19" name="Text 12"/>
          <p:cNvSpPr txBox="1"/>
          <p:nvPr/>
        </p:nvSpPr>
        <p:spPr>
          <a:xfrm>
            <a:off x="1419240" y="3904397"/>
            <a:ext cx="15043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設定裡的九宮格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4381530" y="3370936"/>
            <a:ext cx="3429000" cy="1022939"/>
          </a:xfrm>
          <a:prstGeom prst="roundRect">
            <a:avLst>
              <a:gd name="adj" fmla="val 22347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pic>
        <p:nvPicPr>
          <p:cNvPr id="21" name="Image 5" descr="/home/user/gogoeveryday/photo-course/export-pptx/build/img/p11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510" y="3696553"/>
            <a:ext cx="323880" cy="3238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000671" y="3542386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照片比例</a:t>
            </a:r>
            <a:endParaRPr lang="en-US" sz="1725" dirty="0"/>
          </a:p>
        </p:txBody>
      </p:sp>
      <p:sp>
        <p:nvSpPr>
          <p:cNvPr id="23" name="Text 15"/>
          <p:cNvSpPr txBox="1"/>
          <p:nvPr/>
        </p:nvSpPr>
        <p:spPr>
          <a:xfrm>
            <a:off x="5000671" y="3904397"/>
            <a:ext cx="144777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4:3／1:1／16:9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7962870" y="3370936"/>
            <a:ext cx="3429000" cy="1022939"/>
          </a:xfrm>
          <a:prstGeom prst="roundRect">
            <a:avLst>
              <a:gd name="adj" fmla="val 22347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pic>
        <p:nvPicPr>
          <p:cNvPr id="25" name="Image 6" descr="/home/user/gogoeveryday/photo-course/export-pptx/build/img/p11-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940" y="3696553"/>
            <a:ext cx="323880" cy="32388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582010" y="3542386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錄影畫質</a:t>
            </a:r>
            <a:endParaRPr lang="en-US" sz="1725" dirty="0"/>
          </a:p>
        </p:txBody>
      </p:sp>
      <p:sp>
        <p:nvSpPr>
          <p:cNvPr id="27" name="Text 18"/>
          <p:cNvSpPr txBox="1"/>
          <p:nvPr/>
        </p:nvSpPr>
        <p:spPr>
          <a:xfrm>
            <a:off x="8582010" y="3904397"/>
            <a:ext cx="159617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1080p／4K、fps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800100" y="4555815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9" name="Shape 20"/>
          <p:cNvSpPr/>
          <p:nvPr/>
        </p:nvSpPr>
        <p:spPr>
          <a:xfrm>
            <a:off x="800100" y="4555815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0" name="Image 7" descr="/home/user/gogoeveryday/photo-course/export-pptx/build/img/p11-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60" y="4748845"/>
            <a:ext cx="304770" cy="30477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514521" y="4746285"/>
            <a:ext cx="883200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找不到的時候，用手機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設定裡的搜尋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打關鍵字， 例如「格線」「畫質」。這比記位置有用得多。</a:t>
            </a:r>
            <a:endParaRPr lang="en-US" sz="15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107247"/>
            <a:ext cx="2940619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格線不是裝飾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是幫你拍直、拍正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334189"/>
            <a:ext cx="2495580" cy="2101200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530" y="2496129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0994" y="2486619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829519"/>
            <a:ext cx="85935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iPhone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87598"/>
            <a:ext cx="2312060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設定 → 相機 → 打開「格線」。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同一頁還有水平儀可以一起開。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29000" y="2334189"/>
            <a:ext cx="2495580" cy="2101200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81430" y="2496129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29894" y="2486619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543300" y="2829519"/>
            <a:ext cx="96268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Android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3543300" y="3187598"/>
            <a:ext cx="2332634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相機 App → 右上角設定 → 「格線」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或「構圖線」「Grid」。各廠名稱不同。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" y="4597329"/>
            <a:ext cx="5124480" cy="905805"/>
          </a:xfrm>
          <a:prstGeom prst="roundRect">
            <a:avLst>
              <a:gd name="adj" fmla="val 18928"/>
            </a:avLst>
          </a:prstGeom>
          <a:solidFill>
            <a:srgbClr val="F8E6C9"/>
          </a:solidFill>
          <a:ln/>
        </p:spPr>
      </p:sp>
      <p:sp>
        <p:nvSpPr>
          <p:cNvPr id="15" name="Shape 12"/>
          <p:cNvSpPr/>
          <p:nvPr/>
        </p:nvSpPr>
        <p:spPr>
          <a:xfrm>
            <a:off x="800100" y="4597329"/>
            <a:ext cx="47640" cy="905805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16" name="Image 1" descr="/home/user/gogoeveryday/photo-course/export-pptx/build/img/p1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4907310"/>
            <a:ext cx="149139" cy="28575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20668" y="4740158"/>
            <a:ext cx="4697730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三分法又叫「九宮格構圖法」，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在手機開啟格線功能後，即可使用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。下午講構圖就是用這條線。</a:t>
            </a:r>
            <a:endParaRPr lang="en-US" sz="1575" dirty="0"/>
          </a:p>
        </p:txBody>
      </p:sp>
      <p:pic>
        <p:nvPicPr>
          <p:cNvPr id="18" name="Image 2" descr="/home/user/gogoeveryday/photo-course/export-pptx/build/img/p12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30" y="1076340"/>
            <a:ext cx="2266980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44666" y="1369223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五分鐘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977366" y="1750253"/>
            <a:ext cx="4246656" cy="60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3"/>
              </a:lnSpc>
              <a:buNone/>
            </a:pPr>
            <a:r>
              <a:rPr lang="en-US" sz="3150" b="1" spc="-63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現在打開格線，拍一張</a:t>
            </a:r>
            <a:endParaRPr lang="en-US" sz="3150" dirty="0"/>
          </a:p>
        </p:txBody>
      </p:sp>
      <p:pic>
        <p:nvPicPr>
          <p:cNvPr id="5" name="Image 1" descr="/home/user/gogoeveryday/photo-course/export-pptx/build/img/p1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278" y="2628717"/>
            <a:ext cx="2857500" cy="21431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863407" y="3443173"/>
            <a:ext cx="47448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700" dirty="0"/>
          </a:p>
        </p:txBody>
      </p:sp>
      <p:pic>
        <p:nvPicPr>
          <p:cNvPr id="7" name="Image 2" descr="/home/user/gogoeveryday/photo-course/export-pptx/build/img/p1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628717"/>
            <a:ext cx="2857500" cy="214317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467448" y="2628717"/>
            <a:ext cx="18288" cy="214317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Shape 4"/>
          <p:cNvSpPr/>
          <p:nvPr/>
        </p:nvSpPr>
        <p:spPr>
          <a:xfrm>
            <a:off x="8419795" y="2628717"/>
            <a:ext cx="18288" cy="214317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Shape 5"/>
          <p:cNvSpPr/>
          <p:nvPr/>
        </p:nvSpPr>
        <p:spPr>
          <a:xfrm>
            <a:off x="6515100" y="3342955"/>
            <a:ext cx="2857500" cy="18288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1" name="Shape 6"/>
          <p:cNvSpPr/>
          <p:nvPr/>
        </p:nvSpPr>
        <p:spPr>
          <a:xfrm>
            <a:off x="6515100" y="4057376"/>
            <a:ext cx="2857500" cy="18288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2455987" y="4933828"/>
            <a:ext cx="72895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這一步先不用管好不好看，</a:t>
            </a:r>
            <a:pPr algn="ctr" indent="0" marL="0">
              <a:lnSpc>
                <a:spcPts val="2795"/>
              </a:lnSpc>
              <a:buNone/>
            </a:pPr>
            <a:r>
              <a:rPr lang="en-US" sz="172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只要確認你的螢幕上真的看得到那四條線</a:t>
            </a:r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7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402690"/>
            <a:ext cx="36530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看畫面裡留下多少東西</a:t>
            </a:r>
            <a:endParaRPr lang="en-US" sz="2700" dirty="0"/>
          </a:p>
        </p:txBody>
      </p:sp>
      <p:pic>
        <p:nvPicPr>
          <p:cNvPr id="4" name="Image 1" descr="/home/user/gogoeveryday/photo-course/export-pptx/build/img/p1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65" y="2211476"/>
            <a:ext cx="2857500" cy="2143171"/>
          </a:xfrm>
          <a:prstGeom prst="rect">
            <a:avLst/>
          </a:prstGeom>
        </p:spPr>
      </p:pic>
      <p:pic>
        <p:nvPicPr>
          <p:cNvPr id="5" name="Image 2" descr="/home/user/gogoeveryday/photo-course/export-pptx/build/img/p14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445" y="2211476"/>
            <a:ext cx="2143171" cy="2143171"/>
          </a:xfrm>
          <a:prstGeom prst="rect">
            <a:avLst/>
          </a:prstGeom>
        </p:spPr>
      </p:pic>
      <p:pic>
        <p:nvPicPr>
          <p:cNvPr id="6" name="Image 3" descr="/home/user/gogoeveryday/photo-course/export-pptx/build/img/p14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105" y="2744846"/>
            <a:ext cx="2857500" cy="160971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800100" y="4516496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8" name="Shape 2"/>
          <p:cNvSpPr/>
          <p:nvPr/>
        </p:nvSpPr>
        <p:spPr>
          <a:xfrm>
            <a:off x="800100" y="4516496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9" name="Image 4" descr="/home/user/gogoeveryday/photo-course/export-pptx/build/img/p14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60" y="4709526"/>
            <a:ext cx="304770" cy="30477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514521" y="4706965"/>
            <a:ext cx="734811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比例不是「哪個好看」，是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「畫面裡留下多少東西」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留得多，之後才有得裁。</a:t>
            </a:r>
            <a:endParaRPr lang="en-US" sz="15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452890"/>
            <a:ext cx="3356762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先用 4:3，三個理由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2284994"/>
            <a:ext cx="3416198" cy="2019635"/>
          </a:xfrm>
          <a:prstGeom prst="roundRect">
            <a:avLst>
              <a:gd name="adj" fmla="val 1131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19190" y="2523104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105784" y="255163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81060" y="2989814"/>
            <a:ext cx="1340510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留得最完整</a:t>
            </a:r>
            <a:endParaRPr lang="en-US" sz="1875" dirty="0"/>
          </a:p>
        </p:txBody>
      </p:sp>
      <p:sp>
        <p:nvSpPr>
          <p:cNvPr id="8" name="Text 5"/>
          <p:cNvSpPr txBox="1"/>
          <p:nvPr/>
        </p:nvSpPr>
        <p:spPr>
          <a:xfrm>
            <a:off x="981060" y="3427994"/>
            <a:ext cx="3189061" cy="62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手機感光元件本來就是 4:3，這是原生比例，不會浪費畫素。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4387748" y="2284994"/>
            <a:ext cx="3416381" cy="2019635"/>
          </a:xfrm>
          <a:prstGeom prst="roundRect">
            <a:avLst>
              <a:gd name="adj" fmla="val 1131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6839" y="2523104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5F7A63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93432" y="255163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68708" y="2989814"/>
            <a:ext cx="1090605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之後好裁</a:t>
            </a:r>
            <a:endParaRPr lang="en-US" sz="1875" dirty="0"/>
          </a:p>
        </p:txBody>
      </p:sp>
      <p:sp>
        <p:nvSpPr>
          <p:cNvPr id="13" name="Text 10"/>
          <p:cNvSpPr txBox="1"/>
          <p:nvPr/>
        </p:nvSpPr>
        <p:spPr>
          <a:xfrm>
            <a:off x="4568708" y="3427994"/>
            <a:ext cx="3068178" cy="62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要發 IG 裁成 1:1、要發限動裁成 9:16，都還有空間。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7975580" y="2284994"/>
            <a:ext cx="3416198" cy="2019635"/>
          </a:xfrm>
          <a:prstGeom prst="roundRect">
            <a:avLst>
              <a:gd name="adj" fmla="val 11319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94670" y="2523104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D99A4E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81264" y="255163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156539" y="2989814"/>
            <a:ext cx="1090605" cy="3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不會後悔</a:t>
            </a:r>
            <a:endParaRPr lang="en-US" sz="1875" dirty="0"/>
          </a:p>
        </p:txBody>
      </p:sp>
      <p:sp>
        <p:nvSpPr>
          <p:cNvPr id="18" name="Text 15"/>
          <p:cNvSpPr txBox="1"/>
          <p:nvPr/>
        </p:nvSpPr>
        <p:spPr>
          <a:xfrm>
            <a:off x="8156539" y="3427994"/>
            <a:ext cx="2847259" cy="62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2"/>
              </a:lnSpc>
              <a:buNone/>
            </a:pPr>
            <a:r>
              <a:rPr lang="en-US" sz="15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拍太滿事後救不回來；留白一點，永遠有退路。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800100" y="4466478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8E6C9"/>
          </a:solidFill>
          <a:ln/>
        </p:spPr>
      </p:sp>
      <p:sp>
        <p:nvSpPr>
          <p:cNvPr id="20" name="Shape 17"/>
          <p:cNvSpPr/>
          <p:nvPr/>
        </p:nvSpPr>
        <p:spPr>
          <a:xfrm>
            <a:off x="800100" y="4466478"/>
            <a:ext cx="47640" cy="6910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21" name="Image 1" descr="/home/user/gogoeveryday/photo-course/export-pptx/build/img/p1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659508"/>
            <a:ext cx="304770" cy="30477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514521" y="4656948"/>
            <a:ext cx="932441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不要一開始就把所有照片拍成 16:9。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拍得寬，不代表拍得好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，而且事後補不回上下被切掉的部分。</a:t>
            </a:r>
            <a:endParaRPr lang="en-US" sz="15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648846"/>
            <a:ext cx="2584369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畫素高，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照片不一定好看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2875788"/>
            <a:ext cx="4311396" cy="100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「有些人認為畫素愈高，呈現的畫質就會愈好，</a:t>
            </a:r>
            <a:pPr algn="l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其實並不一定</a:t>
            </a:r>
            <a:pPr algn="l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。」</a:t>
            </a:r>
            <a:endParaRPr lang="en-US" sz="1650" dirty="0"/>
          </a:p>
          <a:p>
            <a:pPr algn="l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決定畫質的是感光元件大小，不是數字。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800100" y="4055730"/>
            <a:ext cx="4339560" cy="905805"/>
          </a:xfrm>
          <a:prstGeom prst="roundRect">
            <a:avLst>
              <a:gd name="adj" fmla="val 18928"/>
            </a:avLst>
          </a:prstGeom>
          <a:solidFill>
            <a:srgbClr val="DFE8DC"/>
          </a:solidFill>
          <a:ln/>
        </p:spPr>
      </p:sp>
      <p:sp>
        <p:nvSpPr>
          <p:cNvPr id="6" name="Shape 3"/>
          <p:cNvSpPr/>
          <p:nvPr/>
        </p:nvSpPr>
        <p:spPr>
          <a:xfrm>
            <a:off x="800100" y="4055730"/>
            <a:ext cx="47640" cy="905805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7" name="Image 1" descr="/home/user/gogoeveryday/photo-course/export-pptx/build/img/p1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4365711"/>
            <a:ext cx="217627" cy="2857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89156" y="4198559"/>
            <a:ext cx="3695273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現在的手機，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畫素都夠用了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。今天不用再想這件事。</a:t>
            </a:r>
            <a:endParaRPr lang="en-US" sz="1575" dirty="0"/>
          </a:p>
        </p:txBody>
      </p:sp>
      <p:sp>
        <p:nvSpPr>
          <p:cNvPr id="9" name="Text 5"/>
          <p:cNvSpPr txBox="1"/>
          <p:nvPr/>
        </p:nvSpPr>
        <p:spPr>
          <a:xfrm>
            <a:off x="5482560" y="1519276"/>
            <a:ext cx="270790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真正決定照片好壞的四件事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520599" y="2100285"/>
            <a:ext cx="5871271" cy="619140"/>
          </a:xfrm>
          <a:prstGeom prst="roundRect">
            <a:avLst>
              <a:gd name="adj" fmla="val 21533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5520599" y="2100285"/>
            <a:ext cx="58712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11382360" y="2100285"/>
            <a:ext cx="18288" cy="6191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5520599" y="2709824"/>
            <a:ext cx="58712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5520599" y="2100285"/>
            <a:ext cx="47640" cy="6191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701650" y="2233605"/>
            <a:ext cx="588691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825539" y="2257471"/>
            <a:ext cx="178710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夠不夠、從哪裡來</a:t>
            </a:r>
            <a:endParaRPr lang="en-US" sz="1575" dirty="0"/>
          </a:p>
        </p:txBody>
      </p:sp>
      <p:sp>
        <p:nvSpPr>
          <p:cNvPr id="17" name="Shape 13"/>
          <p:cNvSpPr/>
          <p:nvPr/>
        </p:nvSpPr>
        <p:spPr>
          <a:xfrm>
            <a:off x="5520599" y="2824124"/>
            <a:ext cx="5871271" cy="619140"/>
          </a:xfrm>
          <a:prstGeom prst="roundRect">
            <a:avLst>
              <a:gd name="adj" fmla="val 21533"/>
            </a:avLst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5520599" y="2824124"/>
            <a:ext cx="58712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11382360" y="2824124"/>
            <a:ext cx="18288" cy="6191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5520599" y="3433755"/>
            <a:ext cx="58712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5520599" y="2824124"/>
            <a:ext cx="47640" cy="6191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701650" y="2957535"/>
            <a:ext cx="588691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對焦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6825539" y="2981310"/>
            <a:ext cx="178710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有沒有點在商品上</a:t>
            </a:r>
            <a:endParaRPr lang="en-US" sz="1575" dirty="0"/>
          </a:p>
        </p:txBody>
      </p:sp>
      <p:sp>
        <p:nvSpPr>
          <p:cNvPr id="24" name="Shape 20"/>
          <p:cNvSpPr/>
          <p:nvPr/>
        </p:nvSpPr>
        <p:spPr>
          <a:xfrm>
            <a:off x="5520599" y="3548055"/>
            <a:ext cx="5871271" cy="619140"/>
          </a:xfrm>
          <a:prstGeom prst="roundRect">
            <a:avLst>
              <a:gd name="adj" fmla="val 21533"/>
            </a:avLst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5520599" y="3548055"/>
            <a:ext cx="58712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11382360" y="3548055"/>
            <a:ext cx="18288" cy="6191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5520599" y="4157685"/>
            <a:ext cx="58712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5520599" y="3548055"/>
            <a:ext cx="47640" cy="6191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701650" y="3681374"/>
            <a:ext cx="588691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手震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6825539" y="3705240"/>
            <a:ext cx="115104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有沒有拿穩</a:t>
            </a:r>
            <a:endParaRPr lang="en-US" sz="1575" dirty="0"/>
          </a:p>
        </p:txBody>
      </p:sp>
      <p:sp>
        <p:nvSpPr>
          <p:cNvPr id="31" name="Shape 27"/>
          <p:cNvSpPr/>
          <p:nvPr/>
        </p:nvSpPr>
        <p:spPr>
          <a:xfrm>
            <a:off x="5520599" y="4271985"/>
            <a:ext cx="5871271" cy="619140"/>
          </a:xfrm>
          <a:prstGeom prst="roundRect">
            <a:avLst>
              <a:gd name="adj" fmla="val 21533"/>
            </a:avLst>
          </a:prstGeom>
          <a:solidFill>
            <a:srgbClr val="FFFFFF"/>
          </a:solidFill>
          <a:ln/>
        </p:spPr>
      </p:sp>
      <p:sp>
        <p:nvSpPr>
          <p:cNvPr id="32" name="Shape 28"/>
          <p:cNvSpPr/>
          <p:nvPr/>
        </p:nvSpPr>
        <p:spPr>
          <a:xfrm>
            <a:off x="5520599" y="4271985"/>
            <a:ext cx="58712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11382360" y="4271985"/>
            <a:ext cx="18288" cy="6191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5520599" y="4881524"/>
            <a:ext cx="58712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5520599" y="4271985"/>
            <a:ext cx="47640" cy="61914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5701650" y="4405305"/>
            <a:ext cx="1060155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數位變焦</a:t>
            </a:r>
            <a:endParaRPr lang="en-US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6825539" y="4429171"/>
            <a:ext cx="199906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有沒有用手指硬放大</a:t>
            </a:r>
            <a:endParaRPr lang="en-US" sz="1575" dirty="0"/>
          </a:p>
        </p:txBody>
      </p:sp>
      <p:sp>
        <p:nvSpPr>
          <p:cNvPr id="38" name="Text 34"/>
          <p:cNvSpPr txBox="1"/>
          <p:nvPr/>
        </p:nvSpPr>
        <p:spPr>
          <a:xfrm>
            <a:off x="5482560" y="5043465"/>
            <a:ext cx="27159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這四件事，今天全部都會教。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500348"/>
            <a:ext cx="32968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兩個數字，看懂就好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309043"/>
            <a:ext cx="5191140" cy="1947855"/>
          </a:xfrm>
          <a:prstGeom prst="roundRect">
            <a:avLst>
              <a:gd name="adj" fmla="val 117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309043"/>
            <a:ext cx="5191140" cy="4764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6" name="Shape 3"/>
          <p:cNvSpPr/>
          <p:nvPr/>
        </p:nvSpPr>
        <p:spPr>
          <a:xfrm>
            <a:off x="5981730" y="2309043"/>
            <a:ext cx="18288" cy="1947855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247388"/>
            <a:ext cx="519114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309043"/>
            <a:ext cx="18288" cy="1947855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19190" y="2594793"/>
            <a:ext cx="7488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解析度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19190" y="2966314"/>
            <a:ext cx="33147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11" name="Text 8"/>
          <p:cNvSpPr txBox="1"/>
          <p:nvPr/>
        </p:nvSpPr>
        <p:spPr>
          <a:xfrm>
            <a:off x="1333470" y="2966314"/>
            <a:ext cx="412037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1080p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發社群完全夠用，檔案小、上傳快</a:t>
            </a:r>
            <a:endParaRPr lang="en-US" sz="1575" dirty="0"/>
          </a:p>
        </p:txBody>
      </p:sp>
      <p:sp>
        <p:nvSpPr>
          <p:cNvPr id="12" name="Text 9"/>
          <p:cNvSpPr txBox="1"/>
          <p:nvPr/>
        </p:nvSpPr>
        <p:spPr>
          <a:xfrm>
            <a:off x="1019190" y="3371118"/>
            <a:ext cx="33147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13" name="Text 10"/>
          <p:cNvSpPr txBox="1"/>
          <p:nvPr/>
        </p:nvSpPr>
        <p:spPr>
          <a:xfrm>
            <a:off x="1333470" y="3371118"/>
            <a:ext cx="354174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4K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細節多，但檔案大、手機容易滿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6200821" y="2309043"/>
            <a:ext cx="5191140" cy="1947855"/>
          </a:xfrm>
          <a:prstGeom prst="roundRect">
            <a:avLst>
              <a:gd name="adj" fmla="val 117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00821" y="2309043"/>
            <a:ext cx="519114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6" name="Shape 13"/>
          <p:cNvSpPr/>
          <p:nvPr/>
        </p:nvSpPr>
        <p:spPr>
          <a:xfrm>
            <a:off x="11382360" y="2309043"/>
            <a:ext cx="18288" cy="1947855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200821" y="4247388"/>
            <a:ext cx="519114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200821" y="2309043"/>
            <a:ext cx="18288" cy="1947855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19820" y="2594793"/>
            <a:ext cx="1377818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每秒格數 fps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419820" y="2966314"/>
            <a:ext cx="33147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21" name="Text 18"/>
          <p:cNvSpPr txBox="1"/>
          <p:nvPr/>
        </p:nvSpPr>
        <p:spPr>
          <a:xfrm>
            <a:off x="6734190" y="2966314"/>
            <a:ext cx="214463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30fps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一般日常影片</a:t>
            </a:r>
            <a:endParaRPr lang="en-US" sz="1575" dirty="0"/>
          </a:p>
        </p:txBody>
      </p:sp>
      <p:sp>
        <p:nvSpPr>
          <p:cNvPr id="22" name="Text 19"/>
          <p:cNvSpPr txBox="1"/>
          <p:nvPr/>
        </p:nvSpPr>
        <p:spPr>
          <a:xfrm>
            <a:off x="6419820" y="3371118"/>
            <a:ext cx="33147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●</a:t>
            </a:r>
            <a:endParaRPr lang="en-US" sz="1575" dirty="0"/>
          </a:p>
        </p:txBody>
      </p:sp>
      <p:sp>
        <p:nvSpPr>
          <p:cNvPr id="23" name="Text 20"/>
          <p:cNvSpPr txBox="1"/>
          <p:nvPr/>
        </p:nvSpPr>
        <p:spPr>
          <a:xfrm>
            <a:off x="6734190" y="3371118"/>
            <a:ext cx="4688952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60fps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動作順，適合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倒果醬、撒糖粉、切蛋糕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這種畫面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00100" y="4418838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5" name="Shape 22"/>
          <p:cNvSpPr/>
          <p:nvPr/>
        </p:nvSpPr>
        <p:spPr>
          <a:xfrm>
            <a:off x="800100" y="4418838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6" name="Image 1" descr="/home/user/gogoeveryday/photo-course/export-pptx/build/img/p1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611868"/>
            <a:ext cx="304770" cy="30477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514521" y="4609399"/>
            <a:ext cx="766971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初學者就設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1080p / 30fps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要拍製作過程的動作畫面，再改成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1080p / 60fps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086923" y="1269919"/>
            <a:ext cx="60276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設好這五項，今天之後都不用再改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095530" y="2125248"/>
            <a:ext cx="3857671" cy="590520"/>
          </a:xfrm>
          <a:prstGeom prst="roundRect">
            <a:avLst>
              <a:gd name="adj" fmla="val 22577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276490" y="2306208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564892" y="2249058"/>
            <a:ext cx="12519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格線 </a:t>
            </a:r>
            <a:pPr algn="ctr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打開</a:t>
            </a:r>
            <a:endParaRPr lang="en-US" sz="1725" dirty="0"/>
          </a:p>
        </p:txBody>
      </p:sp>
      <p:sp>
        <p:nvSpPr>
          <p:cNvPr id="7" name="Shape 4"/>
          <p:cNvSpPr/>
          <p:nvPr/>
        </p:nvSpPr>
        <p:spPr>
          <a:xfrm>
            <a:off x="6238860" y="2125248"/>
            <a:ext cx="3857671" cy="590520"/>
          </a:xfrm>
          <a:prstGeom prst="roundRect">
            <a:avLst>
              <a:gd name="adj" fmla="val 22577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19820" y="2306208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98346" y="2249058"/>
            <a:ext cx="1601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照片比例 </a:t>
            </a:r>
            <a:pPr algn="ctr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4:3</a:t>
            </a:r>
            <a:endParaRPr lang="en-US" sz="1725" dirty="0"/>
          </a:p>
        </p:txBody>
      </p:sp>
      <p:sp>
        <p:nvSpPr>
          <p:cNvPr id="10" name="Shape 7"/>
          <p:cNvSpPr/>
          <p:nvPr/>
        </p:nvSpPr>
        <p:spPr>
          <a:xfrm>
            <a:off x="2095530" y="2849179"/>
            <a:ext cx="3857671" cy="590520"/>
          </a:xfrm>
          <a:prstGeom prst="roundRect">
            <a:avLst>
              <a:gd name="adj" fmla="val 22577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76490" y="3030139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35174" y="2972989"/>
            <a:ext cx="23041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錄影 </a:t>
            </a:r>
            <a:pPr algn="ctr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1080p / 30fps</a:t>
            </a:r>
            <a:endParaRPr lang="en-US" sz="1725" dirty="0"/>
          </a:p>
        </p:txBody>
      </p:sp>
      <p:sp>
        <p:nvSpPr>
          <p:cNvPr id="13" name="Shape 10"/>
          <p:cNvSpPr/>
          <p:nvPr/>
        </p:nvSpPr>
        <p:spPr>
          <a:xfrm>
            <a:off x="6238860" y="2849179"/>
            <a:ext cx="3857671" cy="590520"/>
          </a:xfrm>
          <a:prstGeom prst="roundRect">
            <a:avLst>
              <a:gd name="adj" fmla="val 22577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19820" y="3030139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01729" y="2972989"/>
            <a:ext cx="14842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閃光燈 </a:t>
            </a:r>
            <a:pPr algn="ctr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關閉</a:t>
            </a:r>
            <a:endParaRPr lang="en-US" sz="1725" dirty="0"/>
          </a:p>
        </p:txBody>
      </p:sp>
      <p:sp>
        <p:nvSpPr>
          <p:cNvPr id="16" name="Shape 13"/>
          <p:cNvSpPr/>
          <p:nvPr/>
        </p:nvSpPr>
        <p:spPr>
          <a:xfrm>
            <a:off x="2095530" y="3573109"/>
            <a:ext cx="3857671" cy="914400"/>
          </a:xfrm>
          <a:prstGeom prst="roundRect">
            <a:avLst>
              <a:gd name="adj" fmla="val 1458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276490" y="3916009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10703" y="3696919"/>
            <a:ext cx="3198663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上傳畫質 </a:t>
            </a:r>
            <a:pPr algn="ctr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最高（社群 App 裡設定）</a:t>
            </a:r>
            <a:endParaRPr lang="en-US" sz="1725" dirty="0"/>
          </a:p>
        </p:txBody>
      </p:sp>
      <p:sp>
        <p:nvSpPr>
          <p:cNvPr id="19" name="Shape 16"/>
          <p:cNvSpPr/>
          <p:nvPr/>
        </p:nvSpPr>
        <p:spPr>
          <a:xfrm>
            <a:off x="2322759" y="4649358"/>
            <a:ext cx="7546360" cy="691012"/>
          </a:xfrm>
          <a:prstGeom prst="roundRect">
            <a:avLst>
              <a:gd name="adj" fmla="val 24811"/>
            </a:avLst>
          </a:prstGeom>
          <a:solidFill>
            <a:srgbClr val="DFE8DC"/>
          </a:solidFill>
          <a:ln/>
        </p:spPr>
      </p:sp>
      <p:sp>
        <p:nvSpPr>
          <p:cNvPr id="20" name="Shape 17"/>
          <p:cNvSpPr/>
          <p:nvPr/>
        </p:nvSpPr>
        <p:spPr>
          <a:xfrm>
            <a:off x="2322759" y="4649358"/>
            <a:ext cx="47640" cy="691012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21" name="Image 1" descr="/home/user/gogoeveryday/photo-course/export-pptx/build/img/p1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019" y="4842388"/>
            <a:ext cx="304770" cy="30477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838206" y="4839919"/>
            <a:ext cx="702990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這五項是一次性的設定。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設完就忘掉它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 接下來整天我們只練「怎麼拍」。</a:t>
            </a:r>
            <a:endParaRPr lang="en-US" sz="15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925830"/>
            <a:ext cx="1726662" cy="208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2735610"/>
            <a:ext cx="3381543" cy="156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拍攝前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把手機準備好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678710"/>
            <a:ext cx="6593007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這一段不教技巧，只做整理。做完之後，同一支手機拍出來就會不一樣。</a:t>
            </a:r>
            <a:endParaRPr lang="en-US" sz="1725" dirty="0"/>
          </a:p>
        </p:txBody>
      </p:sp>
      <p:pic>
        <p:nvPicPr>
          <p:cNvPr id="6" name="Image 1" descr="/home/user/gogoeveryday/photo-course/export-pptx/build/img/p1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542136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三分鐘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1923166"/>
            <a:ext cx="2465680" cy="103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</a:t>
            </a:r>
            <a:pPr algn="l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</a:t>
            </a:r>
            <a:pPr algn="l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擦鏡頭</a:t>
            </a:r>
            <a:endParaRPr lang="en-US" sz="3000" dirty="0"/>
          </a:p>
          <a:p>
            <a:pPr algn="l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照原樣拍一張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61970" y="3243285"/>
            <a:ext cx="4502963" cy="69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找一個有光的地方，對著你的商品拍一張。</a:t>
            </a:r>
            <a:endParaRPr lang="en-US" sz="1725" dirty="0"/>
          </a:p>
          <a:p>
            <a:pPr algn="l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鏡頭髒不髒先不用管——等一下才要處理。</a:t>
            </a:r>
            <a:endParaRPr lang="en-US" sz="1725" dirty="0"/>
          </a:p>
        </p:txBody>
      </p:sp>
      <p:sp>
        <p:nvSpPr>
          <p:cNvPr id="6" name="Shape 3"/>
          <p:cNvSpPr/>
          <p:nvPr/>
        </p:nvSpPr>
        <p:spPr>
          <a:xfrm>
            <a:off x="800100" y="4114800"/>
            <a:ext cx="5849234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114800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8" name="Image 1" descr="/home/user/gogoeveryday/photo-course/export-pptx/build/img/p2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462912"/>
            <a:ext cx="285293" cy="30477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94953" y="4305270"/>
            <a:ext cx="5179527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先不要刪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。等一下擦完鏡頭再拍一張，兩張要並排比。</a:t>
            </a:r>
            <a:endParaRPr lang="en-US" sz="1575" dirty="0"/>
          </a:p>
        </p:txBody>
      </p:sp>
      <p:pic>
        <p:nvPicPr>
          <p:cNvPr id="10" name="Image 2" descr="/home/user/gogoeveryday/photo-course/export-pptx/build/img/p20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557" y="2000250"/>
            <a:ext cx="3143250" cy="26670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069299"/>
            <a:ext cx="5354909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鏡頭髒，整張照片都會蒙一層霧</a:t>
            </a:r>
            <a:endParaRPr lang="en-US" sz="285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2259025"/>
            <a:ext cx="161748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髒了會出現什麼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00100" y="2840126"/>
            <a:ext cx="5133990" cy="552480"/>
          </a:xfrm>
          <a:prstGeom prst="roundRect">
            <a:avLst>
              <a:gd name="adj" fmla="val 22410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800100" y="2840126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924580" y="2840126"/>
            <a:ext cx="18288" cy="5524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3383006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2840126"/>
            <a:ext cx="38130" cy="55248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2530" y="2954426"/>
            <a:ext cx="120161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整張霧霧的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2124243" y="2944825"/>
            <a:ext cx="29178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像隔著毛玻璃，怎麼調都不清楚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0100" y="3497306"/>
            <a:ext cx="5133990" cy="552480"/>
          </a:xfrm>
          <a:prstGeom prst="roundRect">
            <a:avLst>
              <a:gd name="adj" fmla="val 22410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00100" y="3497306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24580" y="3497306"/>
            <a:ext cx="18288" cy="5524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00100" y="4040276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00100" y="3497306"/>
            <a:ext cx="38130" cy="55248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2530" y="3611606"/>
            <a:ext cx="979505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光線散掉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2009760" y="3602096"/>
            <a:ext cx="25140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有燈的地方會出現一片光暈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0100" y="4154576"/>
            <a:ext cx="5133990" cy="552480"/>
          </a:xfrm>
          <a:prstGeom prst="roundRect">
            <a:avLst>
              <a:gd name="adj" fmla="val 22410"/>
            </a:avLst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800100" y="4154576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924580" y="4154576"/>
            <a:ext cx="18288" cy="5524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00100" y="4697456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800100" y="4154576"/>
            <a:ext cx="38130" cy="55248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52530" y="4268876"/>
            <a:ext cx="979505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細節不見</a:t>
            </a:r>
            <a:endParaRPr lang="en-US" sz="1650" dirty="0"/>
          </a:p>
        </p:txBody>
      </p:sp>
      <p:sp>
        <p:nvSpPr>
          <p:cNvPr id="25" name="Text 22"/>
          <p:cNvSpPr txBox="1"/>
          <p:nvPr/>
        </p:nvSpPr>
        <p:spPr>
          <a:xfrm>
            <a:off x="2009760" y="4259275"/>
            <a:ext cx="25140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商品的紋理、字都糊在一起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00100" y="4811756"/>
            <a:ext cx="5133990" cy="552480"/>
          </a:xfrm>
          <a:prstGeom prst="roundRect">
            <a:avLst>
              <a:gd name="adj" fmla="val 2241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800100" y="4811756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924580" y="4811756"/>
            <a:ext cx="18288" cy="5524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00100" y="5354726"/>
            <a:ext cx="51339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800100" y="4811756"/>
            <a:ext cx="38130" cy="55248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52530" y="4926056"/>
            <a:ext cx="120161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夜間更嚴重</a:t>
            </a:r>
            <a:endParaRPr lang="en-US" sz="1650" dirty="0"/>
          </a:p>
        </p:txBody>
      </p:sp>
      <p:sp>
        <p:nvSpPr>
          <p:cNvPr id="32" name="Text 29"/>
          <p:cNvSpPr txBox="1"/>
          <p:nvPr/>
        </p:nvSpPr>
        <p:spPr>
          <a:xfrm>
            <a:off x="2124243" y="4916546"/>
            <a:ext cx="21101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路燈、招牌會拖出光斑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219840" y="2082363"/>
            <a:ext cx="74880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怎麼擦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257971" y="2663464"/>
            <a:ext cx="5133990" cy="1885950"/>
          </a:xfrm>
          <a:prstGeom prst="roundRect">
            <a:avLst>
              <a:gd name="adj" fmla="val 12121"/>
            </a:avLst>
          </a:prstGeom>
          <a:solidFill>
            <a:srgbClr val="DFE8DC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438930" y="2853934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36" name="Text 33"/>
          <p:cNvSpPr txBox="1"/>
          <p:nvPr/>
        </p:nvSpPr>
        <p:spPr>
          <a:xfrm>
            <a:off x="6697889" y="2853934"/>
            <a:ext cx="305930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眼鏡布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超細纖維布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，乾的就好</a:t>
            </a:r>
            <a:endParaRPr lang="en-US" sz="1575" dirty="0"/>
          </a:p>
        </p:txBody>
      </p:sp>
      <p:sp>
        <p:nvSpPr>
          <p:cNvPr id="37" name="Text 34"/>
          <p:cNvSpPr txBox="1"/>
          <p:nvPr/>
        </p:nvSpPr>
        <p:spPr>
          <a:xfrm>
            <a:off x="6438930" y="3249229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38" name="Text 35"/>
          <p:cNvSpPr txBox="1"/>
          <p:nvPr/>
        </p:nvSpPr>
        <p:spPr>
          <a:xfrm>
            <a:off x="6697889" y="3249229"/>
            <a:ext cx="242316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畫圓輕輕擦，從中間往外</a:t>
            </a:r>
            <a:endParaRPr lang="en-US" sz="1575" dirty="0"/>
          </a:p>
        </p:txBody>
      </p:sp>
      <p:sp>
        <p:nvSpPr>
          <p:cNvPr id="39" name="Text 36"/>
          <p:cNvSpPr txBox="1"/>
          <p:nvPr/>
        </p:nvSpPr>
        <p:spPr>
          <a:xfrm>
            <a:off x="6438930" y="3644524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40" name="Text 37"/>
          <p:cNvSpPr txBox="1"/>
          <p:nvPr/>
        </p:nvSpPr>
        <p:spPr>
          <a:xfrm>
            <a:off x="6724680" y="3644524"/>
            <a:ext cx="221120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衣服下擺、面紙、口水</a:t>
            </a:r>
            <a:endParaRPr lang="en-US" sz="1575" dirty="0"/>
          </a:p>
        </p:txBody>
      </p:sp>
      <p:sp>
        <p:nvSpPr>
          <p:cNvPr id="41" name="Text 38"/>
          <p:cNvSpPr txBox="1"/>
          <p:nvPr/>
        </p:nvSpPr>
        <p:spPr>
          <a:xfrm>
            <a:off x="6438930" y="4039819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42" name="Text 39"/>
          <p:cNvSpPr txBox="1"/>
          <p:nvPr/>
        </p:nvSpPr>
        <p:spPr>
          <a:xfrm>
            <a:off x="6724680" y="4039819"/>
            <a:ext cx="263520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用力來回磨（會刮傷鍍膜）</a:t>
            </a:r>
            <a:endParaRPr lang="en-US" sz="1575" dirty="0"/>
          </a:p>
        </p:txBody>
      </p:sp>
      <p:sp>
        <p:nvSpPr>
          <p:cNvPr id="43" name="Shape 40"/>
          <p:cNvSpPr/>
          <p:nvPr/>
        </p:nvSpPr>
        <p:spPr>
          <a:xfrm>
            <a:off x="6257971" y="4654113"/>
            <a:ext cx="5133990" cy="886694"/>
          </a:xfrm>
          <a:prstGeom prst="roundRect">
            <a:avLst>
              <a:gd name="adj" fmla="val 19336"/>
            </a:avLst>
          </a:prstGeom>
          <a:solidFill>
            <a:srgbClr val="F8E6C9"/>
          </a:solidFill>
          <a:ln/>
        </p:spPr>
      </p:sp>
      <p:sp>
        <p:nvSpPr>
          <p:cNvPr id="44" name="Shape 41"/>
          <p:cNvSpPr/>
          <p:nvPr/>
        </p:nvSpPr>
        <p:spPr>
          <a:xfrm>
            <a:off x="6257971" y="4654113"/>
            <a:ext cx="47640" cy="8866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45" name="Image 1" descr="/home/user/gogoeveryday/photo-course/export-pptx/build/img/p2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80" y="4954676"/>
            <a:ext cx="255849" cy="285750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6866230" y="4787524"/>
            <a:ext cx="4543471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最常見的髒污來源：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指紋、手汗、化妝品、口袋棉絮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017886" y="1093897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三分鐘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2888955" y="1474927"/>
            <a:ext cx="642338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同一個位置，同一個角度，再拍一張</a:t>
            </a:r>
            <a:endParaRPr lang="en-US" sz="3000" dirty="0"/>
          </a:p>
        </p:txBody>
      </p:sp>
      <p:pic>
        <p:nvPicPr>
          <p:cNvPr id="5" name="Image 1" descr="/home/user/gogoeveryday/photo-course/export-pptx/build/img/p2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888" y="2330166"/>
            <a:ext cx="3143250" cy="236217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853897" y="3239811"/>
            <a:ext cx="493502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850" dirty="0"/>
          </a:p>
        </p:txBody>
      </p:sp>
      <p:pic>
        <p:nvPicPr>
          <p:cNvPr id="7" name="Image 2" descr="/home/user/gogoeveryday/photo-course/export-pptx/build/img/p22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40" y="2330166"/>
            <a:ext cx="3143250" cy="236217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84834" y="4854367"/>
            <a:ext cx="5431993" cy="69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這是今天第一次「一次只改一個地方」。</a:t>
            </a:r>
            <a:endParaRPr lang="en-US" sz="1725" dirty="0"/>
          </a:p>
          <a:p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位置沒變、光線沒變、角度沒變——</a:t>
            </a:r>
            <a:pPr algn="ctr" indent="0" marL="0">
              <a:lnSpc>
                <a:spcPts val="2795"/>
              </a:lnSpc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只有鏡頭擦了</a:t>
            </a:r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7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151595"/>
            <a:ext cx="614641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這些東西不會改照片，但會改你的判斷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960382"/>
            <a:ext cx="3429000" cy="2335286"/>
          </a:xfrm>
          <a:prstGeom prst="roundRect">
            <a:avLst>
              <a:gd name="adj" fmla="val 9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960382"/>
            <a:ext cx="342900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4219590" y="1960382"/>
            <a:ext cx="18288" cy="233528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286067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960382"/>
            <a:ext cx="18288" cy="233528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9" name="Image 1" descr="/home/user/gogoeveryday/photo-course/export-pptx/build/img/p2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71" y="2217511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2040" y="2731861"/>
            <a:ext cx="1290493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鏡頭保護貼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962040" y="3151022"/>
            <a:ext cx="3119841" cy="912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檢查有沒有刮傷、裂痕、起霧、油污。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刮傷的保護貼比髒鏡頭更糟。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381530" y="1960382"/>
            <a:ext cx="3429000" cy="2335286"/>
          </a:xfrm>
          <a:prstGeom prst="roundRect">
            <a:avLst>
              <a:gd name="adj" fmla="val 9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81530" y="1960382"/>
            <a:ext cx="3429000" cy="476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14" name="Shape 10"/>
          <p:cNvSpPr/>
          <p:nvPr/>
        </p:nvSpPr>
        <p:spPr>
          <a:xfrm>
            <a:off x="7801021" y="1960382"/>
            <a:ext cx="18288" cy="233528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381530" y="4286067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381530" y="1960382"/>
            <a:ext cx="18288" cy="233528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17" name="Image 2" descr="/home/user/gogoeveryday/photo-course/export-pptx/build/img/p2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10" y="2217511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43471" y="2731861"/>
            <a:ext cx="1290493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螢幕保護貼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543471" y="3151022"/>
            <a:ext cx="3119841" cy="912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防窺貼、霧面貼會讓畫面變暗、變糊。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照片檔案沒事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，是你看不清楚。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962870" y="1960382"/>
            <a:ext cx="3429000" cy="2335286"/>
          </a:xfrm>
          <a:prstGeom prst="roundRect">
            <a:avLst>
              <a:gd name="adj" fmla="val 97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62870" y="1960382"/>
            <a:ext cx="342900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22" name="Shape 17"/>
          <p:cNvSpPr/>
          <p:nvPr/>
        </p:nvSpPr>
        <p:spPr>
          <a:xfrm>
            <a:off x="11382360" y="1960382"/>
            <a:ext cx="18288" cy="233528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962870" y="4286067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7962870" y="1960382"/>
            <a:ext cx="18288" cy="233528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25" name="Image 3" descr="/home/user/gogoeveryday/photo-course/export-pptx/build/img/p23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940" y="2217511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124810" y="2731861"/>
            <a:ext cx="1050463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顯示模式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8124810" y="3151022"/>
            <a:ext cx="3244108" cy="912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True Tone、夜間模式、護眼模式、藍光過濾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都會改變螢幕的顏色。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800100" y="4457517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29" name="Shape 23"/>
          <p:cNvSpPr/>
          <p:nvPr/>
        </p:nvSpPr>
        <p:spPr>
          <a:xfrm>
            <a:off x="800100" y="4457517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0" name="Image 4" descr="/home/user/gogoeveryday/photo-course/export-pptx/build/img/p23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60" y="4805629"/>
            <a:ext cx="291419" cy="30477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01079" y="4648078"/>
            <a:ext cx="10104211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要判斷商品的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真實顏色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時：把螢幕亮度調到一般、關掉護眼模式、 不要在大太陽底下看。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不然你會一直修錯方向。</a:t>
            </a:r>
            <a:endParaRPr lang="en-US" sz="15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80643" y="1122335"/>
            <a:ext cx="48402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每次拍之前，花十秒走一遍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904957" y="1977664"/>
            <a:ext cx="3029133" cy="571500"/>
          </a:xfrm>
          <a:prstGeom prst="roundRect">
            <a:avLst>
              <a:gd name="adj" fmla="val 23328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085917" y="214911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369473" y="2101474"/>
            <a:ext cx="14237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鏡頭擦乾淨了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57971" y="1977664"/>
            <a:ext cx="3029133" cy="571500"/>
          </a:xfrm>
          <a:prstGeom prst="roundRect">
            <a:avLst>
              <a:gd name="adj" fmla="val 23328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38930" y="214911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91031" y="2101474"/>
            <a:ext cx="253435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鏡頭保護貼沒有刮傷起霧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2904957" y="2672974"/>
            <a:ext cx="3029133" cy="571500"/>
          </a:xfrm>
          <a:prstGeom prst="roundRect">
            <a:avLst>
              <a:gd name="adj" fmla="val 23328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85917" y="284442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2091" y="2796784"/>
            <a:ext cx="979505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電量還夠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57971" y="2672974"/>
            <a:ext cx="3029133" cy="571500"/>
          </a:xfrm>
          <a:prstGeom prst="roundRect">
            <a:avLst>
              <a:gd name="adj" fmla="val 23328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38930" y="284442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2394" y="2796784"/>
            <a:ext cx="14237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儲存空間還夠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2904957" y="3368284"/>
            <a:ext cx="3029133" cy="571500"/>
          </a:xfrm>
          <a:prstGeom prst="roundRect">
            <a:avLst>
              <a:gd name="adj" fmla="val 23328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085917" y="353973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69473" y="3492094"/>
            <a:ext cx="14237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螢幕亮度正常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6257971" y="3368284"/>
            <a:ext cx="3029133" cy="571500"/>
          </a:xfrm>
          <a:prstGeom prst="roundRect">
            <a:avLst>
              <a:gd name="adj" fmla="val 23328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38930" y="353973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03558" y="3492094"/>
            <a:ext cx="2090136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護眼／夜間模式已關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2904957" y="4063594"/>
            <a:ext cx="3029133" cy="571500"/>
          </a:xfrm>
          <a:prstGeom prst="roundRect">
            <a:avLst>
              <a:gd name="adj" fmla="val 23328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085917" y="423504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75782" y="4187403"/>
            <a:ext cx="120161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格線已打開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6257971" y="4063594"/>
            <a:ext cx="3029133" cy="571500"/>
          </a:xfrm>
          <a:prstGeom prst="roundRect">
            <a:avLst>
              <a:gd name="adj" fmla="val 23328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38930" y="4235044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C05F3C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22394" y="4187403"/>
            <a:ext cx="14237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閃光燈已關閉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2672791" y="4797034"/>
            <a:ext cx="6846204" cy="691012"/>
          </a:xfrm>
          <a:prstGeom prst="roundRect">
            <a:avLst>
              <a:gd name="adj" fmla="val 24811"/>
            </a:avLst>
          </a:prstGeom>
          <a:solidFill>
            <a:srgbClr val="DFE8DC"/>
          </a:solidFill>
          <a:ln/>
        </p:spPr>
      </p:sp>
      <p:sp>
        <p:nvSpPr>
          <p:cNvPr id="29" name="Shape 26"/>
          <p:cNvSpPr/>
          <p:nvPr/>
        </p:nvSpPr>
        <p:spPr>
          <a:xfrm>
            <a:off x="2672791" y="4797034"/>
            <a:ext cx="47640" cy="691012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30" name="Image 1" descr="/home/user/gogoeveryday/photo-course/export-pptx/build/img/p2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051" y="4990064"/>
            <a:ext cx="304770" cy="30477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3209270" y="4987503"/>
            <a:ext cx="628768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八項裡面最重要的是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第一項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如果只來得及做一件事，就擦鏡頭。</a:t>
            </a:r>
            <a:endParaRPr lang="en-US" sz="15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486814"/>
            <a:ext cx="1726662" cy="208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3296503"/>
            <a:ext cx="3381543" cy="790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相機基本操作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468124"/>
            <a:ext cx="63607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對焦、亮度、鏡頭切換。三個動作，決定一張照片清不清楚。</a:t>
            </a:r>
            <a:endParaRPr lang="en-US" sz="1725" dirty="0"/>
          </a:p>
        </p:txBody>
      </p:sp>
      <p:pic>
        <p:nvPicPr>
          <p:cNvPr id="6" name="Image 1" descr="/home/user/gogoeveryday/photo-course/export-pptx/build/img/p2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615836"/>
            <a:ext cx="3653028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手機不知道你要拍什麼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你要告訴它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2842778"/>
            <a:ext cx="5471770" cy="663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先決定要成像清楚的位置，並點手機螢幕， </a:t>
            </a:r>
            <a:pPr algn="l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當畫面出現方格時，代表已在所點選的位置進行對焦</a:t>
            </a:r>
            <a:pPr algn="l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800100" y="3683386"/>
            <a:ext cx="5124480" cy="1311067"/>
          </a:xfrm>
          <a:prstGeom prst="roundRect">
            <a:avLst>
              <a:gd name="adj" fmla="val 13077"/>
            </a:avLst>
          </a:prstGeom>
          <a:solidFill>
            <a:srgbClr val="F8E6C9"/>
          </a:solidFill>
          <a:ln/>
        </p:spPr>
      </p:sp>
      <p:sp>
        <p:nvSpPr>
          <p:cNvPr id="6" name="Shape 3"/>
          <p:cNvSpPr/>
          <p:nvPr/>
        </p:nvSpPr>
        <p:spPr>
          <a:xfrm>
            <a:off x="800100" y="3683386"/>
            <a:ext cx="47640" cy="1311067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7" name="Image 1" descr="/home/user/gogoeveryday/photo-course/export-pptx/build/img/p2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186398"/>
            <a:ext cx="149139" cy="30477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58798" y="3873856"/>
            <a:ext cx="4543471" cy="92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點一下螢幕，就是把「自動對焦」變成「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手動對焦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」。 手機本來會自己猜，猜錯的時候就換你決定。</a:t>
            </a:r>
            <a:endParaRPr lang="en-US" sz="1575" dirty="0"/>
          </a:p>
        </p:txBody>
      </p:sp>
      <p:pic>
        <p:nvPicPr>
          <p:cNvPr id="9" name="Image 2" descr="/home/user/gogoeveryday/photo-course/export-pptx/build/img/p2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30" y="1076340"/>
            <a:ext cx="2266980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91327" y="1271290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四分鐘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284799" y="1652321"/>
            <a:ext cx="56318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同一個畫面，點兩個不同的地方</a:t>
            </a:r>
            <a:endParaRPr lang="en-US" sz="3000" dirty="0"/>
          </a:p>
        </p:txBody>
      </p:sp>
      <p:pic>
        <p:nvPicPr>
          <p:cNvPr id="5" name="Image 1" descr="/home/user/gogoeveryday/photo-course/export-pptx/build/img/p2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60" y="2507651"/>
            <a:ext cx="3143250" cy="2362170"/>
          </a:xfrm>
          <a:prstGeom prst="rect">
            <a:avLst/>
          </a:prstGeom>
        </p:spPr>
      </p:pic>
      <p:pic>
        <p:nvPicPr>
          <p:cNvPr id="6" name="Image 2" descr="/home/user/gogoeveryday/photo-course/export-pptx/build/img/p27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60" y="2507651"/>
            <a:ext cx="3143250" cy="236217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978384" y="5031760"/>
            <a:ext cx="62447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這就是「對焦」。</a:t>
            </a:r>
            <a:pPr algn="ctr" indent="0" marL="0">
              <a:lnSpc>
                <a:spcPts val="2795"/>
              </a:lnSpc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照片糊掉，多半不是手機爛，是點錯地方。</a:t>
            </a:r>
            <a:endParaRPr lang="en-US" sz="17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373977"/>
            <a:ext cx="2228118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方框旁邊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有一個小太陽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600919"/>
            <a:ext cx="1619220" cy="1567739"/>
          </a:xfrm>
          <a:prstGeom prst="roundRect">
            <a:avLst>
              <a:gd name="adj" fmla="val 972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530" y="276286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0994" y="2753350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096250"/>
            <a:ext cx="760232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點一下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54329"/>
            <a:ext cx="1302471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先點商品，畫面出現方框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52730" y="2600919"/>
            <a:ext cx="1619220" cy="1567739"/>
          </a:xfrm>
          <a:prstGeom prst="roundRect">
            <a:avLst>
              <a:gd name="adj" fmla="val 972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05070" y="276286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53624" y="2753350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667030" y="3096250"/>
            <a:ext cx="760232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找太陽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2667030" y="3454329"/>
            <a:ext cx="1302471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方框旁邊會出現太陽圖示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05270" y="2600919"/>
            <a:ext cx="1619220" cy="1567739"/>
          </a:xfrm>
          <a:prstGeom prst="roundRect">
            <a:avLst>
              <a:gd name="adj" fmla="val 972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57700" y="276286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06255" y="2753350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419570" y="3096250"/>
            <a:ext cx="120161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按住上下滑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4419570" y="3454329"/>
            <a:ext cx="1302471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往上變亮、往下變暗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0100" y="4330598"/>
            <a:ext cx="5124480" cy="905805"/>
          </a:xfrm>
          <a:prstGeom prst="roundRect">
            <a:avLst>
              <a:gd name="adj" fmla="val 18928"/>
            </a:avLst>
          </a:prstGeom>
          <a:solidFill>
            <a:srgbClr val="FBEEE6"/>
          </a:solidFill>
          <a:ln/>
        </p:spPr>
      </p:sp>
      <p:sp>
        <p:nvSpPr>
          <p:cNvPr id="20" name="Shape 17"/>
          <p:cNvSpPr/>
          <p:nvPr/>
        </p:nvSpPr>
        <p:spPr>
          <a:xfrm>
            <a:off x="800100" y="4330598"/>
            <a:ext cx="47640" cy="905805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1" name="Image 1" descr="/home/user/gogoeveryday/photo-course/export-pptx/build/img/p2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4640580"/>
            <a:ext cx="210038" cy="28575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381567" y="4473519"/>
            <a:ext cx="4591660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商品照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寧可亮一點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太暗的照片修不回來，稍微亮一點反而好調。</a:t>
            </a:r>
            <a:endParaRPr lang="en-US" sz="1575" dirty="0"/>
          </a:p>
        </p:txBody>
      </p:sp>
      <p:pic>
        <p:nvPicPr>
          <p:cNvPr id="23" name="Image 2" descr="/home/user/gogoeveryday/photo-course/export-pptx/build/img/p28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30" y="1076340"/>
            <a:ext cx="2266980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08688" y="1102675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五分鐘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363151" y="1483705"/>
            <a:ext cx="3474903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拍三張，自己選一張</a:t>
            </a:r>
            <a:endParaRPr lang="en-US" sz="2850" dirty="0"/>
          </a:p>
        </p:txBody>
      </p:sp>
      <p:pic>
        <p:nvPicPr>
          <p:cNvPr id="5" name="Image 1" descr="/home/user/gogoeveryday/photo-course/export-pptx/build/img/p2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121" y="2315809"/>
            <a:ext cx="2762220" cy="2076420"/>
          </a:xfrm>
          <a:prstGeom prst="rect">
            <a:avLst/>
          </a:prstGeom>
        </p:spPr>
      </p:pic>
      <p:pic>
        <p:nvPicPr>
          <p:cNvPr id="6" name="Image 2" descr="/home/user/gogoeveryday/photo-course/export-pptx/build/img/p29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921" y="2315809"/>
            <a:ext cx="2762220" cy="2076420"/>
          </a:xfrm>
          <a:prstGeom prst="rect">
            <a:avLst/>
          </a:prstGeom>
        </p:spPr>
      </p:pic>
      <p:pic>
        <p:nvPicPr>
          <p:cNvPr id="7" name="Image 3" descr="/home/user/gogoeveryday/photo-course/export-pptx/build/img/p29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721" y="2315809"/>
            <a:ext cx="2762220" cy="207642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619220" y="4554169"/>
            <a:ext cx="895353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9" name="Shape 3"/>
          <p:cNvSpPr/>
          <p:nvPr/>
        </p:nvSpPr>
        <p:spPr>
          <a:xfrm>
            <a:off x="1619220" y="4554169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10" name="Image 4" descr="/home/user/gogoeveryday/photo-course/export-pptx/build/img/p29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4571" y="4902281"/>
            <a:ext cx="212415" cy="30477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2102846" y="4744639"/>
            <a:ext cx="8408182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沒有標準答案。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你覺得商品最像實品的那張，就是對的那張。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商品照的目的不是漂亮，是不要讓客人收到後覺得「跟照片不一樣」。</a:t>
            </a:r>
            <a:endParaRPr lang="en-US" sz="15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281074"/>
            <a:ext cx="27076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商品照，先用 1x</a:t>
            </a:r>
            <a:endParaRPr lang="en-US" sz="2700" dirty="0"/>
          </a:p>
        </p:txBody>
      </p:sp>
      <p:pic>
        <p:nvPicPr>
          <p:cNvPr id="4" name="Image 1" descr="/home/user/gogoeveryday/photo-course/export-pptx/build/img/p3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40" y="2089861"/>
            <a:ext cx="2762220" cy="2076420"/>
          </a:xfrm>
          <a:prstGeom prst="rect">
            <a:avLst/>
          </a:prstGeom>
        </p:spPr>
      </p:pic>
      <p:pic>
        <p:nvPicPr>
          <p:cNvPr id="5" name="Image 2" descr="/home/user/gogoeveryday/photo-course/export-pptx/build/img/p30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921" y="2089861"/>
            <a:ext cx="2762220" cy="2076420"/>
          </a:xfrm>
          <a:prstGeom prst="rect">
            <a:avLst/>
          </a:prstGeom>
        </p:spPr>
      </p:pic>
      <p:pic>
        <p:nvPicPr>
          <p:cNvPr id="6" name="Image 3" descr="/home/user/gogoeveryday/photo-course/export-pptx/build/img/p30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10" y="2089861"/>
            <a:ext cx="2762220" cy="207642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800100" y="4328221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8" name="Shape 2"/>
          <p:cNvSpPr/>
          <p:nvPr/>
        </p:nvSpPr>
        <p:spPr>
          <a:xfrm>
            <a:off x="800100" y="4328221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9" name="Image 4" descr="/home/user/gogoeveryday/photo-course/export-pptx/build/img/p30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60" y="4676333"/>
            <a:ext cx="277155" cy="30477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486814" y="4518690"/>
            <a:ext cx="10247132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0.5x 是超廣角，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會讓商品邊緣變形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，適合拍環境不適合拍商品。 2x 在部分手機是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數位放大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，只是把畫面裁切放大而已。</a:t>
            </a:r>
            <a:endParaRPr lang="en-US" sz="15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408176"/>
            <a:ext cx="2722900" cy="98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用腳靠近</a:t>
            </a:r>
            <a:endParaRPr lang="en-US" sz="2850" dirty="0"/>
          </a:p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不要用手指放大</a:t>
            </a:r>
            <a:endParaRPr lang="en-US" sz="285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2681844"/>
            <a:ext cx="6249192" cy="1341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數位變焦只是把畫面做「裁剪」， </a:t>
            </a:r>
            <a:pPr algn="l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會降低照片畫質，畫面看起來也會較模糊</a:t>
            </a:r>
            <a:pPr algn="l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650" dirty="0"/>
          </a:p>
          <a:p>
            <a:pPr algn="l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小物攝影正解：</a:t>
            </a:r>
            <a:pPr algn="l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近距離拍攝是最不會影響解析度的方法。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800100" y="4201119"/>
            <a:ext cx="5871088" cy="1000994"/>
          </a:xfrm>
          <a:prstGeom prst="roundRect">
            <a:avLst>
              <a:gd name="adj" fmla="val 17128"/>
            </a:avLst>
          </a:prstGeom>
          <a:solidFill>
            <a:srgbClr val="DFE8DC"/>
          </a:solidFill>
          <a:ln/>
        </p:spPr>
      </p:sp>
      <p:sp>
        <p:nvSpPr>
          <p:cNvPr id="6" name="Shape 3"/>
          <p:cNvSpPr/>
          <p:nvPr/>
        </p:nvSpPr>
        <p:spPr>
          <a:xfrm>
            <a:off x="800100" y="4201119"/>
            <a:ext cx="47640" cy="1000994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7" name="Image 1" descr="/home/user/gogoeveryday/photo-course/export-pptx/build/img/p3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549231"/>
            <a:ext cx="297363" cy="30477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7023" y="4391589"/>
            <a:ext cx="4967478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想拍細節，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人往前走兩步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，不要在原地用手指撐開畫面。</a:t>
            </a:r>
            <a:endParaRPr lang="en-US" sz="1575" dirty="0"/>
          </a:p>
        </p:txBody>
      </p:sp>
      <p:pic>
        <p:nvPicPr>
          <p:cNvPr id="9" name="Image 2" descr="/home/user/gogoeveryday/photo-course/export-pptx/build/img/p31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968" y="1352580"/>
            <a:ext cx="3047970" cy="1904970"/>
          </a:xfrm>
          <a:prstGeom prst="rect">
            <a:avLst/>
          </a:prstGeom>
        </p:spPr>
      </p:pic>
      <p:pic>
        <p:nvPicPr>
          <p:cNvPr id="10" name="Image 3" descr="/home/user/gogoeveryday/photo-course/export-pptx/build/img/p31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968" y="3409980"/>
            <a:ext cx="3047970" cy="19049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577956" y="1460114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四分鐘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482584" y="1841144"/>
            <a:ext cx="523612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站在同一個位置，換三次倍率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270089" y="2696474"/>
            <a:ext cx="1566093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2354031" y="2782153"/>
            <a:ext cx="140762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0.5x 拍一張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950482" y="2696474"/>
            <a:ext cx="1391808" cy="46671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039636" y="2782153"/>
            <a:ext cx="1222919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1x 拍一張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56591" y="2696474"/>
            <a:ext cx="1391808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545836" y="2782153"/>
            <a:ext cx="1222919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2x 拍一張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62790" y="2696474"/>
            <a:ext cx="2959181" cy="466710"/>
          </a:xfrm>
          <a:prstGeom prst="roundRect">
            <a:avLst>
              <a:gd name="adj" fmla="val 50000"/>
            </a:avLst>
          </a:prstGeom>
          <a:solidFill>
            <a:srgbClr val="DFE8D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004944" y="2782153"/>
            <a:ext cx="288420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57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再往前走兩步，用 1x 拍一張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331982" y="3325124"/>
            <a:ext cx="5537515" cy="69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拍完把四張放大來看。</a:t>
            </a:r>
            <a:endParaRPr lang="en-US" sz="1725" dirty="0"/>
          </a:p>
          <a:p>
            <a:pPr algn="ctr" indent="0" marL="0">
              <a:lnSpc>
                <a:spcPts val="2795"/>
              </a:lnSpc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④ 張通常最清楚</a:t>
            </a:r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——這就是「用腳靠近」的意思。</a:t>
            </a:r>
            <a:endParaRPr lang="en-US" sz="1725" dirty="0"/>
          </a:p>
        </p:txBody>
      </p:sp>
      <p:sp>
        <p:nvSpPr>
          <p:cNvPr id="14" name="Shape 11"/>
          <p:cNvSpPr/>
          <p:nvPr/>
        </p:nvSpPr>
        <p:spPr>
          <a:xfrm>
            <a:off x="1809780" y="4196639"/>
            <a:ext cx="857250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15" name="Shape 12"/>
          <p:cNvSpPr/>
          <p:nvPr/>
        </p:nvSpPr>
        <p:spPr>
          <a:xfrm>
            <a:off x="1809780" y="4196639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16" name="Image 1" descr="/home/user/gogoeveryday/photo-course/export-pptx/build/img/p3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40" y="4544751"/>
            <a:ext cx="240396" cy="30477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08951" y="4387200"/>
            <a:ext cx="8023860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看不出差別的時候，把照片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放大到 100%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再看一次。 在小螢幕上全部都很好看，放大才看得出誰是真的清楚。</a:t>
            </a:r>
            <a:endParaRPr lang="en-US" sz="15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917418"/>
            <a:ext cx="3850904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拍商品，幾乎永遠關掉</a:t>
            </a:r>
            <a:endParaRPr lang="en-US" sz="2850" dirty="0"/>
          </a:p>
        </p:txBody>
      </p:sp>
      <p:pic>
        <p:nvPicPr>
          <p:cNvPr id="4" name="Image 1" descr="/home/user/gogoeveryday/photo-course/export-pptx/build/img/p3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749430"/>
            <a:ext cx="3238530" cy="1904970"/>
          </a:xfrm>
          <a:prstGeom prst="rect">
            <a:avLst/>
          </a:prstGeom>
        </p:spPr>
      </p:pic>
      <p:pic>
        <p:nvPicPr>
          <p:cNvPr id="5" name="Image 2" descr="/home/user/gogoeveryday/photo-course/export-pptx/build/img/p3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87811"/>
            <a:ext cx="3238530" cy="190497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219840" y="2094433"/>
            <a:ext cx="1399398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2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為什麼不要開</a:t>
            </a:r>
            <a:endParaRPr lang="en-US" sz="1500" dirty="0"/>
          </a:p>
        </p:txBody>
      </p:sp>
      <p:sp>
        <p:nvSpPr>
          <p:cNvPr id="7" name="Text 2"/>
          <p:cNvSpPr txBox="1"/>
          <p:nvPr/>
        </p:nvSpPr>
        <p:spPr>
          <a:xfrm>
            <a:off x="6419820" y="2665933"/>
            <a:ext cx="5310378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拍攝物件或人像時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盡量不要開啟閃光燈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，會使陰影呈現不自然，也會使光源過硬</a:t>
            </a:r>
            <a:endParaRPr lang="en-US" sz="1575" dirty="0"/>
          </a:p>
        </p:txBody>
      </p:sp>
      <p:sp>
        <p:nvSpPr>
          <p:cNvPr id="8" name="Text 3"/>
          <p:cNvSpPr txBox="1"/>
          <p:nvPr/>
        </p:nvSpPr>
        <p:spPr>
          <a:xfrm>
            <a:off x="6419820" y="3389864"/>
            <a:ext cx="305930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顏色會偏掉，商品的真實色跑掉</a:t>
            </a:r>
            <a:endParaRPr lang="en-US" sz="1575" dirty="0"/>
          </a:p>
        </p:txBody>
      </p:sp>
      <p:sp>
        <p:nvSpPr>
          <p:cNvPr id="9" name="Text 4"/>
          <p:cNvSpPr txBox="1"/>
          <p:nvPr/>
        </p:nvSpPr>
        <p:spPr>
          <a:xfrm>
            <a:off x="6419820" y="3813688"/>
            <a:ext cx="390741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玻璃罐、塑膠包裝會直接反光成一個白點</a:t>
            </a:r>
            <a:endParaRPr lang="en-US" sz="1575" dirty="0"/>
          </a:p>
        </p:txBody>
      </p:sp>
      <p:sp>
        <p:nvSpPr>
          <p:cNvPr id="10" name="Text 5"/>
          <p:cNvSpPr txBox="1"/>
          <p:nvPr/>
        </p:nvSpPr>
        <p:spPr>
          <a:xfrm>
            <a:off x="6419820" y="4237604"/>
            <a:ext cx="5263012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開閃光燈時相機會自動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調降 ISO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，快門變慢，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反而更容易晃</a:t>
            </a:r>
            <a:endParaRPr lang="en-US" sz="1575" dirty="0"/>
          </a:p>
        </p:txBody>
      </p:sp>
      <p:sp>
        <p:nvSpPr>
          <p:cNvPr id="11" name="Shape 6"/>
          <p:cNvSpPr/>
          <p:nvPr/>
        </p:nvSpPr>
        <p:spPr>
          <a:xfrm>
            <a:off x="6257971" y="4951933"/>
            <a:ext cx="5133990" cy="576712"/>
          </a:xfrm>
          <a:prstGeom prst="roundRect">
            <a:avLst>
              <a:gd name="adj" fmla="val 29729"/>
            </a:avLst>
          </a:prstGeom>
          <a:solidFill>
            <a:srgbClr val="F8E6C9"/>
          </a:solidFill>
          <a:ln/>
        </p:spPr>
      </p:sp>
      <p:sp>
        <p:nvSpPr>
          <p:cNvPr id="12" name="Shape 7"/>
          <p:cNvSpPr/>
          <p:nvPr/>
        </p:nvSpPr>
        <p:spPr>
          <a:xfrm>
            <a:off x="6257971" y="4951933"/>
            <a:ext cx="47640" cy="5767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13" name="Image 3" descr="/home/user/gogoeveryday/photo-course/export-pptx/build/img/p33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080" y="5097323"/>
            <a:ext cx="285750" cy="28575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96130" y="5085344"/>
            <a:ext cx="454347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室內光線不夠時，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不是開閃光燈，是走到窗邊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501719"/>
            <a:ext cx="7611008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「有時連</a:t>
            </a:r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呼吸的起伏</a:t>
            </a:r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都會影響畫面的清晰度」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2333732"/>
            <a:ext cx="2533620" cy="1921977"/>
          </a:xfrm>
          <a:prstGeom prst="roundRect">
            <a:avLst>
              <a:gd name="adj" fmla="val 11894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0171" y="2552822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86764" y="258144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2040" y="3010022"/>
            <a:ext cx="1470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雙手固定手機</a:t>
            </a:r>
            <a:endParaRPr lang="en-US" sz="1725" dirty="0"/>
          </a:p>
        </p:txBody>
      </p:sp>
      <p:sp>
        <p:nvSpPr>
          <p:cNvPr id="8" name="Text 5"/>
          <p:cNvSpPr txBox="1"/>
          <p:nvPr/>
        </p:nvSpPr>
        <p:spPr>
          <a:xfrm>
            <a:off x="962040" y="3419582"/>
            <a:ext cx="2312060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一手托住、一手扶邊，不要單手伸很遠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86150" y="2333732"/>
            <a:ext cx="2533620" cy="1921977"/>
          </a:xfrm>
          <a:prstGeom prst="roundRect">
            <a:avLst>
              <a:gd name="adj" fmla="val 11894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6221" y="2552822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D99A4E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772814" y="258144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648090" y="3010022"/>
            <a:ext cx="1470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用指腹按快門</a:t>
            </a:r>
            <a:endParaRPr lang="en-US" sz="1725" dirty="0"/>
          </a:p>
        </p:txBody>
      </p:sp>
      <p:sp>
        <p:nvSpPr>
          <p:cNvPr id="13" name="Text 10"/>
          <p:cNvSpPr txBox="1"/>
          <p:nvPr/>
        </p:nvSpPr>
        <p:spPr>
          <a:xfrm>
            <a:off x="3648090" y="3419582"/>
            <a:ext cx="2312060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不是用指尖戳，戳下去手機會震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72200" y="2333732"/>
            <a:ext cx="2533620" cy="1921977"/>
          </a:xfrm>
          <a:prstGeom prst="roundRect">
            <a:avLst>
              <a:gd name="adj" fmla="val 11894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72271" y="2552822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5F7A63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58864" y="258144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34140" y="3010022"/>
            <a:ext cx="124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手肘靠身體</a:t>
            </a:r>
            <a:endParaRPr lang="en-US" sz="1725" dirty="0"/>
          </a:p>
        </p:txBody>
      </p:sp>
      <p:sp>
        <p:nvSpPr>
          <p:cNvPr id="18" name="Text 15"/>
          <p:cNvSpPr txBox="1"/>
          <p:nvPr/>
        </p:nvSpPr>
        <p:spPr>
          <a:xfrm>
            <a:off x="6334140" y="3419582"/>
            <a:ext cx="2312060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手肘夾住肋骨，等於多兩根支架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858250" y="2333732"/>
            <a:ext cx="2533620" cy="1921977"/>
          </a:xfrm>
          <a:prstGeom prst="roundRect">
            <a:avLst>
              <a:gd name="adj" fmla="val 11894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58321" y="2552822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8A5A6D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144914" y="258144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020190" y="3010022"/>
            <a:ext cx="124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靠桌面或牆</a:t>
            </a:r>
            <a:endParaRPr lang="en-US" sz="1725" dirty="0"/>
          </a:p>
        </p:txBody>
      </p:sp>
      <p:sp>
        <p:nvSpPr>
          <p:cNvPr id="23" name="Text 20"/>
          <p:cNvSpPr txBox="1"/>
          <p:nvPr/>
        </p:nvSpPr>
        <p:spPr>
          <a:xfrm>
            <a:off x="9020190" y="3419582"/>
            <a:ext cx="2312060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附近有可倚靠的物體，穩定效果更佳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00100" y="4417649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5" name="Shape 22"/>
          <p:cNvSpPr/>
          <p:nvPr/>
        </p:nvSpPr>
        <p:spPr>
          <a:xfrm>
            <a:off x="800100" y="4417649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6" name="Image 1" descr="/home/user/gogoeveryday/photo-course/export-pptx/build/img/p3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610679"/>
            <a:ext cx="304770" cy="30477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514521" y="4608210"/>
            <a:ext cx="777194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拍商品時，商品不會動，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會動的只有你的手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這四個動作是免費的，做了就有效。</a:t>
            </a:r>
            <a:endParaRPr lang="en-US" sz="15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157265"/>
            <a:ext cx="472159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同樣的光，拿法不同結果不同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1966051"/>
            <a:ext cx="5153010" cy="232413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966051"/>
            <a:ext cx="5153010" cy="47640"/>
          </a:xfrm>
          <a:prstGeom prst="rect">
            <a:avLst/>
          </a:prstGeom>
          <a:solidFill>
            <a:srgbClr val="D63B2F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0" y="1966051"/>
            <a:ext cx="18288" cy="232413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280581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966051"/>
            <a:ext cx="18288" cy="232413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2040" y="2194651"/>
            <a:ext cx="1181313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D63B2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常見的錯誤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2040" y="2566081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11" name="Text 8"/>
          <p:cNvSpPr txBox="1"/>
          <p:nvPr/>
        </p:nvSpPr>
        <p:spPr>
          <a:xfrm>
            <a:off x="1247790" y="2566081"/>
            <a:ext cx="221120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單手拿，手臂伸得很直</a:t>
            </a:r>
            <a:endParaRPr lang="en-US" sz="1575" dirty="0"/>
          </a:p>
        </p:txBody>
      </p:sp>
      <p:sp>
        <p:nvSpPr>
          <p:cNvPr id="12" name="Text 9"/>
          <p:cNvSpPr txBox="1"/>
          <p:nvPr/>
        </p:nvSpPr>
        <p:spPr>
          <a:xfrm>
            <a:off x="962040" y="2970886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13" name="Text 10"/>
          <p:cNvSpPr txBox="1"/>
          <p:nvPr/>
        </p:nvSpPr>
        <p:spPr>
          <a:xfrm>
            <a:off x="1247790" y="2970886"/>
            <a:ext cx="178710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用指尖用力戳快門</a:t>
            </a:r>
            <a:endParaRPr lang="en-US" sz="1575" dirty="0"/>
          </a:p>
        </p:txBody>
      </p:sp>
      <p:sp>
        <p:nvSpPr>
          <p:cNvPr id="14" name="Text 11"/>
          <p:cNvSpPr txBox="1"/>
          <p:nvPr/>
        </p:nvSpPr>
        <p:spPr>
          <a:xfrm>
            <a:off x="962040" y="3375690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15" name="Text 12"/>
          <p:cNvSpPr txBox="1"/>
          <p:nvPr/>
        </p:nvSpPr>
        <p:spPr>
          <a:xfrm>
            <a:off x="1247790" y="3375690"/>
            <a:ext cx="263520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按下去的瞬間就把手機拿走</a:t>
            </a:r>
            <a:endParaRPr lang="en-US" sz="1575" dirty="0"/>
          </a:p>
        </p:txBody>
      </p:sp>
      <p:sp>
        <p:nvSpPr>
          <p:cNvPr id="16" name="Text 13"/>
          <p:cNvSpPr txBox="1"/>
          <p:nvPr/>
        </p:nvSpPr>
        <p:spPr>
          <a:xfrm>
            <a:off x="962040" y="3780495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17" name="Text 14"/>
          <p:cNvSpPr txBox="1"/>
          <p:nvPr/>
        </p:nvSpPr>
        <p:spPr>
          <a:xfrm>
            <a:off x="1247790" y="3780495"/>
            <a:ext cx="93899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邊走邊拍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6238860" y="1966051"/>
            <a:ext cx="5153010" cy="232413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8860" y="1966051"/>
            <a:ext cx="515301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0" name="Shape 17"/>
          <p:cNvSpPr/>
          <p:nvPr/>
        </p:nvSpPr>
        <p:spPr>
          <a:xfrm>
            <a:off x="11382360" y="1966051"/>
            <a:ext cx="18288" cy="232413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238860" y="4280581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238860" y="1966051"/>
            <a:ext cx="18288" cy="232413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0" y="2194651"/>
            <a:ext cx="1181313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正確的做法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2566081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25" name="Text 22"/>
          <p:cNvSpPr txBox="1"/>
          <p:nvPr/>
        </p:nvSpPr>
        <p:spPr>
          <a:xfrm>
            <a:off x="6659758" y="2566081"/>
            <a:ext cx="221120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雙手托住，手肘靠身體</a:t>
            </a:r>
            <a:endParaRPr lang="en-US" sz="1575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2970886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27" name="Text 24"/>
          <p:cNvSpPr txBox="1"/>
          <p:nvPr/>
        </p:nvSpPr>
        <p:spPr>
          <a:xfrm>
            <a:off x="6659758" y="2970886"/>
            <a:ext cx="284725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指腹輕輕按，按完停一秒再放</a:t>
            </a:r>
            <a:endParaRPr lang="en-US" sz="1575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3375690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29" name="Text 26"/>
          <p:cNvSpPr txBox="1"/>
          <p:nvPr/>
        </p:nvSpPr>
        <p:spPr>
          <a:xfrm>
            <a:off x="6659758" y="3375690"/>
            <a:ext cx="221120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手肘或手腕靠在桌面上</a:t>
            </a:r>
            <a:endParaRPr lang="en-US" sz="1575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3780495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31" name="Text 28"/>
          <p:cNvSpPr txBox="1"/>
          <p:nvPr/>
        </p:nvSpPr>
        <p:spPr>
          <a:xfrm>
            <a:off x="6659758" y="3780495"/>
            <a:ext cx="242316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拍細節時吐氣到一半再按</a:t>
            </a:r>
            <a:endParaRPr lang="en-US" sz="1575" dirty="0"/>
          </a:p>
        </p:txBody>
      </p:sp>
      <p:sp>
        <p:nvSpPr>
          <p:cNvPr id="32" name="Shape 29"/>
          <p:cNvSpPr/>
          <p:nvPr/>
        </p:nvSpPr>
        <p:spPr>
          <a:xfrm>
            <a:off x="800100" y="4452031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33" name="Shape 30"/>
          <p:cNvSpPr/>
          <p:nvPr/>
        </p:nvSpPr>
        <p:spPr>
          <a:xfrm>
            <a:off x="800100" y="4452031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4" name="Image 1" descr="/home/user/gogoeveryday/photo-course/export-pptx/build/img/p3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800143"/>
            <a:ext cx="248351" cy="30477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458102" y="4642500"/>
            <a:ext cx="10316261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直式還是橫式？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看你要發在哪裡： 社群貼文與限動用直式，商品陳列、多個一起拍用橫式。今天先用直式，因為 4:3 直拿商品最完整。</a:t>
            </a:r>
            <a:endParaRPr lang="en-US" sz="15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51397" y="1271290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四分鐘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878428" y="1652321"/>
            <a:ext cx="444444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故意晃一張，穩穩拍一張</a:t>
            </a:r>
            <a:endParaRPr lang="en-US" sz="3000" dirty="0"/>
          </a:p>
        </p:txBody>
      </p:sp>
      <p:pic>
        <p:nvPicPr>
          <p:cNvPr id="5" name="Image 1" descr="/home/user/gogoeveryday/photo-course/export-pptx/build/img/p3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60" y="2507651"/>
            <a:ext cx="3143250" cy="2362170"/>
          </a:xfrm>
          <a:prstGeom prst="rect">
            <a:avLst/>
          </a:prstGeom>
        </p:spPr>
      </p:pic>
      <p:pic>
        <p:nvPicPr>
          <p:cNvPr id="6" name="Image 2" descr="/home/user/gogoeveryday/photo-course/export-pptx/build/img/p3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60" y="2507651"/>
            <a:ext cx="3143250" cy="236217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845259" y="5031760"/>
            <a:ext cx="85108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放大到 100% 再看一次。</a:t>
            </a:r>
            <a:pPr algn="ctr" indent="0" marL="0">
              <a:lnSpc>
                <a:spcPts val="2795"/>
              </a:lnSpc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糊掉的照片，修圖救不回來</a:t>
            </a:r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 這是下午會再講的重點。</a:t>
            </a:r>
            <a:endParaRPr lang="en-US" sz="17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101029"/>
            <a:ext cx="1726662" cy="208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2910810"/>
            <a:ext cx="2284628" cy="156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背景與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商品擺放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853910"/>
            <a:ext cx="61285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不用花錢，只要把畫面整理乾淨。這是投報率最高的一段。</a:t>
            </a:r>
            <a:endParaRPr lang="en-US" sz="1725" dirty="0"/>
          </a:p>
        </p:txBody>
      </p:sp>
      <p:pic>
        <p:nvPicPr>
          <p:cNvPr id="6" name="Image 1" descr="/home/user/gogoeveryday/photo-course/export-pptx/build/img/p3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75333" y="1093165"/>
            <a:ext cx="3850904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你的眼睛先看到哪裡？</a:t>
            </a:r>
            <a:endParaRPr lang="en-US" sz="2850" dirty="0"/>
          </a:p>
        </p:txBody>
      </p:sp>
      <p:pic>
        <p:nvPicPr>
          <p:cNvPr id="4" name="Image 1" descr="/home/user/gogoeveryday/photo-course/export-pptx/build/img/p3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71" y="1925269"/>
            <a:ext cx="3238530" cy="2428921"/>
          </a:xfrm>
          <a:prstGeom prst="rect">
            <a:avLst/>
          </a:prstGeom>
        </p:spPr>
      </p:pic>
      <p:pic>
        <p:nvPicPr>
          <p:cNvPr id="5" name="Image 2" descr="/home/user/gogoeveryday/photo-course/export-pptx/build/img/p38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60" y="1925269"/>
            <a:ext cx="3238530" cy="2428921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1714500" y="4516039"/>
            <a:ext cx="876297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7" name="Shape 2"/>
          <p:cNvSpPr/>
          <p:nvPr/>
        </p:nvSpPr>
        <p:spPr>
          <a:xfrm>
            <a:off x="1714500" y="4516039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8" name="Image 3" descr="/home/user/gogoeveryday/photo-course/export-pptx/build/img/p38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760" y="4864151"/>
            <a:ext cx="242316" cy="30477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2223821" y="4706508"/>
            <a:ext cx="8196224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愈乾淨、愈整齊的背景，愈可以將商品最原始的樣子呈現出來。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也提醒：東西放太多，會讓人分不出主體是誰。</a:t>
            </a:r>
            <a:endParaRPr lang="en-US" sz="15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050737"/>
            <a:ext cx="3296869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按快門前，眼睛沿著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畫面繞一圈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277679"/>
            <a:ext cx="5871088" cy="552480"/>
          </a:xfrm>
          <a:prstGeom prst="roundRect">
            <a:avLst>
              <a:gd name="adj" fmla="val 2241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43021" y="2391979"/>
            <a:ext cx="550652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上面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1647840" y="2406244"/>
            <a:ext cx="27159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有沒有電線、招牌、別人的手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0100" y="2934858"/>
            <a:ext cx="5871088" cy="552480"/>
          </a:xfrm>
          <a:prstGeom prst="roundRect">
            <a:avLst>
              <a:gd name="adj" fmla="val 2241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3021" y="3049158"/>
            <a:ext cx="550652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下面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1647840" y="3063514"/>
            <a:ext cx="311984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有沒有桌上的屑屑、水漬、遙控器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0100" y="3592129"/>
            <a:ext cx="5871088" cy="552480"/>
          </a:xfrm>
          <a:prstGeom prst="roundRect">
            <a:avLst>
              <a:gd name="adj" fmla="val 2241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3021" y="3706429"/>
            <a:ext cx="550652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左邊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1647840" y="3720694"/>
            <a:ext cx="27159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有沒有半個杯子、袋子的一角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" y="4249308"/>
            <a:ext cx="5871088" cy="552480"/>
          </a:xfrm>
          <a:prstGeom prst="roundRect">
            <a:avLst>
              <a:gd name="adj" fmla="val 2241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43021" y="4363608"/>
            <a:ext cx="550652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右邊</a:t>
            </a:r>
            <a:endParaRPr lang="en-US" sz="1650" dirty="0"/>
          </a:p>
        </p:txBody>
      </p:sp>
      <p:sp>
        <p:nvSpPr>
          <p:cNvPr id="15" name="Text 12"/>
          <p:cNvSpPr txBox="1"/>
          <p:nvPr/>
        </p:nvSpPr>
        <p:spPr>
          <a:xfrm>
            <a:off x="1647840" y="4377964"/>
            <a:ext cx="25140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有沒有充電線、鑰匙、面紙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0100" y="4963729"/>
            <a:ext cx="5871088" cy="595732"/>
          </a:xfrm>
          <a:prstGeom prst="roundRect">
            <a:avLst>
              <a:gd name="adj" fmla="val 28780"/>
            </a:avLst>
          </a:prstGeom>
          <a:solidFill>
            <a:srgbClr val="DFE8DC"/>
          </a:solidFill>
          <a:ln/>
        </p:spPr>
      </p:sp>
      <p:sp>
        <p:nvSpPr>
          <p:cNvPr id="17" name="Shape 14"/>
          <p:cNvSpPr/>
          <p:nvPr/>
        </p:nvSpPr>
        <p:spPr>
          <a:xfrm>
            <a:off x="800100" y="4963729"/>
            <a:ext cx="47640" cy="595732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18" name="Image 1" descr="/home/user/gogoeveryday/photo-course/export-pptx/build/img/p3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5118628"/>
            <a:ext cx="285750" cy="28575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57371" y="5106558"/>
            <a:ext cx="496747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好背景不用買：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白紙、素色布、木桌、牆壁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都可以。</a:t>
            </a:r>
            <a:endParaRPr lang="en-US" sz="1575" dirty="0"/>
          </a:p>
        </p:txBody>
      </p:sp>
      <p:sp>
        <p:nvSpPr>
          <p:cNvPr id="20" name="Text 16"/>
          <p:cNvSpPr txBox="1"/>
          <p:nvPr/>
        </p:nvSpPr>
        <p:spPr>
          <a:xfrm>
            <a:off x="7763713" y="1309512"/>
            <a:ext cx="29260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spc="12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深淺要分開，不然會融在一起</a:t>
            </a:r>
            <a:endParaRPr lang="en-US" sz="1500" dirty="0"/>
          </a:p>
        </p:txBody>
      </p:sp>
      <p:pic>
        <p:nvPicPr>
          <p:cNvPr id="21" name="Image 2" descr="/home/user/gogoeveryday/photo-course/export-pptx/build/img/p39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219" y="1890522"/>
            <a:ext cx="3143250" cy="1771650"/>
          </a:xfrm>
          <a:prstGeom prst="rect">
            <a:avLst/>
          </a:prstGeom>
        </p:spPr>
      </p:pic>
      <p:pic>
        <p:nvPicPr>
          <p:cNvPr id="22" name="Image 3" descr="/home/user/gogoeveryday/photo-course/export-pptx/build/img/p39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219" y="3766962"/>
            <a:ext cx="3143250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75333" y="1278148"/>
            <a:ext cx="3850904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同一個商品，四種背景</a:t>
            </a:r>
            <a:endParaRPr lang="en-US" sz="2850" dirty="0"/>
          </a:p>
        </p:txBody>
      </p:sp>
      <p:pic>
        <p:nvPicPr>
          <p:cNvPr id="4" name="Image 1" descr="/home/user/gogoeveryday/photo-course/export-pptx/build/img/p4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30" y="2110252"/>
            <a:ext cx="2286000" cy="1714500"/>
          </a:xfrm>
          <a:prstGeom prst="rect">
            <a:avLst/>
          </a:prstGeom>
        </p:spPr>
      </p:pic>
      <p:pic>
        <p:nvPicPr>
          <p:cNvPr id="5" name="Image 2" descr="/home/user/gogoeveryday/photo-course/export-pptx/build/img/p40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770" y="2110252"/>
            <a:ext cx="2286000" cy="1714500"/>
          </a:xfrm>
          <a:prstGeom prst="rect">
            <a:avLst/>
          </a:prstGeom>
        </p:spPr>
      </p:pic>
      <p:pic>
        <p:nvPicPr>
          <p:cNvPr id="6" name="Image 3" descr="/home/user/gogoeveryday/photo-course/export-pptx/build/img/p40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110252"/>
            <a:ext cx="2286000" cy="1714500"/>
          </a:xfrm>
          <a:prstGeom prst="rect">
            <a:avLst/>
          </a:prstGeom>
        </p:spPr>
      </p:pic>
      <p:pic>
        <p:nvPicPr>
          <p:cNvPr id="7" name="Image 4" descr="/home/user/gogoeveryday/photo-course/export-pptx/build/img/p40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30" y="2110252"/>
            <a:ext cx="2286000" cy="17145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3278673" y="3986693"/>
            <a:ext cx="5644134" cy="663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光線、角度、距離都沒變，</a:t>
            </a:r>
            <a:pPr algn="ctr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只換了商品底下那張紙</a:t>
            </a:r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650" dirty="0"/>
          </a:p>
          <a:p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背景不是「有沒有比較好看」，是「你想給人什麼感覺」。</a:t>
            </a:r>
            <a:endParaRPr lang="en-US" sz="1650" dirty="0"/>
          </a:p>
        </p:txBody>
      </p:sp>
      <p:sp>
        <p:nvSpPr>
          <p:cNvPr id="9" name="Shape 2"/>
          <p:cNvSpPr/>
          <p:nvPr/>
        </p:nvSpPr>
        <p:spPr>
          <a:xfrm>
            <a:off x="998342" y="4827209"/>
            <a:ext cx="10195286" cy="504840"/>
          </a:xfrm>
          <a:prstGeom prst="roundRect">
            <a:avLst>
              <a:gd name="adj" fmla="val 30194"/>
            </a:avLst>
          </a:prstGeom>
          <a:solidFill>
            <a:srgbClr val="F4ECE1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1141171" y="4941509"/>
            <a:ext cx="1390620" cy="276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4"/>
          <p:cNvSpPr/>
          <p:nvPr/>
        </p:nvSpPr>
        <p:spPr>
          <a:xfrm>
            <a:off x="2522372" y="4941509"/>
            <a:ext cx="18288" cy="276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5"/>
          <p:cNvSpPr txBox="1"/>
          <p:nvPr/>
        </p:nvSpPr>
        <p:spPr>
          <a:xfrm>
            <a:off x="1376721" y="4931999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背景怎麼選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2521001" y="4931999"/>
            <a:ext cx="240386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溫暖手作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木質、素色布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4866894" y="4931999"/>
            <a:ext cx="200006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乾淨專業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白或淺灰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6797558" y="4931999"/>
            <a:ext cx="280775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新鮮現做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有製作痕跡的檯面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9547433" y="4931999"/>
            <a:ext cx="159617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高級精緻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深色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258306"/>
            <a:ext cx="436543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畫面裡一定要知道誰是主角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067093"/>
            <a:ext cx="2533620" cy="1455268"/>
          </a:xfrm>
          <a:prstGeom prst="roundRect">
            <a:avLst>
              <a:gd name="adj" fmla="val 15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067093"/>
            <a:ext cx="253362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3324210" y="2067093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3512759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067093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3021" y="2295693"/>
            <a:ext cx="5652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前後</a:t>
            </a:r>
            <a:endParaRPr lang="en-US" sz="1725" dirty="0"/>
          </a:p>
        </p:txBody>
      </p:sp>
      <p:sp>
        <p:nvSpPr>
          <p:cNvPr id="10" name="Text 7"/>
          <p:cNvSpPr txBox="1"/>
          <p:nvPr/>
        </p:nvSpPr>
        <p:spPr>
          <a:xfrm>
            <a:off x="943021" y="2705252"/>
            <a:ext cx="2312060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主商品放前面、配角退後面，自然分出主次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86150" y="2067093"/>
            <a:ext cx="2533620" cy="1455268"/>
          </a:xfrm>
          <a:prstGeom prst="roundRect">
            <a:avLst>
              <a:gd name="adj" fmla="val 15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6150" y="2067093"/>
            <a:ext cx="253362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3" name="Shape 10"/>
          <p:cNvSpPr/>
          <p:nvPr/>
        </p:nvSpPr>
        <p:spPr>
          <a:xfrm>
            <a:off x="6010260" y="2067093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486150" y="3512759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486150" y="2067093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29071" y="2295693"/>
            <a:ext cx="5652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高低</a:t>
            </a:r>
            <a:endParaRPr lang="en-US" sz="1725" dirty="0"/>
          </a:p>
        </p:txBody>
      </p:sp>
      <p:sp>
        <p:nvSpPr>
          <p:cNvPr id="17" name="Text 14"/>
          <p:cNvSpPr txBox="1"/>
          <p:nvPr/>
        </p:nvSpPr>
        <p:spPr>
          <a:xfrm>
            <a:off x="3629071" y="2705252"/>
            <a:ext cx="2110161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用書或盒子墊高其中一個，畫面才有層次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72200" y="2067093"/>
            <a:ext cx="2533620" cy="1455268"/>
          </a:xfrm>
          <a:prstGeom prst="roundRect">
            <a:avLst>
              <a:gd name="adj" fmla="val 15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2067093"/>
            <a:ext cx="253362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0" name="Shape 17"/>
          <p:cNvSpPr/>
          <p:nvPr/>
        </p:nvSpPr>
        <p:spPr>
          <a:xfrm>
            <a:off x="8696310" y="2067093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172200" y="3512759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172200" y="2067093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15121" y="2295693"/>
            <a:ext cx="5652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遠近</a:t>
            </a:r>
            <a:endParaRPr lang="en-US" sz="1725" dirty="0"/>
          </a:p>
        </p:txBody>
      </p:sp>
      <p:sp>
        <p:nvSpPr>
          <p:cNvPr id="24" name="Text 21"/>
          <p:cNvSpPr txBox="1"/>
          <p:nvPr/>
        </p:nvSpPr>
        <p:spPr>
          <a:xfrm>
            <a:off x="6315121" y="2705252"/>
            <a:ext cx="2312060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主角靠近鏡頭，配角放遠一點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858250" y="2067093"/>
            <a:ext cx="2533620" cy="1455268"/>
          </a:xfrm>
          <a:prstGeom prst="roundRect">
            <a:avLst>
              <a:gd name="adj" fmla="val 15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858250" y="2067093"/>
            <a:ext cx="2533620" cy="476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27" name="Shape 24"/>
          <p:cNvSpPr/>
          <p:nvPr/>
        </p:nvSpPr>
        <p:spPr>
          <a:xfrm>
            <a:off x="11382360" y="2067093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8858250" y="3512759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8858250" y="2067093"/>
            <a:ext cx="18288" cy="145526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001171" y="2295693"/>
            <a:ext cx="5652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數量</a:t>
            </a:r>
            <a:endParaRPr lang="en-US" sz="1725" dirty="0"/>
          </a:p>
        </p:txBody>
      </p:sp>
      <p:sp>
        <p:nvSpPr>
          <p:cNvPr id="31" name="Text 28"/>
          <p:cNvSpPr txBox="1"/>
          <p:nvPr/>
        </p:nvSpPr>
        <p:spPr>
          <a:xfrm>
            <a:off x="9001171" y="2705252"/>
            <a:ext cx="2376434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一個主角 ＋ 1–3 個配角就夠，不要塞滿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00100" y="3684209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33" name="Shape 30"/>
          <p:cNvSpPr/>
          <p:nvPr/>
        </p:nvSpPr>
        <p:spPr>
          <a:xfrm>
            <a:off x="800100" y="3684209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4" name="Image 1" descr="/home/user/gogoeveryday/photo-course/export-pptx/build/img/p4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032321"/>
            <a:ext cx="297180" cy="30477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506840" y="3874770"/>
            <a:ext cx="10104211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的反例：把小物跟植物放在一起拍，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會讓人分不出主體是誰，易使主題失焦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。配角是來襯托的，不是來搶戲的。</a:t>
            </a:r>
            <a:endParaRPr lang="en-US" sz="1575" dirty="0"/>
          </a:p>
        </p:txBody>
      </p:sp>
      <p:sp>
        <p:nvSpPr>
          <p:cNvPr id="36" name="Shape 32"/>
          <p:cNvSpPr/>
          <p:nvPr/>
        </p:nvSpPr>
        <p:spPr>
          <a:xfrm>
            <a:off x="800100" y="4847143"/>
            <a:ext cx="10591770" cy="504840"/>
          </a:xfrm>
          <a:prstGeom prst="roundRect">
            <a:avLst>
              <a:gd name="adj" fmla="val 30194"/>
            </a:avLst>
          </a:prstGeom>
          <a:solidFill>
            <a:srgbClr val="F4ECE1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43021" y="4961443"/>
            <a:ext cx="1581180" cy="276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2514600" y="4961443"/>
            <a:ext cx="18288" cy="276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209660" y="4951933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這一段對應到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2581260" y="4951933"/>
            <a:ext cx="240386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溫暖手作</a:t>
            </a:r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木質、素色布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4915814" y="4951933"/>
            <a:ext cx="200006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乾淨專業</a:t>
            </a:r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白或淺灰</a:t>
            </a:r>
            <a:endParaRPr lang="en-US" sz="1500" dirty="0"/>
          </a:p>
        </p:txBody>
      </p:sp>
      <p:sp>
        <p:nvSpPr>
          <p:cNvPr id="42" name="Text 38"/>
          <p:cNvSpPr txBox="1"/>
          <p:nvPr/>
        </p:nvSpPr>
        <p:spPr>
          <a:xfrm>
            <a:off x="6869339" y="4951933"/>
            <a:ext cx="280775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新鮮現做</a:t>
            </a:r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有製作痕跡的檯面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9584832" y="4951933"/>
            <a:ext cx="159617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高級精緻</a:t>
            </a:r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深色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311615"/>
            <a:ext cx="1726662" cy="208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3121396"/>
            <a:ext cx="1187714" cy="790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292925"/>
            <a:ext cx="5839541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教材 P.26：「光線在拍攝照片中，扮演最重要的角色。」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下午第一段，也是全天最重要的一段。</a:t>
            </a:r>
            <a:endParaRPr lang="en-US" sz="1725" dirty="0"/>
          </a:p>
        </p:txBody>
      </p:sp>
      <p:pic>
        <p:nvPicPr>
          <p:cNvPr id="6" name="Image 1" descr="/home/user/gogoeveryday/photo-course/export-pptx/build/img/p4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61603" y="1725930"/>
            <a:ext cx="4478365" cy="148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60"/>
              </a:lnSpc>
              <a:buNone/>
            </a:pPr>
            <a:r>
              <a:rPr lang="en-US" sz="4200" b="1" spc="-126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光線在拍攝照片中</a:t>
            </a:r>
            <a:endParaRPr lang="en-US" sz="4200" dirty="0"/>
          </a:p>
          <a:p>
            <a:pPr algn="ctr" indent="0" marL="0">
              <a:lnSpc>
                <a:spcPts val="5460"/>
              </a:lnSpc>
              <a:buNone/>
            </a:pPr>
            <a:r>
              <a:rPr lang="en-US" sz="4200" b="1" spc="-126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扮演最重要的角色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3215488" y="3417570"/>
            <a:ext cx="5770321" cy="74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18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前面教的對焦、亮度、拿穩，都是在「不要拍壞」。</a:t>
            </a:r>
            <a:endParaRPr lang="en-US" sz="1875" dirty="0"/>
          </a:p>
          <a:p>
            <a:pPr algn="ctr" indent="0" marL="0">
              <a:lnSpc>
                <a:spcPts val="3038"/>
              </a:lnSpc>
              <a:buNone/>
            </a:pPr>
            <a:r>
              <a:rPr lang="en-US" sz="187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從這一段開始，是「怎麼拍好」。</a:t>
            </a:r>
            <a:endParaRPr lang="en-US" sz="1875" dirty="0"/>
          </a:p>
        </p:txBody>
      </p:sp>
      <p:sp>
        <p:nvSpPr>
          <p:cNvPr id="5" name="Shape 2"/>
          <p:cNvSpPr/>
          <p:nvPr/>
        </p:nvSpPr>
        <p:spPr>
          <a:xfrm>
            <a:off x="3590940" y="4417649"/>
            <a:ext cx="704820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691890" y="4503420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順光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429171" y="4417649"/>
            <a:ext cx="704820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30120" y="4503420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側光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267310" y="4417649"/>
            <a:ext cx="704820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368260" y="4503420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逆光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05540" y="4417649"/>
            <a:ext cx="1276320" cy="46671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241C17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198169" y="4503420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大太陽直射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515271" y="4417649"/>
            <a:ext cx="1085850" cy="466710"/>
          </a:xfrm>
          <a:prstGeom prst="roundRect">
            <a:avLst>
              <a:gd name="adj" fmla="val 50000"/>
            </a:avLst>
          </a:prstGeom>
          <a:solidFill>
            <a:srgbClr val="DFE8D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613660" y="4503420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57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白紙補光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301100"/>
            <a:ext cx="2346990" cy="98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你家最好的燈</a:t>
            </a:r>
            <a:endParaRPr lang="en-US" sz="2850" dirty="0"/>
          </a:p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就是窗戶</a:t>
            </a:r>
            <a:endParaRPr lang="en-US" sz="2850" dirty="0"/>
          </a:p>
        </p:txBody>
      </p:sp>
      <p:sp>
        <p:nvSpPr>
          <p:cNvPr id="4" name="Text 1"/>
          <p:cNvSpPr txBox="1"/>
          <p:nvPr/>
        </p:nvSpPr>
        <p:spPr>
          <a:xfrm>
            <a:off x="962040" y="2565166"/>
            <a:ext cx="509869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自然光源就是太陽光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，是大家拍攝時最常使用的光線</a:t>
            </a:r>
            <a:endParaRPr lang="en-US" sz="1575" dirty="0"/>
          </a:p>
        </p:txBody>
      </p:sp>
      <p:sp>
        <p:nvSpPr>
          <p:cNvPr id="5" name="Text 2"/>
          <p:cNvSpPr txBox="1"/>
          <p:nvPr/>
        </p:nvSpPr>
        <p:spPr>
          <a:xfrm>
            <a:off x="962040" y="2989082"/>
            <a:ext cx="56540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室內透過窗戶照射，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光線強度已經減少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，比在戶外好控制</a:t>
            </a:r>
            <a:endParaRPr lang="en-US" sz="1575" dirty="0"/>
          </a:p>
        </p:txBody>
      </p:sp>
      <p:sp>
        <p:nvSpPr>
          <p:cNvPr id="6" name="Text 3"/>
          <p:cNvSpPr txBox="1"/>
          <p:nvPr/>
        </p:nvSpPr>
        <p:spPr>
          <a:xfrm>
            <a:off x="962040" y="3412907"/>
            <a:ext cx="3483315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白天不用開燈，把商品端到窗邊就好</a:t>
            </a:r>
            <a:endParaRPr lang="en-US" sz="1575" dirty="0"/>
          </a:p>
        </p:txBody>
      </p:sp>
      <p:sp>
        <p:nvSpPr>
          <p:cNvPr id="7" name="Text 4"/>
          <p:cNvSpPr txBox="1"/>
          <p:nvPr/>
        </p:nvSpPr>
        <p:spPr>
          <a:xfrm>
            <a:off x="962040" y="3836822"/>
            <a:ext cx="454347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陰天的窗邊光其實最漂亮，因為雲層把光打散了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800100" y="4308287"/>
            <a:ext cx="5871088" cy="1000994"/>
          </a:xfrm>
          <a:prstGeom prst="roundRect">
            <a:avLst>
              <a:gd name="adj" fmla="val 17128"/>
            </a:avLst>
          </a:prstGeom>
          <a:solidFill>
            <a:srgbClr val="DFE8DC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4308287"/>
            <a:ext cx="47640" cy="1000994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10" name="Image 1" descr="/home/user/gogoeveryday/photo-course/export-pptx/build/img/p4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4656399"/>
            <a:ext cx="153162" cy="3047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62822" y="4498757"/>
            <a:ext cx="5391577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現在還不用買燈。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市售的燈箱、劍燈、環形燈都是選配； P.29 甚至寫「可自行製作簡易燈箱，利用紙箱與白紙」。</a:t>
            </a:r>
            <a:endParaRPr lang="en-US" sz="1575" dirty="0"/>
          </a:p>
        </p:txBody>
      </p:sp>
      <p:pic>
        <p:nvPicPr>
          <p:cNvPr id="12" name="Image 2" descr="/home/user/gogoeveryday/photo-course/export-pptx/build/img/p44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779" y="1904970"/>
            <a:ext cx="323853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ogoeveryday/photo-course/export-pptx/build/img/p4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04970"/>
            <a:ext cx="3810030" cy="2857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229350" y="1584015"/>
            <a:ext cx="2584369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不知道用什麼光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就用順光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6429421" y="2801356"/>
            <a:ext cx="390741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顏色飽和、亮度足夠，色彩看起來更鮮豔</a:t>
            </a:r>
            <a:endParaRPr lang="en-US" sz="1575" dirty="0"/>
          </a:p>
        </p:txBody>
      </p:sp>
      <p:sp>
        <p:nvSpPr>
          <p:cNvPr id="6" name="Text 2"/>
          <p:cNvSpPr txBox="1"/>
          <p:nvPr/>
        </p:nvSpPr>
        <p:spPr>
          <a:xfrm>
            <a:off x="6429421" y="3225272"/>
            <a:ext cx="369527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細節最清楚，商品的字、紋理都看得到</a:t>
            </a:r>
            <a:endParaRPr lang="en-US" sz="1575" dirty="0"/>
          </a:p>
        </p:txBody>
      </p:sp>
      <p:sp>
        <p:nvSpPr>
          <p:cNvPr id="7" name="Text 3"/>
          <p:cNvSpPr txBox="1"/>
          <p:nvPr/>
        </p:nvSpPr>
        <p:spPr>
          <a:xfrm>
            <a:off x="6429421" y="3649096"/>
            <a:ext cx="4089105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最不容易失敗，適合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主圖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電商上架照</a:t>
            </a:r>
            <a:endParaRPr lang="en-US" sz="1575" dirty="0"/>
          </a:p>
        </p:txBody>
      </p:sp>
      <p:sp>
        <p:nvSpPr>
          <p:cNvPr id="8" name="Shape 4"/>
          <p:cNvSpPr/>
          <p:nvPr/>
        </p:nvSpPr>
        <p:spPr>
          <a:xfrm>
            <a:off x="6267480" y="4120561"/>
            <a:ext cx="5124480" cy="905805"/>
          </a:xfrm>
          <a:prstGeom prst="roundRect">
            <a:avLst>
              <a:gd name="adj" fmla="val 18928"/>
            </a:avLst>
          </a:prstGeom>
          <a:solidFill>
            <a:srgbClr val="F8E6C9"/>
          </a:solidFill>
          <a:ln/>
        </p:spPr>
      </p:sp>
      <p:sp>
        <p:nvSpPr>
          <p:cNvPr id="9" name="Shape 5"/>
          <p:cNvSpPr/>
          <p:nvPr/>
        </p:nvSpPr>
        <p:spPr>
          <a:xfrm>
            <a:off x="6267480" y="4120561"/>
            <a:ext cx="47640" cy="905805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10" name="Image 2" descr="/home/user/gogoeveryday/photo-course/export-pptx/build/img/p45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10" y="4430634"/>
            <a:ext cx="197053" cy="28575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35963" y="4263481"/>
            <a:ext cx="4591477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缺點是比較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，立體感少一點。 還有：注意不要把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自己的影子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拍進去。</a:t>
            </a:r>
            <a:endParaRPr lang="en-US" sz="157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978865"/>
            <a:ext cx="1871960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手作、食物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最適合側光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962040" y="2196297"/>
            <a:ext cx="4338371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利用側光拍攝，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產生陰影，可以增加照片的立體感</a:t>
            </a:r>
            <a:endParaRPr lang="en-US" sz="1575" dirty="0"/>
          </a:p>
        </p:txBody>
      </p:sp>
      <p:sp>
        <p:nvSpPr>
          <p:cNvPr id="5" name="Text 2"/>
          <p:cNvSpPr txBox="1"/>
          <p:nvPr/>
        </p:nvSpPr>
        <p:spPr>
          <a:xfrm>
            <a:off x="962040" y="2920136"/>
            <a:ext cx="4387108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室內側光柔和，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能呈現更好的立體感，讓照片更有層次感</a:t>
            </a:r>
            <a:endParaRPr lang="en-US" sz="1575" dirty="0"/>
          </a:p>
        </p:txBody>
      </p:sp>
      <p:sp>
        <p:nvSpPr>
          <p:cNvPr id="6" name="Text 3"/>
          <p:cNvSpPr txBox="1"/>
          <p:nvPr/>
        </p:nvSpPr>
        <p:spPr>
          <a:xfrm>
            <a:off x="962040" y="3644067"/>
            <a:ext cx="4331421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果醬的濃稠、麵包的孔洞、布料的織紋，側光才看得出來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800100" y="4415546"/>
            <a:ext cx="4355744" cy="1215786"/>
          </a:xfrm>
          <a:prstGeom prst="roundRect">
            <a:avLst>
              <a:gd name="adj" fmla="val 14102"/>
            </a:avLst>
          </a:prstGeom>
          <a:solidFill>
            <a:srgbClr val="FBEEE6"/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4415546"/>
            <a:ext cx="47640" cy="1215786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9" name="Image 1" descr="/home/user/gogoeveryday/photo-course/export-pptx/build/img/p4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4880519"/>
            <a:ext cx="109728" cy="2857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1257" y="4558467"/>
            <a:ext cx="3907414" cy="92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做法很簡單：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商品放在窗戶旁邊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 你站在跟窗戶垂直的位置拍。陰影落在商品的另一側，立體感就出來了。</a:t>
            </a:r>
            <a:endParaRPr lang="en-US" sz="1575" dirty="0"/>
          </a:p>
        </p:txBody>
      </p:sp>
      <p:pic>
        <p:nvPicPr>
          <p:cNvPr id="11" name="Image 2" descr="/home/user/gogoeveryday/photo-course/export-pptx/build/img/p4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744" y="1904878"/>
            <a:ext cx="381003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ogoeveryday/photo-course/export-pptx/build/img/p4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04970"/>
            <a:ext cx="3810030" cy="2857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229350" y="1372057"/>
            <a:ext cx="2940619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好看，但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初學者最容易失敗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6429421" y="2589489"/>
            <a:ext cx="459394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可以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營造另一種照片的氛圍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，也能增加立體感</a:t>
            </a:r>
            <a:endParaRPr lang="en-US" sz="1575" dirty="0"/>
          </a:p>
        </p:txBody>
      </p:sp>
      <p:sp>
        <p:nvSpPr>
          <p:cNvPr id="6" name="Text 2"/>
          <p:cNvSpPr txBox="1"/>
          <p:nvPr/>
        </p:nvSpPr>
        <p:spPr>
          <a:xfrm>
            <a:off x="6429421" y="3013314"/>
            <a:ext cx="501795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飲料、果醬、蜂蜜這類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透光的商品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，逆光會很漂亮</a:t>
            </a:r>
            <a:endParaRPr lang="en-US" sz="1575" dirty="0"/>
          </a:p>
        </p:txBody>
      </p:sp>
      <p:sp>
        <p:nvSpPr>
          <p:cNvPr id="7" name="Text 3"/>
          <p:cNvSpPr txBox="1"/>
          <p:nvPr/>
        </p:nvSpPr>
        <p:spPr>
          <a:xfrm>
            <a:off x="6429421" y="3437230"/>
            <a:ext cx="369527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但商品正面容易變成一片黑，需要補光</a:t>
            </a:r>
            <a:endParaRPr lang="en-US" sz="1575" dirty="0"/>
          </a:p>
        </p:txBody>
      </p:sp>
      <p:sp>
        <p:nvSpPr>
          <p:cNvPr id="8" name="Text 4"/>
          <p:cNvSpPr txBox="1"/>
          <p:nvPr/>
        </p:nvSpPr>
        <p:spPr>
          <a:xfrm>
            <a:off x="6429421" y="3861054"/>
            <a:ext cx="467468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室內逆光要注意角度，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避免背景過曝或整體模糊</a:t>
            </a:r>
            <a:endParaRPr lang="en-US" sz="1575" dirty="0"/>
          </a:p>
        </p:txBody>
      </p:sp>
      <p:sp>
        <p:nvSpPr>
          <p:cNvPr id="9" name="Shape 5"/>
          <p:cNvSpPr/>
          <p:nvPr/>
        </p:nvSpPr>
        <p:spPr>
          <a:xfrm>
            <a:off x="6267480" y="4332519"/>
            <a:ext cx="5124480" cy="905805"/>
          </a:xfrm>
          <a:prstGeom prst="roundRect">
            <a:avLst>
              <a:gd name="adj" fmla="val 18928"/>
            </a:avLst>
          </a:prstGeom>
          <a:solidFill>
            <a:srgbClr val="F8E6C9"/>
          </a:solidFill>
          <a:ln/>
        </p:spPr>
      </p:sp>
      <p:sp>
        <p:nvSpPr>
          <p:cNvPr id="10" name="Shape 6"/>
          <p:cNvSpPr/>
          <p:nvPr/>
        </p:nvSpPr>
        <p:spPr>
          <a:xfrm>
            <a:off x="6267480" y="4332519"/>
            <a:ext cx="47640" cy="905805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11" name="Image 2" descr="/home/user/gogoeveryday/photo-course/export-pptx/build/img/p47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10" y="4642500"/>
            <a:ext cx="204826" cy="28575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843735" y="4475439"/>
            <a:ext cx="4543471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今天先知道有這個選項就好。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想試的話，一定要搭配下一頁的白紙。</a:t>
            </a:r>
            <a:endParaRPr lang="en-US" sz="157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116940"/>
            <a:ext cx="497881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正中午的太陽，是最難用的光</a:t>
            </a:r>
            <a:endParaRPr lang="en-US" sz="2850" dirty="0"/>
          </a:p>
        </p:txBody>
      </p:sp>
      <p:pic>
        <p:nvPicPr>
          <p:cNvPr id="4" name="Image 1" descr="/home/user/gogoeveryday/photo-course/export-pptx/build/img/p4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9044"/>
            <a:ext cx="3810030" cy="23812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38860" y="1953798"/>
            <a:ext cx="5153010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6238860" y="1953798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11382360" y="1953798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6238860" y="2458639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238860" y="1953798"/>
            <a:ext cx="38130" cy="514350"/>
          </a:xfrm>
          <a:prstGeom prst="rect">
            <a:avLst/>
          </a:prstGeom>
          <a:solidFill>
            <a:srgbClr val="D63B2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91290" y="2058589"/>
            <a:ext cx="93899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D63B2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陰影太硬</a:t>
            </a:r>
            <a:endParaRPr lang="en-US" sz="1575" dirty="0"/>
          </a:p>
        </p:txBody>
      </p:sp>
      <p:sp>
        <p:nvSpPr>
          <p:cNvPr id="11" name="Text 7"/>
          <p:cNvSpPr txBox="1"/>
          <p:nvPr/>
        </p:nvSpPr>
        <p:spPr>
          <a:xfrm>
            <a:off x="7315200" y="2063344"/>
            <a:ext cx="27159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邊緣像用刀切出來的，不好看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38860" y="2572939"/>
            <a:ext cx="5153010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6238860" y="2572939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382360" y="2572939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238860" y="3077779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38860" y="2572939"/>
            <a:ext cx="38130" cy="514350"/>
          </a:xfrm>
          <a:prstGeom prst="rect">
            <a:avLst/>
          </a:prstGeom>
          <a:solidFill>
            <a:srgbClr val="D63B2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391290" y="2677729"/>
            <a:ext cx="93899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D63B2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一邊過曝</a:t>
            </a:r>
            <a:endParaRPr lang="en-US" sz="1575" dirty="0"/>
          </a:p>
        </p:txBody>
      </p:sp>
      <p:sp>
        <p:nvSpPr>
          <p:cNvPr id="18" name="Text 14"/>
          <p:cNvSpPr txBox="1"/>
          <p:nvPr/>
        </p:nvSpPr>
        <p:spPr>
          <a:xfrm>
            <a:off x="7315200" y="2682484"/>
            <a:ext cx="332174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亮的地方變成一片死白，細節全沒了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38860" y="3192079"/>
            <a:ext cx="5153010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6238860" y="3192079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11382360" y="3192079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6238860" y="3696919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6238860" y="3192079"/>
            <a:ext cx="38130" cy="514350"/>
          </a:xfrm>
          <a:prstGeom prst="rect">
            <a:avLst/>
          </a:prstGeom>
          <a:solidFill>
            <a:srgbClr val="D63B2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391290" y="3296869"/>
            <a:ext cx="5315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D63B2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反光</a:t>
            </a:r>
            <a:endParaRPr lang="en-US" sz="1575" dirty="0"/>
          </a:p>
        </p:txBody>
      </p:sp>
      <p:sp>
        <p:nvSpPr>
          <p:cNvPr id="25" name="Text 21"/>
          <p:cNvSpPr txBox="1"/>
          <p:nvPr/>
        </p:nvSpPr>
        <p:spPr>
          <a:xfrm>
            <a:off x="7315200" y="3301624"/>
            <a:ext cx="311984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玻璃罐、塑膠袋會出現刺眼的白點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6238860" y="3811219"/>
            <a:ext cx="5153010" cy="514350"/>
          </a:xfrm>
          <a:prstGeom prst="roundRect">
            <a:avLst>
              <a:gd name="adj" fmla="val 24071"/>
            </a:avLst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6238860" y="3811219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11382360" y="3811219"/>
            <a:ext cx="18288" cy="5143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6238860" y="4316059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6238860" y="3811219"/>
            <a:ext cx="38130" cy="514350"/>
          </a:xfrm>
          <a:prstGeom prst="rect">
            <a:avLst/>
          </a:prstGeom>
          <a:solidFill>
            <a:srgbClr val="D63B2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391290" y="3916009"/>
            <a:ext cx="93899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D63B2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顏色跑掉</a:t>
            </a:r>
            <a:endParaRPr lang="en-US" sz="1575" dirty="0"/>
          </a:p>
        </p:txBody>
      </p:sp>
      <p:sp>
        <p:nvSpPr>
          <p:cNvPr id="32" name="Text 28"/>
          <p:cNvSpPr txBox="1"/>
          <p:nvPr/>
        </p:nvSpPr>
        <p:spPr>
          <a:xfrm>
            <a:off x="7315200" y="3920764"/>
            <a:ext cx="23120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商品的顏色會被曬得偏白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800100" y="4492264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DFE8DC"/>
          </a:solidFill>
          <a:ln/>
        </p:spPr>
      </p:sp>
      <p:sp>
        <p:nvSpPr>
          <p:cNvPr id="34" name="Shape 30"/>
          <p:cNvSpPr/>
          <p:nvPr/>
        </p:nvSpPr>
        <p:spPr>
          <a:xfrm>
            <a:off x="800100" y="4492264"/>
            <a:ext cx="47640" cy="1000994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35" name="Image 2" descr="/home/user/gogoeveryday/photo-course/export-pptx/build/img/p48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60" y="4840376"/>
            <a:ext cx="291419" cy="30477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501079" y="4682734"/>
            <a:ext cx="10104211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解法很簡單：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不要在正中午的太陽底下拍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移到窗邊的陰影處，或等到早上、傍晚。柔和的窗光永遠比強光好用。</a:t>
            </a:r>
            <a:endParaRPr lang="en-US" sz="157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264432"/>
            <a:ext cx="2722900" cy="98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陰影太重</a:t>
            </a:r>
            <a:endParaRPr lang="en-US" sz="2850" dirty="0"/>
          </a:p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拿張白紙擋回去</a:t>
            </a:r>
            <a:endParaRPr lang="en-US" sz="2850" dirty="0"/>
          </a:p>
        </p:txBody>
      </p:sp>
      <p:sp>
        <p:nvSpPr>
          <p:cNvPr id="4" name="Text 1"/>
          <p:cNvSpPr txBox="1"/>
          <p:nvPr/>
        </p:nvSpPr>
        <p:spPr>
          <a:xfrm>
            <a:off x="761970" y="2538100"/>
            <a:ext cx="542230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反光板</a:t>
            </a:r>
            <a:pPr algn="l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也可以使用一般白紙、雷射卡或厚紙板來代替</a:t>
            </a:r>
            <a:pPr algn="l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800100" y="3039374"/>
            <a:ext cx="1868119" cy="1567739"/>
          </a:xfrm>
          <a:prstGeom prst="roundRect">
            <a:avLst>
              <a:gd name="adj" fmla="val 972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2530" y="3201314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0994" y="3191805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534705"/>
            <a:ext cx="120161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商品放窗邊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892784"/>
            <a:ext cx="1706270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光從一側進來，另一側會有陰影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801539" y="3039374"/>
            <a:ext cx="1868119" cy="1567739"/>
          </a:xfrm>
          <a:prstGeom prst="roundRect">
            <a:avLst>
              <a:gd name="adj" fmla="val 972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53969" y="3201314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002432" y="3191805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915839" y="3534705"/>
            <a:ext cx="14237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白紙放陰影側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2915839" y="3892784"/>
            <a:ext cx="1597000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A4 白紙立起來，對著暗的那一邊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802977" y="3039374"/>
            <a:ext cx="1868119" cy="1567739"/>
          </a:xfrm>
          <a:prstGeom prst="roundRect">
            <a:avLst>
              <a:gd name="adj" fmla="val 972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55408" y="3201314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03871" y="3191805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917277" y="3534705"/>
            <a:ext cx="979505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靠近一點</a:t>
            </a:r>
            <a:endParaRPr lang="en-US" sz="1650" dirty="0"/>
          </a:p>
        </p:txBody>
      </p:sp>
      <p:sp>
        <p:nvSpPr>
          <p:cNvPr id="19" name="Text 16"/>
          <p:cNvSpPr txBox="1"/>
          <p:nvPr/>
        </p:nvSpPr>
        <p:spPr>
          <a:xfrm>
            <a:off x="4917277" y="3892784"/>
            <a:ext cx="1706270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白色反光效果較弱，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要靠主體更近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00100" y="4769053"/>
            <a:ext cx="5871088" cy="576712"/>
          </a:xfrm>
          <a:prstGeom prst="roundRect">
            <a:avLst>
              <a:gd name="adj" fmla="val 29729"/>
            </a:avLst>
          </a:prstGeom>
          <a:solidFill>
            <a:srgbClr val="F8E6C9"/>
          </a:solidFill>
          <a:ln/>
        </p:spPr>
      </p:sp>
      <p:sp>
        <p:nvSpPr>
          <p:cNvPr id="21" name="Shape 18"/>
          <p:cNvSpPr/>
          <p:nvPr/>
        </p:nvSpPr>
        <p:spPr>
          <a:xfrm>
            <a:off x="800100" y="4769053"/>
            <a:ext cx="47640" cy="5767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22" name="Image 1" descr="/home/user/gogoeveryday/photo-course/export-pptx/build/img/p4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10" y="4914443"/>
            <a:ext cx="285750" cy="28575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438260" y="4902373"/>
            <a:ext cx="485262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沒有白紙？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白色便當盒蓋、白毛巾、A4 紙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都可以。</a:t>
            </a:r>
            <a:endParaRPr lang="en-US" sz="1575" dirty="0"/>
          </a:p>
        </p:txBody>
      </p:sp>
      <p:pic>
        <p:nvPicPr>
          <p:cNvPr id="24" name="Image 2" descr="/home/user/gogoeveryday/photo-course/export-pptx/build/img/p49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328" y="1361907"/>
            <a:ext cx="3143250" cy="1904970"/>
          </a:xfrm>
          <a:prstGeom prst="rect">
            <a:avLst/>
          </a:prstGeom>
        </p:spPr>
      </p:pic>
      <p:pic>
        <p:nvPicPr>
          <p:cNvPr id="25" name="Image 3" descr="/home/user/gogoeveryday/photo-course/export-pptx/build/img/p49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328" y="3400288"/>
            <a:ext cx="3143250" cy="190497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65921" y="1429390"/>
            <a:ext cx="475552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八分鐘 · 今天最重要的一次比較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363151" y="1810329"/>
            <a:ext cx="3474903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同一個商品，拍四張</a:t>
            </a:r>
            <a:endParaRPr lang="en-US" sz="2850" dirty="0"/>
          </a:p>
        </p:txBody>
      </p:sp>
      <p:pic>
        <p:nvPicPr>
          <p:cNvPr id="5" name="Image 1" descr="/home/user/gogoeveryday/photo-course/export-pptx/build/img/p5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30" y="2642433"/>
            <a:ext cx="2286000" cy="1714500"/>
          </a:xfrm>
          <a:prstGeom prst="rect">
            <a:avLst/>
          </a:prstGeom>
        </p:spPr>
      </p:pic>
      <p:pic>
        <p:nvPicPr>
          <p:cNvPr id="6" name="Image 2" descr="/home/user/gogoeveryday/photo-course/export-pptx/build/img/p50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770" y="2642433"/>
            <a:ext cx="2286000" cy="1714500"/>
          </a:xfrm>
          <a:prstGeom prst="rect">
            <a:avLst/>
          </a:prstGeom>
        </p:spPr>
      </p:pic>
      <p:pic>
        <p:nvPicPr>
          <p:cNvPr id="7" name="Image 3" descr="/home/user/gogoeveryday/photo-course/export-pptx/build/img/p50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42433"/>
            <a:ext cx="2286000" cy="1714500"/>
          </a:xfrm>
          <a:prstGeom prst="rect">
            <a:avLst/>
          </a:prstGeom>
        </p:spPr>
      </p:pic>
      <p:pic>
        <p:nvPicPr>
          <p:cNvPr id="8" name="Image 4" descr="/home/user/gogoeveryday/photo-course/export-pptx/build/img/p50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30" y="2642433"/>
            <a:ext cx="2286000" cy="17145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3733129" y="4518873"/>
            <a:ext cx="4735220" cy="69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四張都拍完，放在一起看。</a:t>
            </a:r>
            <a:endParaRPr lang="en-US" sz="1725" dirty="0"/>
          </a:p>
          <a:p>
            <a:pPr algn="ctr" indent="0" marL="0">
              <a:lnSpc>
                <a:spcPts val="2795"/>
              </a:lnSpc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中間沒有換手機、沒有修圖、沒有花一毛錢。</a:t>
            </a:r>
            <a:endParaRPr lang="en-US" sz="17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9241" y="1566093"/>
            <a:ext cx="460290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用這三個問題，自己挑一張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1333470" y="2398197"/>
            <a:ext cx="3047970" cy="1979127"/>
          </a:xfrm>
          <a:prstGeom prst="roundRect">
            <a:avLst>
              <a:gd name="adj" fmla="val 1155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676540" y="2636307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2740274" y="2664927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3103108"/>
            <a:ext cx="2249973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哪一張商品最清楚？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07220" y="3522177"/>
            <a:ext cx="21101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看得到字、看得到紋理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0" y="2398197"/>
            <a:ext cx="3047970" cy="1979127"/>
          </a:xfrm>
          <a:prstGeom prst="roundRect">
            <a:avLst>
              <a:gd name="adj" fmla="val 1155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15071" y="2636307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D99A4E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78804" y="2664927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975799" y="3103108"/>
            <a:ext cx="2249973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哪一張最有立體感？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43760" y="3522177"/>
            <a:ext cx="25140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有厚度，不是平平貼在桌上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810530" y="2398197"/>
            <a:ext cx="3047970" cy="1979127"/>
          </a:xfrm>
          <a:prstGeom prst="roundRect">
            <a:avLst>
              <a:gd name="adj" fmla="val 1155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153510" y="2636307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5F7A63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217243" y="2664927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94177" y="3103108"/>
            <a:ext cx="2489820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哪一張看起來最舒服？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981249" y="3522177"/>
            <a:ext cx="2715951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不刺眼、不昏暗，你想多看兩秒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569842" y="4539264"/>
            <a:ext cx="9052286" cy="504840"/>
          </a:xfrm>
          <a:prstGeom prst="roundRect">
            <a:avLst>
              <a:gd name="adj" fmla="val 30194"/>
            </a:avLst>
          </a:prstGeom>
          <a:solidFill>
            <a:srgbClr val="F4ECE1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712671" y="4653564"/>
            <a:ext cx="1390620" cy="276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3093872" y="4653564"/>
            <a:ext cx="18288" cy="276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948221" y="4644055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光線怎麼選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115361" y="4644055"/>
            <a:ext cx="159617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溫暖手作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側光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87854" y="4644055"/>
            <a:ext cx="159617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乾淨專業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順光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243157" y="4644055"/>
            <a:ext cx="220196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新鮮現做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窗邊自然光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387243" y="4644055"/>
            <a:ext cx="220196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高級精緻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側光或逆光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311615"/>
            <a:ext cx="1726662" cy="208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3121396"/>
            <a:ext cx="1187714" cy="790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構圖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292925"/>
            <a:ext cx="4498939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教材 P.21 註明：「構圖法僅為拍攝參考。」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不是規則，是四條可以直接用的路。</a:t>
            </a:r>
            <a:endParaRPr lang="en-US" sz="1725" dirty="0"/>
          </a:p>
        </p:txBody>
      </p:sp>
      <p:pic>
        <p:nvPicPr>
          <p:cNvPr id="6" name="Image 1" descr="/home/user/gogoeveryday/photo-course/export-pptx/build/img/p5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5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033912"/>
            <a:ext cx="7234824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構圖只有一個問題：放中間，還是不放中間</a:t>
            </a:r>
            <a:endParaRPr lang="en-US" sz="2850" dirty="0"/>
          </a:p>
        </p:txBody>
      </p:sp>
      <p:pic>
        <p:nvPicPr>
          <p:cNvPr id="4" name="Image 1" descr="/home/user/gogoeveryday/photo-course/export-pptx/build/img/p5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866016"/>
            <a:ext cx="4381530" cy="2857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511217" y="1866016"/>
            <a:ext cx="18288" cy="28575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4222425" y="1866016"/>
            <a:ext cx="18288" cy="28575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800100" y="2818364"/>
            <a:ext cx="5133990" cy="18288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800100" y="3770711"/>
            <a:ext cx="5133990" cy="18288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9" name="Image 2" descr="/home/user/gogoeveryday/photo-course/export-pptx/build/img/p5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71" y="1866016"/>
            <a:ext cx="4381530" cy="28575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968996" y="1866016"/>
            <a:ext cx="19020" cy="285750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1" name="Shape 6"/>
          <p:cNvSpPr/>
          <p:nvPr/>
        </p:nvSpPr>
        <p:spPr>
          <a:xfrm>
            <a:off x="9680204" y="1866016"/>
            <a:ext cx="18288" cy="28575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257971" y="2818364"/>
            <a:ext cx="5133990" cy="18288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6257971" y="3770711"/>
            <a:ext cx="5133990" cy="18288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800100" y="4885456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15" name="Shape 10"/>
          <p:cNvSpPr/>
          <p:nvPr/>
        </p:nvSpPr>
        <p:spPr>
          <a:xfrm>
            <a:off x="800100" y="4885456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16" name="Image 3" descr="/home/user/gogoeveryday/photo-course/export-pptx/build/img/p53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60" y="5078486"/>
            <a:ext cx="304770" cy="30477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14521" y="5075926"/>
            <a:ext cx="1010421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三分法又稱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九宮格構圖法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 把畫面分成九等分，主體放在其中一個交叉點或線上。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開啟格線後就能直接用。</a:t>
            </a:r>
            <a:endParaRPr lang="en-US" sz="157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ogoeveryday/photo-course/export-pptx/build/img/p5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833372"/>
            <a:ext cx="4000500" cy="300042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229350" y="1526957"/>
            <a:ext cx="2228118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不知道怎麼放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就放中間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6429421" y="2744389"/>
            <a:ext cx="509869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可以讓人在看到照片的瞬間，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就知道照片主體的位置</a:t>
            </a:r>
            <a:endParaRPr lang="en-US" sz="1575" dirty="0"/>
          </a:p>
        </p:txBody>
      </p:sp>
      <p:sp>
        <p:nvSpPr>
          <p:cNvPr id="6" name="Text 2"/>
          <p:cNvSpPr txBox="1"/>
          <p:nvPr/>
        </p:nvSpPr>
        <p:spPr>
          <a:xfrm>
            <a:off x="6429421" y="3168213"/>
            <a:ext cx="382658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最適合：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電商主圖、商品目錄、包裝照</a:t>
            </a:r>
            <a:endParaRPr lang="en-US" sz="1575" dirty="0"/>
          </a:p>
        </p:txBody>
      </p:sp>
      <p:sp>
        <p:nvSpPr>
          <p:cNvPr id="7" name="Text 3"/>
          <p:cNvSpPr txBox="1"/>
          <p:nvPr/>
        </p:nvSpPr>
        <p:spPr>
          <a:xfrm>
            <a:off x="6429421" y="3592129"/>
            <a:ext cx="390741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對稱的商品（瓶罐、盒子）放中間最好看</a:t>
            </a:r>
            <a:endParaRPr lang="en-US" sz="1575" dirty="0"/>
          </a:p>
        </p:txBody>
      </p:sp>
      <p:sp>
        <p:nvSpPr>
          <p:cNvPr id="8" name="Text 4"/>
          <p:cNvSpPr txBox="1"/>
          <p:nvPr/>
        </p:nvSpPr>
        <p:spPr>
          <a:xfrm>
            <a:off x="6429421" y="4015953"/>
            <a:ext cx="369527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缺點：比較沒有故事感，看久了會單調</a:t>
            </a:r>
            <a:endParaRPr lang="en-US" sz="1575" dirty="0"/>
          </a:p>
        </p:txBody>
      </p:sp>
      <p:sp>
        <p:nvSpPr>
          <p:cNvPr id="9" name="Shape 5"/>
          <p:cNvSpPr/>
          <p:nvPr/>
        </p:nvSpPr>
        <p:spPr>
          <a:xfrm>
            <a:off x="6267480" y="4487509"/>
            <a:ext cx="5124480" cy="595732"/>
          </a:xfrm>
          <a:prstGeom prst="roundRect">
            <a:avLst>
              <a:gd name="adj" fmla="val 28780"/>
            </a:avLst>
          </a:prstGeom>
          <a:solidFill>
            <a:srgbClr val="DFE8DC"/>
          </a:solidFill>
          <a:ln/>
        </p:spPr>
      </p:sp>
      <p:sp>
        <p:nvSpPr>
          <p:cNvPr id="10" name="Shape 6"/>
          <p:cNvSpPr/>
          <p:nvPr/>
        </p:nvSpPr>
        <p:spPr>
          <a:xfrm>
            <a:off x="6267480" y="4487509"/>
            <a:ext cx="47640" cy="595732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11" name="Image 2" descr="/home/user/gogoeveryday/photo-course/export-pptx/build/img/p54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10" y="4642409"/>
            <a:ext cx="285750" cy="28575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24660" y="4630339"/>
            <a:ext cx="433142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六張照片裡的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主圖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，用中央構圖最不會出錯。</a:t>
            </a:r>
            <a:endParaRPr lang="en-US" sz="157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216975"/>
            <a:ext cx="1871960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放在線上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畫面會呼吸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962040" y="2434407"/>
            <a:ext cx="33217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把商品放在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格線的交叉點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或線上</a:t>
            </a:r>
            <a:endParaRPr lang="en-US" sz="1575" dirty="0"/>
          </a:p>
        </p:txBody>
      </p:sp>
      <p:sp>
        <p:nvSpPr>
          <p:cNvPr id="5" name="Text 2"/>
          <p:cNvSpPr txBox="1"/>
          <p:nvPr/>
        </p:nvSpPr>
        <p:spPr>
          <a:xfrm>
            <a:off x="962040" y="2858232"/>
            <a:ext cx="390741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另一側留出來的空間，讓照片不那麼緊繃</a:t>
            </a:r>
            <a:endParaRPr lang="en-US" sz="1575" dirty="0"/>
          </a:p>
        </p:txBody>
      </p:sp>
      <p:sp>
        <p:nvSpPr>
          <p:cNvPr id="6" name="Text 3"/>
          <p:cNvSpPr txBox="1"/>
          <p:nvPr/>
        </p:nvSpPr>
        <p:spPr>
          <a:xfrm>
            <a:off x="962040" y="3282147"/>
            <a:ext cx="369527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適合：情境照、幕後照、有配角的畫面</a:t>
            </a:r>
            <a:endParaRPr lang="en-US" sz="1575" dirty="0"/>
          </a:p>
        </p:txBody>
      </p:sp>
      <p:sp>
        <p:nvSpPr>
          <p:cNvPr id="7" name="Text 4"/>
          <p:cNvSpPr txBox="1"/>
          <p:nvPr/>
        </p:nvSpPr>
        <p:spPr>
          <a:xfrm>
            <a:off x="962040" y="3705972"/>
            <a:ext cx="234241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可以讓照片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增加穩重感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800100" y="4177436"/>
            <a:ext cx="4355744" cy="1215786"/>
          </a:xfrm>
          <a:prstGeom prst="roundRect">
            <a:avLst>
              <a:gd name="adj" fmla="val 14102"/>
            </a:avLst>
          </a:prstGeom>
          <a:solidFill>
            <a:srgbClr val="F8E6C9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4177436"/>
            <a:ext cx="47640" cy="1215786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10" name="Image 1" descr="/home/user/gogoeveryday/photo-course/export-pptx/build/img/p5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4642409"/>
            <a:ext cx="131308" cy="2857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02837" y="4320357"/>
            <a:ext cx="3907414" cy="92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實務做法：把商品往左或往右移到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第一條線上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 空出來的那一半放配角，或什麼都不放。</a:t>
            </a:r>
            <a:endParaRPr lang="en-US" sz="1575" dirty="0"/>
          </a:p>
        </p:txBody>
      </p:sp>
      <p:pic>
        <p:nvPicPr>
          <p:cNvPr id="12" name="Image 2" descr="/home/user/gogoeveryday/photo-course/export-pptx/build/img/p55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744" y="1833372"/>
            <a:ext cx="4000500" cy="300042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62876" y="1833372"/>
            <a:ext cx="19020" cy="3000421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4" name="Shape 9"/>
          <p:cNvSpPr/>
          <p:nvPr/>
        </p:nvSpPr>
        <p:spPr>
          <a:xfrm>
            <a:off x="5498744" y="2833360"/>
            <a:ext cx="5893125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5498744" y="3833348"/>
            <a:ext cx="5893125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ogoeveryday/photo-course/export-pptx/build/img/p5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833372"/>
            <a:ext cx="4000500" cy="300042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229350" y="1278880"/>
            <a:ext cx="2228118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空白不是浪費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是留位置</a:t>
            </a:r>
            <a:endParaRPr lang="en-US" sz="2700" dirty="0"/>
          </a:p>
        </p:txBody>
      </p:sp>
      <p:sp>
        <p:nvSpPr>
          <p:cNvPr id="5" name="Text 1"/>
          <p:cNvSpPr txBox="1"/>
          <p:nvPr/>
        </p:nvSpPr>
        <p:spPr>
          <a:xfrm>
            <a:off x="6429421" y="2496312"/>
            <a:ext cx="488673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適當的留白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可以製造意境與氛圍，增加想像的空間</a:t>
            </a:r>
            <a:endParaRPr lang="en-US" sz="1575" dirty="0"/>
          </a:p>
        </p:txBody>
      </p:sp>
      <p:sp>
        <p:nvSpPr>
          <p:cNvPr id="6" name="Text 2"/>
          <p:cNvSpPr txBox="1"/>
          <p:nvPr/>
        </p:nvSpPr>
        <p:spPr>
          <a:xfrm>
            <a:off x="6429421" y="2920136"/>
            <a:ext cx="5159319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對做生意的人來說更實際：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空白處可以放價格、名稱、活動文字</a:t>
            </a:r>
            <a:endParaRPr lang="en-US" sz="1575" dirty="0"/>
          </a:p>
        </p:txBody>
      </p:sp>
      <p:sp>
        <p:nvSpPr>
          <p:cNvPr id="7" name="Text 3"/>
          <p:cNvSpPr txBox="1"/>
          <p:nvPr/>
        </p:nvSpPr>
        <p:spPr>
          <a:xfrm>
            <a:off x="6429421" y="3644067"/>
            <a:ext cx="496747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接社群課：貼文要加字的話，拍的時候就要先留位置</a:t>
            </a:r>
            <a:endParaRPr lang="en-US" sz="1575" dirty="0"/>
          </a:p>
        </p:txBody>
      </p:sp>
      <p:sp>
        <p:nvSpPr>
          <p:cNvPr id="8" name="Shape 4"/>
          <p:cNvSpPr/>
          <p:nvPr/>
        </p:nvSpPr>
        <p:spPr>
          <a:xfrm>
            <a:off x="6267480" y="4115532"/>
            <a:ext cx="5124480" cy="1215786"/>
          </a:xfrm>
          <a:prstGeom prst="roundRect">
            <a:avLst>
              <a:gd name="adj" fmla="val 14102"/>
            </a:avLst>
          </a:prstGeom>
          <a:solidFill>
            <a:srgbClr val="FBEEE6"/>
          </a:solidFill>
          <a:ln/>
        </p:spPr>
      </p:sp>
      <p:sp>
        <p:nvSpPr>
          <p:cNvPr id="9" name="Shape 5"/>
          <p:cNvSpPr/>
          <p:nvPr/>
        </p:nvSpPr>
        <p:spPr>
          <a:xfrm>
            <a:off x="6267480" y="4115532"/>
            <a:ext cx="47640" cy="1215786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10" name="Image 2" descr="/home/user/gogoeveryday/photo-course/export-pptx/build/img/p5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10" y="4580504"/>
            <a:ext cx="129662" cy="28575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68572" y="4258452"/>
            <a:ext cx="4591477" cy="92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對稱與重複排列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也很好用：包裝、成套商品用對稱； 餅乾、飾品、農產品排成一列或九宮格，畫面會很整齊。</a:t>
            </a:r>
            <a:endParaRPr lang="en-US" sz="157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167299" y="1136416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四分鐘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047329" y="1517447"/>
            <a:ext cx="610682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不換位置、不換光，只換商品放哪裡</a:t>
            </a:r>
            <a:endParaRPr lang="en-US" sz="2850" dirty="0"/>
          </a:p>
        </p:txBody>
      </p:sp>
      <p:pic>
        <p:nvPicPr>
          <p:cNvPr id="5" name="Image 1" descr="/home/user/gogoeveryday/photo-course/export-pptx/build/img/p5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40" y="2349551"/>
            <a:ext cx="2762220" cy="2076420"/>
          </a:xfrm>
          <a:prstGeom prst="rect">
            <a:avLst/>
          </a:prstGeom>
        </p:spPr>
      </p:pic>
      <p:pic>
        <p:nvPicPr>
          <p:cNvPr id="6" name="Image 2" descr="/home/user/gogoeveryday/photo-course/export-pptx/build/img/p57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921" y="2349551"/>
            <a:ext cx="2762220" cy="2076420"/>
          </a:xfrm>
          <a:prstGeom prst="rect">
            <a:avLst/>
          </a:prstGeom>
        </p:spPr>
      </p:pic>
      <p:pic>
        <p:nvPicPr>
          <p:cNvPr id="7" name="Image 3" descr="/home/user/gogoeveryday/photo-course/export-pptx/build/img/p57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610" y="2349551"/>
            <a:ext cx="2762220" cy="207642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00100" y="4587911"/>
            <a:ext cx="10591770" cy="933420"/>
          </a:xfrm>
          <a:prstGeom prst="roundRect">
            <a:avLst>
              <a:gd name="adj" fmla="val 16330"/>
            </a:avLst>
          </a:prstGeom>
          <a:solidFill>
            <a:srgbClr val="F4ECE1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943021" y="4702211"/>
            <a:ext cx="1390620" cy="7048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Shape 4"/>
          <p:cNvSpPr/>
          <p:nvPr/>
        </p:nvSpPr>
        <p:spPr>
          <a:xfrm>
            <a:off x="2324130" y="4702211"/>
            <a:ext cx="18288" cy="7048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1178479" y="4907036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構圖怎麼選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2316998" y="4692701"/>
            <a:ext cx="260585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溫暖手作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留一點手的動作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4842022" y="4692701"/>
            <a:ext cx="260585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乾淨專業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置中、不加濾鏡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378476" y="4692701"/>
            <a:ext cx="220196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新鮮現做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加肢體動作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2334189" y="5121280"/>
            <a:ext cx="200006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高級精緻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大量留白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311615"/>
            <a:ext cx="1726662" cy="208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3121396"/>
            <a:ext cx="2284628" cy="790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拍攝角度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292925"/>
            <a:ext cx="6508151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教材小物攝影要領：放在背景相對乾淨的地方，並以 45 度角拍攝。</a:t>
            </a:r>
            <a:endParaRPr lang="en-US" sz="1725" dirty="0"/>
          </a:p>
        </p:txBody>
      </p:sp>
      <p:pic>
        <p:nvPicPr>
          <p:cNvPr id="6" name="Image 1" descr="/home/user/gogoeveryday/photo-course/export-pptx/build/img/p5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813816"/>
            <a:ext cx="4447184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商品照的預設答案是 45 度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645920"/>
            <a:ext cx="3416198" cy="3297692"/>
          </a:xfrm>
          <a:prstGeom prst="roundRect">
            <a:avLst>
              <a:gd name="adj" fmla="val 69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645920"/>
            <a:ext cx="3416198" cy="4764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6" name="Shape 3"/>
          <p:cNvSpPr/>
          <p:nvPr/>
        </p:nvSpPr>
        <p:spPr>
          <a:xfrm>
            <a:off x="4206789" y="1645920"/>
            <a:ext cx="18288" cy="329769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934102"/>
            <a:ext cx="34161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645920"/>
            <a:ext cx="18288" cy="329769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9" name="Image 1" descr="/home/user/gogoeveryday/photo-course/export-pptx/build/img/p5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60" y="1865010"/>
            <a:ext cx="2495580" cy="14287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43021" y="3398459"/>
            <a:ext cx="2219523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平拍 </a:t>
            </a:r>
            <a:pPr algn="l" indent="0" marL="0">
              <a:buNone/>
            </a:pPr>
            <a:r>
              <a:rPr lang="en-US" sz="1500" b="1" spc="-18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手機跟商品同高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943021" y="3817620"/>
            <a:ext cx="3119841" cy="912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看得到正面與標籤。適合</a:t>
            </a:r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瓶罐、包裝、有字的商品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層次感會少一些。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387748" y="1645920"/>
            <a:ext cx="3416381" cy="3297692"/>
          </a:xfrm>
          <a:prstGeom prst="roundRect">
            <a:avLst>
              <a:gd name="adj" fmla="val 69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87748" y="1645920"/>
            <a:ext cx="3416381" cy="47640"/>
          </a:xfrm>
          <a:prstGeom prst="rect">
            <a:avLst/>
          </a:prstGeom>
          <a:solidFill>
            <a:srgbClr val="C9743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94620" y="1645920"/>
            <a:ext cx="18288" cy="329769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387748" y="4934102"/>
            <a:ext cx="341638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387748" y="1645920"/>
            <a:ext cx="18288" cy="329769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17" name="Image 2" descr="/home/user/gogoeveryday/photo-course/export-pptx/build/img/p59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08" y="1865010"/>
            <a:ext cx="2495580" cy="142875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30669" y="3398459"/>
            <a:ext cx="2313341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45 度 </a:t>
            </a:r>
            <a:pPr algn="l" indent="0" marL="0">
              <a:buNone/>
            </a:pPr>
            <a:r>
              <a:rPr lang="en-US" sz="1500" b="1" spc="-18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手機略高於商品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530669" y="3817620"/>
            <a:ext cx="3119841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最推薦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。更可展現細節及立體感。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看得到切面。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975580" y="1645920"/>
            <a:ext cx="3416198" cy="3297692"/>
          </a:xfrm>
          <a:prstGeom prst="roundRect">
            <a:avLst>
              <a:gd name="adj" fmla="val 69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75580" y="1645920"/>
            <a:ext cx="3416198" cy="47640"/>
          </a:xfrm>
          <a:prstGeom prst="rect">
            <a:avLst/>
          </a:prstGeom>
          <a:solidFill>
            <a:srgbClr val="6A9160"/>
          </a:solidFill>
          <a:ln/>
        </p:spPr>
      </p:sp>
      <p:sp>
        <p:nvSpPr>
          <p:cNvPr id="22" name="Shape 17"/>
          <p:cNvSpPr/>
          <p:nvPr/>
        </p:nvSpPr>
        <p:spPr>
          <a:xfrm>
            <a:off x="11382268" y="1645920"/>
            <a:ext cx="18288" cy="329769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975580" y="4934102"/>
            <a:ext cx="341619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7975580" y="1645920"/>
            <a:ext cx="18288" cy="3297692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25" name="Image 3" descr="/home/user/gogoeveryday/photo-course/export-pptx/build/img/p59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539" y="1865010"/>
            <a:ext cx="2495580" cy="142875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118409" y="3398459"/>
            <a:ext cx="2418862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俯拍 </a:t>
            </a:r>
            <a:pPr algn="l" indent="0" marL="0">
              <a:buNone/>
            </a:pPr>
            <a:r>
              <a:rPr lang="en-US" sz="1500" b="1" spc="-18" kern="0" dirty="0">
                <a:solidFill>
                  <a:srgbClr val="7A6A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手機在商品正上方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8118409" y="3817620"/>
            <a:ext cx="3119841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適合</a:t>
            </a:r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多個商品排列、平放的東西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單一商品俯拍會失去立體感。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800100" y="5105552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8E6C9"/>
          </a:solidFill>
          <a:ln/>
        </p:spPr>
      </p:sp>
      <p:sp>
        <p:nvSpPr>
          <p:cNvPr id="29" name="Shape 23"/>
          <p:cNvSpPr/>
          <p:nvPr/>
        </p:nvSpPr>
        <p:spPr>
          <a:xfrm>
            <a:off x="800100" y="5105552"/>
            <a:ext cx="47640" cy="6910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0" name="Image 4" descr="/home/user/gogoeveryday/photo-course/export-pptx/build/img/p59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60" y="5298582"/>
            <a:ext cx="304770" cy="30477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14521" y="5296022"/>
            <a:ext cx="539157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若一開始不確定要使用哪種角度，可拍多張再進行挑選。</a:t>
            </a:r>
            <a:endParaRPr lang="en-US" sz="157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99241" y="1209660"/>
            <a:ext cx="460290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看得出來立體感差在哪嗎？</a:t>
            </a:r>
            <a:endParaRPr lang="en-US" sz="2850" dirty="0"/>
          </a:p>
        </p:txBody>
      </p:sp>
      <p:pic>
        <p:nvPicPr>
          <p:cNvPr id="4" name="Image 1" descr="/home/user/gogoeveryday/photo-course/export-pptx/build/img/p6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041764"/>
            <a:ext cx="2857500" cy="2857500"/>
          </a:xfrm>
          <a:prstGeom prst="rect">
            <a:avLst/>
          </a:prstGeom>
        </p:spPr>
      </p:pic>
      <p:pic>
        <p:nvPicPr>
          <p:cNvPr id="5" name="Image 2" descr="/home/user/gogoeveryday/photo-course/export-pptx/build/img/p60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80" y="2041764"/>
            <a:ext cx="2857500" cy="2857500"/>
          </a:xfrm>
          <a:prstGeom prst="rect">
            <a:avLst/>
          </a:prstGeom>
        </p:spPr>
      </p:pic>
      <p:pic>
        <p:nvPicPr>
          <p:cNvPr id="6" name="Image 3" descr="/home/user/gogoeveryday/photo-course/export-pptx/build/img/p60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270" y="2041764"/>
            <a:ext cx="2857500" cy="28575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1653601" y="5061204"/>
            <a:ext cx="8894277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平拍看得到正面，俯拍看得到排列，</a:t>
            </a:r>
            <a:pPr algn="ctr" indent="0" marL="0">
              <a:lnSpc>
                <a:spcPts val="2673"/>
              </a:lnSpc>
              <a:buNone/>
            </a:pPr>
            <a:r>
              <a:rPr lang="en-US" sz="165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45 度兩邊都看得到一點</a:t>
            </a:r>
            <a:pPr algn="ctr" indent="0" marL="0">
              <a:lnSpc>
                <a:spcPts val="2673"/>
              </a:lnSpc>
              <a:buNone/>
            </a:pPr>
            <a:r>
              <a:rPr lang="en-US" sz="165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 這就是它最安全的原因。</a:t>
            </a:r>
            <a:endParaRPr lang="en-US" sz="16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6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51397" y="1853489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五分鐘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878428" y="2234519"/>
            <a:ext cx="444444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蹲下來一點，或站高一點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963467" y="3089849"/>
            <a:ext cx="1319662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054815" y="3175528"/>
            <a:ext cx="114647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平拍一張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397429" y="3089849"/>
            <a:ext cx="1397203" cy="46671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486491" y="3175528"/>
            <a:ext cx="1228679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45 度一張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08932" y="3089849"/>
            <a:ext cx="1319662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000281" y="3175528"/>
            <a:ext cx="114647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俯拍一張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626328" y="3670859"/>
            <a:ext cx="4939132" cy="466710"/>
          </a:xfrm>
          <a:prstGeom prst="roundRect">
            <a:avLst>
              <a:gd name="adj" fmla="val 50000"/>
            </a:avLst>
          </a:prstGeom>
          <a:solidFill>
            <a:srgbClr val="DFE8D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609137" y="3756538"/>
            <a:ext cx="498311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57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三張裡挑一張，這就是你六張照片的「不同角度照」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375440" y="4299509"/>
            <a:ext cx="9441089" cy="504840"/>
          </a:xfrm>
          <a:prstGeom prst="roundRect">
            <a:avLst>
              <a:gd name="adj" fmla="val 30194"/>
            </a:avLst>
          </a:prstGeom>
          <a:solidFill>
            <a:srgbClr val="F4ECE1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18361" y="4413809"/>
            <a:ext cx="1390620" cy="2762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2899471" y="4413809"/>
            <a:ext cx="18288" cy="27624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753819" y="4404299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角度怎麼選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918673" y="4404299"/>
            <a:ext cx="1678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溫暖手作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45 度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48134" y="4404299"/>
            <a:ext cx="240386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乾淨專業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平拍或正俯拍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84792" y="4404299"/>
            <a:ext cx="232989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新鮮現做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俯拍或 45 度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170243" y="4404299"/>
            <a:ext cx="159617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高級精緻</a:t>
            </a:r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→ 特寫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925830"/>
            <a:ext cx="1726662" cy="208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2735610"/>
            <a:ext cx="2284628" cy="156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一個商品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六張照片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678710"/>
            <a:ext cx="6360749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把今天學的全部用上。挑一種感覺，六張照片照同一個風格拍完。</a:t>
            </a:r>
            <a:endParaRPr lang="en-US" sz="1725" dirty="0"/>
          </a:p>
        </p:txBody>
      </p:sp>
      <p:pic>
        <p:nvPicPr>
          <p:cNvPr id="6" name="Image 1" descr="/home/user/gogoeveryday/photo-course/export-pptx/build/img/p6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1252362"/>
            <a:ext cx="5137191" cy="48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挑</a:t>
            </a:r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一列</a:t>
            </a:r>
            <a:pPr algn="l" indent="0" marL="0">
              <a:lnSpc>
                <a:spcPts val="3111"/>
              </a:lnSpc>
              <a:buNone/>
            </a:pPr>
            <a:r>
              <a:rPr lang="en-US" sz="2550" b="1" spc="-51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，六張照片全部照那一列拍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647670" y="1837853"/>
            <a:ext cx="142875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7670" y="2361712"/>
            <a:ext cx="142875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" y="1971264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感覺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076420" y="1837853"/>
            <a:ext cx="165671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076420" y="2361712"/>
            <a:ext cx="16567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228850" y="1971264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733221" y="1837853"/>
            <a:ext cx="2366924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733221" y="2361712"/>
            <a:ext cx="2366924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885560" y="1971264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00145" y="1837853"/>
            <a:ext cx="189354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100145" y="2361712"/>
            <a:ext cx="189354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52576" y="1971264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角度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993685" y="1837853"/>
            <a:ext cx="2130186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993685" y="2361712"/>
            <a:ext cx="2130186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46115" y="1971264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構圖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123871" y="1837853"/>
            <a:ext cx="1420429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0123871" y="2361712"/>
            <a:ext cx="1420429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276302" y="1971264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色調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7670" y="2371314"/>
            <a:ext cx="1428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47670" y="2933212"/>
            <a:ext cx="14287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0100" y="2504633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溫暖手作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076420" y="2371314"/>
            <a:ext cx="165671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076420" y="2933212"/>
            <a:ext cx="165671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228850" y="250463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側光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733221" y="2371314"/>
            <a:ext cx="2366924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733221" y="2933212"/>
            <a:ext cx="236692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885560" y="2504633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木質、素色布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100145" y="2371314"/>
            <a:ext cx="189354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100145" y="2933212"/>
            <a:ext cx="189354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252576" y="2504633"/>
            <a:ext cx="5899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45 度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993685" y="2371314"/>
            <a:ext cx="2130186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7993685" y="2933212"/>
            <a:ext cx="2130186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146115" y="2504633"/>
            <a:ext cx="15043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留一點手的動作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0123871" y="2371314"/>
            <a:ext cx="1420429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0123871" y="2933212"/>
            <a:ext cx="142042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0276302" y="2504633"/>
            <a:ext cx="70299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暖一點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47670" y="2942814"/>
            <a:ext cx="1428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47670" y="3504712"/>
            <a:ext cx="14287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00100" y="3076133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乾淨專業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2076420" y="2942814"/>
            <a:ext cx="165671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2076420" y="3504712"/>
            <a:ext cx="165671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228850" y="307613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順光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3733221" y="2942814"/>
            <a:ext cx="2366924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3733221" y="3504712"/>
            <a:ext cx="236692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885560" y="3076133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白或淺灰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6100145" y="2942814"/>
            <a:ext cx="189354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100145" y="3504712"/>
            <a:ext cx="189354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6252576" y="3076133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平拍或正俯拍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7993685" y="2942814"/>
            <a:ext cx="2130186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993685" y="3504712"/>
            <a:ext cx="2130186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8146115" y="3076133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置中、留白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10123871" y="2942814"/>
            <a:ext cx="1420429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10123871" y="3504712"/>
            <a:ext cx="142042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10276302" y="3076133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不加濾鏡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647670" y="3514314"/>
            <a:ext cx="1428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47670" y="4076212"/>
            <a:ext cx="14287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800100" y="3647633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新鮮現做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2076420" y="3514314"/>
            <a:ext cx="165671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2076420" y="4076212"/>
            <a:ext cx="165671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2228850" y="3647633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窗邊自然光</a:t>
            </a:r>
            <a:endParaRPr lang="en-US" sz="1500" dirty="0"/>
          </a:p>
        </p:txBody>
      </p:sp>
      <p:sp>
        <p:nvSpPr>
          <p:cNvPr id="64" name="Shape 61"/>
          <p:cNvSpPr/>
          <p:nvPr/>
        </p:nvSpPr>
        <p:spPr>
          <a:xfrm>
            <a:off x="3733221" y="3514314"/>
            <a:ext cx="2366924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733221" y="4076212"/>
            <a:ext cx="236692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885560" y="3647633"/>
            <a:ext cx="170627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有製作痕跡的檯面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6100145" y="3514314"/>
            <a:ext cx="189354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6100145" y="4076212"/>
            <a:ext cx="189354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6252576" y="3647633"/>
            <a:ext cx="1228679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俯拍或 45 度</a:t>
            </a:r>
            <a:endParaRPr lang="en-US" sz="1500" dirty="0"/>
          </a:p>
        </p:txBody>
      </p:sp>
      <p:sp>
        <p:nvSpPr>
          <p:cNvPr id="70" name="Shape 67"/>
          <p:cNvSpPr/>
          <p:nvPr/>
        </p:nvSpPr>
        <p:spPr>
          <a:xfrm>
            <a:off x="7993685" y="3514314"/>
            <a:ext cx="2130186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7993685" y="4076212"/>
            <a:ext cx="2130186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8146115" y="3647633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加肢體動作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10123871" y="3514314"/>
            <a:ext cx="1420429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10123871" y="4076212"/>
            <a:ext cx="1420429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10276302" y="364763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自然</a:t>
            </a:r>
            <a:endParaRPr lang="en-US" sz="1500" dirty="0"/>
          </a:p>
        </p:txBody>
      </p:sp>
      <p:sp>
        <p:nvSpPr>
          <p:cNvPr id="76" name="Text 73"/>
          <p:cNvSpPr txBox="1"/>
          <p:nvPr/>
        </p:nvSpPr>
        <p:spPr>
          <a:xfrm>
            <a:off x="800100" y="4219133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高級精緻</a:t>
            </a:r>
            <a:endParaRPr lang="en-US" sz="1500" dirty="0"/>
          </a:p>
        </p:txBody>
      </p:sp>
      <p:sp>
        <p:nvSpPr>
          <p:cNvPr id="77" name="Text 74"/>
          <p:cNvSpPr txBox="1"/>
          <p:nvPr/>
        </p:nvSpPr>
        <p:spPr>
          <a:xfrm>
            <a:off x="2228850" y="4219133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側光或逆光</a:t>
            </a:r>
            <a:endParaRPr lang="en-US" sz="1500" dirty="0"/>
          </a:p>
        </p:txBody>
      </p:sp>
      <p:sp>
        <p:nvSpPr>
          <p:cNvPr id="78" name="Text 75"/>
          <p:cNvSpPr txBox="1"/>
          <p:nvPr/>
        </p:nvSpPr>
        <p:spPr>
          <a:xfrm>
            <a:off x="3885560" y="421913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深色</a:t>
            </a:r>
            <a:endParaRPr lang="en-US" sz="1500" dirty="0"/>
          </a:p>
        </p:txBody>
      </p:sp>
      <p:sp>
        <p:nvSpPr>
          <p:cNvPr id="79" name="Text 76"/>
          <p:cNvSpPr txBox="1"/>
          <p:nvPr/>
        </p:nvSpPr>
        <p:spPr>
          <a:xfrm>
            <a:off x="6252576" y="4219133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1500" dirty="0"/>
          </a:p>
        </p:txBody>
      </p:sp>
      <p:sp>
        <p:nvSpPr>
          <p:cNvPr id="80" name="Text 77"/>
          <p:cNvSpPr txBox="1"/>
          <p:nvPr/>
        </p:nvSpPr>
        <p:spPr>
          <a:xfrm>
            <a:off x="8146115" y="4219133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大量留白</a:t>
            </a:r>
            <a:endParaRPr lang="en-US" sz="1500" dirty="0"/>
          </a:p>
        </p:txBody>
      </p:sp>
      <p:sp>
        <p:nvSpPr>
          <p:cNvPr id="81" name="Text 78"/>
          <p:cNvSpPr txBox="1"/>
          <p:nvPr/>
        </p:nvSpPr>
        <p:spPr>
          <a:xfrm>
            <a:off x="10276302" y="4219133"/>
            <a:ext cx="70299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低飽和</a:t>
            </a:r>
            <a:endParaRPr lang="en-US" sz="1500" dirty="0"/>
          </a:p>
        </p:txBody>
      </p:sp>
      <p:sp>
        <p:nvSpPr>
          <p:cNvPr id="82" name="Shape 79"/>
          <p:cNvSpPr/>
          <p:nvPr/>
        </p:nvSpPr>
        <p:spPr>
          <a:xfrm>
            <a:off x="647670" y="4752503"/>
            <a:ext cx="10896630" cy="576712"/>
          </a:xfrm>
          <a:prstGeom prst="roundRect">
            <a:avLst>
              <a:gd name="adj" fmla="val 29729"/>
            </a:avLst>
          </a:prstGeom>
          <a:solidFill>
            <a:srgbClr val="FBEEE6"/>
          </a:solidFill>
          <a:ln/>
        </p:spPr>
      </p:sp>
      <p:sp>
        <p:nvSpPr>
          <p:cNvPr id="83" name="Shape 80"/>
          <p:cNvSpPr/>
          <p:nvPr/>
        </p:nvSpPr>
        <p:spPr>
          <a:xfrm>
            <a:off x="647670" y="4752503"/>
            <a:ext cx="47640" cy="5767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84" name="Image 1" descr="/home/user/gogoeveryday/photo-course/export-pptx/build/img/p6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90" y="4897892"/>
            <a:ext cx="285750" cy="285750"/>
          </a:xfrm>
          <a:prstGeom prst="rect">
            <a:avLst/>
          </a:prstGeom>
        </p:spPr>
      </p:pic>
      <p:sp>
        <p:nvSpPr>
          <p:cNvPr id="85" name="Text 81"/>
          <p:cNvSpPr txBox="1"/>
          <p:nvPr/>
        </p:nvSpPr>
        <p:spPr>
          <a:xfrm>
            <a:off x="1304940" y="4885914"/>
            <a:ext cx="893807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六張照片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照同一列拍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，成果才會像「一組作品」； 每張都換風格，就會變成六張沒關係的散照。</a:t>
            </a:r>
            <a:endParaRPr lang="en-US" sz="157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007120"/>
            <a:ext cx="5354909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一組商品素材，至少要有這六張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839224"/>
            <a:ext cx="3429000" cy="1379372"/>
          </a:xfrm>
          <a:prstGeom prst="roundRect">
            <a:avLst>
              <a:gd name="adj" fmla="val 1657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81060" y="2039203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67653" y="2067824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38260" y="2029694"/>
            <a:ext cx="5652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主圖</a:t>
            </a:r>
            <a:endParaRPr lang="en-US" sz="1725" dirty="0"/>
          </a:p>
        </p:txBody>
      </p:sp>
      <p:sp>
        <p:nvSpPr>
          <p:cNvPr id="8" name="Text 5"/>
          <p:cNvSpPr txBox="1"/>
          <p:nvPr/>
        </p:nvSpPr>
        <p:spPr>
          <a:xfrm>
            <a:off x="1438260" y="2401214"/>
            <a:ext cx="2715951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商品清楚、背景乾淨、中央構圖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81530" y="1839224"/>
            <a:ext cx="3429000" cy="1379372"/>
          </a:xfrm>
          <a:prstGeom prst="roundRect">
            <a:avLst>
              <a:gd name="adj" fmla="val 1657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2490" y="2039203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D99A4E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49084" y="2067824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019690" y="2029694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完整外觀</a:t>
            </a:r>
            <a:endParaRPr lang="en-US" sz="1725" dirty="0"/>
          </a:p>
        </p:txBody>
      </p:sp>
      <p:sp>
        <p:nvSpPr>
          <p:cNvPr id="13" name="Text 10"/>
          <p:cNvSpPr txBox="1"/>
          <p:nvPr/>
        </p:nvSpPr>
        <p:spPr>
          <a:xfrm>
            <a:off x="5019690" y="2401214"/>
            <a:ext cx="21101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看得到整體，包含包裝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962870" y="1839224"/>
            <a:ext cx="3429000" cy="1379372"/>
          </a:xfrm>
          <a:prstGeom prst="roundRect">
            <a:avLst>
              <a:gd name="adj" fmla="val 1657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43921" y="2039203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5F7A63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30514" y="2067824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601121" y="2029694"/>
            <a:ext cx="7820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細節照</a:t>
            </a:r>
            <a:endParaRPr lang="en-US" sz="1725" dirty="0"/>
          </a:p>
        </p:txBody>
      </p:sp>
      <p:sp>
        <p:nvSpPr>
          <p:cNvPr id="18" name="Text 15"/>
          <p:cNvSpPr txBox="1"/>
          <p:nvPr/>
        </p:nvSpPr>
        <p:spPr>
          <a:xfrm>
            <a:off x="8601121" y="2401214"/>
            <a:ext cx="23120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材質、紋理、封口、標籤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0100" y="3370936"/>
            <a:ext cx="3429000" cy="1379372"/>
          </a:xfrm>
          <a:prstGeom prst="roundRect">
            <a:avLst>
              <a:gd name="adj" fmla="val 1657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81060" y="3571006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8A5A6D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067653" y="3599536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38260" y="3561497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不同角度</a:t>
            </a:r>
            <a:endParaRPr lang="en-US" sz="1725" dirty="0"/>
          </a:p>
        </p:txBody>
      </p:sp>
      <p:sp>
        <p:nvSpPr>
          <p:cNvPr id="23" name="Text 20"/>
          <p:cNvSpPr txBox="1"/>
          <p:nvPr/>
        </p:nvSpPr>
        <p:spPr>
          <a:xfrm>
            <a:off x="1438260" y="3932926"/>
            <a:ext cx="258153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45 度或俯拍，跟主圖不一樣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381530" y="3370936"/>
            <a:ext cx="3429000" cy="1379372"/>
          </a:xfrm>
          <a:prstGeom prst="roundRect">
            <a:avLst>
              <a:gd name="adj" fmla="val 1657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62490" y="3571006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4A7FA5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649084" y="3599536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19690" y="3561497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使用情境</a:t>
            </a:r>
            <a:endParaRPr lang="en-US" sz="1725" dirty="0"/>
          </a:p>
        </p:txBody>
      </p:sp>
      <p:sp>
        <p:nvSpPr>
          <p:cNvPr id="28" name="Text 25"/>
          <p:cNvSpPr txBox="1"/>
          <p:nvPr/>
        </p:nvSpPr>
        <p:spPr>
          <a:xfrm>
            <a:off x="5019690" y="3932926"/>
            <a:ext cx="2735062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 1–3 個配角，看得出來怎麼用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962870" y="3370936"/>
            <a:ext cx="3429000" cy="1379372"/>
          </a:xfrm>
          <a:prstGeom prst="roundRect">
            <a:avLst>
              <a:gd name="adj" fmla="val 1657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143921" y="3571006"/>
            <a:ext cx="361920" cy="361920"/>
          </a:xfrm>
          <a:prstGeom prst="roundRect">
            <a:avLst>
              <a:gd name="adj" fmla="val 31582"/>
            </a:avLst>
          </a:prstGeom>
          <a:solidFill>
            <a:srgbClr val="6A9160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230514" y="3599536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601121" y="3561497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幕後製作</a:t>
            </a:r>
            <a:endParaRPr lang="en-US" sz="1725" dirty="0"/>
          </a:p>
        </p:txBody>
      </p:sp>
      <p:sp>
        <p:nvSpPr>
          <p:cNvPr id="33" name="Text 30"/>
          <p:cNvSpPr txBox="1"/>
          <p:nvPr/>
        </p:nvSpPr>
        <p:spPr>
          <a:xfrm>
            <a:off x="8601121" y="3932926"/>
            <a:ext cx="27159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手正在做、包裝、整理的畫面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00100" y="4912248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8E6C9"/>
          </a:solidFill>
          <a:ln/>
        </p:spPr>
      </p:sp>
      <p:sp>
        <p:nvSpPr>
          <p:cNvPr id="35" name="Shape 32"/>
          <p:cNvSpPr/>
          <p:nvPr/>
        </p:nvSpPr>
        <p:spPr>
          <a:xfrm>
            <a:off x="800100" y="4912248"/>
            <a:ext cx="47640" cy="6910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6" name="Image 1" descr="/home/user/gogoeveryday/photo-course/export-pptx/build/img/p6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5105278"/>
            <a:ext cx="304770" cy="30477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514521" y="5102718"/>
            <a:ext cx="9265615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不拍攝食物的全貌，以特寫的方式，反而更可以拍出餐點的特色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 這就是第 3 張細節照的用意。</a:t>
            </a:r>
            <a:endParaRPr lang="en-US" sz="157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741121"/>
            <a:ext cx="5354909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拍完不是放著，是各有各的位置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573225"/>
            <a:ext cx="180978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2097176"/>
            <a:ext cx="18097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52530" y="1706636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照片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609880" y="1573225"/>
            <a:ext cx="276222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609880" y="2097176"/>
            <a:ext cx="27622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762220" y="1706636"/>
            <a:ext cx="94713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用在哪裡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372100" y="1573225"/>
            <a:ext cx="601977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372100" y="2097176"/>
            <a:ext cx="60197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24530" y="1706636"/>
            <a:ext cx="7372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" y="2106686"/>
            <a:ext cx="1809780" cy="866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00100" y="2963936"/>
            <a:ext cx="18097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52530" y="2382926"/>
            <a:ext cx="5315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主圖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2609880" y="2106686"/>
            <a:ext cx="2762220" cy="866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2609880" y="2963936"/>
            <a:ext cx="2762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762220" y="2240006"/>
            <a:ext cx="2537734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FB／IG 貼文第一張、商品目錄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5372100" y="2106686"/>
            <a:ext cx="6019770" cy="866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372100" y="2963936"/>
            <a:ext cx="601977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524530" y="2382926"/>
            <a:ext cx="242316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客人第一眼看到的就是它</a:t>
            </a:r>
            <a:endParaRPr lang="en-US" sz="1575" dirty="0"/>
          </a:p>
        </p:txBody>
      </p:sp>
      <p:sp>
        <p:nvSpPr>
          <p:cNvPr id="22" name="Shape 19"/>
          <p:cNvSpPr/>
          <p:nvPr/>
        </p:nvSpPr>
        <p:spPr>
          <a:xfrm>
            <a:off x="800100" y="2973446"/>
            <a:ext cx="180978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800100" y="3544946"/>
            <a:ext cx="18097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52530" y="3106765"/>
            <a:ext cx="93899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完整外觀</a:t>
            </a:r>
            <a:endParaRPr lang="en-US" sz="1575" dirty="0"/>
          </a:p>
        </p:txBody>
      </p:sp>
      <p:sp>
        <p:nvSpPr>
          <p:cNvPr id="25" name="Shape 22"/>
          <p:cNvSpPr/>
          <p:nvPr/>
        </p:nvSpPr>
        <p:spPr>
          <a:xfrm>
            <a:off x="2609880" y="2973446"/>
            <a:ext cx="276222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609880" y="3544946"/>
            <a:ext cx="2762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762220" y="3106765"/>
            <a:ext cx="252904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LINE 圖文訊息、商品說明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5372100" y="2973446"/>
            <a:ext cx="601977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5372100" y="3544946"/>
            <a:ext cx="601977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524530" y="3106765"/>
            <a:ext cx="221120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讓人知道實際收到什麼</a:t>
            </a:r>
            <a:endParaRPr lang="en-US" sz="1575" dirty="0"/>
          </a:p>
        </p:txBody>
      </p:sp>
      <p:sp>
        <p:nvSpPr>
          <p:cNvPr id="31" name="Shape 28"/>
          <p:cNvSpPr/>
          <p:nvPr/>
        </p:nvSpPr>
        <p:spPr>
          <a:xfrm>
            <a:off x="800100" y="3554456"/>
            <a:ext cx="180978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00100" y="4125956"/>
            <a:ext cx="18097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52530" y="3687775"/>
            <a:ext cx="73152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細節照</a:t>
            </a:r>
            <a:endParaRPr lang="en-US" sz="1575" dirty="0"/>
          </a:p>
        </p:txBody>
      </p:sp>
      <p:sp>
        <p:nvSpPr>
          <p:cNvPr id="34" name="Shape 31"/>
          <p:cNvSpPr/>
          <p:nvPr/>
        </p:nvSpPr>
        <p:spPr>
          <a:xfrm>
            <a:off x="2609880" y="3554456"/>
            <a:ext cx="276222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2609880" y="4125956"/>
            <a:ext cx="2762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762220" y="3687775"/>
            <a:ext cx="176762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IG 輪播第 2、3 張</a:t>
            </a:r>
            <a:endParaRPr lang="en-US" sz="1575" dirty="0"/>
          </a:p>
        </p:txBody>
      </p:sp>
      <p:sp>
        <p:nvSpPr>
          <p:cNvPr id="37" name="Shape 34"/>
          <p:cNvSpPr/>
          <p:nvPr/>
        </p:nvSpPr>
        <p:spPr>
          <a:xfrm>
            <a:off x="5372100" y="3554456"/>
            <a:ext cx="601977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372100" y="4125956"/>
            <a:ext cx="601977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524530" y="3687775"/>
            <a:ext cx="305930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證明品質，回答「看起來如何」</a:t>
            </a:r>
            <a:endParaRPr lang="en-US" sz="1575" dirty="0"/>
          </a:p>
        </p:txBody>
      </p:sp>
      <p:sp>
        <p:nvSpPr>
          <p:cNvPr id="40" name="Shape 37"/>
          <p:cNvSpPr/>
          <p:nvPr/>
        </p:nvSpPr>
        <p:spPr>
          <a:xfrm>
            <a:off x="800100" y="4135465"/>
            <a:ext cx="180978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800100" y="4706965"/>
            <a:ext cx="18097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52530" y="4268876"/>
            <a:ext cx="93899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不同角度</a:t>
            </a:r>
            <a:endParaRPr lang="en-US" sz="1575" dirty="0"/>
          </a:p>
        </p:txBody>
      </p:sp>
      <p:sp>
        <p:nvSpPr>
          <p:cNvPr id="43" name="Shape 40"/>
          <p:cNvSpPr/>
          <p:nvPr/>
        </p:nvSpPr>
        <p:spPr>
          <a:xfrm>
            <a:off x="2609880" y="4135465"/>
            <a:ext cx="276222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2609880" y="4706965"/>
            <a:ext cx="2762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762220" y="4268876"/>
            <a:ext cx="173772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IG 輪播、FB 相簿</a:t>
            </a:r>
            <a:endParaRPr lang="en-US" sz="1575" dirty="0"/>
          </a:p>
        </p:txBody>
      </p:sp>
      <p:sp>
        <p:nvSpPr>
          <p:cNvPr id="46" name="Shape 43"/>
          <p:cNvSpPr/>
          <p:nvPr/>
        </p:nvSpPr>
        <p:spPr>
          <a:xfrm>
            <a:off x="5372100" y="4135465"/>
            <a:ext cx="601977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372100" y="4706965"/>
            <a:ext cx="601977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524530" y="4268876"/>
            <a:ext cx="178710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讓人從各面看清楚</a:t>
            </a:r>
            <a:endParaRPr lang="en-US" sz="1575" dirty="0"/>
          </a:p>
        </p:txBody>
      </p:sp>
      <p:sp>
        <p:nvSpPr>
          <p:cNvPr id="49" name="Shape 46"/>
          <p:cNvSpPr/>
          <p:nvPr/>
        </p:nvSpPr>
        <p:spPr>
          <a:xfrm>
            <a:off x="800100" y="4716475"/>
            <a:ext cx="180978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800100" y="5287975"/>
            <a:ext cx="180978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952530" y="4849886"/>
            <a:ext cx="93899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使用情境</a:t>
            </a:r>
            <a:endParaRPr lang="en-US" sz="1575" dirty="0"/>
          </a:p>
        </p:txBody>
      </p:sp>
      <p:sp>
        <p:nvSpPr>
          <p:cNvPr id="52" name="Shape 49"/>
          <p:cNvSpPr/>
          <p:nvPr/>
        </p:nvSpPr>
        <p:spPr>
          <a:xfrm>
            <a:off x="2609880" y="4716475"/>
            <a:ext cx="276222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2609880" y="5287975"/>
            <a:ext cx="2762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762220" y="4849886"/>
            <a:ext cx="199906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貼文配圖、封面橫幅</a:t>
            </a:r>
            <a:endParaRPr lang="en-US" sz="1575" dirty="0"/>
          </a:p>
        </p:txBody>
      </p:sp>
      <p:sp>
        <p:nvSpPr>
          <p:cNvPr id="55" name="Shape 52"/>
          <p:cNvSpPr/>
          <p:nvPr/>
        </p:nvSpPr>
        <p:spPr>
          <a:xfrm>
            <a:off x="5372100" y="4716475"/>
            <a:ext cx="6019770" cy="5810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5372100" y="5287975"/>
            <a:ext cx="601977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5524530" y="4849886"/>
            <a:ext cx="221120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讓人想像自己用的樣子</a:t>
            </a:r>
            <a:endParaRPr lang="en-US" sz="1575" dirty="0"/>
          </a:p>
        </p:txBody>
      </p:sp>
      <p:sp>
        <p:nvSpPr>
          <p:cNvPr id="58" name="Text 55"/>
          <p:cNvSpPr txBox="1"/>
          <p:nvPr/>
        </p:nvSpPr>
        <p:spPr>
          <a:xfrm>
            <a:off x="952530" y="5430896"/>
            <a:ext cx="93899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幕後製作</a:t>
            </a:r>
            <a:endParaRPr lang="en-US" sz="1575" dirty="0"/>
          </a:p>
        </p:txBody>
      </p:sp>
      <p:sp>
        <p:nvSpPr>
          <p:cNvPr id="59" name="Text 56"/>
          <p:cNvSpPr txBox="1"/>
          <p:nvPr/>
        </p:nvSpPr>
        <p:spPr>
          <a:xfrm>
            <a:off x="2762220" y="5430896"/>
            <a:ext cx="171120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限時動態、Reels</a:t>
            </a:r>
            <a:endParaRPr lang="en-US" sz="1575" dirty="0"/>
          </a:p>
        </p:txBody>
      </p:sp>
      <p:sp>
        <p:nvSpPr>
          <p:cNvPr id="60" name="Text 57"/>
          <p:cNvSpPr txBox="1"/>
          <p:nvPr/>
        </p:nvSpPr>
        <p:spPr>
          <a:xfrm>
            <a:off x="5524530" y="5430896"/>
            <a:ext cx="263520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最容易有互動，也最有溫度</a:t>
            </a:r>
            <a:endParaRPr lang="en-US" sz="157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465393" y="1395832"/>
            <a:ext cx="3866998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總實作 · 八分鐘 · 今天的成果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423331" y="1776862"/>
            <a:ext cx="5354909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六張，同一個商品，同一種感覺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1333470" y="2608966"/>
            <a:ext cx="3009930" cy="838230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14521" y="2913736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38310" y="2732776"/>
            <a:ext cx="247144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主圖（中央構圖、背景乾淨）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4591020" y="2608966"/>
            <a:ext cx="3009930" cy="838230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72071" y="2913736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95860" y="2875697"/>
            <a:ext cx="119923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完整外觀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7848570" y="2608966"/>
            <a:ext cx="3009930" cy="838230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29621" y="2913736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3410" y="2732776"/>
            <a:ext cx="247144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細節照（走近拍，不要放大）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1333470" y="3571006"/>
            <a:ext cx="3009930" cy="838230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514521" y="3875776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838310" y="3694816"/>
            <a:ext cx="234571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不同角度（45 度或俯拍）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4591020" y="3571006"/>
            <a:ext cx="3009930" cy="838230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72071" y="3875776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95860" y="3694816"/>
            <a:ext cx="2509114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⑤ 使用情境（加 1–3 個配角）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7848570" y="3571006"/>
            <a:ext cx="3009930" cy="838230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29621" y="3875776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53410" y="3837645"/>
            <a:ext cx="247144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⑥ 幕後製作（手正在做）</a:t>
            </a:r>
            <a:endParaRPr lang="en-US" sz="1575" dirty="0"/>
          </a:p>
        </p:txBody>
      </p:sp>
      <p:sp>
        <p:nvSpPr>
          <p:cNvPr id="23" name="Shape 20"/>
          <p:cNvSpPr/>
          <p:nvPr/>
        </p:nvSpPr>
        <p:spPr>
          <a:xfrm>
            <a:off x="1927281" y="4571086"/>
            <a:ext cx="8337316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24" name="Shape 21"/>
          <p:cNvSpPr/>
          <p:nvPr/>
        </p:nvSpPr>
        <p:spPr>
          <a:xfrm>
            <a:off x="1927281" y="4571086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5" name="Image 1" descr="/home/user/gogoeveryday/photo-course/export-pptx/build/img/p6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632" y="4764115"/>
            <a:ext cx="304770" cy="30477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419045" y="4761647"/>
            <a:ext cx="786832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拍不完沒關係，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先把 ①③⑥ 三張拍好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這三張是最常用、也最能看出差別的三張。</a:t>
            </a:r>
            <a:endParaRPr lang="en-US" sz="157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539313"/>
            <a:ext cx="460290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配件的工作是幫人看懂商品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371417"/>
            <a:ext cx="3429000" cy="1156259"/>
          </a:xfrm>
          <a:prstGeom prst="roundRect">
            <a:avLst>
              <a:gd name="adj" fmla="val 197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371417"/>
            <a:ext cx="342900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4219590" y="1371417"/>
            <a:ext cx="18288" cy="115625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2518166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371417"/>
            <a:ext cx="18288" cy="115625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3021" y="1600017"/>
            <a:ext cx="1050463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說明商品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43021" y="2019178"/>
            <a:ext cx="29178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原料入鏡，讓人知道用什麼做的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81530" y="1371417"/>
            <a:ext cx="3429000" cy="1156259"/>
          </a:xfrm>
          <a:prstGeom prst="roundRect">
            <a:avLst>
              <a:gd name="adj" fmla="val 197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1530" y="1371417"/>
            <a:ext cx="342900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3" name="Shape 10"/>
          <p:cNvSpPr/>
          <p:nvPr/>
        </p:nvSpPr>
        <p:spPr>
          <a:xfrm>
            <a:off x="7801021" y="1371417"/>
            <a:ext cx="18288" cy="115625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381530" y="2518166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381530" y="1371417"/>
            <a:ext cx="18288" cy="115625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24360" y="1600017"/>
            <a:ext cx="1050463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說明用途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24360" y="2019178"/>
            <a:ext cx="25140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器具入鏡，讓人知道怎麼用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962870" y="1371417"/>
            <a:ext cx="3429000" cy="1156259"/>
          </a:xfrm>
          <a:prstGeom prst="roundRect">
            <a:avLst>
              <a:gd name="adj" fmla="val 197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62870" y="1371417"/>
            <a:ext cx="342900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20" name="Shape 17"/>
          <p:cNvSpPr/>
          <p:nvPr/>
        </p:nvSpPr>
        <p:spPr>
          <a:xfrm>
            <a:off x="11382360" y="1371417"/>
            <a:ext cx="18288" cy="115625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962870" y="2518166"/>
            <a:ext cx="34290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962870" y="1371417"/>
            <a:ext cx="18288" cy="115625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105790" y="1600017"/>
            <a:ext cx="1050463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建立情境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105790" y="2019178"/>
            <a:ext cx="29178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場景入鏡，讓人想像什麼時候用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00100" y="2689616"/>
            <a:ext cx="161922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00100" y="3213476"/>
            <a:ext cx="16192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52530" y="2822936"/>
            <a:ext cx="94713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你的商品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2419320" y="2689616"/>
            <a:ext cx="897255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419320" y="3213476"/>
            <a:ext cx="897255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571750" y="2822936"/>
            <a:ext cx="201744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可以一起入鏡的東西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0100" y="3222986"/>
            <a:ext cx="161922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00100" y="3784976"/>
            <a:ext cx="1619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52530" y="3356397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咖啡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2419320" y="3222986"/>
            <a:ext cx="897255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2419320" y="3784976"/>
            <a:ext cx="89725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571750" y="3356397"/>
            <a:ext cx="311984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咖啡豆、咖啡匙、杯子、書、點心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00100" y="3794486"/>
            <a:ext cx="161922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800100" y="4356476"/>
            <a:ext cx="1619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952530" y="3927897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手工餅乾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2419320" y="3794486"/>
            <a:ext cx="897255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2419320" y="4356476"/>
            <a:ext cx="89725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571750" y="3927897"/>
            <a:ext cx="29178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麵粉、奶油、茶、咖啡、包裝紙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800100" y="4365986"/>
            <a:ext cx="161922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800100" y="4927976"/>
            <a:ext cx="1619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952530" y="4499397"/>
            <a:ext cx="70299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手工皂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2419320" y="4365986"/>
            <a:ext cx="897255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2419320" y="4927976"/>
            <a:ext cx="89725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2571750" y="4499397"/>
            <a:ext cx="23120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毛巾、木盤、植物、原料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800100" y="4937486"/>
            <a:ext cx="161922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800100" y="5499476"/>
            <a:ext cx="16192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952530" y="5070897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飾品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2419320" y="4937486"/>
            <a:ext cx="897255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2419320" y="5499476"/>
            <a:ext cx="89725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571750" y="5070897"/>
            <a:ext cx="29178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飾品盒、布料、鏡子、穿搭單品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952530" y="5642397"/>
            <a:ext cx="70299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農產品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2571750" y="5642397"/>
            <a:ext cx="352364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葉子、竹籃、切開的果肉、做好的料理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670024" y="1236635"/>
            <a:ext cx="28613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寧可少，不要多</a:t>
            </a:r>
            <a:endParaRPr lang="en-US" sz="3000" dirty="0"/>
          </a:p>
        </p:txBody>
      </p:sp>
      <p:pic>
        <p:nvPicPr>
          <p:cNvPr id="4" name="Image 1" descr="/home/user/gogoeveryday/photo-course/export-pptx/build/img/p6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90" y="2091964"/>
            <a:ext cx="3238530" cy="2428921"/>
          </a:xfrm>
          <a:prstGeom prst="rect">
            <a:avLst/>
          </a:prstGeom>
        </p:spPr>
      </p:pic>
      <p:pic>
        <p:nvPicPr>
          <p:cNvPr id="5" name="Image 2" descr="/home/user/gogoeveryday/photo-course/export-pptx/build/img/p68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40" y="2091964"/>
            <a:ext cx="3238530" cy="2428921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972806" y="4682734"/>
            <a:ext cx="6246358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7" name="Shape 2"/>
          <p:cNvSpPr/>
          <p:nvPr/>
        </p:nvSpPr>
        <p:spPr>
          <a:xfrm>
            <a:off x="2972806" y="4682734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8" name="Image 3" descr="/home/user/gogoeveryday/photo-course/export-pptx/build/img/p68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157" y="4875764"/>
            <a:ext cx="304770" cy="30477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3527298" y="4873203"/>
            <a:ext cx="565190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東西放在一起拍， 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會讓人分不出主體是誰，易使主題失焦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76270" y="1311615"/>
            <a:ext cx="1726662" cy="208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0"/>
              </a:lnSpc>
              <a:buNone/>
            </a:pPr>
            <a:r>
              <a:rPr lang="en-US" sz="11250" b="1" spc="-563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</a:t>
            </a:r>
            <a:endParaRPr lang="en-US" sz="11250" dirty="0"/>
          </a:p>
        </p:txBody>
      </p:sp>
      <p:sp>
        <p:nvSpPr>
          <p:cNvPr id="4" name="Text 1"/>
          <p:cNvSpPr txBox="1"/>
          <p:nvPr/>
        </p:nvSpPr>
        <p:spPr>
          <a:xfrm>
            <a:off x="876270" y="3121396"/>
            <a:ext cx="2284628" cy="790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影像編修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76270" y="4292925"/>
            <a:ext cx="5431993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照片已經拍好了，現在讓它更接近你想給人的感覺。</a:t>
            </a:r>
            <a:endParaRPr lang="en-US" sz="1725" dirty="0"/>
          </a:p>
          <a:p>
            <a:pPr algn="l" indent="0" marL="0">
              <a:lnSpc>
                <a:spcPts val="276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先講內建，再講 AI。</a:t>
            </a:r>
            <a:endParaRPr lang="en-US" sz="1725" dirty="0"/>
          </a:p>
        </p:txBody>
      </p:sp>
      <p:pic>
        <p:nvPicPr>
          <p:cNvPr id="6" name="Image 1" descr="/home/user/gogoeveryday/photo-course/export-pptx/build/img/p6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60" y="2809860"/>
            <a:ext cx="1238280" cy="12382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098194"/>
            <a:ext cx="497881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先知道界線，才不會白花時間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930298"/>
            <a:ext cx="5153010" cy="2728935"/>
          </a:xfrm>
          <a:prstGeom prst="roundRect">
            <a:avLst>
              <a:gd name="adj" fmla="val 8377"/>
            </a:avLst>
          </a:prstGeom>
          <a:solidFill>
            <a:srgbClr val="DFE8D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00171" y="2139879"/>
            <a:ext cx="118744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救得回來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000171" y="2511308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7" name="Text 4"/>
          <p:cNvSpPr txBox="1"/>
          <p:nvPr/>
        </p:nvSpPr>
        <p:spPr>
          <a:xfrm>
            <a:off x="1259129" y="2511308"/>
            <a:ext cx="263520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整張太暗（但看得到東西）</a:t>
            </a:r>
            <a:endParaRPr lang="en-US" sz="1575" dirty="0"/>
          </a:p>
        </p:txBody>
      </p:sp>
      <p:sp>
        <p:nvSpPr>
          <p:cNvPr id="8" name="Text 5"/>
          <p:cNvSpPr txBox="1"/>
          <p:nvPr/>
        </p:nvSpPr>
        <p:spPr>
          <a:xfrm>
            <a:off x="1000171" y="2916113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9" name="Text 6"/>
          <p:cNvSpPr txBox="1"/>
          <p:nvPr/>
        </p:nvSpPr>
        <p:spPr>
          <a:xfrm>
            <a:off x="1259129" y="2916113"/>
            <a:ext cx="199906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拍歪了、地平線不正</a:t>
            </a:r>
            <a:endParaRPr lang="en-US" sz="1575" dirty="0"/>
          </a:p>
        </p:txBody>
      </p:sp>
      <p:sp>
        <p:nvSpPr>
          <p:cNvPr id="10" name="Text 7"/>
          <p:cNvSpPr txBox="1"/>
          <p:nvPr/>
        </p:nvSpPr>
        <p:spPr>
          <a:xfrm>
            <a:off x="1000171" y="3320918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11" name="Text 8"/>
          <p:cNvSpPr txBox="1"/>
          <p:nvPr/>
        </p:nvSpPr>
        <p:spPr>
          <a:xfrm>
            <a:off x="1259129" y="3320918"/>
            <a:ext cx="157505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顏色偏黃或偏藍</a:t>
            </a:r>
            <a:endParaRPr lang="en-US" sz="1575" dirty="0"/>
          </a:p>
        </p:txBody>
      </p:sp>
      <p:sp>
        <p:nvSpPr>
          <p:cNvPr id="12" name="Text 9"/>
          <p:cNvSpPr txBox="1"/>
          <p:nvPr/>
        </p:nvSpPr>
        <p:spPr>
          <a:xfrm>
            <a:off x="1000171" y="3725723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13" name="Text 10"/>
          <p:cNvSpPr txBox="1"/>
          <p:nvPr/>
        </p:nvSpPr>
        <p:spPr>
          <a:xfrm>
            <a:off x="1259129" y="3725723"/>
            <a:ext cx="178710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邊邊角角有小雜物</a:t>
            </a:r>
            <a:endParaRPr lang="en-US" sz="1575" dirty="0"/>
          </a:p>
        </p:txBody>
      </p:sp>
      <p:sp>
        <p:nvSpPr>
          <p:cNvPr id="14" name="Text 11"/>
          <p:cNvSpPr txBox="1"/>
          <p:nvPr/>
        </p:nvSpPr>
        <p:spPr>
          <a:xfrm>
            <a:off x="1000171" y="4130619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15" name="Text 12"/>
          <p:cNvSpPr txBox="1"/>
          <p:nvPr/>
        </p:nvSpPr>
        <p:spPr>
          <a:xfrm>
            <a:off x="1259129" y="4130619"/>
            <a:ext cx="242316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比例不對，要裁成正方形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6238860" y="1930298"/>
            <a:ext cx="5153010" cy="2728935"/>
          </a:xfrm>
          <a:prstGeom prst="roundRect">
            <a:avLst>
              <a:gd name="adj" fmla="val 8377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438930" y="2139879"/>
            <a:ext cx="1213043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039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 救不回來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38930" y="2511308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19" name="Text 16"/>
          <p:cNvSpPr txBox="1"/>
          <p:nvPr/>
        </p:nvSpPr>
        <p:spPr>
          <a:xfrm>
            <a:off x="6724680" y="2511308"/>
            <a:ext cx="3059308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沒對到焦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——商品本身就是糊的</a:t>
            </a:r>
            <a:endParaRPr lang="en-US" sz="1575" dirty="0"/>
          </a:p>
        </p:txBody>
      </p:sp>
      <p:sp>
        <p:nvSpPr>
          <p:cNvPr id="20" name="Text 17"/>
          <p:cNvSpPr txBox="1"/>
          <p:nvPr/>
        </p:nvSpPr>
        <p:spPr>
          <a:xfrm>
            <a:off x="6438930" y="2916113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21" name="Text 18"/>
          <p:cNvSpPr txBox="1"/>
          <p:nvPr/>
        </p:nvSpPr>
        <p:spPr>
          <a:xfrm>
            <a:off x="6724680" y="2916113"/>
            <a:ext cx="242316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手震糊掉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——字會有殘影</a:t>
            </a:r>
            <a:endParaRPr lang="en-US" sz="1575" dirty="0"/>
          </a:p>
        </p:txBody>
      </p:sp>
      <p:sp>
        <p:nvSpPr>
          <p:cNvPr id="22" name="Text 19"/>
          <p:cNvSpPr txBox="1"/>
          <p:nvPr/>
        </p:nvSpPr>
        <p:spPr>
          <a:xfrm>
            <a:off x="6438930" y="3320918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23" name="Text 20"/>
          <p:cNvSpPr txBox="1"/>
          <p:nvPr/>
        </p:nvSpPr>
        <p:spPr>
          <a:xfrm>
            <a:off x="6724680" y="3320918"/>
            <a:ext cx="32712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暗到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完全沒細節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，拉亮只會有雜訊</a:t>
            </a:r>
            <a:endParaRPr lang="en-US" sz="1575" dirty="0"/>
          </a:p>
        </p:txBody>
      </p:sp>
      <p:sp>
        <p:nvSpPr>
          <p:cNvPr id="24" name="Text 21"/>
          <p:cNvSpPr txBox="1"/>
          <p:nvPr/>
        </p:nvSpPr>
        <p:spPr>
          <a:xfrm>
            <a:off x="6438930" y="3725723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25" name="Text 22"/>
          <p:cNvSpPr txBox="1"/>
          <p:nvPr/>
        </p:nvSpPr>
        <p:spPr>
          <a:xfrm>
            <a:off x="6724680" y="3725723"/>
            <a:ext cx="284725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用數位變焦拍的，放大就是糊</a:t>
            </a:r>
            <a:endParaRPr lang="en-US" sz="1575" dirty="0"/>
          </a:p>
        </p:txBody>
      </p:sp>
      <p:sp>
        <p:nvSpPr>
          <p:cNvPr id="26" name="Text 23"/>
          <p:cNvSpPr txBox="1"/>
          <p:nvPr/>
        </p:nvSpPr>
        <p:spPr>
          <a:xfrm>
            <a:off x="6438930" y="4130619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27" name="Text 24"/>
          <p:cNvSpPr txBox="1"/>
          <p:nvPr/>
        </p:nvSpPr>
        <p:spPr>
          <a:xfrm>
            <a:off x="6724680" y="4130619"/>
            <a:ext cx="178710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重要部分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被切掉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了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800100" y="4821174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8E6C9"/>
          </a:solidFill>
          <a:ln/>
        </p:spPr>
      </p:sp>
      <p:sp>
        <p:nvSpPr>
          <p:cNvPr id="29" name="Shape 26"/>
          <p:cNvSpPr/>
          <p:nvPr/>
        </p:nvSpPr>
        <p:spPr>
          <a:xfrm>
            <a:off x="800100" y="4821174"/>
            <a:ext cx="47640" cy="6910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0" name="Image 1" descr="/home/user/gogoeveryday/photo-course/export-pptx/build/img/p7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5014204"/>
            <a:ext cx="304770" cy="30477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514521" y="5011644"/>
            <a:ext cx="9468155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所以早上那句話是真的：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先把照片拍好，再談修圖。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右邊那五種，今天下午的所有工具都救不回來。</a:t>
            </a:r>
            <a:endParaRPr lang="en-US" sz="157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676449" y="1600474"/>
            <a:ext cx="6848582" cy="180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54"/>
              </a:lnSpc>
              <a:buNone/>
            </a:pPr>
            <a:r>
              <a:rPr lang="en-US" sz="3450" b="1" spc="-103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「修圖對圖片是一種破壞，</a:t>
            </a:r>
            <a:endParaRPr lang="en-US" sz="3450" dirty="0"/>
          </a:p>
          <a:p>
            <a:pPr algn="ctr" indent="0" marL="0">
              <a:lnSpc>
                <a:spcPts val="4554"/>
              </a:lnSpc>
              <a:buNone/>
            </a:pPr>
            <a:r>
              <a:rPr lang="en-US" sz="3450" b="1" spc="-103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有些為不可逆的，</a:t>
            </a:r>
            <a:endParaRPr lang="en-US" sz="3450" dirty="0"/>
          </a:p>
          <a:p>
            <a:pPr algn="ctr" indent="0" marL="0">
              <a:lnSpc>
                <a:spcPts val="4554"/>
              </a:lnSpc>
              <a:buNone/>
            </a:pPr>
            <a:r>
              <a:rPr lang="en-US" sz="3450" b="1" spc="-103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修圖一次就是對圖片的一次損傷</a:t>
            </a:r>
            <a:pPr algn="ctr" indent="0" marL="0">
              <a:lnSpc>
                <a:spcPts val="4554"/>
              </a:lnSpc>
              <a:buNone/>
            </a:pPr>
            <a:r>
              <a:rPr lang="en-US" sz="3450" b="1" spc="-103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」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1333470" y="3535528"/>
            <a:ext cx="3060680" cy="1493307"/>
          </a:xfrm>
          <a:prstGeom prst="roundRect">
            <a:avLst>
              <a:gd name="adj" fmla="val 15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333470" y="3535528"/>
            <a:ext cx="306068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4384639" y="3535528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333470" y="5019416"/>
            <a:ext cx="30606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333470" y="3535528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33387" y="3783239"/>
            <a:ext cx="1470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spc="-1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複製一份再修</a:t>
            </a:r>
            <a:endParaRPr lang="en-US" sz="1725" dirty="0"/>
          </a:p>
        </p:txBody>
      </p:sp>
      <p:sp>
        <p:nvSpPr>
          <p:cNvPr id="10" name="Text 7"/>
          <p:cNvSpPr txBox="1"/>
          <p:nvPr/>
        </p:nvSpPr>
        <p:spPr>
          <a:xfrm>
            <a:off x="1510497" y="4192798"/>
            <a:ext cx="2715951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在相簿裡先「拷貝」一張，修複製的那張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65599" y="3535528"/>
            <a:ext cx="3060680" cy="1493307"/>
          </a:xfrm>
          <a:prstGeom prst="roundRect">
            <a:avLst>
              <a:gd name="adj" fmla="val 15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5599" y="3535528"/>
            <a:ext cx="306068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3" name="Shape 10"/>
          <p:cNvSpPr/>
          <p:nvPr/>
        </p:nvSpPr>
        <p:spPr>
          <a:xfrm>
            <a:off x="7616769" y="3535528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565599" y="5019416"/>
            <a:ext cx="30606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565599" y="3535528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365425" y="3783239"/>
            <a:ext cx="1470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spc="-17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不要修了又修</a:t>
            </a:r>
            <a:endParaRPr lang="en-US" sz="1725" dirty="0"/>
          </a:p>
        </p:txBody>
      </p:sp>
      <p:sp>
        <p:nvSpPr>
          <p:cNvPr id="17" name="Text 14"/>
          <p:cNvSpPr txBox="1"/>
          <p:nvPr/>
        </p:nvSpPr>
        <p:spPr>
          <a:xfrm>
            <a:off x="4742627" y="4192798"/>
            <a:ext cx="2715951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同一張反覆修、存檔，畫質會一次比一次差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797729" y="3535528"/>
            <a:ext cx="3060771" cy="1493307"/>
          </a:xfrm>
          <a:prstGeom prst="roundRect">
            <a:avLst>
              <a:gd name="adj" fmla="val 15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97729" y="3535528"/>
            <a:ext cx="3060771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0" name="Shape 17"/>
          <p:cNvSpPr/>
          <p:nvPr/>
        </p:nvSpPr>
        <p:spPr>
          <a:xfrm>
            <a:off x="10848990" y="3535528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797729" y="5019416"/>
            <a:ext cx="306077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797729" y="3535528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597737" y="3783239"/>
            <a:ext cx="1470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spc="-17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原檔永遠留著</a:t>
            </a:r>
            <a:endParaRPr lang="en-US" sz="1725" dirty="0"/>
          </a:p>
        </p:txBody>
      </p:sp>
      <p:sp>
        <p:nvSpPr>
          <p:cNvPr id="24" name="Text 21"/>
          <p:cNvSpPr txBox="1"/>
          <p:nvPr/>
        </p:nvSpPr>
        <p:spPr>
          <a:xfrm>
            <a:off x="7974848" y="4192798"/>
            <a:ext cx="2715951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之後想改風格、換平台，才有東西可以重來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7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107247"/>
            <a:ext cx="2584369" cy="93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相簿打開照片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右上角「編輯」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334189"/>
            <a:ext cx="2495580" cy="2101200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530" y="2496129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0994" y="2486619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829519"/>
            <a:ext cx="859353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iPhone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87598"/>
            <a:ext cx="2312060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相片 App → 打開照片 → 右上角「編輯」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下方三個圖示：調整、濾鏡、裁切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29000" y="2334189"/>
            <a:ext cx="2495580" cy="2101200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81430" y="2496129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29894" y="2486619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543300" y="2829519"/>
            <a:ext cx="96268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Android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3543300" y="3187598"/>
            <a:ext cx="2358055" cy="109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相簿／Google 相簿 → 打開照片 →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下方「編輯」→ 調整、濾鏡、裁剪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" y="4597329"/>
            <a:ext cx="5124480" cy="905805"/>
          </a:xfrm>
          <a:prstGeom prst="roundRect">
            <a:avLst>
              <a:gd name="adj" fmla="val 18928"/>
            </a:avLst>
          </a:prstGeom>
          <a:solidFill>
            <a:srgbClr val="DFE8DC"/>
          </a:solidFill>
          <a:ln/>
        </p:spPr>
      </p:sp>
      <p:sp>
        <p:nvSpPr>
          <p:cNvPr id="15" name="Shape 12"/>
          <p:cNvSpPr/>
          <p:nvPr/>
        </p:nvSpPr>
        <p:spPr>
          <a:xfrm>
            <a:off x="800100" y="4597329"/>
            <a:ext cx="47640" cy="905805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16" name="Image 1" descr="/home/user/gogoeveryday/photo-course/export-pptx/build/img/p7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4907310"/>
            <a:ext cx="197053" cy="28575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68582" y="4740158"/>
            <a:ext cx="4591660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列了十幾個選項， 今天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只教三個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：裁切、亮度、顏色。其他先不用碰。</a:t>
            </a:r>
            <a:endParaRPr lang="en-US" sz="1575" dirty="0"/>
          </a:p>
        </p:txBody>
      </p:sp>
      <p:pic>
        <p:nvPicPr>
          <p:cNvPr id="18" name="Image 2" descr="/home/user/gogoeveryday/photo-course/export-pptx/build/img/p72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30" y="1076340"/>
            <a:ext cx="2266980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7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348649"/>
            <a:ext cx="2346990" cy="98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先把畫面</a:t>
            </a:r>
            <a:endParaRPr lang="en-US" sz="2850" dirty="0"/>
          </a:p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切乾淨、拉正</a:t>
            </a:r>
            <a:endParaRPr lang="en-US" sz="2850" dirty="0"/>
          </a:p>
        </p:txBody>
      </p:sp>
      <p:sp>
        <p:nvSpPr>
          <p:cNvPr id="4" name="Text 1"/>
          <p:cNvSpPr txBox="1"/>
          <p:nvPr/>
        </p:nvSpPr>
        <p:spPr>
          <a:xfrm>
            <a:off x="962040" y="2612807"/>
            <a:ext cx="403863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裁切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：把邊邊的雜物切掉，讓商品佔更大</a:t>
            </a:r>
            <a:endParaRPr lang="en-US" sz="1575" dirty="0"/>
          </a:p>
        </p:txBody>
      </p:sp>
      <p:sp>
        <p:nvSpPr>
          <p:cNvPr id="5" name="Text 2"/>
          <p:cNvSpPr txBox="1"/>
          <p:nvPr/>
        </p:nvSpPr>
        <p:spPr>
          <a:xfrm>
            <a:off x="962040" y="3036722"/>
            <a:ext cx="393256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拉正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：的「校正」，把歪掉的水平轉回來</a:t>
            </a:r>
            <a:endParaRPr lang="en-US" sz="1575" dirty="0"/>
          </a:p>
        </p:txBody>
      </p:sp>
      <p:sp>
        <p:nvSpPr>
          <p:cNvPr id="6" name="Text 3"/>
          <p:cNvSpPr txBox="1"/>
          <p:nvPr/>
        </p:nvSpPr>
        <p:spPr>
          <a:xfrm>
            <a:off x="962040" y="3460547"/>
            <a:ext cx="3732215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換比例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：切成 1:1 給 IG、9:16 給限動</a:t>
            </a:r>
            <a:endParaRPr lang="en-US" sz="1575" dirty="0"/>
          </a:p>
        </p:txBody>
      </p:sp>
      <p:sp>
        <p:nvSpPr>
          <p:cNvPr id="7" name="Text 4"/>
          <p:cNvSpPr txBox="1"/>
          <p:nvPr/>
        </p:nvSpPr>
        <p:spPr>
          <a:xfrm>
            <a:off x="962040" y="3884371"/>
            <a:ext cx="487805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早上用 4:3 拍就是為了這一步——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留得多才有得裁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800100" y="4355927"/>
            <a:ext cx="5871088" cy="905805"/>
          </a:xfrm>
          <a:prstGeom prst="roundRect">
            <a:avLst>
              <a:gd name="adj" fmla="val 18928"/>
            </a:avLst>
          </a:prstGeom>
          <a:solidFill>
            <a:srgbClr val="F8E6C9"/>
          </a:solidFill>
          <a:ln/>
        </p:spPr>
      </p:sp>
      <p:sp>
        <p:nvSpPr>
          <p:cNvPr id="9" name="Shape 6"/>
          <p:cNvSpPr/>
          <p:nvPr/>
        </p:nvSpPr>
        <p:spPr>
          <a:xfrm>
            <a:off x="800100" y="4355927"/>
            <a:ext cx="47640" cy="905805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10" name="Image 1" descr="/home/user/gogoeveryday/photo-course/export-pptx/build/img/p7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4665909"/>
            <a:ext cx="237104" cy="2857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08633" y="4498757"/>
            <a:ext cx="5227808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順序很重要：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先裁切，再調亮度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裁完畫面變了，亮度的判斷才準。</a:t>
            </a:r>
            <a:endParaRPr lang="en-US" sz="1575" dirty="0"/>
          </a:p>
        </p:txBody>
      </p:sp>
      <p:pic>
        <p:nvPicPr>
          <p:cNvPr id="12" name="Image 2" descr="/home/user/gogoeveryday/photo-course/export-pptx/build/img/p7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328" y="1362090"/>
            <a:ext cx="3143250" cy="1904970"/>
          </a:xfrm>
          <a:prstGeom prst="rect">
            <a:avLst/>
          </a:prstGeom>
        </p:spPr>
      </p:pic>
      <p:pic>
        <p:nvPicPr>
          <p:cNvPr id="13" name="Image 3" descr="/home/user/gogoeveryday/photo-course/export-pptx/build/img/p73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328" y="3400471"/>
            <a:ext cx="3143250" cy="190497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7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ogoeveryday/photo-course/export-pptx/build/img/p7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121" y="1257300"/>
            <a:ext cx="3238530" cy="2019270"/>
          </a:xfrm>
          <a:prstGeom prst="rect">
            <a:avLst/>
          </a:prstGeom>
        </p:spPr>
      </p:pic>
      <p:pic>
        <p:nvPicPr>
          <p:cNvPr id="4" name="Image 2" descr="/home/user/gogoeveryday/photo-course/export-pptx/build/img/p74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121" y="3390870"/>
            <a:ext cx="3238530" cy="201927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229350" y="1329629"/>
            <a:ext cx="222811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只動兩根滑桿</a:t>
            </a:r>
            <a:endParaRPr lang="en-US" sz="2700" dirty="0"/>
          </a:p>
        </p:txBody>
      </p:sp>
      <p:sp>
        <p:nvSpPr>
          <p:cNvPr id="6" name="Shape 1"/>
          <p:cNvSpPr/>
          <p:nvPr/>
        </p:nvSpPr>
        <p:spPr>
          <a:xfrm>
            <a:off x="6267480" y="2138324"/>
            <a:ext cx="5124480" cy="994501"/>
          </a:xfrm>
          <a:prstGeom prst="roundRect">
            <a:avLst>
              <a:gd name="adj" fmla="val 2298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29421" y="2290755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亮度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7267560" y="2405055"/>
            <a:ext cx="3390870" cy="66660"/>
          </a:xfrm>
          <a:prstGeom prst="roundRect">
            <a:avLst>
              <a:gd name="adj" fmla="val 50000"/>
            </a:avLst>
          </a:prstGeom>
          <a:solidFill>
            <a:srgbClr val="ECE0D1"/>
          </a:solidFill>
          <a:ln/>
        </p:spPr>
      </p:sp>
      <p:sp>
        <p:nvSpPr>
          <p:cNvPr id="9" name="Shape 4"/>
          <p:cNvSpPr/>
          <p:nvPr/>
        </p:nvSpPr>
        <p:spPr>
          <a:xfrm>
            <a:off x="7267560" y="2405055"/>
            <a:ext cx="2102388" cy="6666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0" name="Shape 5"/>
          <p:cNvSpPr/>
          <p:nvPr/>
        </p:nvSpPr>
        <p:spPr>
          <a:xfrm>
            <a:off x="9279423" y="2347905"/>
            <a:ext cx="180960" cy="180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C05F3C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10770809" y="2290755"/>
            <a:ext cx="46872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+18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429421" y="2662276"/>
            <a:ext cx="392753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整張變亮或變暗。</a:t>
            </a:r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小幅度調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，過頭會失真。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267480" y="3237616"/>
            <a:ext cx="5124480" cy="994501"/>
          </a:xfrm>
          <a:prstGeom prst="roundRect">
            <a:avLst>
              <a:gd name="adj" fmla="val 22986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429421" y="3390047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陰影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267560" y="3504347"/>
            <a:ext cx="3390870" cy="66660"/>
          </a:xfrm>
          <a:prstGeom prst="roundRect">
            <a:avLst>
              <a:gd name="adj" fmla="val 50000"/>
            </a:avLst>
          </a:prstGeom>
          <a:solidFill>
            <a:srgbClr val="ECE0D1"/>
          </a:solidFill>
          <a:ln/>
        </p:spPr>
      </p:sp>
      <p:sp>
        <p:nvSpPr>
          <p:cNvPr id="16" name="Shape 11"/>
          <p:cNvSpPr/>
          <p:nvPr/>
        </p:nvSpPr>
        <p:spPr>
          <a:xfrm>
            <a:off x="7267560" y="3504347"/>
            <a:ext cx="2305751" cy="6666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7" name="Shape 12"/>
          <p:cNvSpPr/>
          <p:nvPr/>
        </p:nvSpPr>
        <p:spPr>
          <a:xfrm>
            <a:off x="9482877" y="3447197"/>
            <a:ext cx="180960" cy="180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C05F3C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10770809" y="3390047"/>
            <a:ext cx="46872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+25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29421" y="3761476"/>
            <a:ext cx="493721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只把暗的地方拉亮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，亮的地方不動。側光照片最好用。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267480" y="4393966"/>
            <a:ext cx="5124480" cy="886694"/>
          </a:xfrm>
          <a:prstGeom prst="roundRect">
            <a:avLst>
              <a:gd name="adj" fmla="val 19336"/>
            </a:avLst>
          </a:prstGeom>
          <a:solidFill>
            <a:srgbClr val="FBEEE6"/>
          </a:solidFill>
          <a:ln/>
        </p:spPr>
      </p:sp>
      <p:sp>
        <p:nvSpPr>
          <p:cNvPr id="21" name="Shape 16"/>
          <p:cNvSpPr/>
          <p:nvPr/>
        </p:nvSpPr>
        <p:spPr>
          <a:xfrm>
            <a:off x="6267480" y="4393966"/>
            <a:ext cx="47640" cy="8866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2" name="Image 3" descr="/home/user/gogoeveryday/photo-course/export-pptx/build/img/p74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90" y="4694530"/>
            <a:ext cx="163678" cy="28575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783568" y="4527377"/>
            <a:ext cx="4591477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還有增豔、亮部、對比、黑點等選項，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今天先不要碰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。兩根滑桿就能解決八成的問題。</a:t>
            </a:r>
            <a:endParaRPr lang="en-US" sz="157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7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438272"/>
            <a:ext cx="2804648" cy="135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iPhone 拍的時候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調不了顏色</a:t>
            </a:r>
            <a:endParaRPr lang="en-US" sz="2700" dirty="0"/>
          </a:p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這裡可以救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800100" y="2083460"/>
            <a:ext cx="4355744" cy="1303111"/>
          </a:xfrm>
          <a:prstGeom prst="roundRect">
            <a:avLst>
              <a:gd name="adj" fmla="val 17543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2040" y="2235799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色溫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800271" y="2350099"/>
            <a:ext cx="2622225" cy="66660"/>
          </a:xfrm>
          <a:prstGeom prst="roundRect">
            <a:avLst>
              <a:gd name="adj" fmla="val 50000"/>
            </a:avLst>
          </a:prstGeom>
          <a:solidFill>
            <a:srgbClr val="ECE0D1"/>
          </a:solidFill>
          <a:ln/>
        </p:spPr>
      </p:sp>
      <p:sp>
        <p:nvSpPr>
          <p:cNvPr id="7" name="Shape 4"/>
          <p:cNvSpPr/>
          <p:nvPr/>
        </p:nvSpPr>
        <p:spPr>
          <a:xfrm>
            <a:off x="1800271" y="2350099"/>
            <a:ext cx="1101212" cy="6666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8" name="Shape 5"/>
          <p:cNvSpPr/>
          <p:nvPr/>
        </p:nvSpPr>
        <p:spPr>
          <a:xfrm>
            <a:off x="2810957" y="2292949"/>
            <a:ext cx="180960" cy="180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C05F3C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34784" y="2235799"/>
            <a:ext cx="46872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−12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2040" y="2607320"/>
            <a:ext cx="4129430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室內黃燈拍的照片會偏黃，</a:t>
            </a:r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色溫往冷調一點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就回來了。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00100" y="3491362"/>
            <a:ext cx="4355744" cy="1303111"/>
          </a:xfrm>
          <a:prstGeom prst="roundRect">
            <a:avLst>
              <a:gd name="adj" fmla="val 17543"/>
            </a:avLst>
          </a:prstGeom>
          <a:solidFill>
            <a:srgbClr val="FFFFFF">
              <a:alpha val="62000"/>
            </a:srgbClr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2040" y="3643793"/>
            <a:ext cx="70299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飽和度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800271" y="3758093"/>
            <a:ext cx="2622225" cy="66660"/>
          </a:xfrm>
          <a:prstGeom prst="roundRect">
            <a:avLst>
              <a:gd name="adj" fmla="val 50000"/>
            </a:avLst>
          </a:prstGeom>
          <a:solidFill>
            <a:srgbClr val="ECE0D1"/>
          </a:solidFill>
          <a:ln/>
        </p:spPr>
      </p:sp>
      <p:sp>
        <p:nvSpPr>
          <p:cNvPr id="14" name="Shape 11"/>
          <p:cNvSpPr/>
          <p:nvPr/>
        </p:nvSpPr>
        <p:spPr>
          <a:xfrm>
            <a:off x="1800271" y="3758093"/>
            <a:ext cx="1468344" cy="6666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</p:spPr>
      </p:sp>
      <p:sp>
        <p:nvSpPr>
          <p:cNvPr id="15" name="Shape 12"/>
          <p:cNvSpPr/>
          <p:nvPr/>
        </p:nvSpPr>
        <p:spPr>
          <a:xfrm>
            <a:off x="3178089" y="3700943"/>
            <a:ext cx="180960" cy="180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C05F3C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647164" y="3643793"/>
            <a:ext cx="35634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+8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62040" y="4015222"/>
            <a:ext cx="4129430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顏色的鮮豔程度。</a:t>
            </a:r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加一點點就好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，加太多商品會假。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00100" y="4956414"/>
            <a:ext cx="4355744" cy="1215786"/>
          </a:xfrm>
          <a:prstGeom prst="roundRect">
            <a:avLst>
              <a:gd name="adj" fmla="val 14102"/>
            </a:avLst>
          </a:prstGeom>
          <a:solidFill>
            <a:srgbClr val="F8E6C9"/>
          </a:solidFill>
          <a:ln/>
        </p:spPr>
      </p:sp>
      <p:sp>
        <p:nvSpPr>
          <p:cNvPr id="19" name="Shape 16"/>
          <p:cNvSpPr/>
          <p:nvPr/>
        </p:nvSpPr>
        <p:spPr>
          <a:xfrm>
            <a:off x="800100" y="4956414"/>
            <a:ext cx="47640" cy="1215786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20" name="Image 1" descr="/home/user/gogoeveryday/photo-course/export-pptx/build/img/p7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5421386"/>
            <a:ext cx="139903" cy="28575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311432" y="5099334"/>
            <a:ext cx="3743554" cy="92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判斷標準只有一個：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照片上的顏色，跟你眼前的實品一不一樣。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不是「好不好看」。</a:t>
            </a:r>
            <a:endParaRPr lang="en-US" sz="1575" dirty="0"/>
          </a:p>
        </p:txBody>
      </p:sp>
      <p:pic>
        <p:nvPicPr>
          <p:cNvPr id="22" name="Image 2" descr="/home/user/gogoeveryday/photo-course/export-pptx/build/img/p75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996" y="1257300"/>
            <a:ext cx="3238530" cy="2019270"/>
          </a:xfrm>
          <a:prstGeom prst="rect">
            <a:avLst/>
          </a:prstGeom>
        </p:spPr>
      </p:pic>
      <p:pic>
        <p:nvPicPr>
          <p:cNvPr id="23" name="Image 3" descr="/home/user/gogoeveryday/photo-course/export-pptx/build/img/p75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96" y="3390870"/>
            <a:ext cx="3238530" cy="201927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951397" y="1627175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六分鐘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878428" y="2008114"/>
            <a:ext cx="444444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三個動作，照順序做一次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552560" y="2863444"/>
            <a:ext cx="1857421" cy="1314450"/>
          </a:xfrm>
          <a:prstGeom prst="roundRect">
            <a:avLst>
              <a:gd name="adj" fmla="val 11597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552560" y="2863444"/>
            <a:ext cx="1857421" cy="47640"/>
          </a:xfrm>
          <a:prstGeom prst="rect">
            <a:avLst/>
          </a:prstGeom>
          <a:solidFill>
            <a:srgbClr val="9C8B7C"/>
          </a:solidFill>
          <a:ln/>
        </p:spPr>
      </p:sp>
      <p:sp>
        <p:nvSpPr>
          <p:cNvPr id="7" name="Shape 4"/>
          <p:cNvSpPr/>
          <p:nvPr/>
        </p:nvSpPr>
        <p:spPr>
          <a:xfrm>
            <a:off x="3400471" y="2863444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552560" y="4168384"/>
            <a:ext cx="18574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552560" y="2863444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065812" y="3073024"/>
            <a:ext cx="840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複製</a:t>
            </a:r>
            <a:endParaRPr lang="en-US" sz="1725" dirty="0"/>
          </a:p>
        </p:txBody>
      </p:sp>
      <p:sp>
        <p:nvSpPr>
          <p:cNvPr id="11" name="Text 8"/>
          <p:cNvSpPr txBox="1"/>
          <p:nvPr/>
        </p:nvSpPr>
        <p:spPr>
          <a:xfrm>
            <a:off x="1632844" y="3444453"/>
            <a:ext cx="1706270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先拷貝一份，修複製的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482310" y="3301624"/>
            <a:ext cx="417241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3962370" y="2996763"/>
            <a:ext cx="1857421" cy="1047720"/>
          </a:xfrm>
          <a:prstGeom prst="roundRect">
            <a:avLst>
              <a:gd name="adj" fmla="val 14549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962370" y="2996763"/>
            <a:ext cx="1857421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15" name="Shape 12"/>
          <p:cNvSpPr/>
          <p:nvPr/>
        </p:nvSpPr>
        <p:spPr>
          <a:xfrm>
            <a:off x="5810280" y="2996763"/>
            <a:ext cx="18288" cy="10477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962370" y="4035064"/>
            <a:ext cx="18574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962370" y="2996763"/>
            <a:ext cx="18288" cy="10477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43365" y="3206344"/>
            <a:ext cx="13048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裁切拉正</a:t>
            </a:r>
            <a:endParaRPr lang="en-US" sz="1725" dirty="0"/>
          </a:p>
        </p:txBody>
      </p:sp>
      <p:sp>
        <p:nvSpPr>
          <p:cNvPr id="19" name="Text 16"/>
          <p:cNvSpPr txBox="1"/>
          <p:nvPr/>
        </p:nvSpPr>
        <p:spPr>
          <a:xfrm>
            <a:off x="4143604" y="3577864"/>
            <a:ext cx="15043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切掉雜物、轉正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892211" y="3301624"/>
            <a:ext cx="417241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6372271" y="2863444"/>
            <a:ext cx="1857421" cy="1314450"/>
          </a:xfrm>
          <a:prstGeom prst="roundRect">
            <a:avLst>
              <a:gd name="adj" fmla="val 11597"/>
            </a:avLst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6372271" y="2863444"/>
            <a:ext cx="1857421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23" name="Shape 20"/>
          <p:cNvSpPr/>
          <p:nvPr/>
        </p:nvSpPr>
        <p:spPr>
          <a:xfrm>
            <a:off x="8220090" y="2863444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372271" y="4168384"/>
            <a:ext cx="18574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372271" y="2863444"/>
            <a:ext cx="18288" cy="13144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53174" y="3073024"/>
            <a:ext cx="13048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亮度陰影</a:t>
            </a:r>
            <a:endParaRPr lang="en-US" sz="1725" dirty="0"/>
          </a:p>
        </p:txBody>
      </p:sp>
      <p:sp>
        <p:nvSpPr>
          <p:cNvPr id="27" name="Text 24"/>
          <p:cNvSpPr txBox="1"/>
          <p:nvPr/>
        </p:nvSpPr>
        <p:spPr>
          <a:xfrm>
            <a:off x="6452555" y="3444453"/>
            <a:ext cx="1706270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整張亮度＋暗部細節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302020" y="3301624"/>
            <a:ext cx="417241" cy="43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250" dirty="0"/>
          </a:p>
        </p:txBody>
      </p:sp>
      <p:sp>
        <p:nvSpPr>
          <p:cNvPr id="29" name="Shape 26"/>
          <p:cNvSpPr/>
          <p:nvPr/>
        </p:nvSpPr>
        <p:spPr>
          <a:xfrm>
            <a:off x="8782080" y="2996763"/>
            <a:ext cx="1857421" cy="1047720"/>
          </a:xfrm>
          <a:prstGeom prst="roundRect">
            <a:avLst>
              <a:gd name="adj" fmla="val 14549"/>
            </a:avLst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8782080" y="2996763"/>
            <a:ext cx="1857421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31" name="Shape 28"/>
          <p:cNvSpPr/>
          <p:nvPr/>
        </p:nvSpPr>
        <p:spPr>
          <a:xfrm>
            <a:off x="10629900" y="2996763"/>
            <a:ext cx="18288" cy="10477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782080" y="4035064"/>
            <a:ext cx="18574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8782080" y="2996763"/>
            <a:ext cx="18288" cy="10477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062984" y="3206344"/>
            <a:ext cx="13048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色溫飽和</a:t>
            </a:r>
            <a:endParaRPr lang="en-US" sz="1725" dirty="0"/>
          </a:p>
        </p:txBody>
      </p:sp>
      <p:sp>
        <p:nvSpPr>
          <p:cNvPr id="35" name="Text 32"/>
          <p:cNvSpPr txBox="1"/>
          <p:nvPr/>
        </p:nvSpPr>
        <p:spPr>
          <a:xfrm>
            <a:off x="8963315" y="3577864"/>
            <a:ext cx="15043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調到跟實品一樣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2022744" y="4339834"/>
            <a:ext cx="814639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37" name="Shape 34"/>
          <p:cNvSpPr/>
          <p:nvPr/>
        </p:nvSpPr>
        <p:spPr>
          <a:xfrm>
            <a:off x="2022744" y="4339834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8" name="Image 1" descr="/home/user/gogoeveryday/photo-course/export-pptx/build/img/p7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004" y="4532864"/>
            <a:ext cx="304770" cy="30477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2520086" y="4530303"/>
            <a:ext cx="766587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修完之後，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跟原檔並排看一次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如果差別大到「像另一張照片」，就是修過頭了。</a:t>
            </a:r>
            <a:endParaRPr lang="en-US" sz="157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450330"/>
            <a:ext cx="610682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濾鏡可以統一風格，不能改商品顏色</a:t>
            </a:r>
            <a:endParaRPr lang="en-US" sz="2850" dirty="0"/>
          </a:p>
        </p:txBody>
      </p:sp>
      <p:pic>
        <p:nvPicPr>
          <p:cNvPr id="4" name="Image 1" descr="/home/user/gogoeveryday/photo-course/export-pptx/build/img/p7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2434"/>
            <a:ext cx="2247870" cy="1714500"/>
          </a:xfrm>
          <a:prstGeom prst="rect">
            <a:avLst/>
          </a:prstGeom>
        </p:spPr>
      </p:pic>
      <p:pic>
        <p:nvPicPr>
          <p:cNvPr id="5" name="Image 2" descr="/home/user/gogoeveryday/photo-course/export-pptx/build/img/p77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2282434"/>
            <a:ext cx="2247870" cy="1714500"/>
          </a:xfrm>
          <a:prstGeom prst="rect">
            <a:avLst/>
          </a:prstGeom>
        </p:spPr>
      </p:pic>
      <p:pic>
        <p:nvPicPr>
          <p:cNvPr id="6" name="Image 3" descr="/home/user/gogoeveryday/photo-course/export-pptx/build/img/p77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282434"/>
            <a:ext cx="2247870" cy="1714500"/>
          </a:xfrm>
          <a:prstGeom prst="rect">
            <a:avLst/>
          </a:prstGeom>
        </p:spPr>
      </p:pic>
      <p:pic>
        <p:nvPicPr>
          <p:cNvPr id="7" name="Image 4" descr="/home/user/gogoeveryday/photo-course/export-pptx/build/img/p77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282434"/>
            <a:ext cx="2247870" cy="1714500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800100" y="4158874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9" name="Shape 2"/>
          <p:cNvSpPr/>
          <p:nvPr/>
        </p:nvSpPr>
        <p:spPr>
          <a:xfrm>
            <a:off x="800100" y="4158874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10" name="Image 5" descr="/home/user/gogoeveryday/photo-course/export-pptx/build/img/p77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60" y="4506986"/>
            <a:ext cx="231983" cy="304770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441734" y="4349344"/>
            <a:ext cx="10316261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顏色失真＝客人收到覺得跟照片不一樣。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這不是美感問題，是消費爭議。濾鏡用來讓六張照片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風格一致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可以， 用來把褐色果醬變成鮮紅色不行。</a:t>
            </a:r>
            <a:endParaRPr lang="en-US" sz="157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856793"/>
            <a:ext cx="610682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修圖是整理你拍的，生圖是無中生有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722730"/>
            <a:ext cx="5153010" cy="3143890"/>
          </a:xfrm>
          <a:prstGeom prst="roundRect">
            <a:avLst>
              <a:gd name="adj" fmla="val 72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722730"/>
            <a:ext cx="515301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0" y="1722730"/>
            <a:ext cx="18288" cy="314389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857018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722730"/>
            <a:ext cx="18288" cy="314389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0171" y="1989369"/>
            <a:ext cx="81747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修圖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00171" y="2360889"/>
            <a:ext cx="2429927" cy="371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-2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整理你自己拍的照片</a:t>
            </a:r>
            <a:endParaRPr lang="en-US" sz="1950" dirty="0"/>
          </a:p>
        </p:txBody>
      </p:sp>
      <p:sp>
        <p:nvSpPr>
          <p:cNvPr id="11" name="Text 8"/>
          <p:cNvSpPr txBox="1"/>
          <p:nvPr/>
        </p:nvSpPr>
        <p:spPr>
          <a:xfrm>
            <a:off x="1000171" y="2798978"/>
            <a:ext cx="4937211" cy="122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去掉桌上的雜物、把背景換成白色、把畫面往外延伸、把照片放大變清楚。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照片還是你拍的，商品還是你的商品。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38210" y="4185483"/>
            <a:ext cx="46767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0171" y="4318803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14" name="Text 11"/>
          <p:cNvSpPr txBox="1"/>
          <p:nvPr/>
        </p:nvSpPr>
        <p:spPr>
          <a:xfrm>
            <a:off x="1259129" y="4318803"/>
            <a:ext cx="157505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商品主圖可以用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6238860" y="1688897"/>
            <a:ext cx="5153010" cy="3211556"/>
          </a:xfrm>
          <a:prstGeom prst="roundRect">
            <a:avLst>
              <a:gd name="adj" fmla="val 7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38860" y="1688897"/>
            <a:ext cx="5153010" cy="476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17" name="Shape 14"/>
          <p:cNvSpPr/>
          <p:nvPr/>
        </p:nvSpPr>
        <p:spPr>
          <a:xfrm>
            <a:off x="11382360" y="1688897"/>
            <a:ext cx="18288" cy="321155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238860" y="4890943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38860" y="1688897"/>
            <a:ext cx="18288" cy="3211556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38930" y="1955627"/>
            <a:ext cx="81747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生圖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38930" y="2327057"/>
            <a:ext cx="2169963" cy="371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-2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憑空生出一張新圖</a:t>
            </a:r>
            <a:endParaRPr lang="en-US" sz="1950" dirty="0"/>
          </a:p>
        </p:txBody>
      </p:sp>
      <p:sp>
        <p:nvSpPr>
          <p:cNvPr id="22" name="Text 19"/>
          <p:cNvSpPr txBox="1"/>
          <p:nvPr/>
        </p:nvSpPr>
        <p:spPr>
          <a:xfrm>
            <a:off x="6438930" y="2765237"/>
            <a:ext cx="4154759" cy="912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你打一段文字，AI 畫出一張本來不存在的圖。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它生出來的果醬罐，不是你的果醬罐。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76970" y="3843223"/>
            <a:ext cx="46767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38930" y="3976543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25" name="Text 22"/>
          <p:cNvSpPr txBox="1"/>
          <p:nvPr/>
        </p:nvSpPr>
        <p:spPr>
          <a:xfrm>
            <a:off x="6724680" y="3976543"/>
            <a:ext cx="1575054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商品主圖不能用</a:t>
            </a:r>
            <a:endParaRPr lang="en-US" sz="1575" dirty="0"/>
          </a:p>
        </p:txBody>
      </p:sp>
      <p:sp>
        <p:nvSpPr>
          <p:cNvPr id="26" name="Text 23"/>
          <p:cNvSpPr txBox="1"/>
          <p:nvPr/>
        </p:nvSpPr>
        <p:spPr>
          <a:xfrm>
            <a:off x="6438930" y="4352818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27" name="Text 24"/>
          <p:cNvSpPr txBox="1"/>
          <p:nvPr/>
        </p:nvSpPr>
        <p:spPr>
          <a:xfrm>
            <a:off x="6697889" y="4352818"/>
            <a:ext cx="327126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背景板、情境示意、社群素材可以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800100" y="5062393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8E6C9"/>
          </a:solidFill>
          <a:ln/>
        </p:spPr>
      </p:sp>
      <p:sp>
        <p:nvSpPr>
          <p:cNvPr id="29" name="Shape 26"/>
          <p:cNvSpPr/>
          <p:nvPr/>
        </p:nvSpPr>
        <p:spPr>
          <a:xfrm>
            <a:off x="800100" y="5062393"/>
            <a:ext cx="47640" cy="691012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0" name="Image 1" descr="/home/user/gogoeveryday/photo-course/export-pptx/build/img/p7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5255423"/>
            <a:ext cx="304770" cy="30477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514521" y="5252862"/>
            <a:ext cx="5391577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一句話記住：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修圖動的是「畫面」，生圖動的是「事實」。</a:t>
            </a:r>
            <a:endParaRPr lang="en-US" sz="157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308324"/>
            <a:ext cx="422699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不用學全部，這四個就夠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2140428"/>
            <a:ext cx="2533620" cy="1998421"/>
          </a:xfrm>
          <a:prstGeom prst="roundRect">
            <a:avLst>
              <a:gd name="adj" fmla="val 11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2140428"/>
            <a:ext cx="253362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3324210" y="2140428"/>
            <a:ext cx="18288" cy="19984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129430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2140428"/>
            <a:ext cx="18288" cy="19984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9" name="Image 1" descr="/home/user/gogoeveryday/photo-course/export-pptx/build/img/p79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60" y="2397648"/>
            <a:ext cx="323880" cy="323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43021" y="2892887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去除雜物</a:t>
            </a:r>
            <a:endParaRPr lang="en-US" sz="1725" dirty="0"/>
          </a:p>
        </p:txBody>
      </p:sp>
      <p:sp>
        <p:nvSpPr>
          <p:cNvPr id="11" name="Text 7"/>
          <p:cNvSpPr txBox="1"/>
          <p:nvPr/>
        </p:nvSpPr>
        <p:spPr>
          <a:xfrm>
            <a:off x="943021" y="3302538"/>
            <a:ext cx="2312060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桌上多了一支筆、背景有電線，圈起來就消失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486150" y="2140428"/>
            <a:ext cx="2533620" cy="1998421"/>
          </a:xfrm>
          <a:prstGeom prst="roundRect">
            <a:avLst>
              <a:gd name="adj" fmla="val 11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86150" y="2140428"/>
            <a:ext cx="253362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14" name="Shape 10"/>
          <p:cNvSpPr/>
          <p:nvPr/>
        </p:nvSpPr>
        <p:spPr>
          <a:xfrm>
            <a:off x="6010260" y="2140428"/>
            <a:ext cx="18288" cy="19984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3486150" y="4129430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3486150" y="2140428"/>
            <a:ext cx="18288" cy="19984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17" name="Image 2" descr="/home/user/gogoeveryday/photo-course/export-pptx/build/img/p79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10" y="2397648"/>
            <a:ext cx="323880" cy="323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29071" y="2892887"/>
            <a:ext cx="124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去背換白底</a:t>
            </a:r>
            <a:endParaRPr lang="en-US" sz="1725" dirty="0"/>
          </a:p>
        </p:txBody>
      </p:sp>
      <p:sp>
        <p:nvSpPr>
          <p:cNvPr id="19" name="Text 14"/>
          <p:cNvSpPr txBox="1"/>
          <p:nvPr/>
        </p:nvSpPr>
        <p:spPr>
          <a:xfrm>
            <a:off x="3629071" y="3302538"/>
            <a:ext cx="2312060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把商品剪下來，換成純白背景，適合電商上架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172200" y="2140428"/>
            <a:ext cx="2533620" cy="1998421"/>
          </a:xfrm>
          <a:prstGeom prst="roundRect">
            <a:avLst>
              <a:gd name="adj" fmla="val 11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72200" y="2140428"/>
            <a:ext cx="253362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22" name="Shape 17"/>
          <p:cNvSpPr/>
          <p:nvPr/>
        </p:nvSpPr>
        <p:spPr>
          <a:xfrm>
            <a:off x="8696310" y="2140428"/>
            <a:ext cx="18288" cy="19984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6172200" y="4129430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6172200" y="2140428"/>
            <a:ext cx="18288" cy="19984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25" name="Image 3" descr="/home/user/gogoeveryday/photo-course/export-pptx/build/img/p79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60" y="2397648"/>
            <a:ext cx="323880" cy="3238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315121" y="2892887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延伸背景</a:t>
            </a:r>
            <a:endParaRPr lang="en-US" sz="1725" dirty="0"/>
          </a:p>
        </p:txBody>
      </p:sp>
      <p:sp>
        <p:nvSpPr>
          <p:cNvPr id="27" name="Text 21"/>
          <p:cNvSpPr txBox="1"/>
          <p:nvPr/>
        </p:nvSpPr>
        <p:spPr>
          <a:xfrm>
            <a:off x="6315121" y="3302538"/>
            <a:ext cx="2337389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照片邊邊拍不夠，AI 幫你補出來，好裁成各種比例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8858250" y="2140428"/>
            <a:ext cx="2533620" cy="1998421"/>
          </a:xfrm>
          <a:prstGeom prst="roundRect">
            <a:avLst>
              <a:gd name="adj" fmla="val 11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858250" y="2140428"/>
            <a:ext cx="2533620" cy="476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30" name="Shape 24"/>
          <p:cNvSpPr/>
          <p:nvPr/>
        </p:nvSpPr>
        <p:spPr>
          <a:xfrm>
            <a:off x="11382360" y="2140428"/>
            <a:ext cx="18288" cy="19984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8858250" y="4129430"/>
            <a:ext cx="25336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8858250" y="2140428"/>
            <a:ext cx="18288" cy="199842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pic>
        <p:nvPicPr>
          <p:cNvPr id="33" name="Image 4" descr="/home/user/gogoeveryday/photo-course/export-pptx/build/img/p79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9210" y="2397648"/>
            <a:ext cx="323880" cy="32388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01171" y="2892887"/>
            <a:ext cx="124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放大變清楚</a:t>
            </a:r>
            <a:endParaRPr lang="en-US" sz="1725" dirty="0"/>
          </a:p>
        </p:txBody>
      </p:sp>
      <p:sp>
        <p:nvSpPr>
          <p:cNvPr id="35" name="Text 28"/>
          <p:cNvSpPr txBox="1"/>
          <p:nvPr/>
        </p:nvSpPr>
        <p:spPr>
          <a:xfrm>
            <a:off x="9001171" y="3302538"/>
            <a:ext cx="2312060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舊照片解析度不夠，放大補細節（有極限）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800100" y="4300880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37" name="Shape 30"/>
          <p:cNvSpPr/>
          <p:nvPr/>
        </p:nvSpPr>
        <p:spPr>
          <a:xfrm>
            <a:off x="800100" y="4300880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38" name="Image 5" descr="/home/user/gogoeveryday/photo-course/export-pptx/build/img/p79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60" y="4648901"/>
            <a:ext cx="278343" cy="30477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488003" y="4491350"/>
            <a:ext cx="10194463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「放大變清楚」有極限。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糊掉的照片 AI 也救不回來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 它只是猜一個看起來合理的樣子——猜出來的細節不是真的細節。</a:t>
            </a:r>
            <a:endParaRPr lang="en-US" sz="157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721644"/>
            <a:ext cx="497881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先試手機內建，不夠再用網頁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553748"/>
            <a:ext cx="5153010" cy="3171871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0100" y="1553748"/>
            <a:ext cx="5153010" cy="47640"/>
          </a:xfrm>
          <a:prstGeom prst="rect">
            <a:avLst/>
          </a:prstGeom>
          <a:solidFill>
            <a:srgbClr val="4A7FA5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0" y="1553748"/>
            <a:ext cx="18288" cy="3171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00100" y="4716109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0100" y="1553748"/>
            <a:ext cx="18288" cy="3171871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0171" y="1820479"/>
            <a:ext cx="1835658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路線一 手機內建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62020" y="2191908"/>
            <a:ext cx="37090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iPhone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相片 → 編輯 → 「清除」工具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62020" y="2601559"/>
            <a:ext cx="392908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Samsung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相簿 → 編輯 → 「物件擦除」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62020" y="3011119"/>
            <a:ext cx="4715378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 Android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Google 相簿 → 編輯 → 「魔術橡皮擦」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38210" y="3744559"/>
            <a:ext cx="46767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00171" y="3877879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15" name="Text 12"/>
          <p:cNvSpPr txBox="1"/>
          <p:nvPr/>
        </p:nvSpPr>
        <p:spPr>
          <a:xfrm>
            <a:off x="1259129" y="3877879"/>
            <a:ext cx="242316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快、不用登入、不用上傳</a:t>
            </a:r>
            <a:endParaRPr lang="en-US" sz="1575" dirty="0"/>
          </a:p>
        </p:txBody>
      </p:sp>
      <p:sp>
        <p:nvSpPr>
          <p:cNvPr id="16" name="Text 13"/>
          <p:cNvSpPr txBox="1"/>
          <p:nvPr/>
        </p:nvSpPr>
        <p:spPr>
          <a:xfrm>
            <a:off x="1000171" y="4177894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17" name="Text 14"/>
          <p:cNvSpPr txBox="1"/>
          <p:nvPr/>
        </p:nvSpPr>
        <p:spPr>
          <a:xfrm>
            <a:off x="1285921" y="4177894"/>
            <a:ext cx="369527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功能少，各廠差異大，舊機型可能沒有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6238860" y="1758574"/>
            <a:ext cx="5153010" cy="27622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8860" y="1758574"/>
            <a:ext cx="5153010" cy="476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20" name="Shape 17"/>
          <p:cNvSpPr/>
          <p:nvPr/>
        </p:nvSpPr>
        <p:spPr>
          <a:xfrm>
            <a:off x="11382360" y="1758574"/>
            <a:ext cx="18288" cy="27622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238860" y="4511284"/>
            <a:ext cx="515301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238860" y="1758574"/>
            <a:ext cx="18288" cy="276222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38930" y="2025213"/>
            <a:ext cx="1689903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路線二 網頁 AI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600871" y="2396734"/>
            <a:ext cx="4740158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Google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（Gemini） 上傳照片，用講的告訴它要改什麼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600871" y="3092044"/>
            <a:ext cx="3893149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ChatGPT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同樣上傳照片，用文字下指令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76970" y="3539734"/>
            <a:ext cx="467679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38930" y="3673053"/>
            <a:ext cx="276149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</a:t>
            </a:r>
            <a:endParaRPr lang="en-US" sz="1575" dirty="0"/>
          </a:p>
        </p:txBody>
      </p:sp>
      <p:sp>
        <p:nvSpPr>
          <p:cNvPr id="28" name="Text 25"/>
          <p:cNvSpPr txBox="1"/>
          <p:nvPr/>
        </p:nvSpPr>
        <p:spPr>
          <a:xfrm>
            <a:off x="6697889" y="3673053"/>
            <a:ext cx="464945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功能強，可以「用說的」，能做去背、延伸、生圖</a:t>
            </a:r>
            <a:endParaRPr lang="en-US" sz="1575" dirty="0"/>
          </a:p>
        </p:txBody>
      </p:sp>
      <p:sp>
        <p:nvSpPr>
          <p:cNvPr id="29" name="Text 26"/>
          <p:cNvSpPr txBox="1"/>
          <p:nvPr/>
        </p:nvSpPr>
        <p:spPr>
          <a:xfrm>
            <a:off x="6438930" y="3973159"/>
            <a:ext cx="302941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</a:t>
            </a:r>
            <a:endParaRPr lang="en-US" sz="1575" dirty="0"/>
          </a:p>
        </p:txBody>
      </p:sp>
      <p:sp>
        <p:nvSpPr>
          <p:cNvPr id="30" name="Text 27"/>
          <p:cNvSpPr txBox="1"/>
          <p:nvPr/>
        </p:nvSpPr>
        <p:spPr>
          <a:xfrm>
            <a:off x="6724680" y="3973159"/>
            <a:ext cx="3695273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要有帳號、要上傳照片、要看網路速度</a:t>
            </a:r>
            <a:endParaRPr lang="en-US" sz="1575" dirty="0"/>
          </a:p>
        </p:txBody>
      </p:sp>
      <p:sp>
        <p:nvSpPr>
          <p:cNvPr id="31" name="Shape 28"/>
          <p:cNvSpPr/>
          <p:nvPr/>
        </p:nvSpPr>
        <p:spPr>
          <a:xfrm>
            <a:off x="800100" y="4887559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32" name="Shape 29"/>
          <p:cNvSpPr/>
          <p:nvPr/>
        </p:nvSpPr>
        <p:spPr>
          <a:xfrm>
            <a:off x="800100" y="4887559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33" name="Image 1" descr="/home/user/gogoeveryday/photo-course/export-pptx/build/img/p8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5235580"/>
            <a:ext cx="277978" cy="30477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487729" y="5078029"/>
            <a:ext cx="10210190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各家介面改版很快，選單名稱可能跟今天不一樣。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找的原則一樣：先找「編輯」，再找有橡皮擦或魔術棒圖示的那一項。</a:t>
            </a:r>
            <a:endParaRPr lang="en-US" sz="157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1008309"/>
            <a:ext cx="460290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一句好指令，有這四個部分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840413"/>
            <a:ext cx="2547976" cy="1836572"/>
          </a:xfrm>
          <a:prstGeom prst="roundRect">
            <a:avLst>
              <a:gd name="adj" fmla="val 12447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81060" y="2040392"/>
            <a:ext cx="283921" cy="323880"/>
          </a:xfrm>
          <a:prstGeom prst="roundRect">
            <a:avLst>
              <a:gd name="adj" fmla="val 20129"/>
            </a:avLst>
          </a:prstGeom>
          <a:solidFill>
            <a:srgbClr val="C05F3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28700" y="204999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43021" y="2450043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要改什麼</a:t>
            </a:r>
            <a:endParaRPr lang="en-US" sz="1725" dirty="0"/>
          </a:p>
        </p:txBody>
      </p:sp>
      <p:sp>
        <p:nvSpPr>
          <p:cNvPr id="8" name="Text 5"/>
          <p:cNvSpPr txBox="1"/>
          <p:nvPr/>
        </p:nvSpPr>
        <p:spPr>
          <a:xfrm>
            <a:off x="943021" y="2859603"/>
            <a:ext cx="23120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把桌上的鑰匙和杯子去掉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81395" y="1840413"/>
            <a:ext cx="2547976" cy="1836572"/>
          </a:xfrm>
          <a:prstGeom prst="roundRect">
            <a:avLst>
              <a:gd name="adj" fmla="val 12447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62355" y="2040392"/>
            <a:ext cx="283921" cy="323880"/>
          </a:xfrm>
          <a:prstGeom prst="roundRect">
            <a:avLst>
              <a:gd name="adj" fmla="val 20129"/>
            </a:avLst>
          </a:prstGeom>
          <a:solidFill>
            <a:srgbClr val="5F7A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09995" y="204999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624224" y="2450043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改成什麼</a:t>
            </a:r>
            <a:endParaRPr lang="en-US" sz="1725" dirty="0"/>
          </a:p>
        </p:txBody>
      </p:sp>
      <p:sp>
        <p:nvSpPr>
          <p:cNvPr id="13" name="Text 10"/>
          <p:cNvSpPr txBox="1"/>
          <p:nvPr/>
        </p:nvSpPr>
        <p:spPr>
          <a:xfrm>
            <a:off x="3624224" y="2859603"/>
            <a:ext cx="23120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背景保持原本的木紋桌面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62690" y="1840413"/>
            <a:ext cx="2547976" cy="1836572"/>
          </a:xfrm>
          <a:prstGeom prst="roundRect">
            <a:avLst>
              <a:gd name="adj" fmla="val 12447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43650" y="2040392"/>
            <a:ext cx="283921" cy="323880"/>
          </a:xfrm>
          <a:prstGeom prst="roundRect">
            <a:avLst>
              <a:gd name="adj" fmla="val 20129"/>
            </a:avLst>
          </a:prstGeom>
          <a:solidFill>
            <a:srgbClr val="D99A4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91290" y="204999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05520" y="2450043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保留什麼</a:t>
            </a:r>
            <a:endParaRPr lang="en-US" sz="1725" dirty="0"/>
          </a:p>
        </p:txBody>
      </p:sp>
      <p:sp>
        <p:nvSpPr>
          <p:cNvPr id="18" name="Text 15"/>
          <p:cNvSpPr txBox="1"/>
          <p:nvPr/>
        </p:nvSpPr>
        <p:spPr>
          <a:xfrm>
            <a:off x="6305520" y="2859603"/>
            <a:ext cx="19082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果醬罐本身不要改變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843985" y="1840413"/>
            <a:ext cx="2547976" cy="1836572"/>
          </a:xfrm>
          <a:prstGeom prst="roundRect">
            <a:avLst>
              <a:gd name="adj" fmla="val 12447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024945" y="2040392"/>
            <a:ext cx="283921" cy="323880"/>
          </a:xfrm>
          <a:prstGeom prst="roundRect">
            <a:avLst>
              <a:gd name="adj" fmla="val 20129"/>
            </a:avLst>
          </a:prstGeom>
          <a:solidFill>
            <a:srgbClr val="8A5A6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072585" y="2049993"/>
            <a:ext cx="24396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986815" y="2450043"/>
            <a:ext cx="10105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spc="-1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用在哪裡</a:t>
            </a:r>
            <a:endParaRPr lang="en-US" sz="1725" dirty="0"/>
          </a:p>
        </p:txBody>
      </p:sp>
      <p:sp>
        <p:nvSpPr>
          <p:cNvPr id="23" name="Text 20"/>
          <p:cNvSpPr txBox="1"/>
          <p:nvPr/>
        </p:nvSpPr>
        <p:spPr>
          <a:xfrm>
            <a:off x="8986815" y="2859603"/>
            <a:ext cx="2312060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這張要放在網路商店當主圖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00100" y="3838834"/>
            <a:ext cx="10591770" cy="1024402"/>
          </a:xfrm>
          <a:prstGeom prst="roundRect">
            <a:avLst>
              <a:gd name="adj" fmla="val 14880"/>
            </a:avLst>
          </a:prstGeom>
          <a:solidFill>
            <a:srgbClr val="F0F6EE"/>
          </a:solidFill>
          <a:ln w="9525">
            <a:solidFill>
              <a:srgbClr val="B9CDB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43021" y="4010284"/>
            <a:ext cx="10851459" cy="69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完整範例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把桌上的鑰匙和杯子去掉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背景保持原本的木紋桌面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果醬罐本身不要改變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這張要放在網路商店當主圖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。」 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800100" y="5025177"/>
            <a:ext cx="10591770" cy="576712"/>
          </a:xfrm>
          <a:prstGeom prst="roundRect">
            <a:avLst>
              <a:gd name="adj" fmla="val 29729"/>
            </a:avLst>
          </a:prstGeom>
          <a:solidFill>
            <a:srgbClr val="FBEEE6"/>
          </a:solidFill>
          <a:ln/>
        </p:spPr>
      </p:sp>
      <p:sp>
        <p:nvSpPr>
          <p:cNvPr id="27" name="Shape 24"/>
          <p:cNvSpPr/>
          <p:nvPr/>
        </p:nvSpPr>
        <p:spPr>
          <a:xfrm>
            <a:off x="800100" y="5025177"/>
            <a:ext cx="47640" cy="5767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8" name="Image 1" descr="/home/user/gogoeveryday/photo-course/export-pptx/build/img/p8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1" y="5170566"/>
            <a:ext cx="285750" cy="28575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457371" y="5158496"/>
            <a:ext cx="603705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3 項「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保留什麼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」最容易漏掉，但它是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保護你商品的那一句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733440"/>
            <a:ext cx="5039624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講得越模糊，AI 越會自己發揮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720444"/>
            <a:ext cx="5162520" cy="1024402"/>
          </a:xfrm>
          <a:prstGeom prst="roundRect">
            <a:avLst>
              <a:gd name="adj" fmla="val 14880"/>
            </a:avLst>
          </a:prstGeom>
          <a:solidFill>
            <a:srgbClr val="FDF1EF"/>
          </a:solidFill>
          <a:ln w="9525">
            <a:solidFill>
              <a:srgbClr val="E6B3A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43021" y="1891894"/>
            <a:ext cx="1999061" cy="69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壞指令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「幫我修好看一點」</a:t>
            </a:r>
            <a:endParaRPr lang="en-US" sz="1575" dirty="0"/>
          </a:p>
        </p:txBody>
      </p:sp>
      <p:pic>
        <p:nvPicPr>
          <p:cNvPr id="6" name="Image 1" descr="/home/user/gogoeveryday/photo-course/export-pptx/build/img/p82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849636"/>
            <a:ext cx="4190970" cy="201927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29350" y="1565544"/>
            <a:ext cx="5162520" cy="1334384"/>
          </a:xfrm>
          <a:prstGeom prst="roundRect">
            <a:avLst>
              <a:gd name="adj" fmla="val 11423"/>
            </a:avLst>
          </a:prstGeom>
          <a:solidFill>
            <a:srgbClr val="F0F6EE"/>
          </a:solidFill>
          <a:ln w="9525">
            <a:solidFill>
              <a:srgbClr val="B9CDB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372271" y="1736994"/>
            <a:ext cx="5007894" cy="1005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好指令</a:t>
            </a:r>
            <a:endParaRPr lang="en-US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「把桌上的鑰匙去掉，背景保持木紋，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果醬罐本身不要改變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」</a:t>
            </a:r>
            <a:endParaRPr lang="en-US" sz="1575" dirty="0"/>
          </a:p>
        </p:txBody>
      </p:sp>
      <p:pic>
        <p:nvPicPr>
          <p:cNvPr id="9" name="Image 2" descr="/home/user/gogoeveryday/photo-course/export-pptx/build/img/p82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3004718"/>
            <a:ext cx="4190970" cy="201927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00100" y="5185928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FBEEE6"/>
          </a:solidFill>
          <a:ln/>
        </p:spPr>
      </p:sp>
      <p:sp>
        <p:nvSpPr>
          <p:cNvPr id="11" name="Shape 6"/>
          <p:cNvSpPr/>
          <p:nvPr/>
        </p:nvSpPr>
        <p:spPr>
          <a:xfrm>
            <a:off x="800100" y="5185928"/>
            <a:ext cx="47640" cy="6910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12" name="Image 3" descr="/home/user/gogoeveryday/photo-course/export-pptx/build/img/p82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60" y="5378958"/>
            <a:ext cx="304770" cy="30477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514521" y="5376398"/>
            <a:ext cx="9934316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不知道哪些是你的商品、哪些是雜物。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你不講，它就自己猜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——猜錯了，你的商品就變成別的東西了。</a:t>
            </a:r>
            <a:endParaRPr lang="en-US" sz="157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8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324746" y="1700693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六分鐘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274180" y="2081632"/>
            <a:ext cx="36530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60"/>
              </a:lnSpc>
              <a:buNone/>
            </a:pPr>
            <a:r>
              <a:rPr lang="en-US" sz="3000" b="1" spc="-60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挑一張有雜物的照片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33470" y="2936961"/>
            <a:ext cx="1952518" cy="857250"/>
          </a:xfrm>
          <a:prstGeom prst="roundRect">
            <a:avLst>
              <a:gd name="adj" fmla="val 16672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438443" y="3079882"/>
            <a:ext cx="1752265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選一張邊邊有雜物的照片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377428" y="3165561"/>
            <a:ext cx="398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57671" y="2936961"/>
            <a:ext cx="1952518" cy="857250"/>
          </a:xfrm>
          <a:prstGeom prst="roundRect">
            <a:avLst>
              <a:gd name="adj" fmla="val 16672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62552" y="3079882"/>
            <a:ext cx="1752265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用手機內建或網頁 AI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01538" y="3165561"/>
            <a:ext cx="398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381780" y="2936961"/>
            <a:ext cx="1952518" cy="857250"/>
          </a:xfrm>
          <a:prstGeom prst="roundRect">
            <a:avLst>
              <a:gd name="adj" fmla="val 16672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86662" y="3079882"/>
            <a:ext cx="1752265" cy="56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圈起來，或用四要素下指令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25647" y="3165561"/>
            <a:ext cx="398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8905890" y="3070281"/>
            <a:ext cx="1952518" cy="590520"/>
          </a:xfrm>
          <a:prstGeom prst="roundRect">
            <a:avLst>
              <a:gd name="adj" fmla="val 24203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10772" y="3213202"/>
            <a:ext cx="175226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跟原檔並排比較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333470" y="3956152"/>
            <a:ext cx="9525030" cy="1000994"/>
          </a:xfrm>
          <a:prstGeom prst="roundRect">
            <a:avLst>
              <a:gd name="adj" fmla="val 17128"/>
            </a:avLst>
          </a:prstGeom>
          <a:solidFill>
            <a:srgbClr val="FBEEE6"/>
          </a:solidFill>
          <a:ln/>
        </p:spPr>
      </p:sp>
      <p:sp>
        <p:nvSpPr>
          <p:cNvPr id="17" name="Shape 14"/>
          <p:cNvSpPr/>
          <p:nvPr/>
        </p:nvSpPr>
        <p:spPr>
          <a:xfrm>
            <a:off x="1333470" y="3956152"/>
            <a:ext cx="47640" cy="1000994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18" name="Image 1" descr="/home/user/gogoeveryday/photo-course/export-pptx/build/img/p8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821" y="4304264"/>
            <a:ext cx="294071" cy="30477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825691" y="4146621"/>
            <a:ext cx="9044148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修完一定要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放大檢查商品本身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 顏色一樣嗎？形狀一樣嗎？標籤上的字還對嗎？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商品有變，就重做。</a:t>
            </a:r>
            <a:endParaRPr lang="en-US" sz="1575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859810"/>
            <a:ext cx="7234824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拿來做「配角」可以，拿來當「主角」不行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691914"/>
            <a:ext cx="5153010" cy="2895630"/>
          </a:xfrm>
          <a:prstGeom prst="roundRect">
            <a:avLst>
              <a:gd name="adj" fmla="val 7895"/>
            </a:avLst>
          </a:prstGeom>
          <a:solidFill>
            <a:srgbClr val="DFE8D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00171" y="1901403"/>
            <a:ext cx="1405433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可以拿來做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62020" y="2272924"/>
            <a:ext cx="4741438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背景板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：生一張木紋、布紋、純色底圖，印出來或墊在商品下面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62020" y="2968234"/>
            <a:ext cx="4932274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情境示意圖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：節慶、送禮氛圍圖（要標示「示意圖」）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62020" y="3663544"/>
            <a:ext cx="40386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社群裝飾底圖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：貼文背景、活動宣傳圖的底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62020" y="4073103"/>
            <a:ext cx="363474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版面草稿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：先看看排版感覺，再自己拍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38860" y="1977664"/>
            <a:ext cx="5153010" cy="2324130"/>
          </a:xfrm>
          <a:prstGeom prst="roundRect">
            <a:avLst>
              <a:gd name="adj" fmla="val 9836"/>
            </a:avLst>
          </a:prstGeom>
          <a:solidFill>
            <a:srgbClr val="FDF3F1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38930" y="2187153"/>
            <a:ext cx="164921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039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 不可以拿來做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600871" y="2558674"/>
            <a:ext cx="343284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商品本身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——生出來的不是你的商品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600871" y="2968234"/>
            <a:ext cx="30289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商品主圖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——客人下單是看這張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600871" y="3377794"/>
            <a:ext cx="354394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任何會讓客人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以為那就是實品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的畫面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600871" y="3787353"/>
            <a:ext cx="372563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食品的成品照——最容易產生落差與爭議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0100" y="4749394"/>
            <a:ext cx="1059177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17" name="Shape 14"/>
          <p:cNvSpPr/>
          <p:nvPr/>
        </p:nvSpPr>
        <p:spPr>
          <a:xfrm>
            <a:off x="800100" y="4749394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18" name="Image 1" descr="/home/user/gogoeveryday/photo-course/export-pptx/build/img/p84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5097506"/>
            <a:ext cx="300472" cy="30477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10132" y="4939863"/>
            <a:ext cx="9982413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最實用的一招：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 AI 生一張純色或木紋的背景圖，印出來當背景板。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成本幾塊錢，比買攝影背景紙便宜太多。</a:t>
            </a:r>
            <a:endParaRPr lang="en-US" sz="157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8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993130"/>
            <a:ext cx="549152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AI 可以整理畫面，</a:t>
            </a:r>
            <a:pPr algn="l" indent="0" marL="0">
              <a:lnSpc>
                <a:spcPts val="3294"/>
              </a:lnSpc>
              <a:buNone/>
            </a:pPr>
            <a:r>
              <a:rPr lang="en-US" sz="2700" b="1" spc="-54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不可以改變商品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47670" y="1630375"/>
            <a:ext cx="10896630" cy="1019190"/>
          </a:xfrm>
          <a:prstGeom prst="roundRect">
            <a:avLst>
              <a:gd name="adj" fmla="val 22430"/>
            </a:avLst>
          </a:prstGeom>
          <a:solidFill>
            <a:srgbClr val="FDF3F1"/>
          </a:solidFill>
          <a:ln w="19050">
            <a:solidFill>
              <a:srgbClr val="E0B4A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250" y="1811426"/>
            <a:ext cx="361920" cy="3619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38174" y="1830446"/>
            <a:ext cx="255118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1314450" y="1801825"/>
            <a:ext cx="2514051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2301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不能改商品本身的顏色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14450" y="2182856"/>
            <a:ext cx="1038932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褐色的果醬修成鮮紅色、米白的皂修成純白。客人收到會覺得「跟照片不一樣」——這是消費爭議，不是美感問題。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7670" y="2754356"/>
            <a:ext cx="10896630" cy="1019190"/>
          </a:xfrm>
          <a:prstGeom prst="roundRect">
            <a:avLst>
              <a:gd name="adj" fmla="val 22430"/>
            </a:avLst>
          </a:prstGeom>
          <a:solidFill>
            <a:srgbClr val="FDF3F1"/>
          </a:solidFill>
          <a:ln w="19050">
            <a:solidFill>
              <a:srgbClr val="E0B4A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7250" y="2935315"/>
            <a:ext cx="361920" cy="3619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38174" y="2954426"/>
            <a:ext cx="255118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1314450" y="2925806"/>
            <a:ext cx="2756367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2301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不能改份量、大小、數量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14450" y="3306836"/>
            <a:ext cx="7616403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一盒 12 顆不能修成 16 顆，小罐不能修得像大罐。份量是交易條件，改了就是誤導。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7670" y="3878336"/>
            <a:ext cx="10896630" cy="1019190"/>
          </a:xfrm>
          <a:prstGeom prst="roundRect">
            <a:avLst>
              <a:gd name="adj" fmla="val 22430"/>
            </a:avLst>
          </a:prstGeom>
          <a:solidFill>
            <a:srgbClr val="FDF3F1"/>
          </a:solidFill>
          <a:ln w="19050">
            <a:solidFill>
              <a:srgbClr val="E0B4A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7250" y="4059296"/>
            <a:ext cx="361920" cy="3619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38174" y="4078315"/>
            <a:ext cx="255118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1314450" y="4049786"/>
            <a:ext cx="3240999" cy="35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2301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不能生成不存在的東西當實品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14450" y="4430725"/>
            <a:ext cx="7804313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沒做過的口味、沒有的包裝、AI 生出來的成品照。食品類特別小心，這牽涉食品標示。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7670" y="5002225"/>
            <a:ext cx="10896630" cy="576712"/>
          </a:xfrm>
          <a:prstGeom prst="roundRect">
            <a:avLst>
              <a:gd name="adj" fmla="val 29729"/>
            </a:avLst>
          </a:prstGeom>
          <a:solidFill>
            <a:srgbClr val="FBEEE6"/>
          </a:solidFill>
          <a:ln/>
        </p:spPr>
      </p:sp>
      <p:sp>
        <p:nvSpPr>
          <p:cNvPr id="20" name="Shape 17"/>
          <p:cNvSpPr/>
          <p:nvPr/>
        </p:nvSpPr>
        <p:spPr>
          <a:xfrm>
            <a:off x="647670" y="5002225"/>
            <a:ext cx="47640" cy="576712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21" name="Image 1" descr="/home/user/gogoeveryday/photo-course/export-pptx/build/img/p85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90" y="5147706"/>
            <a:ext cx="285750" cy="28575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304940" y="5135636"/>
            <a:ext cx="819604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判斷方法很簡單：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客人收到實品，會不會覺得被騙？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不會，就可以修；會，就不要修。</a:t>
            </a:r>
            <a:endParaRPr lang="en-US" sz="1575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8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42787" y="797997"/>
            <a:ext cx="3866998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 · 五分鐘 · 挑一個做就好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611331" y="1179027"/>
            <a:ext cx="4978817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去背換白底，或生一張背景板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1238280" y="2165299"/>
            <a:ext cx="4733940" cy="2377349"/>
          </a:xfrm>
          <a:prstGeom prst="roundRect">
            <a:avLst>
              <a:gd name="adj" fmla="val 9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238280" y="2165299"/>
            <a:ext cx="473394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7" name="Shape 4"/>
          <p:cNvSpPr/>
          <p:nvPr/>
        </p:nvSpPr>
        <p:spPr>
          <a:xfrm>
            <a:off x="5962620" y="2165299"/>
            <a:ext cx="18288" cy="237734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238280" y="4533138"/>
            <a:ext cx="473394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238280" y="2165299"/>
            <a:ext cx="18288" cy="2377349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588392" y="2412919"/>
            <a:ext cx="2043318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選項 A 去背換白底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38260" y="2793949"/>
            <a:ext cx="3927531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把主圖的商品剪下來，背景換成純白。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電商平台、蝦皮、官網上架最常用這一種。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476390" y="3563417"/>
            <a:ext cx="42577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38260" y="3706246"/>
            <a:ext cx="4432371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指令：「把背景換成純白色，</a:t>
            </a:r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商品本身的顏色和形狀不要改變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，邊緣要乾淨」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9840" y="2011131"/>
            <a:ext cx="4733940" cy="2685867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9840" y="2011131"/>
            <a:ext cx="4733940" cy="4764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16" name="Shape 13"/>
          <p:cNvSpPr/>
          <p:nvPr/>
        </p:nvSpPr>
        <p:spPr>
          <a:xfrm>
            <a:off x="10944271" y="2011131"/>
            <a:ext cx="18288" cy="268586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219840" y="4687489"/>
            <a:ext cx="473394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219840" y="2011131"/>
            <a:ext cx="18288" cy="268586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56841" y="2258751"/>
            <a:ext cx="2269358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20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選項 B 生一張背景板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419820" y="2639781"/>
            <a:ext cx="4331421" cy="912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生一張純色或木紋的桌面圖，之後印出來當背景板。</a:t>
            </a:r>
            <a:endParaRPr lang="en-US" sz="15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比買攝影背景紙便宜太多。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57950" y="3717768"/>
            <a:ext cx="4257721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19820" y="3860597"/>
            <a:ext cx="4230472" cy="603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指令：「一張淺灰色水泥質感的桌面，正上方俯視，</a:t>
            </a:r>
            <a:pPr algn="l" indent="0" marL="0">
              <a:lnSpc>
                <a:spcPts val="243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沒有任何物品</a:t>
            </a:r>
            <a:pPr algn="l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，柔和自然光」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238280" y="4858939"/>
            <a:ext cx="9715500" cy="1000994"/>
          </a:xfrm>
          <a:prstGeom prst="roundRect">
            <a:avLst>
              <a:gd name="adj" fmla="val 17128"/>
            </a:avLst>
          </a:prstGeom>
          <a:solidFill>
            <a:srgbClr val="F8E6C9"/>
          </a:solidFill>
          <a:ln/>
        </p:spPr>
      </p:sp>
      <p:sp>
        <p:nvSpPr>
          <p:cNvPr id="24" name="Shape 21"/>
          <p:cNvSpPr/>
          <p:nvPr/>
        </p:nvSpPr>
        <p:spPr>
          <a:xfrm>
            <a:off x="1238280" y="4858939"/>
            <a:ext cx="47640" cy="1000994"/>
          </a:xfrm>
          <a:prstGeom prst="rect">
            <a:avLst/>
          </a:prstGeom>
          <a:solidFill>
            <a:srgbClr val="D99A4E"/>
          </a:solidFill>
          <a:ln/>
        </p:spPr>
      </p:sp>
      <p:pic>
        <p:nvPicPr>
          <p:cNvPr id="25" name="Image 1" descr="/home/user/gogoeveryday/photo-course/export-pptx/build/img/p8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40" y="5216561"/>
            <a:ext cx="256123" cy="28575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737269" y="5049408"/>
            <a:ext cx="9183228" cy="61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選 A 的人記得檢查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邊緣有沒有殘留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； 選 B 的人記得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不要在生成的背景上放 AI 生的商品</a:t>
            </a:r>
            <a:pPr algn="ctr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——商品要用自己拍的。</a:t>
            </a:r>
            <a:endParaRPr lang="en-US" sz="1575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8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495788"/>
            <a:ext cx="6106820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先用內建就夠了，這些等有需要再說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00100" y="1327800"/>
            <a:ext cx="171450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1851751"/>
            <a:ext cx="171450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52530" y="1461211"/>
            <a:ext cx="533278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14600" y="1327800"/>
            <a:ext cx="314325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514600" y="1851751"/>
            <a:ext cx="314325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67030" y="1461211"/>
            <a:ext cx="94713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最大特色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57850" y="1327800"/>
            <a:ext cx="5734020" cy="53337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657850" y="1851751"/>
            <a:ext cx="573402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810280" y="1461211"/>
            <a:ext cx="158922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什麼時候才需要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" y="1861261"/>
            <a:ext cx="1714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00100" y="2423251"/>
            <a:ext cx="1714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52530" y="1994581"/>
            <a:ext cx="1059332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Snapseed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514600" y="1861261"/>
            <a:ext cx="314325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2514600" y="2423251"/>
            <a:ext cx="31432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667030" y="1994581"/>
            <a:ext cx="27159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局部修飾</a:t>
            </a:r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：只調某一塊的亮度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57850" y="1861261"/>
            <a:ext cx="573402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657850" y="2423251"/>
            <a:ext cx="57340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810280" y="1994581"/>
            <a:ext cx="25140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想把商品調亮但背景不動時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00100" y="2432761"/>
            <a:ext cx="1714500" cy="8477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800100" y="3270900"/>
            <a:ext cx="1714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52530" y="2566081"/>
            <a:ext cx="113696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Adobe Lightroom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514600" y="2432761"/>
            <a:ext cx="3143250" cy="8477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514600" y="3270900"/>
            <a:ext cx="31432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667030" y="2704247"/>
            <a:ext cx="29178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白平衡、鏡頭校正，功能最完整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657850" y="2432761"/>
            <a:ext cx="5734020" cy="8477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5657850" y="3270900"/>
            <a:ext cx="57340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810280" y="2704247"/>
            <a:ext cx="204688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iPhone 想調白平衡時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00100" y="3280501"/>
            <a:ext cx="1714500" cy="8477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00100" y="4118640"/>
            <a:ext cx="1714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52530" y="3551895"/>
            <a:ext cx="769193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Foodie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2514600" y="3280501"/>
            <a:ext cx="3143250" cy="8477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2514600" y="4118640"/>
            <a:ext cx="31432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667030" y="3413821"/>
            <a:ext cx="2917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食物專用濾鏡，有「正俯視圖」提示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5657850" y="3280501"/>
            <a:ext cx="5734020" cy="8477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657850" y="4118640"/>
            <a:ext cx="57340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810280" y="3551895"/>
            <a:ext cx="25140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常拍食物、需要俯拍對齊時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800100" y="4128150"/>
            <a:ext cx="1714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800100" y="4690140"/>
            <a:ext cx="171450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52530" y="4261561"/>
            <a:ext cx="63029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VSCO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2514600" y="4128150"/>
            <a:ext cx="314325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2514600" y="4690140"/>
            <a:ext cx="31432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667030" y="4261561"/>
            <a:ext cx="170627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濾鏡可再微調數值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5657850" y="4128150"/>
            <a:ext cx="5734020" cy="571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657850" y="4690140"/>
            <a:ext cx="573402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810280" y="4261561"/>
            <a:ext cx="170627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想建立固定風格時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952530" y="4833061"/>
            <a:ext cx="110752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PhotoGrid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2667030" y="4833061"/>
            <a:ext cx="21101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多張拼圖、加邊框文字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5810280" y="4833061"/>
            <a:ext cx="21101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要做六張的拼圖版面時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800100" y="5423581"/>
            <a:ext cx="10591770" cy="691012"/>
          </a:xfrm>
          <a:prstGeom prst="roundRect">
            <a:avLst>
              <a:gd name="adj" fmla="val 24811"/>
            </a:avLst>
          </a:prstGeom>
          <a:solidFill>
            <a:srgbClr val="DFE8DC"/>
          </a:solidFill>
          <a:ln/>
        </p:spPr>
      </p:sp>
      <p:sp>
        <p:nvSpPr>
          <p:cNvPr id="53" name="Shape 50"/>
          <p:cNvSpPr/>
          <p:nvPr/>
        </p:nvSpPr>
        <p:spPr>
          <a:xfrm>
            <a:off x="800100" y="5423581"/>
            <a:ext cx="47640" cy="691012"/>
          </a:xfrm>
          <a:prstGeom prst="rect">
            <a:avLst/>
          </a:prstGeom>
          <a:solidFill>
            <a:srgbClr val="5F7A63"/>
          </a:solidFill>
          <a:ln/>
        </p:spPr>
      </p:sp>
      <p:pic>
        <p:nvPicPr>
          <p:cNvPr id="54" name="Image 1" descr="/home/user/gogoeveryday/photo-course/export-pptx/build/img/p87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60" y="5616611"/>
            <a:ext cx="304770" cy="304770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1514521" y="5614050"/>
            <a:ext cx="7853142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這些 App 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有些功能需要額外付費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 今天教的三個動作用內建就做得到，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不用花錢</a:t>
            </a:r>
            <a:pPr algn="l" indent="0" marL="0">
              <a:lnSpc>
                <a:spcPts val="2441"/>
              </a:lnSpc>
              <a:buNone/>
            </a:pPr>
            <a:r>
              <a:rPr lang="en-US" sz="157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57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8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970" y="869777"/>
            <a:ext cx="5730911" cy="542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en-US" sz="2850" b="1" spc="-57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早上那張，跟現在這張，放在一起</a:t>
            </a:r>
            <a:endParaRPr lang="en-US" sz="2850" dirty="0"/>
          </a:p>
        </p:txBody>
      </p:sp>
      <p:pic>
        <p:nvPicPr>
          <p:cNvPr id="4" name="Image 1" descr="/home/user/gogoeveryday/photo-course/export-pptx/build/img/p88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701881"/>
            <a:ext cx="3810030" cy="2381280"/>
          </a:xfrm>
          <a:prstGeom prst="rect">
            <a:avLst/>
          </a:prstGeom>
        </p:spPr>
      </p:pic>
      <p:pic>
        <p:nvPicPr>
          <p:cNvPr id="5" name="Image 2" descr="/home/user/gogoeveryday/photo-course/export-pptx/build/img/p88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60" y="1701881"/>
            <a:ext cx="3810030" cy="23812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800100" y="4245011"/>
            <a:ext cx="2490826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7" name="Shape 2"/>
          <p:cNvSpPr/>
          <p:nvPr/>
        </p:nvSpPr>
        <p:spPr>
          <a:xfrm>
            <a:off x="981060" y="440695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1304940" y="4368820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鏡頭乾淨了嗎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3500415" y="4245011"/>
            <a:ext cx="2490826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3681374" y="440695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005255" y="4368820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對焦有對到嗎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200821" y="4245011"/>
            <a:ext cx="2490826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381780" y="440695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705570" y="4368820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光線變好了嗎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901135" y="4245011"/>
            <a:ext cx="2490826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082095" y="440695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405976" y="4368820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背景乾淨了嗎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00100" y="4902281"/>
            <a:ext cx="2490826" cy="838230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81060" y="520705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304940" y="5168920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商品突出了嗎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3500415" y="4902281"/>
            <a:ext cx="2490826" cy="838230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81374" y="520705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005255" y="5168920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構圖舒服了嗎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200821" y="4902281"/>
            <a:ext cx="2490826" cy="838230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81780" y="520705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705570" y="5026091"/>
            <a:ext cx="1908261" cy="58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看得出想給人什麼感覺嗎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8901135" y="4902281"/>
            <a:ext cx="2490826" cy="838230"/>
          </a:xfrm>
          <a:prstGeom prst="roundRect">
            <a:avLst>
              <a:gd name="adj" fmla="val 15905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082095" y="520705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405976" y="5168920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有沒有修過</a:t>
            </a:r>
            <a:endParaRPr lang="en-US" sz="15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8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87536" y="1673901"/>
            <a:ext cx="1867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互動 · 三分鐘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704783" y="2064349"/>
            <a:ext cx="4791822" cy="128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600" b="1" spc="-108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從今天拍的所有照片裡</a:t>
            </a:r>
            <a:endParaRPr lang="en-US" sz="3600" dirty="0"/>
          </a:p>
          <a:p>
            <a:pPr algn="ctr" indent="0" marL="0">
              <a:lnSpc>
                <a:spcPts val="4680"/>
              </a:lnSpc>
              <a:buNone/>
            </a:pPr>
            <a:r>
              <a:rPr lang="en-US" sz="3600" b="1" spc="-108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挑出</a:t>
            </a:r>
            <a:pPr algn="ctr" indent="0" marL="0">
              <a:lnSpc>
                <a:spcPts val="4680"/>
              </a:lnSpc>
              <a:buNone/>
            </a:pPr>
            <a:r>
              <a:rPr lang="en-US" sz="3600" b="1" spc="-108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最滿意的一張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3389864" y="3538728"/>
            <a:ext cx="5421843" cy="722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16"/>
              </a:lnSpc>
              <a:buNone/>
            </a:pPr>
            <a:r>
              <a:rPr lang="en-US" sz="18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不是最漂亮的，是</a:t>
            </a:r>
            <a:pPr algn="ctr" indent="0" marL="0">
              <a:lnSpc>
                <a:spcPts val="2916"/>
              </a:lnSpc>
              <a:buNone/>
            </a:pPr>
            <a:r>
              <a:rPr lang="en-US" sz="18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最像你商品實際樣子</a:t>
            </a:r>
            <a:pPr algn="ctr" indent="0" marL="0">
              <a:lnSpc>
                <a:spcPts val="2916"/>
              </a:lnSpc>
              <a:buNone/>
            </a:pPr>
            <a:r>
              <a:rPr lang="en-US" sz="18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的那一張。</a:t>
            </a:r>
            <a:endParaRPr lang="en-US" sz="1800" dirty="0"/>
          </a:p>
          <a:p>
            <a:pPr algn="ctr" indent="0" marL="0">
              <a:lnSpc>
                <a:spcPts val="2916"/>
              </a:lnSpc>
              <a:buNone/>
            </a:pPr>
            <a:r>
              <a:rPr lang="en-US" sz="18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把它設成那個商品的主圖。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924160" y="4517410"/>
            <a:ext cx="1657350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3005358" y="4603090"/>
            <a:ext cx="15043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拿給旁邊的人看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95810" y="4517410"/>
            <a:ext cx="2990820" cy="4667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737049" y="4603090"/>
            <a:ext cx="291785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說一句「我選這張，因為⋯⋯」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01021" y="4517410"/>
            <a:ext cx="1466880" cy="466710"/>
          </a:xfrm>
          <a:prstGeom prst="roundRect">
            <a:avLst>
              <a:gd name="adj" fmla="val 50000"/>
            </a:avLst>
          </a:prstGeom>
          <a:solidFill>
            <a:srgbClr val="C05F3C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887980" y="4603090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回家就用這張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gogoeveryday/photo-course/export-pptx/build/img/p9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20" y="1037295"/>
            <a:ext cx="495330" cy="495330"/>
          </a:xfrm>
          <a:prstGeom prst="rect">
            <a:avLst/>
          </a:prstGeom>
        </p:spPr>
      </p:pic>
      <p:pic>
        <p:nvPicPr>
          <p:cNvPr id="4" name="Image 2" descr="/home/user/gogoeveryday/photo-course/export-pptx/build/img/p90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20" y="1037295"/>
            <a:ext cx="495330" cy="495330"/>
          </a:xfrm>
          <a:prstGeom prst="rect">
            <a:avLst/>
          </a:prstGeom>
        </p:spPr>
      </p:pic>
      <p:pic>
        <p:nvPicPr>
          <p:cNvPr id="5" name="Image 3" descr="/home/user/gogoeveryday/photo-course/export-pptx/build/img/p90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20" y="1037295"/>
            <a:ext cx="495330" cy="49533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3254350" y="1789847"/>
            <a:ext cx="5692872" cy="1190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22"/>
              </a:lnSpc>
              <a:buNone/>
            </a:pPr>
            <a:r>
              <a:rPr lang="en-US" sz="3300" b="1" spc="-99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今天你不是「學過」怎麼拍，</a:t>
            </a:r>
            <a:endParaRPr lang="en-US" sz="3300" dirty="0"/>
          </a:p>
          <a:p>
            <a:pPr algn="ctr" indent="0" marL="0">
              <a:lnSpc>
                <a:spcPts val="4422"/>
              </a:lnSpc>
              <a:buNone/>
            </a:pPr>
            <a:r>
              <a:rPr lang="en-US" sz="3300" b="1" spc="-99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是</a:t>
            </a:r>
            <a:pPr algn="ctr" indent="0" marL="0">
              <a:lnSpc>
                <a:spcPts val="4422"/>
              </a:lnSpc>
              <a:buNone/>
            </a:pPr>
            <a:r>
              <a:rPr lang="en-US" sz="3300" b="1" spc="-99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已經拍出來了</a:t>
            </a:r>
            <a:pPr algn="ctr" indent="0" marL="0">
              <a:lnSpc>
                <a:spcPts val="4422"/>
              </a:lnSpc>
              <a:buNone/>
            </a:pPr>
            <a:r>
              <a:rPr lang="en-US" sz="3300" b="1" spc="-99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3300" dirty="0"/>
          </a:p>
        </p:txBody>
      </p:sp>
      <p:sp>
        <p:nvSpPr>
          <p:cNvPr id="7" name="Shape 1"/>
          <p:cNvSpPr/>
          <p:nvPr/>
        </p:nvSpPr>
        <p:spPr>
          <a:xfrm>
            <a:off x="1333470" y="3189061"/>
            <a:ext cx="3047970" cy="1493307"/>
          </a:xfrm>
          <a:prstGeom prst="roundRect">
            <a:avLst>
              <a:gd name="adj" fmla="val 15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" name="Shape 2"/>
          <p:cNvSpPr/>
          <p:nvPr/>
        </p:nvSpPr>
        <p:spPr>
          <a:xfrm>
            <a:off x="1333470" y="3189061"/>
            <a:ext cx="304797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9" name="Shape 3"/>
          <p:cNvSpPr/>
          <p:nvPr/>
        </p:nvSpPr>
        <p:spPr>
          <a:xfrm>
            <a:off x="4372021" y="3189061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0" name="Shape 4"/>
          <p:cNvSpPr/>
          <p:nvPr/>
        </p:nvSpPr>
        <p:spPr>
          <a:xfrm>
            <a:off x="1333470" y="4672950"/>
            <a:ext cx="30479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1" name="Shape 5"/>
          <p:cNvSpPr/>
          <p:nvPr/>
        </p:nvSpPr>
        <p:spPr>
          <a:xfrm>
            <a:off x="1333470" y="3189061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2012137" y="3436772"/>
            <a:ext cx="17001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spc="-17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每週拍一個商品</a:t>
            </a:r>
            <a:endParaRPr lang="en-US" sz="1725" dirty="0"/>
          </a:p>
        </p:txBody>
      </p:sp>
      <p:sp>
        <p:nvSpPr>
          <p:cNvPr id="13" name="Text 7"/>
          <p:cNvSpPr txBox="1"/>
          <p:nvPr/>
        </p:nvSpPr>
        <p:spPr>
          <a:xfrm>
            <a:off x="1504279" y="3846332"/>
            <a:ext cx="2715951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六張拍不完就拍三張：主圖、細節、幕後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4572000" y="3189061"/>
            <a:ext cx="3047970" cy="1493307"/>
          </a:xfrm>
          <a:prstGeom prst="roundRect">
            <a:avLst>
              <a:gd name="adj" fmla="val 15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572000" y="3189061"/>
            <a:ext cx="3047970" cy="47640"/>
          </a:xfrm>
          <a:prstGeom prst="rect">
            <a:avLst/>
          </a:prstGeom>
          <a:solidFill>
            <a:srgbClr val="D99A4E"/>
          </a:solidFill>
          <a:ln/>
        </p:spPr>
      </p:sp>
      <p:sp>
        <p:nvSpPr>
          <p:cNvPr id="16" name="Shape 10"/>
          <p:cNvSpPr/>
          <p:nvPr/>
        </p:nvSpPr>
        <p:spPr>
          <a:xfrm>
            <a:off x="7610460" y="3189061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4572000" y="4672950"/>
            <a:ext cx="30479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4572000" y="3189061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250668" y="3436772"/>
            <a:ext cx="17001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spc="-17" kern="0" dirty="0">
                <a:solidFill>
                  <a:srgbClr val="D99A4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固定同一種感覺</a:t>
            </a:r>
            <a:endParaRPr lang="en-US" sz="1725" dirty="0"/>
          </a:p>
        </p:txBody>
      </p:sp>
      <p:sp>
        <p:nvSpPr>
          <p:cNvPr id="20" name="Text 14"/>
          <p:cNvSpPr txBox="1"/>
          <p:nvPr/>
        </p:nvSpPr>
        <p:spPr>
          <a:xfrm>
            <a:off x="4742718" y="3846332"/>
            <a:ext cx="2715951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四種選一種，連續拍一個月再換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7810530" y="3189061"/>
            <a:ext cx="3047970" cy="1493307"/>
          </a:xfrm>
          <a:prstGeom prst="roundRect">
            <a:avLst>
              <a:gd name="adj" fmla="val 15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810530" y="3189061"/>
            <a:ext cx="304797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23" name="Shape 17"/>
          <p:cNvSpPr/>
          <p:nvPr/>
        </p:nvSpPr>
        <p:spPr>
          <a:xfrm>
            <a:off x="10848990" y="3189061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7810530" y="4672950"/>
            <a:ext cx="304797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7810530" y="3189061"/>
            <a:ext cx="18288" cy="1493307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489107" y="3436772"/>
            <a:ext cx="17001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25" b="1" spc="-17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修圖只做三件事</a:t>
            </a:r>
            <a:endParaRPr lang="en-US" sz="1725" dirty="0"/>
          </a:p>
        </p:txBody>
      </p:sp>
      <p:sp>
        <p:nvSpPr>
          <p:cNvPr id="27" name="Text 21"/>
          <p:cNvSpPr txBox="1"/>
          <p:nvPr/>
        </p:nvSpPr>
        <p:spPr>
          <a:xfrm>
            <a:off x="7981249" y="3846332"/>
            <a:ext cx="2715951" cy="60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裁切、亮度、顏色。不要越修越多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3849258" y="4920569"/>
            <a:ext cx="4502963" cy="69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下一堂課我們會接著做</a:t>
            </a:r>
            <a:pPr algn="ctr" indent="0" marL="0">
              <a:lnSpc>
                <a:spcPts val="2795"/>
              </a:lnSpc>
              <a:buNone/>
            </a:pPr>
            <a:r>
              <a:rPr lang="en-US" sz="1725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更完整的影像編修</a:t>
            </a:r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</a:t>
            </a:r>
            <a:endParaRPr lang="en-US" sz="1725" dirty="0"/>
          </a:p>
          <a:p>
            <a:pPr algn="ctr"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在那之前，把今天這六張拍熟就好。</a:t>
            </a:r>
            <a:endParaRPr lang="en-US" sz="1725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224760"/>
            <a:ext cx="3465027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7"/>
              </a:lnSpc>
              <a:buNone/>
            </a:pPr>
            <a:r>
              <a:rPr lang="en-US" sz="2325" b="1" spc="-46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拍之前十秒，修圖三動作</a:t>
            </a:r>
            <a:endParaRPr lang="en-US" sz="2325" dirty="0"/>
          </a:p>
        </p:txBody>
      </p:sp>
      <p:sp>
        <p:nvSpPr>
          <p:cNvPr id="4" name="Shape 1"/>
          <p:cNvSpPr/>
          <p:nvPr/>
        </p:nvSpPr>
        <p:spPr>
          <a:xfrm>
            <a:off x="647670" y="756300"/>
            <a:ext cx="5324460" cy="5600700"/>
          </a:xfrm>
          <a:prstGeom prst="roundRect">
            <a:avLst>
              <a:gd name="adj" fmla="val 42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7670" y="756300"/>
            <a:ext cx="5324460" cy="4764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6" name="Shape 3"/>
          <p:cNvSpPr/>
          <p:nvPr/>
        </p:nvSpPr>
        <p:spPr>
          <a:xfrm>
            <a:off x="5962620" y="756300"/>
            <a:ext cx="18288" cy="56007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47670" y="6347490"/>
            <a:ext cx="532446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7670" y="756300"/>
            <a:ext cx="18288" cy="56007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9610" y="946861"/>
            <a:ext cx="227173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拍之前，花十秒走一遍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47740" y="1308781"/>
            <a:ext cx="492441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28700" y="147072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52580" y="1432590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鏡頭擦乾淨了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47740" y="1927921"/>
            <a:ext cx="492441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28700" y="208986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52580" y="2051731"/>
            <a:ext cx="23120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鏡頭保護貼沒有刮傷起霧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7740" y="2547061"/>
            <a:ext cx="492441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028700" y="270900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52580" y="2670871"/>
            <a:ext cx="19082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電量與儲存空間還夠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47740" y="3166201"/>
            <a:ext cx="492441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28700" y="3328050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352580" y="3290011"/>
            <a:ext cx="27159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螢幕亮度正常、護眼模式已關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47740" y="3785250"/>
            <a:ext cx="492441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28700" y="3947190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52580" y="3909151"/>
            <a:ext cx="205612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格線已打開、比例 4:3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47740" y="4404390"/>
            <a:ext cx="492441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028700" y="456633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352580" y="4528200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閃光燈已關閉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47740" y="5023531"/>
            <a:ext cx="492441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028700" y="518547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352580" y="5147340"/>
            <a:ext cx="19082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背景四個邊看過一遍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47740" y="5642671"/>
            <a:ext cx="492441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1028700" y="5804611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352580" y="5766481"/>
            <a:ext cx="231206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想好這張要給人什麼感覺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219840" y="1680301"/>
            <a:ext cx="5324460" cy="3752880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219840" y="1680301"/>
            <a:ext cx="5324460" cy="47640"/>
          </a:xfrm>
          <a:prstGeom prst="rect">
            <a:avLst/>
          </a:prstGeom>
          <a:solidFill>
            <a:srgbClr val="5F7A63"/>
          </a:solidFill>
          <a:ln/>
        </p:spPr>
      </p:sp>
      <p:sp>
        <p:nvSpPr>
          <p:cNvPr id="36" name="Shape 33"/>
          <p:cNvSpPr/>
          <p:nvPr/>
        </p:nvSpPr>
        <p:spPr>
          <a:xfrm>
            <a:off x="11534790" y="1680301"/>
            <a:ext cx="18288" cy="37528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219840" y="5423581"/>
            <a:ext cx="532446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6219840" y="1680301"/>
            <a:ext cx="18288" cy="375288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381780" y="1870771"/>
            <a:ext cx="20536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修圖，只做這三件事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419820" y="2232690"/>
            <a:ext cx="4924410" cy="457200"/>
          </a:xfrm>
          <a:prstGeom prst="roundRect">
            <a:avLst>
              <a:gd name="adj" fmla="val 22920"/>
            </a:avLst>
          </a:prstGeom>
          <a:solidFill>
            <a:srgbClr val="F4ECE1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515100" y="2308951"/>
            <a:ext cx="114647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複製一份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7625182" y="2308951"/>
            <a:ext cx="19082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修複製的，原檔留著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6419820" y="2794681"/>
            <a:ext cx="4924410" cy="457200"/>
          </a:xfrm>
          <a:prstGeom prst="roundRect">
            <a:avLst>
              <a:gd name="adj" fmla="val 22920"/>
            </a:avLst>
          </a:prstGeom>
          <a:solidFill>
            <a:srgbClr val="F4ECE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515100" y="2870850"/>
            <a:ext cx="114647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裁切拉正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625182" y="2870850"/>
            <a:ext cx="21101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切雜物、轉正、換比例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419820" y="3356671"/>
            <a:ext cx="4924410" cy="457200"/>
          </a:xfrm>
          <a:prstGeom prst="roundRect">
            <a:avLst>
              <a:gd name="adj" fmla="val 22920"/>
            </a:avLst>
          </a:prstGeom>
          <a:solidFill>
            <a:srgbClr val="F4ECE1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515100" y="3432840"/>
            <a:ext cx="114647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亮度陰影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7625182" y="3432840"/>
            <a:ext cx="2000067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整張亮度 ＋ 暗部細節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6419820" y="3918661"/>
            <a:ext cx="4924410" cy="457200"/>
          </a:xfrm>
          <a:prstGeom prst="roundRect">
            <a:avLst>
              <a:gd name="adj" fmla="val 22920"/>
            </a:avLst>
          </a:prstGeom>
          <a:solidFill>
            <a:srgbClr val="F4ECE1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515100" y="3994831"/>
            <a:ext cx="114647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F7A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色溫飽和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7625182" y="3994831"/>
            <a:ext cx="190826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調到跟實品一樣為止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6419820" y="4490161"/>
            <a:ext cx="4924410" cy="781080"/>
          </a:xfrm>
          <a:prstGeom prst="roundRect">
            <a:avLst>
              <a:gd name="adj" fmla="val 21950"/>
            </a:avLst>
          </a:prstGeom>
          <a:solidFill>
            <a:srgbClr val="FBEEE6"/>
          </a:solidFill>
          <a:ln/>
        </p:spPr>
      </p:sp>
      <p:sp>
        <p:nvSpPr>
          <p:cNvPr id="53" name="Shape 50"/>
          <p:cNvSpPr/>
          <p:nvPr/>
        </p:nvSpPr>
        <p:spPr>
          <a:xfrm>
            <a:off x="6419820" y="4490161"/>
            <a:ext cx="47640" cy="781080"/>
          </a:xfrm>
          <a:prstGeom prst="rect">
            <a:avLst/>
          </a:prstGeom>
          <a:solidFill>
            <a:srgbClr val="C05F3C"/>
          </a:solidFill>
          <a:ln/>
        </p:spPr>
      </p:sp>
      <p:pic>
        <p:nvPicPr>
          <p:cNvPr id="54" name="Image 1" descr="/home/user/gogoeveryday/photo-course/export-pptx/build/img/p91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90" y="4766401"/>
            <a:ext cx="194950" cy="228600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6929140" y="4585350"/>
            <a:ext cx="4533321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修完跟原檔並排。差別大到像另一張照片，就是修過頭了。</a:t>
            </a:r>
            <a:endParaRPr lang="en-US" sz="15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ogoeveryday/photo-course/export-pptx/build/bg/9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30" y="-249448"/>
            <a:ext cx="267334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4"/>
              </a:lnSpc>
              <a:buNone/>
            </a:pPr>
            <a:r>
              <a:rPr lang="en-US" sz="2175" b="1" spc="-43" kern="0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回家照著做的三張表</a:t>
            </a:r>
            <a:endParaRPr lang="en-US" sz="2175" dirty="0"/>
          </a:p>
        </p:txBody>
      </p:sp>
      <p:sp>
        <p:nvSpPr>
          <p:cNvPr id="4" name="Shape 1"/>
          <p:cNvSpPr/>
          <p:nvPr/>
        </p:nvSpPr>
        <p:spPr>
          <a:xfrm>
            <a:off x="647670" y="239939"/>
            <a:ext cx="120015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7670" y="687629"/>
            <a:ext cx="120015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2950" y="316108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感覺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847820" y="239939"/>
            <a:ext cx="1963765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847820" y="687629"/>
            <a:ext cx="1963765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43100" y="316108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光線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11676" y="239939"/>
            <a:ext cx="2884292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11676" y="687629"/>
            <a:ext cx="2884292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906865" y="316108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695968" y="239939"/>
            <a:ext cx="2270638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695968" y="687629"/>
            <a:ext cx="2270638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91157" y="316108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角度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966606" y="239939"/>
            <a:ext cx="2577694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966606" y="687629"/>
            <a:ext cx="2577694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61887" y="316108"/>
            <a:ext cx="5353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9C8B7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構圖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7670" y="697139"/>
            <a:ext cx="120015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47670" y="1154339"/>
            <a:ext cx="12001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2950" y="773308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743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溫暖手作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847820" y="697139"/>
            <a:ext cx="196376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847820" y="1154339"/>
            <a:ext cx="196376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943100" y="773308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側光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3811676" y="697139"/>
            <a:ext cx="288429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3811676" y="1154339"/>
            <a:ext cx="288429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906865" y="773308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木質、素色布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695968" y="697139"/>
            <a:ext cx="2270638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695968" y="1154339"/>
            <a:ext cx="2270638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791157" y="773308"/>
            <a:ext cx="5899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45 度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966606" y="697139"/>
            <a:ext cx="257769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966606" y="1154339"/>
            <a:ext cx="257769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061887" y="773308"/>
            <a:ext cx="15043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留一點手的動作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47670" y="1163848"/>
            <a:ext cx="120015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47670" y="1621048"/>
            <a:ext cx="12001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42950" y="1240018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7F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乾淨專業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847820" y="1163848"/>
            <a:ext cx="196376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847820" y="1621048"/>
            <a:ext cx="196376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943100" y="1240018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順光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3811676" y="1163848"/>
            <a:ext cx="288429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3811676" y="1621048"/>
            <a:ext cx="288429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906865" y="1240018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白或淺灰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6695968" y="1163848"/>
            <a:ext cx="2270638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695968" y="1621048"/>
            <a:ext cx="2270638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791157" y="1240018"/>
            <a:ext cx="13024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平拍或正俯拍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8966606" y="1163848"/>
            <a:ext cx="257769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8966606" y="1621048"/>
            <a:ext cx="257769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9061887" y="1240018"/>
            <a:ext cx="150437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置中、不加濾鏡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647670" y="1630558"/>
            <a:ext cx="1200150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47670" y="2087758"/>
            <a:ext cx="1200150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742950" y="1706728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A91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新鮮現做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1847820" y="1630558"/>
            <a:ext cx="1963765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1847820" y="2087758"/>
            <a:ext cx="1963765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943100" y="1706728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窗邊自然光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3811676" y="1630558"/>
            <a:ext cx="2884292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3811676" y="2087758"/>
            <a:ext cx="2884292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906865" y="1706728"/>
            <a:ext cx="170627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有製作痕跡的檯面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6695968" y="1630558"/>
            <a:ext cx="2270638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6695968" y="2087758"/>
            <a:ext cx="2270638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6791157" y="1706728"/>
            <a:ext cx="1228679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俯拍或 45 度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8966606" y="1630558"/>
            <a:ext cx="2577694" cy="46671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8966606" y="2087758"/>
            <a:ext cx="2577694" cy="18288"/>
          </a:xfrm>
          <a:prstGeom prst="rect">
            <a:avLst/>
          </a:prstGeom>
          <a:solidFill>
            <a:srgbClr val="241C17">
              <a:alpha val="7000"/>
            </a:srgbClr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9061887" y="1706728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加肢體動作</a:t>
            </a:r>
            <a:endParaRPr lang="en-US" sz="1500" dirty="0"/>
          </a:p>
        </p:txBody>
      </p:sp>
      <p:sp>
        <p:nvSpPr>
          <p:cNvPr id="64" name="Text 61"/>
          <p:cNvSpPr txBox="1"/>
          <p:nvPr/>
        </p:nvSpPr>
        <p:spPr>
          <a:xfrm>
            <a:off x="742950" y="2173529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B5A8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高級精緻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943100" y="2173529"/>
            <a:ext cx="110048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側光或逆光</a:t>
            </a:r>
            <a:endParaRPr lang="en-US" sz="1500" dirty="0"/>
          </a:p>
        </p:txBody>
      </p:sp>
      <p:sp>
        <p:nvSpPr>
          <p:cNvPr id="66" name="Text 63"/>
          <p:cNvSpPr txBox="1"/>
          <p:nvPr/>
        </p:nvSpPr>
        <p:spPr>
          <a:xfrm>
            <a:off x="3906865" y="2173529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深色</a:t>
            </a:r>
            <a:endParaRPr lang="en-US" sz="1500" dirty="0"/>
          </a:p>
        </p:txBody>
      </p:sp>
      <p:sp>
        <p:nvSpPr>
          <p:cNvPr id="67" name="Text 64"/>
          <p:cNvSpPr txBox="1"/>
          <p:nvPr/>
        </p:nvSpPr>
        <p:spPr>
          <a:xfrm>
            <a:off x="6791157" y="2173529"/>
            <a:ext cx="512430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特寫</a:t>
            </a:r>
            <a:endParaRPr lang="en-US" sz="1500" dirty="0"/>
          </a:p>
        </p:txBody>
      </p:sp>
      <p:sp>
        <p:nvSpPr>
          <p:cNvPr id="68" name="Text 65"/>
          <p:cNvSpPr txBox="1"/>
          <p:nvPr/>
        </p:nvSpPr>
        <p:spPr>
          <a:xfrm>
            <a:off x="9061887" y="2173529"/>
            <a:ext cx="89858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大量留白</a:t>
            </a:r>
            <a:endParaRPr lang="en-US" sz="1500" dirty="0"/>
          </a:p>
        </p:txBody>
      </p:sp>
      <p:sp>
        <p:nvSpPr>
          <p:cNvPr id="69" name="Shape 66"/>
          <p:cNvSpPr/>
          <p:nvPr/>
        </p:nvSpPr>
        <p:spPr>
          <a:xfrm>
            <a:off x="647670" y="2659258"/>
            <a:ext cx="5353080" cy="41719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647670" y="2659258"/>
            <a:ext cx="5353080" cy="38130"/>
          </a:xfrm>
          <a:prstGeom prst="rect">
            <a:avLst/>
          </a:prstGeom>
          <a:solidFill>
            <a:srgbClr val="C05F3C"/>
          </a:solidFill>
          <a:ln/>
        </p:spPr>
      </p:sp>
      <p:sp>
        <p:nvSpPr>
          <p:cNvPr id="71" name="Shape 68"/>
          <p:cNvSpPr/>
          <p:nvPr/>
        </p:nvSpPr>
        <p:spPr>
          <a:xfrm>
            <a:off x="5991240" y="2659258"/>
            <a:ext cx="18288" cy="41719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647670" y="6821698"/>
            <a:ext cx="53530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647670" y="2659258"/>
            <a:ext cx="18288" cy="417195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771571" y="2802179"/>
            <a:ext cx="2053651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120" kern="0" dirty="0">
                <a:solidFill>
                  <a:srgbClr val="C05F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一個商品，六張照片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809610" y="3154589"/>
            <a:ext cx="502920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990570" y="3316529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1314450" y="3278398"/>
            <a:ext cx="296384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主圖（中央構圖、背景乾淨）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809610" y="3754618"/>
            <a:ext cx="502920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990570" y="3916558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1314450" y="3878428"/>
            <a:ext cx="114647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完整外觀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809610" y="4354739"/>
            <a:ext cx="502920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990570" y="4516679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1314450" y="4478548"/>
            <a:ext cx="1954164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細節照（走近拍）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809610" y="4954768"/>
            <a:ext cx="502920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990570" y="5116708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1314450" y="5078578"/>
            <a:ext cx="2642159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不同角度（45 度或俯拍）</a:t>
            </a:r>
            <a:endParaRPr lang="en-US" sz="1500" dirty="0"/>
          </a:p>
        </p:txBody>
      </p:sp>
      <p:sp>
        <p:nvSpPr>
          <p:cNvPr id="87" name="Shape 84"/>
          <p:cNvSpPr/>
          <p:nvPr/>
        </p:nvSpPr>
        <p:spPr>
          <a:xfrm>
            <a:off x="809610" y="5554889"/>
            <a:ext cx="502920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990570" y="5716829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1314450" y="5678698"/>
            <a:ext cx="2550079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⑤ 使用情境（1–3 個配角）</a:t>
            </a:r>
            <a:endParaRPr lang="en-US" sz="1500" dirty="0"/>
          </a:p>
        </p:txBody>
      </p:sp>
      <p:sp>
        <p:nvSpPr>
          <p:cNvPr id="90" name="Shape 87"/>
          <p:cNvSpPr/>
          <p:nvPr/>
        </p:nvSpPr>
        <p:spPr>
          <a:xfrm>
            <a:off x="809610" y="6154918"/>
            <a:ext cx="5029200" cy="552480"/>
          </a:xfrm>
          <a:prstGeom prst="roundRect">
            <a:avLst>
              <a:gd name="adj" fmla="val 24131"/>
            </a:avLst>
          </a:prstGeom>
          <a:solidFill>
            <a:srgbClr val="FFFFFF"/>
          </a:solidFill>
          <a:ln w="9525">
            <a:solidFill>
              <a:srgbClr val="241C17"/>
            </a:solidFill>
            <a:prstDash val="solid"/>
          </a:ln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990570" y="6316858"/>
            <a:ext cx="228600" cy="228600"/>
          </a:xfrm>
          <a:prstGeom prst="roundRect">
            <a:avLst>
              <a:gd name="adj" fmla="val 29160"/>
            </a:avLst>
          </a:prstGeom>
          <a:solidFill>
            <a:srgbClr val="FFFFFF"/>
          </a:solidFill>
          <a:ln w="19050">
            <a:solidFill>
              <a:srgbClr val="C05F3C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1314450" y="6278728"/>
            <a:ext cx="1146475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⑥ 幕後製作</a:t>
            </a:r>
            <a:endParaRPr lang="en-US" sz="1500" dirty="0"/>
          </a:p>
        </p:txBody>
      </p:sp>
      <p:sp>
        <p:nvSpPr>
          <p:cNvPr id="93" name="Shape 90"/>
          <p:cNvSpPr/>
          <p:nvPr/>
        </p:nvSpPr>
        <p:spPr>
          <a:xfrm>
            <a:off x="6191220" y="3602279"/>
            <a:ext cx="535308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C2A1C">
                <a:alpha val="18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6191220" y="3602279"/>
            <a:ext cx="5353080" cy="38130"/>
          </a:xfrm>
          <a:prstGeom prst="rect">
            <a:avLst/>
          </a:prstGeom>
          <a:solidFill>
            <a:srgbClr val="8A5A6D"/>
          </a:solidFill>
          <a:ln/>
        </p:spPr>
      </p:sp>
      <p:sp>
        <p:nvSpPr>
          <p:cNvPr id="95" name="Shape 92"/>
          <p:cNvSpPr/>
          <p:nvPr/>
        </p:nvSpPr>
        <p:spPr>
          <a:xfrm>
            <a:off x="11534790" y="3602279"/>
            <a:ext cx="18288" cy="22860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6" name="Shape 93"/>
          <p:cNvSpPr/>
          <p:nvPr/>
        </p:nvSpPr>
        <p:spPr>
          <a:xfrm>
            <a:off x="6191220" y="5878678"/>
            <a:ext cx="5353080" cy="18288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7" name="Shape 94"/>
          <p:cNvSpPr/>
          <p:nvPr/>
        </p:nvSpPr>
        <p:spPr>
          <a:xfrm>
            <a:off x="6191220" y="3602279"/>
            <a:ext cx="18288" cy="2286000"/>
          </a:xfrm>
          <a:prstGeom prst="rect">
            <a:avLst/>
          </a:prstGeom>
          <a:solidFill>
            <a:srgbClr val="241C17">
              <a:alpha val="12000"/>
            </a:srgbClr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6315121" y="3745108"/>
            <a:ext cx="2344156" cy="29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120" kern="0" dirty="0">
                <a:solidFill>
                  <a:srgbClr val="8A5A6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指令範本（四要素）</a:t>
            </a:r>
            <a:endParaRPr lang="en-US" sz="1500" dirty="0"/>
          </a:p>
        </p:txBody>
      </p:sp>
      <p:sp>
        <p:nvSpPr>
          <p:cNvPr id="99" name="Shape 96"/>
          <p:cNvSpPr/>
          <p:nvPr/>
        </p:nvSpPr>
        <p:spPr>
          <a:xfrm>
            <a:off x="6353160" y="4097518"/>
            <a:ext cx="5029200" cy="742950"/>
          </a:xfrm>
          <a:prstGeom prst="roundRect">
            <a:avLst>
              <a:gd name="adj" fmla="val 20517"/>
            </a:avLst>
          </a:prstGeom>
          <a:solidFill>
            <a:srgbClr val="F0F6EE"/>
          </a:solidFill>
          <a:ln w="9525">
            <a:solidFill>
              <a:srgbClr val="B9CDB8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48440" y="4183289"/>
            <a:ext cx="49831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「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把＿＿＿去掉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背景保持＿＿＿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 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商品本身的顏色和形狀不要改變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這張要用在＿＿＿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241C1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。」 </a:t>
            </a:r>
            <a:endParaRPr lang="en-US" sz="1500" dirty="0"/>
          </a:p>
        </p:txBody>
      </p:sp>
      <p:sp>
        <p:nvSpPr>
          <p:cNvPr id="101" name="Text 98"/>
          <p:cNvSpPr txBox="1"/>
          <p:nvPr/>
        </p:nvSpPr>
        <p:spPr>
          <a:xfrm>
            <a:off x="6315121" y="4897618"/>
            <a:ext cx="5341010" cy="86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三條紅線：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不改商品顏色｜不改份量大小｜不生成不存在的實品。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判斷方法：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3C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客人收到實品，會不會覺得被騙？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92</Slides>
  <Notes>92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手機拍攝商品與影像編修基礎（1）｜09/13</dc:title>
  <dc:subject>PptxGenJS Presentation</dc:subject>
  <dc:creator>PptxGenJS</dc:creator>
  <cp:lastModifiedBy>PptxGenJS</cp:lastModifiedBy>
  <cp:revision>1</cp:revision>
  <dcterms:created xsi:type="dcterms:W3CDTF">2026-09-02T16:51:14Z</dcterms:created>
  <dcterms:modified xsi:type="dcterms:W3CDTF">2026-09-02T16:51:14Z</dcterms:modified>
</cp:coreProperties>
</file>