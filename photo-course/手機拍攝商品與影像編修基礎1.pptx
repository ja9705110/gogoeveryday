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自我介紹兩分鐘就好，不要久。
· 開場最重要的一件事：請所有人現在就把手機拿出來，確認電量、確認相機打得開、確認相簿有空間。
· 這件事在九點做，比在十點半發現有人手機滿了要好太多。
【互動提問】
· 問：今天有帶自己的商品或小東西來的舉手？（沒帶的人現場借杯子、鑰匙、水瓶都可以）
【學員實作】
· 請所有人把手機拿出來放桌上，螢幕朝上。
【預期看到的差異】
· 學員會意識到今天是要動手的，不是聽課。
【進度快：可以補充】
· 可以請一兩位學員說自己做什麼商品，後面舉例時用得到。
【進度慢：可以刪掉】
· 自我介紹壓到一分鐘，直接進第 2 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把終點講得很具體，中高齡學員才有安全感。
· 最後一句「做完一半也是成功」一定要講，這是整天不讓人放棄的關鍵。
【互動提問】
· 問：你們現在拍商品最大的困擾是什麼？（多半會說「拍起來很暗」「看起來很雜」）
【預期看到的差異】
· 學員的表情會從「又要上課」變成「原來今天有東西可以帶走」。
【進度快：可以補充】
· 把學員說的困擾寫在白板上，下午對應到哪一段解決。
【進度慢：可以刪掉】
· 只講四張卡片的標題，不展開。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這一頁是整天的操作手冊，要講清楚。
· 「一次只改一個變因」是所有比較能成立的前提，也是學員回家自己練習的方法。
· 提醒：每一次「再拍」都不要刪掉舊的那張，兩張都要留著。
【互動提問】
· 問：等一下拍完，如果你看不出兩張哪裡不一樣，要怎麼辦？（答：舉手，我們一起看）
【學員實作】
· 請學員在相簿裡開一個新相簿叫「09/13 上課」，今天拍的都丟進去。
【預期看到的差異】
· 學員會開始留意「這一張跟上一張差在哪」，而不是只看好不好看。
【進度快：可以補充】
· 示範一次相簿建立的路徑。
【進度慢：可以刪掉】
· 跳過建相簿，直接口頭提醒不要刪照片。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第一點要講得斬釘截鐵。班上一定有人用舊手機，這句話是在告訴她「你可以」。
· 第三點先埋下伏筆，下午 PART 11 會回來收。
【互動提問】
· 問：你們覺得一張商品照最重要的是什麼？（引導到「看得清楚」）
【預期看到的差異】
· 用舊手機的學員會放鬆下來。
【進度快：可以補充】
· 舉例：同一個場景用五年前的手機和最新的手機，光線對了差距很小。
【進度慢：可以刪掉】
· 只講第一點和第三點。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逐列念過去，每一列都用「動作」收尾，不要停在名詞解釋。
· 白平衡這一列一定要照實講。教材 P.56 明載 iOS 內建沒有白平衡功能，講錯學員回家會找不到。
· 這一頁不用背，附錄有同樣的表。
【互動提問】
· 問：這五個字裡面，哪一個你以前聽過但不知道意思？
【預期看到的差異】
· 學員不再被術語卡住，後面講對焦、曝光時能直接跟上。
【進度快：可以補充】
· 補一個「解析度＝照片有多少格子」，接第 15 頁。
【進度慢：可以刪掉】
· 只講對焦與曝光兩列，其餘留給附錄。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這一頁是整天的主軸，講慢一點。
· 四種感覺不是規則，是四條現成的路。學員只要選一條走，就不會每拍一張都在猶豫。
· 請學員現在心裡先選一種，不用講出來，下午總實作時會再確認一次。
【互動提問】
· 問：你的商品，你希望客人看到照片時第一個感覺是什麼？
· 問：手作果醬適合哪一種？（沒有標準答案，四種都可以，重點是要選一種）
【學員實作】
· 請學員在講義上圈選一種感覺。
【預期看到的差異】
· 之後每一段的頁尾呼應帶出現時，學員會開始自己對照自己圈的那一列。
【進度快：可以補充】
· 請兩三位學員說自己選哪一種、為什麼，全班一起討論合不合適。
【進度慢：可以刪掉】
· 只講「先問感覺，再問怎麼拍」這句話，四張卡片快速帶過。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這一段完全不要給提示。給了提示，下午的對照就沒有說服力了。
· 五分鐘就好，不要拖。有人拍很久就說「就這樣，先拍一張」。
· 拍完之後，三個問題一個一個問，讓學員自己講。
【互動提問】
· 問：你覺得這張哪裡不錯？
· 問：哪裡還可以更好？
· 問：你覺得是手機的問題，還是拍法可以調整？（多數人會說手機，這正是今天要翻轉的）
【學員實作】
· 每人用自己的商品或現場物件，拍一張，存在「09/13 上課」相簿。
【預期看到的差異】
· 多數人會拍出：光線不足、背景雜亂、商品放正中央但很小。這三個問題正好對應今天的三大段。
【進度快：可以補充】
· 請兩位學員的照片投影出來，全班一起講哪裡可以更好。
【進度慢：可以刪掉】
· 縮短到三分鐘，三個問題只問第三個。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這一段是後面所有實作的地基，慢一點沒關係。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先解決學員心裡的焦慮：「我用 Android，是不是比較差？」不是。
· 重點放在「差別很小，而且可以補」，不要花時間比較優劣。
· 白平衡那一點先提，第 5 頁講過，下午修圖段會再回來。
【互動提問】
· 問：現場用 iPhone 的舉手？用 Android 的舉手？（先知道比例，後面示範才知道要投影哪一台）
【預期看到的差異】
· 用 Android 的學員不會覺得自己被冷落。
【進度快：可以補充】
· 請一位 Android 學員的手機投影，讓大家看專業模式長什麼樣。
【進度慢：可以刪掉】
· 只講最後那句結論。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這一頁的觀念比內容重要：介面會改版，記位置沒用，要記「我在找什麼」。
· 這句話今天會用到很多次，尤其現場有人的手機跟投影不一樣時。
【互動提問】
· 問：有人手機的相機介面跟我投影的長得不一樣嗎？（找一台出來當範例）
【學員實作】
· 請學員打開自己的相機 App，試著找出這六個在哪裡，找不到的舉手。
【預期看到的差異】
· 助教這時候會很忙，這是正常的，讓大家花三分鐘找。
【進度快：可以補充】
· 示範用設定搜尋找「格線」。
【進度慢：可以刪掉】
· 六個只找對焦、亮度、格線三個。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一次只講一個步驟，講完停下來等大家做完。
· Android 的學員名稱可能不一樣，請她們找「有九宮格圖示」的那一項。
· 格線打開之後不要關掉，今天整天都會用到。
【互動提問】
· 問：Android 的同學，你們的選項叫什麼名字？（收集不同說法，寫在白板上）
【學員實作】
· 所有人現在打開格線。助教走動確認每一台都開好。
【預期看到的差異】
· 打開格線後，學員拍照時會自然開始留意有沒有拍歪。
【進度快：可以補充】
· iPhone 順便打開水平儀，示範俯拍時兩個十字對齊。
【進度慢：可以刪掉】
· 只講 iPhone，Android 交給助教個別協助。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這是今天第一個「全班一起做」的動作，節奏要抓好。
· 確認每個人螢幕上都有線再往下，不要留人。
【互動提問】
· 問：看得到四條線的舉手。（沒舉手的請助教過去）
【學員實作】
· 打開格線，隨便拍一張，確認畫面上有線。
【預期看到的差異】
· 學員第一次看到畫面被分成九格，會開始意識到「商品可以不放正中間」。
【進度快：可以補充】
· 順便講一句：線的交叉點就是等一下構圖要用的位置。
【進度慢：可以刪掉】
· 不拍照，只確認線有出現。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三張是同一個場景，只有比例不同。請學員注意 16:9 上下被切掉多少。
· 不要講定義，直接看畫面。
【互動提問】
· 問：這三張，哪一張你最有可能之後想裁成正方形發 IG？（引導到 4:3 保留最多）
【學員實作】
· 請學員在自己的相機裡找到比例切換的位置，試著切一次再切回來。
【預期看到的差異】
· 學員會發現 16:9 拍起來「比較有電影感」但東西少很多。
【進度快：可以補充】
· 講一下教材 P.58–59 用同一盆花做的對照。
【進度慢：可以刪掉】
· 只講 4:3 和 1:1，16:9 帶過。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「留得多才有得裁」是這一頁唯一要記住的。
· 接社群課：上一堂教過 IG 貼文是 4:5、限動是 9:16，都是從 4:3 裁出來的。
【互動提問】
· 問：如果你拍的時候就裁成正方形，事後想改成直式，救得回來嗎？（救不回來）
【學員實作】
· 把相機的比例設定成 4:3，今天之後都用這個。
【預期看到的差異】
· 學員之後拍照會習慣留一點空間，不再把商品塞滿畫面。
【進度快：可以補充】
· 接社群課的尺寸速查表，講一次三個平台的常用比例。
【進度慢：可以刪掉】
· 只講理由 2。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這一頁是在幫學員省錢：不用為了拍照換手機。
· 右邊四件事是今天課程的預告，講完可以說「這四個等一下都會做到」。
【互動提問】
· 問：有人知道自己手機幾 MP 嗎？（多半不知道，這正好證明「不用管」）
【預期看到的差異】
· 學員不再糾結手機規格，注意力回到操作。
【進度快：可以補充】
· 教怎麼查：手機設定 → 關於本機，或搜尋官網規格。
【進度慢：可以刪掉】
· 整頁只講「畫素都夠用了，不用管」一句。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不要深入講 Codec、Bitrate、Log 這些，今天用不到。
· 60fps 的例子要具體：倒果醬、撒粉、切蛋糕，學員才知道什麼時候要用。
【互動提問】
· 問：你們拍過製作過程的影片嗎？
【學員實作】
· 在相機設定裡把錄影設成 1080p / 30fps。
【預期看到的差異】
· 之後拍幕後影片時不會因為 4K 把手機空間塞爆。
【進度快：可以補充】
· 講慢動作與縮時攝影各適合什麼（教材 P.55）。
【進度慢：可以刪掉】
· 整頁只留最後那句結論。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【講師說明】
· 這是 PART 1 的收攏頁，五項一起確認一次。
· 閃光燈關閉這一項，等一下 PART 3 會解釋為什麼。
· 最後那句「設完就忘掉它」很重要，讓學員知道設定階段結束了。
【互動提問】
· 問：五項都設好的舉手。（沒舉手的請助教處理，不要拖全班）
【學員實作】
· 五項逐一確認，助教走動檢查。
【預期看到的差異】
· 接下來所有實作的起點都一致，比較才有意義。
【進度快：可以補充】
· 順便把上傳畫質也一起設好（FB 設定 → 媒體；IG 設定和隱私 → 媒體品質）。
【進度慢：可以刪掉】
· 只確認格線、比例、閃光燈三項。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00100" y="1360170"/>
            <a:ext cx="2951043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小時實體課程 · 09/13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800100" y="1674449"/>
            <a:ext cx="4568982" cy="16248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5"/>
              </a:lnSpc>
              <a:buNone/>
            </a:pPr>
            <a:r>
              <a:rPr lang="en-US" sz="4950" b="1" spc="-19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手機拍攝商品</a:t>
            </a:r>
            <a:endParaRPr lang="en-US" sz="4950" dirty="0"/>
          </a:p>
          <a:p>
            <a:pPr algn="l" indent="0" marL="0">
              <a:lnSpc>
                <a:spcPts val="5445"/>
              </a:lnSpc>
              <a:buNone/>
            </a:pPr>
            <a:r>
              <a:rPr lang="en-US" sz="4950" b="1" spc="-198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與影像編修基礎</a:t>
            </a:r>
            <a:endParaRPr lang="en-US" sz="4950" dirty="0"/>
          </a:p>
        </p:txBody>
      </p:sp>
      <p:sp>
        <p:nvSpPr>
          <p:cNvPr id="5" name="Text 2"/>
          <p:cNvSpPr txBox="1"/>
          <p:nvPr/>
        </p:nvSpPr>
        <p:spPr>
          <a:xfrm>
            <a:off x="800100" y="3571738"/>
            <a:ext cx="5543001" cy="1223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80"/>
              </a:lnSpc>
              <a:buNone/>
            </a:pPr>
            <a:r>
              <a:rPr lang="en-US" sz="20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今天不聽理論。</a:t>
            </a:r>
            <a:endParaRPr lang="en-US" sz="2025" dirty="0"/>
          </a:p>
          <a:p>
            <a:pPr algn="l" indent="0" marL="0">
              <a:lnSpc>
                <a:spcPts val="3280"/>
              </a:lnSpc>
              <a:buNone/>
            </a:pPr>
            <a:r>
              <a:rPr lang="en-US" sz="20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你會用自己的手機，把一個商品</a:t>
            </a:r>
            <a:pPr algn="l" indent="0" marL="0">
              <a:lnSpc>
                <a:spcPts val="3280"/>
              </a:lnSpc>
              <a:buNone/>
            </a:pPr>
            <a:r>
              <a:rPr lang="en-US" sz="20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真的拍好、真的修好</a:t>
            </a:r>
            <a:pPr algn="l" indent="0" marL="0">
              <a:lnSpc>
                <a:spcPts val="3280"/>
              </a:lnSpc>
              <a:buNone/>
            </a:pPr>
            <a:r>
              <a:rPr lang="en-US" sz="20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2025" dirty="0"/>
          </a:p>
        </p:txBody>
      </p:sp>
      <p:sp>
        <p:nvSpPr>
          <p:cNvPr id="6" name="Shape 3"/>
          <p:cNvSpPr/>
          <p:nvPr/>
        </p:nvSpPr>
        <p:spPr>
          <a:xfrm>
            <a:off x="838230" y="5059558"/>
            <a:ext cx="1047720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C9743F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943021" y="512621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1981230" y="5059558"/>
            <a:ext cx="1047720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4A7FA5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2086021" y="512621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124230" y="5059558"/>
            <a:ext cx="1047720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6A9160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229021" y="512621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267230" y="5059558"/>
            <a:ext cx="1047720" cy="428671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7B5A86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372021" y="512621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endParaRPr lang="en-US" sz="1500" dirty="0"/>
          </a:p>
        </p:txBody>
      </p:sp>
      <p:pic>
        <p:nvPicPr>
          <p:cNvPr id="14" name="Image 1" descr="/home/user/gogoeveryday/photo-course/export-pptx/build/img/p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399" y="2000250"/>
            <a:ext cx="3429000" cy="285750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 / 17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51814"/>
            <a:ext cx="27563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下午四點，你帶回家的東西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632753"/>
            <a:ext cx="497881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不是筆記，是四樣做好的成果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464857"/>
            <a:ext cx="2519355" cy="2074408"/>
          </a:xfrm>
          <a:prstGeom prst="roundRect">
            <a:avLst>
              <a:gd name="adj" fmla="val 11020"/>
            </a:avLst>
          </a:prstGeom>
          <a:solidFill>
            <a:srgbClr val="FBEEE6"/>
          </a:solidFill>
          <a:ln/>
        </p:spPr>
      </p:sp>
      <p:pic>
        <p:nvPicPr>
          <p:cNvPr id="6" name="Image 1" descr="/home/user/gogoeveryday/photo-course/export-pptx/build/img/p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71" y="2703058"/>
            <a:ext cx="400050" cy="40005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2040" y="3274558"/>
            <a:ext cx="17001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一組六張商品照</a:t>
            </a:r>
            <a:endParaRPr lang="en-US" sz="1725" dirty="0"/>
          </a:p>
        </p:txBody>
      </p:sp>
      <p:sp>
        <p:nvSpPr>
          <p:cNvPr id="8" name="Text 4"/>
          <p:cNvSpPr txBox="1"/>
          <p:nvPr/>
        </p:nvSpPr>
        <p:spPr>
          <a:xfrm>
            <a:off x="962040" y="3684118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同一個商品，六種用途，風格一致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3490905" y="2464857"/>
            <a:ext cx="2519355" cy="2074408"/>
          </a:xfrm>
          <a:prstGeom prst="roundRect">
            <a:avLst>
              <a:gd name="adj" fmla="val 11020"/>
            </a:avLst>
          </a:prstGeom>
          <a:solidFill>
            <a:srgbClr val="DFE8DC"/>
          </a:solidFill>
          <a:ln/>
        </p:spPr>
      </p:sp>
      <p:pic>
        <p:nvPicPr>
          <p:cNvPr id="10" name="Image 2" descr="/home/user/gogoeveryday/photo-course/export-pptx/build/img/p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0976" y="2703058"/>
            <a:ext cx="400050" cy="40005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652845" y="3274558"/>
            <a:ext cx="170014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一張修過的照片</a:t>
            </a:r>
            <a:endParaRPr lang="en-US" sz="1725" dirty="0"/>
          </a:p>
        </p:txBody>
      </p:sp>
      <p:sp>
        <p:nvSpPr>
          <p:cNvPr id="12" name="Text 7"/>
          <p:cNvSpPr txBox="1"/>
          <p:nvPr/>
        </p:nvSpPr>
        <p:spPr>
          <a:xfrm>
            <a:off x="3652845" y="3684118"/>
            <a:ext cx="2110161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裁切、亮度、顏色都調過，可以直接上架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6181710" y="2464857"/>
            <a:ext cx="2519355" cy="2074408"/>
          </a:xfrm>
          <a:prstGeom prst="roundRect">
            <a:avLst>
              <a:gd name="adj" fmla="val 11020"/>
            </a:avLst>
          </a:prstGeom>
          <a:solidFill>
            <a:srgbClr val="F8E6C9"/>
          </a:solidFill>
          <a:ln/>
        </p:spPr>
      </p:sp>
      <p:pic>
        <p:nvPicPr>
          <p:cNvPr id="14" name="Image 3" descr="/home/user/gogoeveryday/photo-course/export-pptx/build/img/p2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1780" y="2703058"/>
            <a:ext cx="400050" cy="40005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6343650" y="3274558"/>
            <a:ext cx="1930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一張拍攝前檢查表</a:t>
            </a:r>
            <a:endParaRPr lang="en-US" sz="1725" dirty="0"/>
          </a:p>
        </p:txBody>
      </p:sp>
      <p:sp>
        <p:nvSpPr>
          <p:cNvPr id="16" name="Text 10"/>
          <p:cNvSpPr txBox="1"/>
          <p:nvPr/>
        </p:nvSpPr>
        <p:spPr>
          <a:xfrm>
            <a:off x="6343650" y="3684118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回家照著走，不會再忘記擦鏡頭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8872515" y="2464857"/>
            <a:ext cx="2519355" cy="2074408"/>
          </a:xfrm>
          <a:prstGeom prst="roundRect">
            <a:avLst>
              <a:gd name="adj" fmla="val 11020"/>
            </a:avLst>
          </a:prstGeom>
          <a:solidFill>
            <a:srgbClr val="F0DFE4"/>
          </a:solidFill>
          <a:ln/>
        </p:spPr>
      </p:sp>
      <p:pic>
        <p:nvPicPr>
          <p:cNvPr id="18" name="Image 4" descr="/home/user/gogoeveryday/photo-course/export-pptx/build/img/p2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2585" y="2703058"/>
            <a:ext cx="400050" cy="40005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9034455" y="3274558"/>
            <a:ext cx="193020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一個屬於你的風格</a:t>
            </a:r>
            <a:endParaRPr lang="en-US" sz="1725" dirty="0"/>
          </a:p>
        </p:txBody>
      </p:sp>
      <p:sp>
        <p:nvSpPr>
          <p:cNvPr id="20" name="Text 13"/>
          <p:cNvSpPr txBox="1"/>
          <p:nvPr/>
        </p:nvSpPr>
        <p:spPr>
          <a:xfrm>
            <a:off x="9034455" y="3684118"/>
            <a:ext cx="2312060" cy="6037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四種感覺挑一種，以後拍什麼都照這個調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800100" y="4701205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8E6C9"/>
          </a:solidFill>
          <a:ln/>
        </p:spPr>
      </p:sp>
      <p:sp>
        <p:nvSpPr>
          <p:cNvPr id="22" name="Shape 15"/>
          <p:cNvSpPr/>
          <p:nvPr/>
        </p:nvSpPr>
        <p:spPr>
          <a:xfrm>
            <a:off x="800100" y="4701205"/>
            <a:ext cx="47640" cy="704820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3" name="Image 5" descr="/home/user/gogoeveryday/photo-course/export-pptx/build/img/p2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5360" y="4891674"/>
            <a:ext cx="323880" cy="32388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533540" y="4898532"/>
            <a:ext cx="623968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做不完沒關係。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做完一半也是成功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——重點是回家知道怎麼繼續。</a:t>
            </a:r>
            <a:endParaRPr lang="en-US" sz="1575" dirty="0"/>
          </a:p>
        </p:txBody>
      </p:sp>
      <p:sp>
        <p:nvSpPr>
          <p:cNvPr id="25" name="Text 17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</a:t>
            </a:r>
            <a:endParaRPr lang="en-US" sz="1500" dirty="0"/>
          </a:p>
        </p:txBody>
      </p:sp>
      <p:sp>
        <p:nvSpPr>
          <p:cNvPr id="26" name="Text 18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 / 17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537106"/>
            <a:ext cx="297847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整天都是這四步，重複十幾次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918137"/>
            <a:ext cx="470339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先拍 → 再講 → 再拍 → 比較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750149"/>
            <a:ext cx="2205076" cy="1503731"/>
          </a:xfrm>
          <a:prstGeom prst="roundRect">
            <a:avLst>
              <a:gd name="adj" fmla="val 114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2750149"/>
            <a:ext cx="2205076" cy="47640"/>
          </a:xfrm>
          <a:prstGeom prst="rect">
            <a:avLst/>
          </a:prstGeom>
          <a:solidFill>
            <a:srgbClr val="9C8B7C"/>
          </a:solidFill>
          <a:ln/>
        </p:spPr>
      </p:sp>
      <p:sp>
        <p:nvSpPr>
          <p:cNvPr id="7" name="Shape 4"/>
          <p:cNvSpPr/>
          <p:nvPr/>
        </p:nvSpPr>
        <p:spPr>
          <a:xfrm>
            <a:off x="2995574" y="2750149"/>
            <a:ext cx="18288" cy="150373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4244462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2750149"/>
            <a:ext cx="18288" cy="150373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943021" y="2997860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先拍</a:t>
            </a:r>
            <a:endParaRPr lang="en-US" sz="2025" dirty="0"/>
          </a:p>
        </p:txBody>
      </p:sp>
      <p:sp>
        <p:nvSpPr>
          <p:cNvPr id="11" name="Text 8"/>
          <p:cNvSpPr txBox="1"/>
          <p:nvPr/>
        </p:nvSpPr>
        <p:spPr>
          <a:xfrm>
            <a:off x="943021" y="3445551"/>
            <a:ext cx="1999061" cy="59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用你平常的方式拍一張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3100365" y="3259196"/>
            <a:ext cx="455280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50" dirty="0"/>
          </a:p>
        </p:txBody>
      </p:sp>
      <p:sp>
        <p:nvSpPr>
          <p:cNvPr id="13" name="Shape 10"/>
          <p:cNvSpPr/>
          <p:nvPr/>
        </p:nvSpPr>
        <p:spPr>
          <a:xfrm>
            <a:off x="3595695" y="2895173"/>
            <a:ext cx="2205076" cy="1213866"/>
          </a:xfrm>
          <a:prstGeom prst="roundRect">
            <a:avLst>
              <a:gd name="adj" fmla="val 141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95695" y="2895173"/>
            <a:ext cx="2205076" cy="476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5" name="Shape 12"/>
          <p:cNvSpPr/>
          <p:nvPr/>
        </p:nvSpPr>
        <p:spPr>
          <a:xfrm>
            <a:off x="5791170" y="2895173"/>
            <a:ext cx="18288" cy="121386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3595695" y="4099438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7" name="Shape 14"/>
          <p:cNvSpPr/>
          <p:nvPr/>
        </p:nvSpPr>
        <p:spPr>
          <a:xfrm>
            <a:off x="3595695" y="2895173"/>
            <a:ext cx="18288" cy="121386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3738524" y="3142793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再講</a:t>
            </a:r>
            <a:endParaRPr lang="en-US" sz="2025" dirty="0"/>
          </a:p>
        </p:txBody>
      </p:sp>
      <p:sp>
        <p:nvSpPr>
          <p:cNvPr id="19" name="Text 16"/>
          <p:cNvSpPr txBox="1"/>
          <p:nvPr/>
        </p:nvSpPr>
        <p:spPr>
          <a:xfrm>
            <a:off x="3738524" y="3590483"/>
            <a:ext cx="157505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我只講一個技巧</a:t>
            </a:r>
            <a:endParaRPr lang="en-US" sz="1575" dirty="0"/>
          </a:p>
        </p:txBody>
      </p:sp>
      <p:sp>
        <p:nvSpPr>
          <p:cNvPr id="20" name="Text 17"/>
          <p:cNvSpPr txBox="1"/>
          <p:nvPr/>
        </p:nvSpPr>
        <p:spPr>
          <a:xfrm>
            <a:off x="5895960" y="3259196"/>
            <a:ext cx="455280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50" dirty="0"/>
          </a:p>
        </p:txBody>
      </p:sp>
      <p:sp>
        <p:nvSpPr>
          <p:cNvPr id="21" name="Shape 18"/>
          <p:cNvSpPr/>
          <p:nvPr/>
        </p:nvSpPr>
        <p:spPr>
          <a:xfrm>
            <a:off x="6391290" y="2895173"/>
            <a:ext cx="2205076" cy="1213866"/>
          </a:xfrm>
          <a:prstGeom prst="roundRect">
            <a:avLst>
              <a:gd name="adj" fmla="val 141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391290" y="2895173"/>
            <a:ext cx="2205076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3" name="Shape 20"/>
          <p:cNvSpPr/>
          <p:nvPr/>
        </p:nvSpPr>
        <p:spPr>
          <a:xfrm>
            <a:off x="8586765" y="2895173"/>
            <a:ext cx="18288" cy="121386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6391290" y="4099438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5" name="Shape 22"/>
          <p:cNvSpPr/>
          <p:nvPr/>
        </p:nvSpPr>
        <p:spPr>
          <a:xfrm>
            <a:off x="6391290" y="2895173"/>
            <a:ext cx="18288" cy="1213866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534120" y="3142793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再拍</a:t>
            </a:r>
            <a:endParaRPr lang="en-US" sz="2025" dirty="0"/>
          </a:p>
        </p:txBody>
      </p:sp>
      <p:sp>
        <p:nvSpPr>
          <p:cNvPr id="27" name="Text 24"/>
          <p:cNvSpPr txBox="1"/>
          <p:nvPr/>
        </p:nvSpPr>
        <p:spPr>
          <a:xfrm>
            <a:off x="6534120" y="3590483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用剛學的再拍一張</a:t>
            </a:r>
            <a:endParaRPr lang="en-US" sz="1575" dirty="0"/>
          </a:p>
        </p:txBody>
      </p:sp>
      <p:sp>
        <p:nvSpPr>
          <p:cNvPr id="28" name="Text 25"/>
          <p:cNvSpPr txBox="1"/>
          <p:nvPr/>
        </p:nvSpPr>
        <p:spPr>
          <a:xfrm>
            <a:off x="8691555" y="3259196"/>
            <a:ext cx="455280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550" dirty="0"/>
          </a:p>
        </p:txBody>
      </p:sp>
      <p:sp>
        <p:nvSpPr>
          <p:cNvPr id="29" name="Shape 26"/>
          <p:cNvSpPr/>
          <p:nvPr/>
        </p:nvSpPr>
        <p:spPr>
          <a:xfrm>
            <a:off x="9186885" y="2750149"/>
            <a:ext cx="2205076" cy="1503731"/>
          </a:xfrm>
          <a:prstGeom prst="roundRect">
            <a:avLst>
              <a:gd name="adj" fmla="val 1140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9186885" y="2750149"/>
            <a:ext cx="2205076" cy="47640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31" name="Shape 28"/>
          <p:cNvSpPr/>
          <p:nvPr/>
        </p:nvSpPr>
        <p:spPr>
          <a:xfrm>
            <a:off x="11382360" y="2750149"/>
            <a:ext cx="18288" cy="150373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2" name="Shape 29"/>
          <p:cNvSpPr/>
          <p:nvPr/>
        </p:nvSpPr>
        <p:spPr>
          <a:xfrm>
            <a:off x="9186885" y="4244462"/>
            <a:ext cx="2205076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9186885" y="2750149"/>
            <a:ext cx="18288" cy="1503731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329715" y="2997860"/>
            <a:ext cx="645841" cy="3905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2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比較</a:t>
            </a:r>
            <a:endParaRPr lang="en-US" sz="2025" dirty="0"/>
          </a:p>
        </p:txBody>
      </p:sp>
      <p:sp>
        <p:nvSpPr>
          <p:cNvPr id="35" name="Text 32"/>
          <p:cNvSpPr txBox="1"/>
          <p:nvPr/>
        </p:nvSpPr>
        <p:spPr>
          <a:xfrm>
            <a:off x="9329715" y="3445551"/>
            <a:ext cx="1999061" cy="5947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兩張並排，自己看差別</a:t>
            </a:r>
            <a:endParaRPr lang="en-US" sz="1575" dirty="0"/>
          </a:p>
        </p:txBody>
      </p:sp>
      <p:sp>
        <p:nvSpPr>
          <p:cNvPr id="36" name="Shape 33"/>
          <p:cNvSpPr/>
          <p:nvPr/>
        </p:nvSpPr>
        <p:spPr>
          <a:xfrm>
            <a:off x="800100" y="4415912"/>
            <a:ext cx="10591770" cy="704820"/>
          </a:xfrm>
          <a:prstGeom prst="roundRect">
            <a:avLst>
              <a:gd name="adj" fmla="val 24325"/>
            </a:avLst>
          </a:prstGeom>
          <a:solidFill>
            <a:srgbClr val="FBEEE6"/>
          </a:solidFill>
          <a:ln/>
        </p:spPr>
      </p:sp>
      <p:sp>
        <p:nvSpPr>
          <p:cNvPr id="37" name="Shape 34"/>
          <p:cNvSpPr/>
          <p:nvPr/>
        </p:nvSpPr>
        <p:spPr>
          <a:xfrm>
            <a:off x="800100" y="4415912"/>
            <a:ext cx="47640" cy="704820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8" name="Image 1" descr="/home/user/gogoeveryday/photo-course/export-pptx/build/img/p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606381"/>
            <a:ext cx="323880" cy="323880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1533540" y="4613239"/>
            <a:ext cx="687573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我不會一次講四件事。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一次只改一個地方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，你才看得出來是哪裡變好的。</a:t>
            </a:r>
            <a:endParaRPr lang="en-US" sz="1575" dirty="0"/>
          </a:p>
        </p:txBody>
      </p:sp>
      <p:sp>
        <p:nvSpPr>
          <p:cNvPr id="40" name="Text 36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</a:t>
            </a:r>
            <a:endParaRPr lang="en-US" sz="1500" dirty="0"/>
          </a:p>
        </p:txBody>
      </p:sp>
      <p:sp>
        <p:nvSpPr>
          <p:cNvPr id="41" name="Text 37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 / 17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36142"/>
            <a:ext cx="275636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先講完，整天就不用再爭辯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517172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這四件事，今天會一直回來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349276"/>
            <a:ext cx="5214915" cy="1505285"/>
          </a:xfrm>
          <a:prstGeom prst="roundRect">
            <a:avLst>
              <a:gd name="adj" fmla="val 15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2349276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6005505" y="2349276"/>
            <a:ext cx="18288" cy="150528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3844961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2349276"/>
            <a:ext cx="47640" cy="1505285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38210" y="2558766"/>
            <a:ext cx="2839852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手機貴，不代表照片好看</a:t>
            </a:r>
            <a:endParaRPr lang="en-US" sz="1875" dirty="0"/>
          </a:p>
        </p:txBody>
      </p:sp>
      <p:sp>
        <p:nvSpPr>
          <p:cNvPr id="11" name="Text 8"/>
          <p:cNvSpPr txBox="1"/>
          <p:nvPr/>
        </p:nvSpPr>
        <p:spPr>
          <a:xfrm>
            <a:off x="1038210" y="2996946"/>
            <a:ext cx="49674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決定照片好不好的是光線、對焦、有沒有晃。這三件事跟你手機多少錢無關。</a:t>
            </a:r>
            <a:endParaRPr lang="en-US" sz="1575" dirty="0"/>
          </a:p>
        </p:txBody>
      </p:sp>
      <p:sp>
        <p:nvSpPr>
          <p:cNvPr id="12" name="Shape 9"/>
          <p:cNvSpPr/>
          <p:nvPr/>
        </p:nvSpPr>
        <p:spPr>
          <a:xfrm>
            <a:off x="6176955" y="2349276"/>
            <a:ext cx="5214915" cy="1505285"/>
          </a:xfrm>
          <a:prstGeom prst="roundRect">
            <a:avLst>
              <a:gd name="adj" fmla="val 15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6176955" y="2349276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1"/>
          <p:cNvSpPr/>
          <p:nvPr/>
        </p:nvSpPr>
        <p:spPr>
          <a:xfrm>
            <a:off x="11382360" y="2349276"/>
            <a:ext cx="18288" cy="150528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6176955" y="3844961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6" name="Shape 13"/>
          <p:cNvSpPr/>
          <p:nvPr/>
        </p:nvSpPr>
        <p:spPr>
          <a:xfrm>
            <a:off x="6176955" y="2349276"/>
            <a:ext cx="47640" cy="1505285"/>
          </a:xfrm>
          <a:prstGeom prst="rect">
            <a:avLst/>
          </a:prstGeom>
          <a:solidFill>
            <a:srgbClr val="5F7A63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415065" y="2558766"/>
            <a:ext cx="2589855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商品照只要做到三件事</a:t>
            </a:r>
            <a:endParaRPr lang="en-US" sz="1875" dirty="0"/>
          </a:p>
        </p:txBody>
      </p:sp>
      <p:sp>
        <p:nvSpPr>
          <p:cNvPr id="18" name="Text 15"/>
          <p:cNvSpPr txBox="1"/>
          <p:nvPr/>
        </p:nvSpPr>
        <p:spPr>
          <a:xfrm>
            <a:off x="6415065" y="2996946"/>
            <a:ext cx="49674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看得清楚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、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看得舒服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、</a:t>
            </a:r>
            <a:pPr algn="l" indent="0" marL="0">
              <a:lnSpc>
                <a:spcPts val="2552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看得懂重點</a:t>
            </a:r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。做到這三件就夠了，不用追求藝術感。</a:t>
            </a:r>
            <a:endParaRPr lang="en-US" sz="1575" dirty="0"/>
          </a:p>
        </p:txBody>
      </p:sp>
      <p:sp>
        <p:nvSpPr>
          <p:cNvPr id="19" name="Shape 16"/>
          <p:cNvSpPr/>
          <p:nvPr/>
        </p:nvSpPr>
        <p:spPr>
          <a:xfrm>
            <a:off x="800100" y="4016411"/>
            <a:ext cx="5214915" cy="1505285"/>
          </a:xfrm>
          <a:prstGeom prst="roundRect">
            <a:avLst>
              <a:gd name="adj" fmla="val 15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0100" y="4016411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6005505" y="4016411"/>
            <a:ext cx="18288" cy="150528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9"/>
          <p:cNvSpPr/>
          <p:nvPr/>
        </p:nvSpPr>
        <p:spPr>
          <a:xfrm>
            <a:off x="800100" y="5512186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3" name="Shape 20"/>
          <p:cNvSpPr/>
          <p:nvPr/>
        </p:nvSpPr>
        <p:spPr>
          <a:xfrm>
            <a:off x="800100" y="4016411"/>
            <a:ext cx="47640" cy="1505285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1038210" y="4225991"/>
            <a:ext cx="2839852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先把照片拍好，再談修圖</a:t>
            </a:r>
            <a:endParaRPr lang="en-US" sz="1875" dirty="0"/>
          </a:p>
        </p:txBody>
      </p:sp>
      <p:sp>
        <p:nvSpPr>
          <p:cNvPr id="25" name="Text 22"/>
          <p:cNvSpPr txBox="1"/>
          <p:nvPr/>
        </p:nvSpPr>
        <p:spPr>
          <a:xfrm>
            <a:off x="1038210" y="4664080"/>
            <a:ext cx="49674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修圖救得回太暗、有點歪；救不回沒對到焦、手震糊掉。下午你會親眼看到界線在哪。</a:t>
            </a:r>
            <a:endParaRPr lang="en-US" sz="1575" dirty="0"/>
          </a:p>
        </p:txBody>
      </p:sp>
      <p:sp>
        <p:nvSpPr>
          <p:cNvPr id="26" name="Shape 23"/>
          <p:cNvSpPr/>
          <p:nvPr/>
        </p:nvSpPr>
        <p:spPr>
          <a:xfrm>
            <a:off x="6176955" y="4016411"/>
            <a:ext cx="5214915" cy="1505285"/>
          </a:xfrm>
          <a:prstGeom prst="roundRect">
            <a:avLst>
              <a:gd name="adj" fmla="val 1518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176955" y="4016411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5"/>
          <p:cNvSpPr/>
          <p:nvPr/>
        </p:nvSpPr>
        <p:spPr>
          <a:xfrm>
            <a:off x="11382360" y="4016411"/>
            <a:ext cx="18288" cy="150528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6"/>
          <p:cNvSpPr/>
          <p:nvPr/>
        </p:nvSpPr>
        <p:spPr>
          <a:xfrm>
            <a:off x="6176955" y="5512186"/>
            <a:ext cx="5214915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6176955" y="4016411"/>
            <a:ext cx="47640" cy="1505285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6415065" y="4225991"/>
            <a:ext cx="2090136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一次只改一個地方</a:t>
            </a:r>
            <a:endParaRPr lang="en-US" sz="1875" dirty="0"/>
          </a:p>
        </p:txBody>
      </p:sp>
      <p:sp>
        <p:nvSpPr>
          <p:cNvPr id="32" name="Text 29"/>
          <p:cNvSpPr txBox="1"/>
          <p:nvPr/>
        </p:nvSpPr>
        <p:spPr>
          <a:xfrm>
            <a:off x="6415065" y="4664080"/>
            <a:ext cx="49674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同時改光線又換背景，你永遠不知道是哪個讓照片變好。</a:t>
            </a:r>
            <a:endParaRPr lang="en-US" sz="1575" dirty="0"/>
          </a:p>
        </p:txBody>
      </p:sp>
      <p:sp>
        <p:nvSpPr>
          <p:cNvPr id="33" name="Text 30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</a:t>
            </a:r>
            <a:endParaRPr lang="en-US" sz="1500" dirty="0"/>
          </a:p>
        </p:txBody>
      </p:sp>
      <p:sp>
        <p:nvSpPr>
          <p:cNvPr id="34" name="Text 31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 / 17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426568"/>
            <a:ext cx="142362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今天不背術語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807507"/>
            <a:ext cx="5354909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聽到這些字，心裡想的是這句話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1639611"/>
            <a:ext cx="171450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800100" y="2163470"/>
            <a:ext cx="171450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952530" y="1773022"/>
            <a:ext cx="116110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聽到這個字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2514600" y="1639611"/>
            <a:ext cx="314325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2514600" y="2163470"/>
            <a:ext cx="314325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667030" y="1773022"/>
            <a:ext cx="1375166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心裡想這句話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657850" y="1639611"/>
            <a:ext cx="5734020" cy="53337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2" name="Shape 9"/>
          <p:cNvSpPr/>
          <p:nvPr/>
        </p:nvSpPr>
        <p:spPr>
          <a:xfrm>
            <a:off x="5657850" y="2163470"/>
            <a:ext cx="573402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810280" y="1773022"/>
            <a:ext cx="20174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9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今天你要會做的動作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800100" y="2173072"/>
            <a:ext cx="17145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5" name="Shape 12"/>
          <p:cNvSpPr/>
          <p:nvPr/>
        </p:nvSpPr>
        <p:spPr>
          <a:xfrm>
            <a:off x="800100" y="2744572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952530" y="2306391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</a:t>
            </a:r>
            <a:endParaRPr lang="en-US" sz="1575" dirty="0"/>
          </a:p>
        </p:txBody>
      </p:sp>
      <p:sp>
        <p:nvSpPr>
          <p:cNvPr id="17" name="Shape 14"/>
          <p:cNvSpPr/>
          <p:nvPr/>
        </p:nvSpPr>
        <p:spPr>
          <a:xfrm>
            <a:off x="2514600" y="2173072"/>
            <a:ext cx="314325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2514600" y="2744572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667030" y="2306391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哪裡要清楚</a:t>
            </a:r>
            <a:endParaRPr lang="en-US" sz="1575" dirty="0"/>
          </a:p>
        </p:txBody>
      </p:sp>
      <p:sp>
        <p:nvSpPr>
          <p:cNvPr id="20" name="Shape 17"/>
          <p:cNvSpPr/>
          <p:nvPr/>
        </p:nvSpPr>
        <p:spPr>
          <a:xfrm>
            <a:off x="5657850" y="2173072"/>
            <a:ext cx="57340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1" name="Shape 18"/>
          <p:cNvSpPr/>
          <p:nvPr/>
        </p:nvSpPr>
        <p:spPr>
          <a:xfrm>
            <a:off x="5657850" y="2744572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5810280" y="2306391"/>
            <a:ext cx="348331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用手指點商品，畫面出現方框就對了</a:t>
            </a:r>
            <a:endParaRPr lang="en-US" sz="1575" dirty="0"/>
          </a:p>
        </p:txBody>
      </p:sp>
      <p:sp>
        <p:nvSpPr>
          <p:cNvPr id="23" name="Shape 20"/>
          <p:cNvSpPr/>
          <p:nvPr/>
        </p:nvSpPr>
        <p:spPr>
          <a:xfrm>
            <a:off x="800100" y="2754081"/>
            <a:ext cx="17145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4" name="Shape 21"/>
          <p:cNvSpPr/>
          <p:nvPr/>
        </p:nvSpPr>
        <p:spPr>
          <a:xfrm>
            <a:off x="800100" y="3325581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952530" y="2887401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曝光</a:t>
            </a:r>
            <a:endParaRPr lang="en-US" sz="1575" dirty="0"/>
          </a:p>
        </p:txBody>
      </p:sp>
      <p:sp>
        <p:nvSpPr>
          <p:cNvPr id="26" name="Shape 23"/>
          <p:cNvSpPr/>
          <p:nvPr/>
        </p:nvSpPr>
        <p:spPr>
          <a:xfrm>
            <a:off x="2514600" y="2754081"/>
            <a:ext cx="314325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27" name="Shape 24"/>
          <p:cNvSpPr/>
          <p:nvPr/>
        </p:nvSpPr>
        <p:spPr>
          <a:xfrm>
            <a:off x="2514600" y="3325581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2667030" y="2887401"/>
            <a:ext cx="136309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太亮還是太暗</a:t>
            </a:r>
            <a:endParaRPr lang="en-US" sz="1575" dirty="0"/>
          </a:p>
        </p:txBody>
      </p:sp>
      <p:sp>
        <p:nvSpPr>
          <p:cNvPr id="29" name="Shape 26"/>
          <p:cNvSpPr/>
          <p:nvPr/>
        </p:nvSpPr>
        <p:spPr>
          <a:xfrm>
            <a:off x="5657850" y="2754081"/>
            <a:ext cx="57340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0" name="Shape 27"/>
          <p:cNvSpPr/>
          <p:nvPr/>
        </p:nvSpPr>
        <p:spPr>
          <a:xfrm>
            <a:off x="5657850" y="3325581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5810280" y="2887401"/>
            <a:ext cx="390741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點完之後按住旁邊的太陽圖示，上下移動</a:t>
            </a:r>
            <a:endParaRPr lang="en-US" sz="1575" dirty="0"/>
          </a:p>
        </p:txBody>
      </p:sp>
      <p:sp>
        <p:nvSpPr>
          <p:cNvPr id="32" name="Shape 29"/>
          <p:cNvSpPr/>
          <p:nvPr/>
        </p:nvSpPr>
        <p:spPr>
          <a:xfrm>
            <a:off x="800100" y="3335091"/>
            <a:ext cx="17145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3" name="Shape 30"/>
          <p:cNvSpPr/>
          <p:nvPr/>
        </p:nvSpPr>
        <p:spPr>
          <a:xfrm>
            <a:off x="800100" y="3906591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952530" y="3468411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75" dirty="0"/>
          </a:p>
        </p:txBody>
      </p:sp>
      <p:sp>
        <p:nvSpPr>
          <p:cNvPr id="35" name="Shape 32"/>
          <p:cNvSpPr/>
          <p:nvPr/>
        </p:nvSpPr>
        <p:spPr>
          <a:xfrm>
            <a:off x="2514600" y="3335091"/>
            <a:ext cx="314325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6" name="Shape 33"/>
          <p:cNvSpPr/>
          <p:nvPr/>
        </p:nvSpPr>
        <p:spPr>
          <a:xfrm>
            <a:off x="2514600" y="3906591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2667030" y="3468411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商品放在哪裡比較舒服</a:t>
            </a:r>
            <a:endParaRPr lang="en-US" sz="1575" dirty="0"/>
          </a:p>
        </p:txBody>
      </p:sp>
      <p:sp>
        <p:nvSpPr>
          <p:cNvPr id="38" name="Shape 35"/>
          <p:cNvSpPr/>
          <p:nvPr/>
        </p:nvSpPr>
        <p:spPr>
          <a:xfrm>
            <a:off x="5657850" y="3335091"/>
            <a:ext cx="57340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39" name="Shape 36"/>
          <p:cNvSpPr/>
          <p:nvPr/>
        </p:nvSpPr>
        <p:spPr>
          <a:xfrm>
            <a:off x="5657850" y="3906591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5810280" y="3468411"/>
            <a:ext cx="348331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打開格線，把商品放在線上或交叉點</a:t>
            </a:r>
            <a:endParaRPr lang="en-US" sz="1575" dirty="0"/>
          </a:p>
        </p:txBody>
      </p:sp>
      <p:sp>
        <p:nvSpPr>
          <p:cNvPr id="41" name="Shape 38"/>
          <p:cNvSpPr/>
          <p:nvPr/>
        </p:nvSpPr>
        <p:spPr>
          <a:xfrm>
            <a:off x="800100" y="3916101"/>
            <a:ext cx="171450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2" name="Shape 39"/>
          <p:cNvSpPr/>
          <p:nvPr/>
        </p:nvSpPr>
        <p:spPr>
          <a:xfrm>
            <a:off x="800100" y="4487601"/>
            <a:ext cx="171450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3" name="Text 40"/>
          <p:cNvSpPr txBox="1"/>
          <p:nvPr/>
        </p:nvSpPr>
        <p:spPr>
          <a:xfrm>
            <a:off x="952530" y="4049420"/>
            <a:ext cx="53154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景深</a:t>
            </a:r>
            <a:endParaRPr lang="en-US" sz="1575" dirty="0"/>
          </a:p>
        </p:txBody>
      </p:sp>
      <p:sp>
        <p:nvSpPr>
          <p:cNvPr id="44" name="Shape 41"/>
          <p:cNvSpPr/>
          <p:nvPr/>
        </p:nvSpPr>
        <p:spPr>
          <a:xfrm>
            <a:off x="2514600" y="3916101"/>
            <a:ext cx="314325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5" name="Shape 42"/>
          <p:cNvSpPr/>
          <p:nvPr/>
        </p:nvSpPr>
        <p:spPr>
          <a:xfrm>
            <a:off x="2514600" y="4487601"/>
            <a:ext cx="314325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2667030" y="4049420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背景是清楚還是模糊</a:t>
            </a:r>
            <a:endParaRPr lang="en-US" sz="1575" dirty="0"/>
          </a:p>
        </p:txBody>
      </p:sp>
      <p:sp>
        <p:nvSpPr>
          <p:cNvPr id="47" name="Shape 44"/>
          <p:cNvSpPr/>
          <p:nvPr/>
        </p:nvSpPr>
        <p:spPr>
          <a:xfrm>
            <a:off x="5657850" y="3916101"/>
            <a:ext cx="5734020" cy="581010"/>
          </a:xfrm>
          <a:prstGeom prst="rect">
            <a:avLst/>
          </a:prstGeom>
          <a:solidFill>
            <a:srgbClr val="FFFFFF">
              <a:alpha val="0"/>
            </a:srgbClr>
          </a:solidFill>
          <a:ln/>
        </p:spPr>
      </p:sp>
      <p:sp>
        <p:nvSpPr>
          <p:cNvPr id="48" name="Shape 45"/>
          <p:cNvSpPr/>
          <p:nvPr/>
        </p:nvSpPr>
        <p:spPr>
          <a:xfrm>
            <a:off x="5657850" y="4487601"/>
            <a:ext cx="5734020" cy="18288"/>
          </a:xfrm>
          <a:prstGeom prst="rect">
            <a:avLst/>
          </a:prstGeom>
          <a:solidFill>
            <a:srgbClr val="241C17">
              <a:alpha val="7000"/>
            </a:srgbClr>
          </a:solidFill>
          <a:ln/>
        </p:spPr>
      </p:sp>
      <p:sp>
        <p:nvSpPr>
          <p:cNvPr id="49" name="Text 46"/>
          <p:cNvSpPr txBox="1"/>
          <p:nvPr/>
        </p:nvSpPr>
        <p:spPr>
          <a:xfrm>
            <a:off x="5810280" y="4049420"/>
            <a:ext cx="305930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離商品近一點，背景自然會糊掉</a:t>
            </a:r>
            <a:endParaRPr lang="en-US" sz="1575" dirty="0"/>
          </a:p>
        </p:txBody>
      </p:sp>
      <p:sp>
        <p:nvSpPr>
          <p:cNvPr id="50" name="Text 47"/>
          <p:cNvSpPr txBox="1"/>
          <p:nvPr/>
        </p:nvSpPr>
        <p:spPr>
          <a:xfrm>
            <a:off x="952530" y="4630522"/>
            <a:ext cx="73152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白平衡</a:t>
            </a:r>
            <a:endParaRPr lang="en-US" sz="1575" dirty="0"/>
          </a:p>
        </p:txBody>
      </p:sp>
      <p:sp>
        <p:nvSpPr>
          <p:cNvPr id="51" name="Text 48"/>
          <p:cNvSpPr txBox="1"/>
          <p:nvPr/>
        </p:nvSpPr>
        <p:spPr>
          <a:xfrm>
            <a:off x="2667030" y="4630522"/>
            <a:ext cx="2211202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顏色有沒有偏黃或偏藍</a:t>
            </a:r>
            <a:endParaRPr lang="en-US" sz="1575" dirty="0"/>
          </a:p>
        </p:txBody>
      </p:sp>
      <p:sp>
        <p:nvSpPr>
          <p:cNvPr id="52" name="Text 49"/>
          <p:cNvSpPr txBox="1"/>
          <p:nvPr/>
        </p:nvSpPr>
        <p:spPr>
          <a:xfrm>
            <a:off x="5810280" y="4630522"/>
            <a:ext cx="384084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拍的時候調不了，</a:t>
            </a:r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下午用修圖救</a:t>
            </a:r>
            <a:endParaRPr lang="en-US" sz="1575" dirty="0"/>
          </a:p>
        </p:txBody>
      </p:sp>
      <p:sp>
        <p:nvSpPr>
          <p:cNvPr id="53" name="Shape 50"/>
          <p:cNvSpPr/>
          <p:nvPr/>
        </p:nvSpPr>
        <p:spPr>
          <a:xfrm>
            <a:off x="800100" y="5230551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F8E6C9"/>
          </a:solidFill>
          <a:ln/>
        </p:spPr>
      </p:sp>
      <p:sp>
        <p:nvSpPr>
          <p:cNvPr id="54" name="Shape 51"/>
          <p:cNvSpPr/>
          <p:nvPr/>
        </p:nvSpPr>
        <p:spPr>
          <a:xfrm>
            <a:off x="800100" y="5230551"/>
            <a:ext cx="47640" cy="1000994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55" name="Image 1" descr="/home/user/gogoeveryday/photo-course/export-pptx/build/img/p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578663"/>
            <a:ext cx="298094" cy="304770"/>
          </a:xfrm>
          <a:prstGeom prst="rect">
            <a:avLst/>
          </a:prstGeom>
        </p:spPr>
      </p:pic>
      <p:sp>
        <p:nvSpPr>
          <p:cNvPr id="56" name="Text 52"/>
          <p:cNvSpPr txBox="1"/>
          <p:nvPr/>
        </p:nvSpPr>
        <p:spPr>
          <a:xfrm>
            <a:off x="1507754" y="5421020"/>
            <a:ext cx="1006964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最後一列要注意：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內建相機沒有白平衡功能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只能換角度或事後修圖；Android 的專業模式才調得到。</a:t>
            </a:r>
            <a:endParaRPr lang="en-US" sz="1575" dirty="0"/>
          </a:p>
        </p:txBody>
      </p:sp>
      <p:sp>
        <p:nvSpPr>
          <p:cNvPr id="57" name="Text 53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</a:t>
            </a:r>
            <a:endParaRPr lang="en-US" sz="1500" dirty="0"/>
          </a:p>
        </p:txBody>
      </p:sp>
      <p:sp>
        <p:nvSpPr>
          <p:cNvPr id="58" name="Text 54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5 / 17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09630" y="587868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今天最重要的一個問題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609630" y="978408"/>
            <a:ext cx="8666135" cy="4858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不要先問「怎麼拍比較好看」，先問</a:t>
            </a:r>
            <a:pPr algn="l" indent="0" marL="0">
              <a:lnSpc>
                <a:spcPts val="3111"/>
              </a:lnSpc>
              <a:buNone/>
            </a:pPr>
            <a:r>
              <a:rPr lang="en-US" sz="2550" b="1" spc="-51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「我想給人什麼感覺」</a:t>
            </a:r>
            <a:endParaRPr lang="en-US" sz="2550" dirty="0"/>
          </a:p>
        </p:txBody>
      </p:sp>
      <p:sp>
        <p:nvSpPr>
          <p:cNvPr id="5" name="Shape 2"/>
          <p:cNvSpPr/>
          <p:nvPr/>
        </p:nvSpPr>
        <p:spPr>
          <a:xfrm>
            <a:off x="647670" y="1563898"/>
            <a:ext cx="2617013" cy="3457621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1716329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C9743F"/>
          </a:solidFill>
          <a:ln/>
        </p:spPr>
      </p:sp>
      <p:pic>
        <p:nvPicPr>
          <p:cNvPr id="7" name="Image 1" descr="/home/user/gogoeveryday/photo-course/export-pptx/build/img/p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1859158"/>
            <a:ext cx="1924080" cy="126681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61970" y="3211739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C9743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溫暖手作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761970" y="360227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1247790" y="360227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761970" y="392606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1247790" y="392606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木質、素色布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761970" y="424994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14" name="Text 10"/>
          <p:cNvSpPr txBox="1"/>
          <p:nvPr/>
        </p:nvSpPr>
        <p:spPr>
          <a:xfrm>
            <a:off x="1247790" y="4249948"/>
            <a:ext cx="5899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45 度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61970" y="457382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1247790" y="4573829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留一點手的動作</a:t>
            </a:r>
            <a:endParaRPr lang="en-US" sz="1500" dirty="0"/>
          </a:p>
        </p:txBody>
      </p:sp>
      <p:sp>
        <p:nvSpPr>
          <p:cNvPr id="17" name="Shape 13"/>
          <p:cNvSpPr/>
          <p:nvPr/>
        </p:nvSpPr>
        <p:spPr>
          <a:xfrm>
            <a:off x="3407603" y="1563898"/>
            <a:ext cx="2617013" cy="3457621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559942" y="1716329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4A7FA5"/>
          </a:solidFill>
          <a:ln/>
        </p:spPr>
      </p:sp>
      <p:pic>
        <p:nvPicPr>
          <p:cNvPr id="19" name="Image 2" descr="/home/user/gogoeveryday/photo-course/export-pptx/build/img/p6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9942" y="1859158"/>
            <a:ext cx="1924080" cy="126681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3521903" y="3211739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乾淨專業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3521903" y="360227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22" name="Text 17"/>
          <p:cNvSpPr txBox="1"/>
          <p:nvPr/>
        </p:nvSpPr>
        <p:spPr>
          <a:xfrm>
            <a:off x="4007632" y="360227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順光</a:t>
            </a:r>
            <a:endParaRPr lang="en-US" sz="1500" dirty="0"/>
          </a:p>
        </p:txBody>
      </p:sp>
      <p:sp>
        <p:nvSpPr>
          <p:cNvPr id="23" name="Text 18"/>
          <p:cNvSpPr txBox="1"/>
          <p:nvPr/>
        </p:nvSpPr>
        <p:spPr>
          <a:xfrm>
            <a:off x="3521903" y="392606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4007632" y="3926068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白或淺灰</a:t>
            </a:r>
            <a:endParaRPr lang="en-US" sz="1500" dirty="0"/>
          </a:p>
        </p:txBody>
      </p:sp>
      <p:sp>
        <p:nvSpPr>
          <p:cNvPr id="25" name="Text 20"/>
          <p:cNvSpPr txBox="1"/>
          <p:nvPr/>
        </p:nvSpPr>
        <p:spPr>
          <a:xfrm>
            <a:off x="3521903" y="424994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4007632" y="4249948"/>
            <a:ext cx="13024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平拍或正俯拍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3521903" y="457382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4007632" y="4573829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置中、不加濾鏡</a:t>
            </a:r>
            <a:endParaRPr lang="en-US" sz="1500" dirty="0"/>
          </a:p>
        </p:txBody>
      </p:sp>
      <p:sp>
        <p:nvSpPr>
          <p:cNvPr id="29" name="Shape 24"/>
          <p:cNvSpPr/>
          <p:nvPr/>
        </p:nvSpPr>
        <p:spPr>
          <a:xfrm>
            <a:off x="6167445" y="1563898"/>
            <a:ext cx="2617013" cy="3457621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6319876" y="1716329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6A9160"/>
          </a:solidFill>
          <a:ln/>
        </p:spPr>
      </p:sp>
      <p:pic>
        <p:nvPicPr>
          <p:cNvPr id="31" name="Image 3" descr="/home/user/gogoeveryday/photo-course/export-pptx/build/img/p6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9876" y="1859158"/>
            <a:ext cx="1924080" cy="1266810"/>
          </a:xfrm>
          <a:prstGeom prst="rect">
            <a:avLst/>
          </a:prstGeom>
        </p:spPr>
      </p:pic>
      <p:sp>
        <p:nvSpPr>
          <p:cNvPr id="32" name="Text 26"/>
          <p:cNvSpPr txBox="1"/>
          <p:nvPr/>
        </p:nvSpPr>
        <p:spPr>
          <a:xfrm>
            <a:off x="6281745" y="3211739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新鮮現做</a:t>
            </a:r>
            <a:endParaRPr lang="en-US" sz="1800" dirty="0"/>
          </a:p>
        </p:txBody>
      </p:sp>
      <p:sp>
        <p:nvSpPr>
          <p:cNvPr id="33" name="Text 27"/>
          <p:cNvSpPr txBox="1"/>
          <p:nvPr/>
        </p:nvSpPr>
        <p:spPr>
          <a:xfrm>
            <a:off x="6281745" y="360227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34" name="Text 28"/>
          <p:cNvSpPr txBox="1"/>
          <p:nvPr/>
        </p:nvSpPr>
        <p:spPr>
          <a:xfrm>
            <a:off x="6767474" y="3602279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窗邊自然光</a:t>
            </a:r>
            <a:endParaRPr lang="en-US" sz="1500" dirty="0"/>
          </a:p>
        </p:txBody>
      </p:sp>
      <p:sp>
        <p:nvSpPr>
          <p:cNvPr id="35" name="Text 29"/>
          <p:cNvSpPr txBox="1"/>
          <p:nvPr/>
        </p:nvSpPr>
        <p:spPr>
          <a:xfrm>
            <a:off x="6281745" y="392606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36" name="Text 30"/>
          <p:cNvSpPr txBox="1"/>
          <p:nvPr/>
        </p:nvSpPr>
        <p:spPr>
          <a:xfrm>
            <a:off x="6767474" y="3926068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有製作痕跡的檯面</a:t>
            </a:r>
            <a:endParaRPr lang="en-US" sz="1500" dirty="0"/>
          </a:p>
        </p:txBody>
      </p:sp>
      <p:sp>
        <p:nvSpPr>
          <p:cNvPr id="37" name="Text 31"/>
          <p:cNvSpPr txBox="1"/>
          <p:nvPr/>
        </p:nvSpPr>
        <p:spPr>
          <a:xfrm>
            <a:off x="6281745" y="424994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38" name="Text 32"/>
          <p:cNvSpPr txBox="1"/>
          <p:nvPr/>
        </p:nvSpPr>
        <p:spPr>
          <a:xfrm>
            <a:off x="6767474" y="4249948"/>
            <a:ext cx="122867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俯拍或 45 度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6281745" y="457382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40" name="Text 34"/>
          <p:cNvSpPr txBox="1"/>
          <p:nvPr/>
        </p:nvSpPr>
        <p:spPr>
          <a:xfrm>
            <a:off x="6767474" y="4573829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加肢體動作</a:t>
            </a:r>
            <a:endParaRPr lang="en-US" sz="1500" dirty="0"/>
          </a:p>
        </p:txBody>
      </p:sp>
      <p:sp>
        <p:nvSpPr>
          <p:cNvPr id="41" name="Shape 35"/>
          <p:cNvSpPr/>
          <p:nvPr/>
        </p:nvSpPr>
        <p:spPr>
          <a:xfrm>
            <a:off x="8927287" y="1563898"/>
            <a:ext cx="2617013" cy="3457621"/>
          </a:xfrm>
          <a:prstGeom prst="roundRect">
            <a:avLst>
              <a:gd name="adj" fmla="val 8735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42" name="Shape 36"/>
          <p:cNvSpPr/>
          <p:nvPr/>
        </p:nvSpPr>
        <p:spPr>
          <a:xfrm>
            <a:off x="9079718" y="1716329"/>
            <a:ext cx="2312152" cy="47640"/>
          </a:xfrm>
          <a:prstGeom prst="roundRect">
            <a:avLst>
              <a:gd name="adj" fmla="val 49904"/>
            </a:avLst>
          </a:prstGeom>
          <a:solidFill>
            <a:srgbClr val="7B5A86"/>
          </a:solidFill>
          <a:ln/>
        </p:spPr>
      </p:sp>
      <p:pic>
        <p:nvPicPr>
          <p:cNvPr id="43" name="Image 4" descr="/home/user/gogoeveryday/photo-course/export-pptx/build/img/p6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9718" y="1859158"/>
            <a:ext cx="1924080" cy="1266810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9041587" y="3211739"/>
            <a:ext cx="1050463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-18" kern="0" dirty="0">
                <a:solidFill>
                  <a:srgbClr val="7B5A86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高級精緻</a:t>
            </a:r>
            <a:endParaRPr lang="en-US" sz="1800" dirty="0"/>
          </a:p>
        </p:txBody>
      </p:sp>
      <p:sp>
        <p:nvSpPr>
          <p:cNvPr id="45" name="Text 38"/>
          <p:cNvSpPr txBox="1"/>
          <p:nvPr/>
        </p:nvSpPr>
        <p:spPr>
          <a:xfrm>
            <a:off x="9041587" y="360227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500" dirty="0"/>
          </a:p>
        </p:txBody>
      </p:sp>
      <p:sp>
        <p:nvSpPr>
          <p:cNvPr id="46" name="Text 39"/>
          <p:cNvSpPr txBox="1"/>
          <p:nvPr/>
        </p:nvSpPr>
        <p:spPr>
          <a:xfrm>
            <a:off x="9527408" y="3602279"/>
            <a:ext cx="110048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側光或逆光</a:t>
            </a:r>
            <a:endParaRPr lang="en-US" sz="1500" dirty="0"/>
          </a:p>
        </p:txBody>
      </p:sp>
      <p:sp>
        <p:nvSpPr>
          <p:cNvPr id="47" name="Text 40"/>
          <p:cNvSpPr txBox="1"/>
          <p:nvPr/>
        </p:nvSpPr>
        <p:spPr>
          <a:xfrm>
            <a:off x="9041587" y="392606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背景</a:t>
            </a:r>
            <a:endParaRPr lang="en-US" sz="1500" dirty="0"/>
          </a:p>
        </p:txBody>
      </p:sp>
      <p:sp>
        <p:nvSpPr>
          <p:cNvPr id="48" name="Text 41"/>
          <p:cNvSpPr txBox="1"/>
          <p:nvPr/>
        </p:nvSpPr>
        <p:spPr>
          <a:xfrm>
            <a:off x="9527408" y="392606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深色</a:t>
            </a:r>
            <a:endParaRPr lang="en-US" sz="1500" dirty="0"/>
          </a:p>
        </p:txBody>
      </p:sp>
      <p:sp>
        <p:nvSpPr>
          <p:cNvPr id="49" name="Text 42"/>
          <p:cNvSpPr txBox="1"/>
          <p:nvPr/>
        </p:nvSpPr>
        <p:spPr>
          <a:xfrm>
            <a:off x="9041587" y="424994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角度</a:t>
            </a:r>
            <a:endParaRPr lang="en-US" sz="1500" dirty="0"/>
          </a:p>
        </p:txBody>
      </p:sp>
      <p:sp>
        <p:nvSpPr>
          <p:cNvPr id="50" name="Text 43"/>
          <p:cNvSpPr txBox="1"/>
          <p:nvPr/>
        </p:nvSpPr>
        <p:spPr>
          <a:xfrm>
            <a:off x="9527408" y="4249948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特寫</a:t>
            </a:r>
            <a:endParaRPr lang="en-US" sz="1500" dirty="0"/>
          </a:p>
        </p:txBody>
      </p:sp>
      <p:sp>
        <p:nvSpPr>
          <p:cNvPr id="51" name="Text 44"/>
          <p:cNvSpPr txBox="1"/>
          <p:nvPr/>
        </p:nvSpPr>
        <p:spPr>
          <a:xfrm>
            <a:off x="9041587" y="4573829"/>
            <a:ext cx="51243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構圖</a:t>
            </a:r>
            <a:endParaRPr lang="en-US" sz="1500" dirty="0"/>
          </a:p>
        </p:txBody>
      </p:sp>
      <p:sp>
        <p:nvSpPr>
          <p:cNvPr id="52" name="Text 45"/>
          <p:cNvSpPr txBox="1"/>
          <p:nvPr/>
        </p:nvSpPr>
        <p:spPr>
          <a:xfrm>
            <a:off x="9527408" y="4573829"/>
            <a:ext cx="89858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5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大量留白</a:t>
            </a:r>
            <a:endParaRPr lang="en-US" sz="1500" dirty="0"/>
          </a:p>
        </p:txBody>
      </p:sp>
      <p:sp>
        <p:nvSpPr>
          <p:cNvPr id="53" name="Shape 46"/>
          <p:cNvSpPr/>
          <p:nvPr/>
        </p:nvSpPr>
        <p:spPr>
          <a:xfrm>
            <a:off x="647670" y="5126218"/>
            <a:ext cx="10896630" cy="905805"/>
          </a:xfrm>
          <a:prstGeom prst="roundRect">
            <a:avLst>
              <a:gd name="adj" fmla="val 18928"/>
            </a:avLst>
          </a:prstGeom>
          <a:solidFill>
            <a:srgbClr val="FBEEE6"/>
          </a:solidFill>
          <a:ln/>
        </p:spPr>
      </p:sp>
      <p:sp>
        <p:nvSpPr>
          <p:cNvPr id="54" name="Shape 47"/>
          <p:cNvSpPr/>
          <p:nvPr/>
        </p:nvSpPr>
        <p:spPr>
          <a:xfrm>
            <a:off x="647670" y="5126218"/>
            <a:ext cx="47640" cy="905805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55" name="Image 5" descr="/home/user/gogoeveryday/photo-course/export-pptx/build/img/p6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3910" y="5426690"/>
            <a:ext cx="274869" cy="304770"/>
          </a:xfrm>
          <a:prstGeom prst="rect">
            <a:avLst/>
          </a:prstGeom>
        </p:spPr>
      </p:pic>
      <p:sp>
        <p:nvSpPr>
          <p:cNvPr id="56" name="Text 48"/>
          <p:cNvSpPr txBox="1"/>
          <p:nvPr/>
        </p:nvSpPr>
        <p:spPr>
          <a:xfrm>
            <a:off x="1313078" y="5269139"/>
            <a:ext cx="10528219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感覺定了，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光線、背景、角度、構圖四件事就都有答案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不用每一項重新猜。今天每一段結束，我們都會回來對一次這張表。</a:t>
            </a:r>
            <a:endParaRPr lang="en-US" sz="1575" dirty="0"/>
          </a:p>
        </p:txBody>
      </p:sp>
      <p:sp>
        <p:nvSpPr>
          <p:cNvPr id="57" name="Text 49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</a:t>
            </a:r>
            <a:endParaRPr lang="en-US" sz="1500" dirty="0"/>
          </a:p>
        </p:txBody>
      </p:sp>
      <p:sp>
        <p:nvSpPr>
          <p:cNvPr id="58" name="Text 50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 / 17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946861"/>
            <a:ext cx="2073219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0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327800"/>
            <a:ext cx="4048689" cy="1036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先不要想太多</a:t>
            </a:r>
            <a:endParaRPr lang="en-US" sz="3000" dirty="0"/>
          </a:p>
          <a:p>
            <a:pPr algn="l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照你平常的方式拍一張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2647920"/>
            <a:ext cx="4735220" cy="697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不用擦鏡頭、不用找地方、不用調任何東西。</a:t>
            </a:r>
            <a:endParaRPr lang="en-US" sz="1725" dirty="0"/>
          </a:p>
          <a:p>
            <a:pPr algn="l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就像你平常拍要放到臉書那樣，拍一張就好。</a:t>
            </a:r>
            <a:endParaRPr lang="en-US" sz="1725" dirty="0"/>
          </a:p>
        </p:txBody>
      </p:sp>
      <p:sp>
        <p:nvSpPr>
          <p:cNvPr id="6" name="Shape 3"/>
          <p:cNvSpPr/>
          <p:nvPr/>
        </p:nvSpPr>
        <p:spPr>
          <a:xfrm>
            <a:off x="800100" y="3519526"/>
            <a:ext cx="5849234" cy="1000994"/>
          </a:xfrm>
          <a:prstGeom prst="roundRect">
            <a:avLst>
              <a:gd name="adj" fmla="val 17128"/>
            </a:avLst>
          </a:prstGeom>
          <a:solidFill>
            <a:srgbClr val="FBEEE6"/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3519526"/>
            <a:ext cx="47640" cy="1000994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8" name="Image 1" descr="/home/user/gogoeveryday/photo-course/export-pptx/build/img/p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3867638"/>
            <a:ext cx="202722" cy="30477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412382" y="3709995"/>
            <a:ext cx="5179527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這張照片千萬不要刪掉。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下午四點我們會把它拿出來， 跟你最後拍的那張並排比較。</a:t>
            </a:r>
            <a:endParaRPr lang="en-US" sz="1575" dirty="0"/>
          </a:p>
        </p:txBody>
      </p:sp>
      <p:sp>
        <p:nvSpPr>
          <p:cNvPr id="10" name="Shape 6"/>
          <p:cNvSpPr/>
          <p:nvPr/>
        </p:nvSpPr>
        <p:spPr>
          <a:xfrm>
            <a:off x="800100" y="4682460"/>
            <a:ext cx="1891162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923910" y="4768139"/>
            <a:ext cx="175226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① 這張哪裡不錯？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2786543" y="4682460"/>
            <a:ext cx="2081632" cy="46671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910352" y="4768139"/>
            <a:ext cx="195416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② 哪裡還可以更好？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800100" y="5244450"/>
            <a:ext cx="3415193" cy="46671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923910" y="5330129"/>
            <a:ext cx="3367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③ 是手機的問題，還是拍法的問題？</a:t>
            </a:r>
            <a:endParaRPr lang="en-US" sz="1500" dirty="0"/>
          </a:p>
        </p:txBody>
      </p:sp>
      <p:pic>
        <p:nvPicPr>
          <p:cNvPr id="16" name="Image 2" descr="/home/user/gogoeveryday/photo-course/export-pptx/build/img/p7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58557" y="1428750"/>
            <a:ext cx="3143250" cy="381003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761970" y="6343650"/>
            <a:ext cx="52779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開場</a:t>
            </a:r>
            <a:endParaRPr lang="en-US" sz="1500" dirty="0"/>
          </a:p>
        </p:txBody>
      </p:sp>
      <p:sp>
        <p:nvSpPr>
          <p:cNvPr id="18" name="Text 13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7 / 17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8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876270" y="925830"/>
            <a:ext cx="1726662" cy="20860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0"/>
              </a:lnSpc>
              <a:buNone/>
            </a:pPr>
            <a:r>
              <a:rPr lang="en-US" sz="11250" b="1" spc="-563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01</a:t>
            </a:r>
            <a:endParaRPr lang="en-US" sz="11250" dirty="0"/>
          </a:p>
        </p:txBody>
      </p:sp>
      <p:sp>
        <p:nvSpPr>
          <p:cNvPr id="4" name="Text 1"/>
          <p:cNvSpPr txBox="1"/>
          <p:nvPr/>
        </p:nvSpPr>
        <p:spPr>
          <a:xfrm>
            <a:off x="876270" y="2735610"/>
            <a:ext cx="2284628" cy="15620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認識你的</a:t>
            </a:r>
            <a:endParaRPr lang="en-US" sz="4200" dirty="0"/>
          </a:p>
          <a:p>
            <a:pPr algn="l" indent="0" marL="0">
              <a:buNone/>
            </a:pPr>
            <a:r>
              <a:rPr lang="en-US" sz="4200" b="1" spc="-126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手機相機</a:t>
            </a:r>
            <a:endParaRPr lang="en-US" sz="4200" dirty="0"/>
          </a:p>
        </p:txBody>
      </p:sp>
      <p:sp>
        <p:nvSpPr>
          <p:cNvPr id="5" name="Text 2"/>
          <p:cNvSpPr txBox="1"/>
          <p:nvPr/>
        </p:nvSpPr>
        <p:spPr>
          <a:xfrm>
            <a:off x="876270" y="4678710"/>
            <a:ext cx="6360749" cy="6933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1725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找得到功能，後面才做得動。這一段不求快，求每個人都跟得上。</a:t>
            </a:r>
            <a:endParaRPr lang="en-US" sz="1725" dirty="0"/>
          </a:p>
        </p:txBody>
      </p:sp>
      <p:pic>
        <p:nvPicPr>
          <p:cNvPr id="6" name="Image 1" descr="/home/user/gogoeveryday/photo-course/export-pptx/build/img/p8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7760" y="2809860"/>
            <a:ext cx="1238280" cy="12382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8 / 17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09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883585"/>
            <a:ext cx="231206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先把心裡的疙瘩解決掉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264615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兩邊的核心功能，其實一樣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096719"/>
            <a:ext cx="5191140" cy="25146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2096719"/>
            <a:ext cx="5191140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7" name="Shape 4"/>
          <p:cNvSpPr/>
          <p:nvPr/>
        </p:nvSpPr>
        <p:spPr>
          <a:xfrm>
            <a:off x="5981730" y="2096719"/>
            <a:ext cx="18288" cy="2514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4601809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2096719"/>
            <a:ext cx="18288" cy="2514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19190" y="2382469"/>
            <a:ext cx="19319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 · iOS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219170" y="2753898"/>
            <a:ext cx="369527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介面各機型幾乎一致，教一次大家都通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219170" y="3177814"/>
            <a:ext cx="263520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內建水平儀，拍俯拍很好用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219170" y="3601639"/>
            <a:ext cx="2978475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沒有白平衡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，顏色只能事後修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219170" y="4025463"/>
            <a:ext cx="284725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有原況照片、方形畫面、全景</a:t>
            </a:r>
            <a:endParaRPr lang="en-US" sz="1575" dirty="0"/>
          </a:p>
        </p:txBody>
      </p:sp>
      <p:sp>
        <p:nvSpPr>
          <p:cNvPr id="15" name="Shape 12"/>
          <p:cNvSpPr/>
          <p:nvPr/>
        </p:nvSpPr>
        <p:spPr>
          <a:xfrm>
            <a:off x="6200821" y="2096719"/>
            <a:ext cx="5191140" cy="251460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00821" y="2096719"/>
            <a:ext cx="5191140" cy="47640"/>
          </a:xfrm>
          <a:prstGeom prst="rect">
            <a:avLst/>
          </a:prstGeom>
          <a:solidFill>
            <a:srgbClr val="6A9160"/>
          </a:solidFill>
          <a:ln/>
        </p:spPr>
      </p:sp>
      <p:sp>
        <p:nvSpPr>
          <p:cNvPr id="17" name="Shape 14"/>
          <p:cNvSpPr/>
          <p:nvPr/>
        </p:nvSpPr>
        <p:spPr>
          <a:xfrm>
            <a:off x="11382360" y="2096719"/>
            <a:ext cx="18288" cy="2514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200821" y="4601809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6200821" y="2096719"/>
            <a:ext cx="18288" cy="251460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419820" y="2382469"/>
            <a:ext cx="441774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6A9160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Android · Samsung／OPPO／小米…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619890" y="2753898"/>
            <a:ext cx="327126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各廠牌介面差很多，位置要自己找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619890" y="3177814"/>
            <a:ext cx="4161069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多半有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專業模式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，可調白平衡、EV、ISO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6619890" y="3601639"/>
            <a:ext cx="329266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格線可能叫「構圖線」或「Grid」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6619890" y="4025463"/>
            <a:ext cx="245635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水平儀有些要另外裝 App</a:t>
            </a:r>
            <a:endParaRPr lang="en-US" sz="1575" dirty="0"/>
          </a:p>
        </p:txBody>
      </p:sp>
      <p:sp>
        <p:nvSpPr>
          <p:cNvPr id="25" name="Shape 22"/>
          <p:cNvSpPr/>
          <p:nvPr/>
        </p:nvSpPr>
        <p:spPr>
          <a:xfrm>
            <a:off x="800100" y="4773259"/>
            <a:ext cx="10591770" cy="1000994"/>
          </a:xfrm>
          <a:prstGeom prst="roundRect">
            <a:avLst>
              <a:gd name="adj" fmla="val 17128"/>
            </a:avLst>
          </a:prstGeom>
          <a:solidFill>
            <a:srgbClr val="DFE8DC"/>
          </a:solidFill>
          <a:ln/>
        </p:spPr>
      </p:sp>
      <p:sp>
        <p:nvSpPr>
          <p:cNvPr id="26" name="Shape 23"/>
          <p:cNvSpPr/>
          <p:nvPr/>
        </p:nvSpPr>
        <p:spPr>
          <a:xfrm>
            <a:off x="800100" y="4773259"/>
            <a:ext cx="47640" cy="1000994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7" name="Image 1" descr="/home/user/gogoeveryday/photo-course/export-pptx/build/img/p9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5121280"/>
            <a:ext cx="260330" cy="30477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469989" y="4963729"/>
            <a:ext cx="10143805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教材原話：「iOS 與 Android 在手機相機內建的功能中，有些微的差別，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但基本上都可以透過下載 App 補足各自缺少的功能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</a:t>
            </a:r>
            <a:endParaRPr lang="en-US" sz="1575" dirty="0"/>
          </a:p>
        </p:txBody>
      </p:sp>
      <p:sp>
        <p:nvSpPr>
          <p:cNvPr id="29" name="Text 25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10810585" y="6343650"/>
            <a:ext cx="6746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9 / 17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196858"/>
            <a:ext cx="34227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介面會一直改版，這六件事不會變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577889"/>
            <a:ext cx="4602907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每支手機都要找得到這六個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409993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6" name="Image 1" descr="/home/user/gogoeveryday/photo-course/export-pptx/build/img/p10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0171" y="2735610"/>
            <a:ext cx="323880" cy="32388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9240" y="2581443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</a:t>
            </a:r>
            <a:endParaRPr lang="en-US" sz="1725" dirty="0"/>
          </a:p>
        </p:txBody>
      </p:sp>
      <p:sp>
        <p:nvSpPr>
          <p:cNvPr id="8" name="Text 4"/>
          <p:cNvSpPr txBox="1"/>
          <p:nvPr/>
        </p:nvSpPr>
        <p:spPr>
          <a:xfrm>
            <a:off x="1419240" y="2943362"/>
            <a:ext cx="17062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點螢幕，出現方框</a:t>
            </a:r>
            <a:endParaRPr lang="en-US" sz="1500" dirty="0"/>
          </a:p>
        </p:txBody>
      </p:sp>
      <p:sp>
        <p:nvSpPr>
          <p:cNvPr id="9" name="Shape 5"/>
          <p:cNvSpPr/>
          <p:nvPr/>
        </p:nvSpPr>
        <p:spPr>
          <a:xfrm>
            <a:off x="4381530" y="2409993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10" name="Image 2" descr="/home/user/gogoeveryday/photo-course/export-pptx/build/img/p10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81510" y="2735610"/>
            <a:ext cx="323880" cy="32388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000671" y="2581443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亮度</a:t>
            </a:r>
            <a:endParaRPr lang="en-US" sz="1725" dirty="0"/>
          </a:p>
        </p:txBody>
      </p:sp>
      <p:sp>
        <p:nvSpPr>
          <p:cNvPr id="12" name="Text 7"/>
          <p:cNvSpPr txBox="1"/>
          <p:nvPr/>
        </p:nvSpPr>
        <p:spPr>
          <a:xfrm>
            <a:off x="5000671" y="2943362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方框旁邊的太陽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7962870" y="2409993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14" name="Image 3" descr="/home/user/gogoeveryday/photo-course/export-pptx/build/img/p10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2940" y="2735610"/>
            <a:ext cx="323880" cy="32388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582010" y="2581443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鏡頭切換</a:t>
            </a:r>
            <a:endParaRPr lang="en-US" sz="1725" dirty="0"/>
          </a:p>
        </p:txBody>
      </p:sp>
      <p:sp>
        <p:nvSpPr>
          <p:cNvPr id="16" name="Text 10"/>
          <p:cNvSpPr txBox="1"/>
          <p:nvPr/>
        </p:nvSpPr>
        <p:spPr>
          <a:xfrm>
            <a:off x="8582010" y="2943362"/>
            <a:ext cx="130082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0.5x／1x／2x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800100" y="3585271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18" name="Image 4" descr="/home/user/gogoeveryday/photo-course/export-pptx/build/img/p10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71" y="3910889"/>
            <a:ext cx="323880" cy="32388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9240" y="3756721"/>
            <a:ext cx="565282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</a:t>
            </a:r>
            <a:endParaRPr lang="en-US" sz="1725" dirty="0"/>
          </a:p>
        </p:txBody>
      </p:sp>
      <p:sp>
        <p:nvSpPr>
          <p:cNvPr id="20" name="Text 13"/>
          <p:cNvSpPr txBox="1"/>
          <p:nvPr/>
        </p:nvSpPr>
        <p:spPr>
          <a:xfrm>
            <a:off x="1419240" y="4118640"/>
            <a:ext cx="150437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設定裡的九宮格</a:t>
            </a:r>
            <a:endParaRPr lang="en-US" sz="1500" dirty="0"/>
          </a:p>
        </p:txBody>
      </p:sp>
      <p:sp>
        <p:nvSpPr>
          <p:cNvPr id="21" name="Shape 14"/>
          <p:cNvSpPr/>
          <p:nvPr/>
        </p:nvSpPr>
        <p:spPr>
          <a:xfrm>
            <a:off x="4381530" y="3585271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22" name="Image 5" descr="/home/user/gogoeveryday/photo-course/export-pptx/build/img/p10-5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1510" y="3910889"/>
            <a:ext cx="323880" cy="32388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5000671" y="3756721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照片比例</a:t>
            </a:r>
            <a:endParaRPr lang="en-US" sz="1725" dirty="0"/>
          </a:p>
        </p:txBody>
      </p:sp>
      <p:sp>
        <p:nvSpPr>
          <p:cNvPr id="24" name="Text 16"/>
          <p:cNvSpPr txBox="1"/>
          <p:nvPr/>
        </p:nvSpPr>
        <p:spPr>
          <a:xfrm>
            <a:off x="5000671" y="4118640"/>
            <a:ext cx="1447770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4:3／1:1／16:9</a:t>
            </a:r>
            <a:endParaRPr lang="en-US" sz="1500" dirty="0"/>
          </a:p>
        </p:txBody>
      </p:sp>
      <p:sp>
        <p:nvSpPr>
          <p:cNvPr id="25" name="Shape 17"/>
          <p:cNvSpPr/>
          <p:nvPr/>
        </p:nvSpPr>
        <p:spPr>
          <a:xfrm>
            <a:off x="7962870" y="3585271"/>
            <a:ext cx="3429000" cy="1022939"/>
          </a:xfrm>
          <a:prstGeom prst="roundRect">
            <a:avLst>
              <a:gd name="adj" fmla="val 22347"/>
            </a:avLst>
          </a:prstGeom>
          <a:solidFill>
            <a:srgbClr val="FFFFFF">
              <a:alpha val="62000"/>
            </a:srgbClr>
          </a:solidFill>
          <a:ln w="9525">
            <a:solidFill>
              <a:srgbClr val="241C17"/>
            </a:solidFill>
            <a:prstDash val="solid"/>
          </a:ln>
        </p:spPr>
      </p:sp>
      <p:pic>
        <p:nvPicPr>
          <p:cNvPr id="26" name="Image 6" descr="/home/user/gogoeveryday/photo-course/export-pptx/build/img/p10-6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2940" y="3910889"/>
            <a:ext cx="323880" cy="32388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8582010" y="3756721"/>
            <a:ext cx="101059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25" b="1" spc="-1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錄影畫質</a:t>
            </a:r>
            <a:endParaRPr lang="en-US" sz="1725" dirty="0"/>
          </a:p>
        </p:txBody>
      </p:sp>
      <p:sp>
        <p:nvSpPr>
          <p:cNvPr id="28" name="Text 19"/>
          <p:cNvSpPr txBox="1"/>
          <p:nvPr/>
        </p:nvSpPr>
        <p:spPr>
          <a:xfrm>
            <a:off x="8582010" y="4118640"/>
            <a:ext cx="1596177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50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1080p／4K、fps</a:t>
            </a:r>
            <a:endParaRPr lang="en-US" sz="1500" dirty="0"/>
          </a:p>
        </p:txBody>
      </p:sp>
      <p:sp>
        <p:nvSpPr>
          <p:cNvPr id="29" name="Shape 20"/>
          <p:cNvSpPr/>
          <p:nvPr/>
        </p:nvSpPr>
        <p:spPr>
          <a:xfrm>
            <a:off x="800100" y="4770059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30" name="Shape 21"/>
          <p:cNvSpPr/>
          <p:nvPr/>
        </p:nvSpPr>
        <p:spPr>
          <a:xfrm>
            <a:off x="800100" y="4770059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31" name="Image 7" descr="/home/user/gogoeveryday/photo-course/export-pptx/build/img/p10-7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95360" y="4963089"/>
            <a:ext cx="304770" cy="30477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1514521" y="4960620"/>
            <a:ext cx="883200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找不到的時候，用手機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設定裡的搜尋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打關鍵字， 例如「格線」「畫質」。這比記位置有用得多。</a:t>
            </a:r>
            <a:endParaRPr lang="en-US" sz="1575" dirty="0"/>
          </a:p>
        </p:txBody>
      </p:sp>
      <p:sp>
        <p:nvSpPr>
          <p:cNvPr id="33" name="Text 23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  <p:sp>
        <p:nvSpPr>
          <p:cNvPr id="34" name="Text 24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 / 17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785470"/>
            <a:ext cx="209004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第一個要打開的設定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166500"/>
            <a:ext cx="294061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格線不是裝飾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是幫你拍直、拍正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2393442"/>
            <a:ext cx="2495580" cy="2101200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952530" y="2555382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1000994" y="2545872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2888772"/>
            <a:ext cx="859353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iPhone</a:t>
            </a:r>
            <a:endParaRPr lang="en-US" sz="165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3246852"/>
            <a:ext cx="2312060" cy="109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設定 → 相機 → 打開「格線」。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同一頁還有水平儀可以一起開。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429000" y="2393442"/>
            <a:ext cx="2495580" cy="2101200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3581430" y="2555382"/>
            <a:ext cx="285750" cy="285750"/>
          </a:xfrm>
          <a:prstGeom prst="roundRect">
            <a:avLst>
              <a:gd name="adj" fmla="val 50000"/>
            </a:avLst>
          </a:prstGeom>
          <a:solidFill>
            <a:srgbClr val="C05F3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629894" y="2545872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43300" y="2888772"/>
            <a:ext cx="962680" cy="323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b="1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Android</a:t>
            </a:r>
            <a:endParaRPr lang="en-US" sz="1650" dirty="0"/>
          </a:p>
        </p:txBody>
      </p:sp>
      <p:sp>
        <p:nvSpPr>
          <p:cNvPr id="14" name="Text 11"/>
          <p:cNvSpPr txBox="1"/>
          <p:nvPr/>
        </p:nvSpPr>
        <p:spPr>
          <a:xfrm>
            <a:off x="3543300" y="3246852"/>
            <a:ext cx="2332634" cy="1095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相機 App → 右上角設定 → 「格線」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或「構圖線」「Grid」。各廠名稱不同。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00100" y="4656491"/>
            <a:ext cx="5124480" cy="1215786"/>
          </a:xfrm>
          <a:prstGeom prst="roundRect">
            <a:avLst>
              <a:gd name="adj" fmla="val 14102"/>
            </a:avLst>
          </a:prstGeom>
          <a:solidFill>
            <a:srgbClr val="F8E6C9"/>
          </a:solidFill>
          <a:ln/>
        </p:spPr>
      </p:sp>
      <p:sp>
        <p:nvSpPr>
          <p:cNvPr id="16" name="Shape 13"/>
          <p:cNvSpPr/>
          <p:nvPr/>
        </p:nvSpPr>
        <p:spPr>
          <a:xfrm>
            <a:off x="800100" y="4656491"/>
            <a:ext cx="47640" cy="1215786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17" name="Image 1" descr="/home/user/gogoeveryday/photo-course/export-pptx/build/img/p11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5121463"/>
            <a:ext cx="132862" cy="28575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1304483" y="4799411"/>
            <a:ext cx="4543471" cy="924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教材 P.21：三分法又叫「九宮格構圖法」，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在手機開啟格線功能後，即可使用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。下午講構圖就是用這條線。</a:t>
            </a:r>
            <a:endParaRPr lang="en-US" sz="1575" dirty="0"/>
          </a:p>
        </p:txBody>
      </p:sp>
      <p:pic>
        <p:nvPicPr>
          <p:cNvPr id="19" name="Image 2" descr="/home/user/gogoeveryday/photo-course/export-pptx/build/img/p11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96230" y="1076157"/>
            <a:ext cx="2266980" cy="451485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11 / 17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4044666" y="1369223"/>
            <a:ext cx="1867845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實作 · 五分鐘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977366" y="1750253"/>
            <a:ext cx="4246656" cy="6001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843"/>
              </a:lnSpc>
              <a:buNone/>
            </a:pPr>
            <a:r>
              <a:rPr lang="en-US" sz="3150" b="1" spc="-63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現在打開格線，拍一張</a:t>
            </a:r>
            <a:endParaRPr lang="en-US" sz="3150" dirty="0"/>
          </a:p>
        </p:txBody>
      </p:sp>
      <p:pic>
        <p:nvPicPr>
          <p:cNvPr id="5" name="Image 1" descr="/home/user/gogoeveryday/photo-course/export-pptx/build/img/p12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9278" y="2628717"/>
            <a:ext cx="2857500" cy="2143171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5863407" y="3443173"/>
            <a:ext cx="474482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70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→</a:t>
            </a:r>
            <a:endParaRPr lang="en-US" sz="2700" dirty="0"/>
          </a:p>
        </p:txBody>
      </p:sp>
      <p:pic>
        <p:nvPicPr>
          <p:cNvPr id="7" name="Image 2" descr="/home/user/gogoeveryday/photo-course/export-pptx/build/img/p12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5100" y="2628717"/>
            <a:ext cx="2857500" cy="2143171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7467448" y="2628717"/>
            <a:ext cx="18288" cy="2143171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9" name="Shape 4"/>
          <p:cNvSpPr/>
          <p:nvPr/>
        </p:nvSpPr>
        <p:spPr>
          <a:xfrm>
            <a:off x="8419795" y="2628717"/>
            <a:ext cx="18288" cy="2143171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0" name="Shape 5"/>
          <p:cNvSpPr/>
          <p:nvPr/>
        </p:nvSpPr>
        <p:spPr>
          <a:xfrm>
            <a:off x="6515100" y="3342955"/>
            <a:ext cx="2857500" cy="18288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1" name="Shape 6"/>
          <p:cNvSpPr/>
          <p:nvPr/>
        </p:nvSpPr>
        <p:spPr>
          <a:xfrm>
            <a:off x="6515100" y="4057376"/>
            <a:ext cx="2857500" cy="18288"/>
          </a:xfrm>
          <a:prstGeom prst="rect">
            <a:avLst/>
          </a:prstGeom>
          <a:solidFill>
            <a:srgbClr val="FFFFFF">
              <a:alpha val="70000"/>
            </a:srgbClr>
          </a:solidFill>
          <a:ln/>
        </p:spPr>
      </p:sp>
      <p:sp>
        <p:nvSpPr>
          <p:cNvPr id="12" name="Text 7"/>
          <p:cNvSpPr txBox="1"/>
          <p:nvPr/>
        </p:nvSpPr>
        <p:spPr>
          <a:xfrm>
            <a:off x="2455987" y="4933828"/>
            <a:ext cx="72895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這一步先不用管好不好看，</a:t>
            </a:r>
            <a:pPr algn="ctr" indent="0" marL="0">
              <a:lnSpc>
                <a:spcPts val="2795"/>
              </a:lnSpc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只要確認你的螢幕上真的看得到那四條線</a:t>
            </a:r>
            <a:pPr algn="ctr" indent="0" marL="0">
              <a:lnSpc>
                <a:spcPts val="2795"/>
              </a:lnSpc>
              <a:buNone/>
            </a:pPr>
            <a:r>
              <a:rPr lang="en-US" sz="172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725" dirty="0"/>
          </a:p>
        </p:txBody>
      </p:sp>
      <p:sp>
        <p:nvSpPr>
          <p:cNvPr id="13" name="Text 8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12 / 17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35994"/>
            <a:ext cx="364479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同一個商品，同一個位置，只換比例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617025"/>
            <a:ext cx="3653028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看畫面裡留下多少東西</a:t>
            </a:r>
            <a:endParaRPr lang="en-US" sz="2700" dirty="0"/>
          </a:p>
        </p:txBody>
      </p:sp>
      <p:pic>
        <p:nvPicPr>
          <p:cNvPr id="5" name="Image 1" descr="/home/user/gogoeveryday/photo-course/export-pptx/build/img/p13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57365" y="2425720"/>
            <a:ext cx="2857500" cy="2143171"/>
          </a:xfrm>
          <a:prstGeom prst="rect">
            <a:avLst/>
          </a:prstGeom>
        </p:spPr>
      </p:pic>
      <p:pic>
        <p:nvPicPr>
          <p:cNvPr id="6" name="Image 2" descr="/home/user/gogoeveryday/photo-course/export-pptx/build/img/p13-2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4445" y="2425720"/>
            <a:ext cx="2143171" cy="2143171"/>
          </a:xfrm>
          <a:prstGeom prst="rect">
            <a:avLst/>
          </a:prstGeom>
        </p:spPr>
      </p:pic>
      <p:pic>
        <p:nvPicPr>
          <p:cNvPr id="7" name="Image 3" descr="/home/user/gogoeveryday/photo-course/export-pptx/build/img/p13-3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7105" y="2959181"/>
            <a:ext cx="2857500" cy="1609710"/>
          </a:xfrm>
          <a:prstGeom prst="rect">
            <a:avLst/>
          </a:prstGeom>
        </p:spPr>
      </p:pic>
      <p:sp>
        <p:nvSpPr>
          <p:cNvPr id="8" name="Shape 2"/>
          <p:cNvSpPr/>
          <p:nvPr/>
        </p:nvSpPr>
        <p:spPr>
          <a:xfrm>
            <a:off x="800100" y="4730831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9" name="Shape 3"/>
          <p:cNvSpPr/>
          <p:nvPr/>
        </p:nvSpPr>
        <p:spPr>
          <a:xfrm>
            <a:off x="800100" y="4730831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10" name="Image 4" descr="/home/user/gogoeveryday/photo-course/export-pptx/build/img/p13-4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5360" y="4923861"/>
            <a:ext cx="304770" cy="304770"/>
          </a:xfrm>
          <a:prstGeom prst="rect">
            <a:avLst/>
          </a:prstGeom>
        </p:spPr>
      </p:pic>
      <p:sp>
        <p:nvSpPr>
          <p:cNvPr id="11" name="Text 4"/>
          <p:cNvSpPr txBox="1"/>
          <p:nvPr/>
        </p:nvSpPr>
        <p:spPr>
          <a:xfrm>
            <a:off x="1514521" y="4921301"/>
            <a:ext cx="734811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比例不是「哪個好看」，是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「畫面裡留下多少東西」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留得多，之後才有得裁。</a:t>
            </a:r>
            <a:endParaRPr lang="en-US" sz="1575" dirty="0"/>
          </a:p>
        </p:txBody>
      </p:sp>
      <p:sp>
        <p:nvSpPr>
          <p:cNvPr id="12" name="Text 5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  <p:sp>
        <p:nvSpPr>
          <p:cNvPr id="13" name="Text 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13 / 17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286195"/>
            <a:ext cx="34227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不知道要用什麼比例時的預設答案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667134"/>
            <a:ext cx="3356762" cy="5429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77"/>
              </a:lnSpc>
              <a:buNone/>
            </a:pPr>
            <a:r>
              <a:rPr lang="en-US" sz="2850" b="1" spc="-57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先用 4:3，三個理由</a:t>
            </a:r>
            <a:endParaRPr lang="en-US" sz="2850" dirty="0"/>
          </a:p>
        </p:txBody>
      </p:sp>
      <p:sp>
        <p:nvSpPr>
          <p:cNvPr id="5" name="Shape 2"/>
          <p:cNvSpPr/>
          <p:nvPr/>
        </p:nvSpPr>
        <p:spPr>
          <a:xfrm>
            <a:off x="800100" y="2499238"/>
            <a:ext cx="3416198" cy="2019635"/>
          </a:xfrm>
          <a:prstGeom prst="roundRect">
            <a:avLst>
              <a:gd name="adj" fmla="val 1131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1019190" y="2737439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C05F3C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1105784" y="276596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981060" y="3204149"/>
            <a:ext cx="1340510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留得最完整</a:t>
            </a:r>
            <a:endParaRPr lang="en-US" sz="1875" dirty="0"/>
          </a:p>
        </p:txBody>
      </p:sp>
      <p:sp>
        <p:nvSpPr>
          <p:cNvPr id="9" name="Text 6"/>
          <p:cNvSpPr txBox="1"/>
          <p:nvPr/>
        </p:nvSpPr>
        <p:spPr>
          <a:xfrm>
            <a:off x="981060" y="3642238"/>
            <a:ext cx="3189061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手機感光元件本來就是 4:3，這是原生比例，不會浪費畫素。</a:t>
            </a:r>
            <a:endParaRPr lang="en-US" sz="1575" dirty="0"/>
          </a:p>
        </p:txBody>
      </p:sp>
      <p:sp>
        <p:nvSpPr>
          <p:cNvPr id="10" name="Shape 7"/>
          <p:cNvSpPr/>
          <p:nvPr/>
        </p:nvSpPr>
        <p:spPr>
          <a:xfrm>
            <a:off x="4387748" y="2499238"/>
            <a:ext cx="3416381" cy="2019635"/>
          </a:xfrm>
          <a:prstGeom prst="roundRect">
            <a:avLst>
              <a:gd name="adj" fmla="val 1131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06839" y="2737439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5F7A63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4693432" y="276596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568708" y="3204149"/>
            <a:ext cx="1090605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之後好裁</a:t>
            </a:r>
            <a:endParaRPr lang="en-US" sz="1875" dirty="0"/>
          </a:p>
        </p:txBody>
      </p:sp>
      <p:sp>
        <p:nvSpPr>
          <p:cNvPr id="14" name="Text 11"/>
          <p:cNvSpPr txBox="1"/>
          <p:nvPr/>
        </p:nvSpPr>
        <p:spPr>
          <a:xfrm>
            <a:off x="4568708" y="3642238"/>
            <a:ext cx="3068178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要發 IG 裁成 1:1、要發限動裁成 9:16，都還有空間。</a:t>
            </a:r>
            <a:endParaRPr lang="en-US" sz="1575" dirty="0"/>
          </a:p>
        </p:txBody>
      </p:sp>
      <p:sp>
        <p:nvSpPr>
          <p:cNvPr id="15" name="Shape 12"/>
          <p:cNvSpPr/>
          <p:nvPr/>
        </p:nvSpPr>
        <p:spPr>
          <a:xfrm>
            <a:off x="7975580" y="2499238"/>
            <a:ext cx="3416198" cy="2019635"/>
          </a:xfrm>
          <a:prstGeom prst="roundRect">
            <a:avLst>
              <a:gd name="adj" fmla="val 11319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8194670" y="2737439"/>
            <a:ext cx="361920" cy="361920"/>
          </a:xfrm>
          <a:prstGeom prst="roundRect">
            <a:avLst>
              <a:gd name="adj" fmla="val 31582"/>
            </a:avLst>
          </a:prstGeom>
          <a:solidFill>
            <a:srgbClr val="D99A4E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8281264" y="2765969"/>
            <a:ext cx="24396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8156539" y="3204149"/>
            <a:ext cx="1090605" cy="36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75" b="1" spc="-19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不會後悔</a:t>
            </a:r>
            <a:endParaRPr lang="en-US" sz="1875" dirty="0"/>
          </a:p>
        </p:txBody>
      </p:sp>
      <p:sp>
        <p:nvSpPr>
          <p:cNvPr id="19" name="Text 16"/>
          <p:cNvSpPr txBox="1"/>
          <p:nvPr/>
        </p:nvSpPr>
        <p:spPr>
          <a:xfrm>
            <a:off x="8156539" y="3642238"/>
            <a:ext cx="2847259" cy="6288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52"/>
              </a:lnSpc>
              <a:buNone/>
            </a:pPr>
            <a:r>
              <a:rPr lang="en-US" sz="1575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拍太滿事後救不回來；留白一點，永遠有退路。</a:t>
            </a:r>
            <a:endParaRPr lang="en-US" sz="1575" dirty="0"/>
          </a:p>
        </p:txBody>
      </p:sp>
      <p:sp>
        <p:nvSpPr>
          <p:cNvPr id="20" name="Shape 17"/>
          <p:cNvSpPr/>
          <p:nvPr/>
        </p:nvSpPr>
        <p:spPr>
          <a:xfrm>
            <a:off x="800100" y="4680814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8E6C9"/>
          </a:solidFill>
          <a:ln/>
        </p:spPr>
      </p:sp>
      <p:sp>
        <p:nvSpPr>
          <p:cNvPr id="21" name="Shape 18"/>
          <p:cNvSpPr/>
          <p:nvPr/>
        </p:nvSpPr>
        <p:spPr>
          <a:xfrm>
            <a:off x="800100" y="4680814"/>
            <a:ext cx="47640" cy="691012"/>
          </a:xfrm>
          <a:prstGeom prst="rect">
            <a:avLst/>
          </a:prstGeom>
          <a:solidFill>
            <a:srgbClr val="D99A4E"/>
          </a:solidFill>
          <a:ln/>
        </p:spPr>
      </p:sp>
      <p:pic>
        <p:nvPicPr>
          <p:cNvPr id="22" name="Image 1" descr="/home/user/gogoeveryday/photo-course/export-pptx/build/img/p14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873843"/>
            <a:ext cx="304770" cy="30477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514521" y="4871283"/>
            <a:ext cx="932441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不要一開始就把所有照片拍成 16:9。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拍得寬，不代表拍得好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，而且事後補不回上下被切掉的部分。</a:t>
            </a:r>
            <a:endParaRPr lang="en-US" sz="1575" dirty="0"/>
          </a:p>
        </p:txBody>
      </p:sp>
      <p:sp>
        <p:nvSpPr>
          <p:cNvPr id="24" name="Text 20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14 / 17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482151"/>
            <a:ext cx="120152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常見的誤會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863181"/>
            <a:ext cx="2584369" cy="93259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畫素高，</a:t>
            </a:r>
            <a:endParaRPr lang="en-US" sz="2700" dirty="0"/>
          </a:p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照片不一定好看</a:t>
            </a:r>
            <a:endParaRPr lang="en-US" sz="2700" dirty="0"/>
          </a:p>
        </p:txBody>
      </p:sp>
      <p:sp>
        <p:nvSpPr>
          <p:cNvPr id="5" name="Text 2"/>
          <p:cNvSpPr txBox="1"/>
          <p:nvPr/>
        </p:nvSpPr>
        <p:spPr>
          <a:xfrm>
            <a:off x="761970" y="3090123"/>
            <a:ext cx="4644512" cy="1002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教材原話：「有些人認為畫素愈高，呈現的畫質就會愈好，</a:t>
            </a:r>
            <a:pPr algn="l" indent="0" marL="0">
              <a:lnSpc>
                <a:spcPts val="2673"/>
              </a:lnSpc>
              <a:buNone/>
            </a:pPr>
            <a:r>
              <a:rPr lang="en-US" sz="1650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其實並不一定</a:t>
            </a:r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。」</a:t>
            </a:r>
            <a:endParaRPr lang="en-US" sz="1650" dirty="0"/>
          </a:p>
          <a:p>
            <a:pPr algn="l" indent="0" marL="0">
              <a:lnSpc>
                <a:spcPts val="2673"/>
              </a:lnSpc>
              <a:buNone/>
            </a:pPr>
            <a:r>
              <a:rPr lang="en-US" sz="1650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決定畫質的是感光元件大小，不是數字。</a:t>
            </a:r>
            <a:endParaRPr lang="en-US" sz="1650" dirty="0"/>
          </a:p>
        </p:txBody>
      </p:sp>
      <p:sp>
        <p:nvSpPr>
          <p:cNvPr id="6" name="Shape 3"/>
          <p:cNvSpPr/>
          <p:nvPr/>
        </p:nvSpPr>
        <p:spPr>
          <a:xfrm>
            <a:off x="800100" y="4270065"/>
            <a:ext cx="4339560" cy="905805"/>
          </a:xfrm>
          <a:prstGeom prst="roundRect">
            <a:avLst>
              <a:gd name="adj" fmla="val 18928"/>
            </a:avLst>
          </a:prstGeom>
          <a:solidFill>
            <a:srgbClr val="DFE8DC"/>
          </a:solidFill>
          <a:ln/>
        </p:spPr>
      </p:sp>
      <p:sp>
        <p:nvSpPr>
          <p:cNvPr id="7" name="Shape 4"/>
          <p:cNvSpPr/>
          <p:nvPr/>
        </p:nvSpPr>
        <p:spPr>
          <a:xfrm>
            <a:off x="800100" y="4270065"/>
            <a:ext cx="47640" cy="905805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8" name="Image 1" descr="/home/user/gogoeveryday/photo-course/export-pptx/build/img/p15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321" y="4580047"/>
            <a:ext cx="217627" cy="28575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89156" y="4412894"/>
            <a:ext cx="3695273" cy="6148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現在的手機，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畫素都夠用了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。今天不用再想這件事。</a:t>
            </a:r>
            <a:endParaRPr lang="en-US" sz="1575" dirty="0"/>
          </a:p>
        </p:txBody>
      </p:sp>
      <p:sp>
        <p:nvSpPr>
          <p:cNvPr id="10" name="Text 6"/>
          <p:cNvSpPr txBox="1"/>
          <p:nvPr/>
        </p:nvSpPr>
        <p:spPr>
          <a:xfrm>
            <a:off x="5482560" y="1519276"/>
            <a:ext cx="270790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spc="12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真正決定照片好壞的四件事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5520599" y="2100285"/>
            <a:ext cx="5871271" cy="619140"/>
          </a:xfrm>
          <a:prstGeom prst="roundRect">
            <a:avLst>
              <a:gd name="adj" fmla="val 21533"/>
            </a:avLst>
          </a:prstGeom>
          <a:solidFill>
            <a:srgbClr val="FFFFFF"/>
          </a:solidFill>
          <a:ln/>
        </p:spPr>
      </p:sp>
      <p:sp>
        <p:nvSpPr>
          <p:cNvPr id="12" name="Shape 8"/>
          <p:cNvSpPr/>
          <p:nvPr/>
        </p:nvSpPr>
        <p:spPr>
          <a:xfrm>
            <a:off x="5520599" y="210028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3" name="Shape 9"/>
          <p:cNvSpPr/>
          <p:nvPr/>
        </p:nvSpPr>
        <p:spPr>
          <a:xfrm>
            <a:off x="11382360" y="2100285"/>
            <a:ext cx="18288" cy="6191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4" name="Shape 10"/>
          <p:cNvSpPr/>
          <p:nvPr/>
        </p:nvSpPr>
        <p:spPr>
          <a:xfrm>
            <a:off x="5520599" y="2709824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5" name="Shape 11"/>
          <p:cNvSpPr/>
          <p:nvPr/>
        </p:nvSpPr>
        <p:spPr>
          <a:xfrm>
            <a:off x="5520599" y="2100285"/>
            <a:ext cx="47640" cy="6191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6" name="Text 12"/>
          <p:cNvSpPr txBox="1"/>
          <p:nvPr/>
        </p:nvSpPr>
        <p:spPr>
          <a:xfrm>
            <a:off x="5701650" y="2233605"/>
            <a:ext cx="58869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光線</a:t>
            </a:r>
            <a:endParaRPr lang="en-US" sz="1800" dirty="0"/>
          </a:p>
        </p:txBody>
      </p:sp>
      <p:sp>
        <p:nvSpPr>
          <p:cNvPr id="17" name="Text 13"/>
          <p:cNvSpPr txBox="1"/>
          <p:nvPr/>
        </p:nvSpPr>
        <p:spPr>
          <a:xfrm>
            <a:off x="6825539" y="2257471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夠不夠、從哪裡來</a:t>
            </a:r>
            <a:endParaRPr lang="en-US" sz="1575" dirty="0"/>
          </a:p>
        </p:txBody>
      </p:sp>
      <p:sp>
        <p:nvSpPr>
          <p:cNvPr id="18" name="Shape 14"/>
          <p:cNvSpPr/>
          <p:nvPr/>
        </p:nvSpPr>
        <p:spPr>
          <a:xfrm>
            <a:off x="5520599" y="2824124"/>
            <a:ext cx="5871271" cy="619140"/>
          </a:xfrm>
          <a:prstGeom prst="roundRect">
            <a:avLst>
              <a:gd name="adj" fmla="val 21533"/>
            </a:avLst>
          </a:prstGeom>
          <a:solidFill>
            <a:srgbClr val="FFFFFF"/>
          </a:solidFill>
          <a:ln/>
        </p:spPr>
      </p:sp>
      <p:sp>
        <p:nvSpPr>
          <p:cNvPr id="19" name="Shape 15"/>
          <p:cNvSpPr/>
          <p:nvPr/>
        </p:nvSpPr>
        <p:spPr>
          <a:xfrm>
            <a:off x="5520599" y="2824124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Shape 16"/>
          <p:cNvSpPr/>
          <p:nvPr/>
        </p:nvSpPr>
        <p:spPr>
          <a:xfrm>
            <a:off x="11382360" y="2824124"/>
            <a:ext cx="18288" cy="6191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1" name="Shape 17"/>
          <p:cNvSpPr/>
          <p:nvPr/>
        </p:nvSpPr>
        <p:spPr>
          <a:xfrm>
            <a:off x="5520599" y="343375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2" name="Shape 18"/>
          <p:cNvSpPr/>
          <p:nvPr/>
        </p:nvSpPr>
        <p:spPr>
          <a:xfrm>
            <a:off x="5520599" y="2824124"/>
            <a:ext cx="47640" cy="619140"/>
          </a:xfrm>
          <a:prstGeom prst="rect">
            <a:avLst/>
          </a:prstGeom>
          <a:solidFill>
            <a:srgbClr val="C05F3C"/>
          </a:solidFill>
          <a:ln/>
        </p:spPr>
      </p:sp>
      <p:sp>
        <p:nvSpPr>
          <p:cNvPr id="23" name="Text 19"/>
          <p:cNvSpPr txBox="1"/>
          <p:nvPr/>
        </p:nvSpPr>
        <p:spPr>
          <a:xfrm>
            <a:off x="5701650" y="2957535"/>
            <a:ext cx="58869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對焦</a:t>
            </a:r>
            <a:endParaRPr lang="en-US" sz="1800" dirty="0"/>
          </a:p>
        </p:txBody>
      </p:sp>
      <p:sp>
        <p:nvSpPr>
          <p:cNvPr id="24" name="Text 20"/>
          <p:cNvSpPr txBox="1"/>
          <p:nvPr/>
        </p:nvSpPr>
        <p:spPr>
          <a:xfrm>
            <a:off x="6825539" y="2981310"/>
            <a:ext cx="178710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有沒有點在商品上</a:t>
            </a:r>
            <a:endParaRPr lang="en-US" sz="1575" dirty="0"/>
          </a:p>
        </p:txBody>
      </p:sp>
      <p:sp>
        <p:nvSpPr>
          <p:cNvPr id="25" name="Shape 21"/>
          <p:cNvSpPr/>
          <p:nvPr/>
        </p:nvSpPr>
        <p:spPr>
          <a:xfrm>
            <a:off x="5520599" y="3548055"/>
            <a:ext cx="5871271" cy="619140"/>
          </a:xfrm>
          <a:prstGeom prst="roundRect">
            <a:avLst>
              <a:gd name="adj" fmla="val 21533"/>
            </a:avLst>
          </a:prstGeom>
          <a:solidFill>
            <a:srgbClr val="FFFFFF"/>
          </a:solidFill>
          <a:ln/>
        </p:spPr>
      </p:sp>
      <p:sp>
        <p:nvSpPr>
          <p:cNvPr id="26" name="Shape 22"/>
          <p:cNvSpPr/>
          <p:nvPr/>
        </p:nvSpPr>
        <p:spPr>
          <a:xfrm>
            <a:off x="5520599" y="354805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7" name="Shape 23"/>
          <p:cNvSpPr/>
          <p:nvPr/>
        </p:nvSpPr>
        <p:spPr>
          <a:xfrm>
            <a:off x="11382360" y="3548055"/>
            <a:ext cx="18288" cy="6191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8" name="Shape 24"/>
          <p:cNvSpPr/>
          <p:nvPr/>
        </p:nvSpPr>
        <p:spPr>
          <a:xfrm>
            <a:off x="5520599" y="415768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9" name="Shape 25"/>
          <p:cNvSpPr/>
          <p:nvPr/>
        </p:nvSpPr>
        <p:spPr>
          <a:xfrm>
            <a:off x="5520599" y="3548055"/>
            <a:ext cx="47640" cy="619140"/>
          </a:xfrm>
          <a:prstGeom prst="rect">
            <a:avLst/>
          </a:prstGeom>
          <a:solidFill>
            <a:srgbClr val="8A5A6D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5701650" y="3681374"/>
            <a:ext cx="588691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8A5A6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手震</a:t>
            </a:r>
            <a:endParaRPr lang="en-US" sz="1800" dirty="0"/>
          </a:p>
        </p:txBody>
      </p:sp>
      <p:sp>
        <p:nvSpPr>
          <p:cNvPr id="31" name="Text 27"/>
          <p:cNvSpPr txBox="1"/>
          <p:nvPr/>
        </p:nvSpPr>
        <p:spPr>
          <a:xfrm>
            <a:off x="6825539" y="3705240"/>
            <a:ext cx="115104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有沒有拿穩</a:t>
            </a:r>
            <a:endParaRPr lang="en-US" sz="1575" dirty="0"/>
          </a:p>
        </p:txBody>
      </p:sp>
      <p:sp>
        <p:nvSpPr>
          <p:cNvPr id="32" name="Shape 28"/>
          <p:cNvSpPr/>
          <p:nvPr/>
        </p:nvSpPr>
        <p:spPr>
          <a:xfrm>
            <a:off x="5520599" y="4271985"/>
            <a:ext cx="5871271" cy="619140"/>
          </a:xfrm>
          <a:prstGeom prst="roundRect">
            <a:avLst>
              <a:gd name="adj" fmla="val 21533"/>
            </a:avLst>
          </a:prstGeom>
          <a:solidFill>
            <a:srgbClr val="FFFFFF"/>
          </a:solidFill>
          <a:ln/>
        </p:spPr>
      </p:sp>
      <p:sp>
        <p:nvSpPr>
          <p:cNvPr id="33" name="Shape 29"/>
          <p:cNvSpPr/>
          <p:nvPr/>
        </p:nvSpPr>
        <p:spPr>
          <a:xfrm>
            <a:off x="5520599" y="4271985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4" name="Shape 30"/>
          <p:cNvSpPr/>
          <p:nvPr/>
        </p:nvSpPr>
        <p:spPr>
          <a:xfrm>
            <a:off x="11382360" y="4271985"/>
            <a:ext cx="18288" cy="619140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5" name="Shape 31"/>
          <p:cNvSpPr/>
          <p:nvPr/>
        </p:nvSpPr>
        <p:spPr>
          <a:xfrm>
            <a:off x="5520599" y="4881524"/>
            <a:ext cx="5871271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36" name="Shape 32"/>
          <p:cNvSpPr/>
          <p:nvPr/>
        </p:nvSpPr>
        <p:spPr>
          <a:xfrm>
            <a:off x="5520599" y="4271985"/>
            <a:ext cx="47640" cy="6191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37" name="Text 33"/>
          <p:cNvSpPr txBox="1"/>
          <p:nvPr/>
        </p:nvSpPr>
        <p:spPr>
          <a:xfrm>
            <a:off x="5701650" y="4405305"/>
            <a:ext cx="1060155" cy="3524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數位變焦</a:t>
            </a:r>
            <a:endParaRPr lang="en-US" sz="1800" dirty="0"/>
          </a:p>
        </p:txBody>
      </p:sp>
      <p:sp>
        <p:nvSpPr>
          <p:cNvPr id="38" name="Text 34"/>
          <p:cNvSpPr txBox="1"/>
          <p:nvPr/>
        </p:nvSpPr>
        <p:spPr>
          <a:xfrm>
            <a:off x="6825539" y="4429171"/>
            <a:ext cx="1999061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有沒有用手指硬放大</a:t>
            </a:r>
            <a:endParaRPr lang="en-US" sz="1575" dirty="0"/>
          </a:p>
        </p:txBody>
      </p:sp>
      <p:sp>
        <p:nvSpPr>
          <p:cNvPr id="39" name="Text 35"/>
          <p:cNvSpPr txBox="1"/>
          <p:nvPr/>
        </p:nvSpPr>
        <p:spPr>
          <a:xfrm>
            <a:off x="5482560" y="5043465"/>
            <a:ext cx="2715951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A6A5D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這四件事，今天全部都會教。</a:t>
            </a:r>
            <a:endParaRPr lang="en-US" sz="1500" dirty="0"/>
          </a:p>
        </p:txBody>
      </p:sp>
      <p:sp>
        <p:nvSpPr>
          <p:cNvPr id="40" name="Text 36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  <p:sp>
        <p:nvSpPr>
          <p:cNvPr id="41" name="Text 37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15 / 17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6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61970" y="1333652"/>
            <a:ext cx="34227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之後要拍製作過程、開箱時會用到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761970" y="1714683"/>
            <a:ext cx="3296869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94"/>
              </a:lnSpc>
              <a:buNone/>
            </a:pPr>
            <a:r>
              <a:rPr lang="en-US" sz="2700" b="1" spc="-54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兩個數字，看懂就好</a:t>
            </a:r>
            <a:endParaRPr lang="en-US" sz="2700" dirty="0"/>
          </a:p>
        </p:txBody>
      </p:sp>
      <p:sp>
        <p:nvSpPr>
          <p:cNvPr id="5" name="Shape 2"/>
          <p:cNvSpPr/>
          <p:nvPr/>
        </p:nvSpPr>
        <p:spPr>
          <a:xfrm>
            <a:off x="800100" y="2523378"/>
            <a:ext cx="5191140" cy="1947855"/>
          </a:xfrm>
          <a:prstGeom prst="roundRect">
            <a:avLst>
              <a:gd name="adj" fmla="val 117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0100" y="2523378"/>
            <a:ext cx="5191140" cy="47640"/>
          </a:xfrm>
          <a:prstGeom prst="rect">
            <a:avLst/>
          </a:prstGeom>
          <a:solidFill>
            <a:srgbClr val="4A7FA5"/>
          </a:solidFill>
          <a:ln/>
        </p:spPr>
      </p:sp>
      <p:sp>
        <p:nvSpPr>
          <p:cNvPr id="7" name="Shape 4"/>
          <p:cNvSpPr/>
          <p:nvPr/>
        </p:nvSpPr>
        <p:spPr>
          <a:xfrm>
            <a:off x="5981730" y="2523378"/>
            <a:ext cx="18288" cy="194785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8" name="Shape 5"/>
          <p:cNvSpPr/>
          <p:nvPr/>
        </p:nvSpPr>
        <p:spPr>
          <a:xfrm>
            <a:off x="800100" y="4461723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800100" y="2523378"/>
            <a:ext cx="18288" cy="194785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1019190" y="2809128"/>
            <a:ext cx="74880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4A7FA5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解析度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1019190" y="3180649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12" name="Text 9"/>
          <p:cNvSpPr txBox="1"/>
          <p:nvPr/>
        </p:nvSpPr>
        <p:spPr>
          <a:xfrm>
            <a:off x="1333470" y="3180649"/>
            <a:ext cx="4120378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發社群完全夠用，檔案小、上傳快</a:t>
            </a:r>
            <a:endParaRPr lang="en-US" sz="1575" dirty="0"/>
          </a:p>
        </p:txBody>
      </p:sp>
      <p:sp>
        <p:nvSpPr>
          <p:cNvPr id="13" name="Text 10"/>
          <p:cNvSpPr txBox="1"/>
          <p:nvPr/>
        </p:nvSpPr>
        <p:spPr>
          <a:xfrm>
            <a:off x="1019190" y="3585454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14" name="Text 11"/>
          <p:cNvSpPr txBox="1"/>
          <p:nvPr/>
        </p:nvSpPr>
        <p:spPr>
          <a:xfrm>
            <a:off x="1333470" y="3585454"/>
            <a:ext cx="3541746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4K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細節多，但檔案大、手機容易滿</a:t>
            </a:r>
            <a:endParaRPr lang="en-US" sz="1575" dirty="0"/>
          </a:p>
        </p:txBody>
      </p:sp>
      <p:sp>
        <p:nvSpPr>
          <p:cNvPr id="15" name="Shape 12"/>
          <p:cNvSpPr/>
          <p:nvPr/>
        </p:nvSpPr>
        <p:spPr>
          <a:xfrm>
            <a:off x="6200821" y="2523378"/>
            <a:ext cx="5191140" cy="1947855"/>
          </a:xfrm>
          <a:prstGeom prst="roundRect">
            <a:avLst>
              <a:gd name="adj" fmla="val 117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6200821" y="2523378"/>
            <a:ext cx="5191140" cy="47640"/>
          </a:xfrm>
          <a:prstGeom prst="rect">
            <a:avLst/>
          </a:prstGeom>
          <a:solidFill>
            <a:srgbClr val="D99A4E"/>
          </a:solidFill>
          <a:ln/>
        </p:spPr>
      </p:sp>
      <p:sp>
        <p:nvSpPr>
          <p:cNvPr id="17" name="Shape 14"/>
          <p:cNvSpPr/>
          <p:nvPr/>
        </p:nvSpPr>
        <p:spPr>
          <a:xfrm>
            <a:off x="11382360" y="2523378"/>
            <a:ext cx="18288" cy="194785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8" name="Shape 15"/>
          <p:cNvSpPr/>
          <p:nvPr/>
        </p:nvSpPr>
        <p:spPr>
          <a:xfrm>
            <a:off x="6200821" y="4461723"/>
            <a:ext cx="5191140" cy="18288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19" name="Shape 16"/>
          <p:cNvSpPr/>
          <p:nvPr/>
        </p:nvSpPr>
        <p:spPr>
          <a:xfrm>
            <a:off x="6200821" y="2523378"/>
            <a:ext cx="18288" cy="1947855"/>
          </a:xfrm>
          <a:prstGeom prst="rect">
            <a:avLst/>
          </a:prstGeom>
          <a:solidFill>
            <a:srgbClr val="241C17">
              <a:alpha val="12000"/>
            </a:srgbClr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419820" y="2809128"/>
            <a:ext cx="137781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20" kern="0" dirty="0">
                <a:solidFill>
                  <a:srgbClr val="D99A4E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每秒格數 fps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419820" y="3180649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5F7A6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22" name="Text 19"/>
          <p:cNvSpPr txBox="1"/>
          <p:nvPr/>
        </p:nvSpPr>
        <p:spPr>
          <a:xfrm>
            <a:off x="6734190" y="3180649"/>
            <a:ext cx="2144634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30fps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一般日常影片</a:t>
            </a:r>
            <a:endParaRPr lang="en-US" sz="1575" dirty="0"/>
          </a:p>
        </p:txBody>
      </p:sp>
      <p:sp>
        <p:nvSpPr>
          <p:cNvPr id="23" name="Text 20"/>
          <p:cNvSpPr txBox="1"/>
          <p:nvPr/>
        </p:nvSpPr>
        <p:spPr>
          <a:xfrm>
            <a:off x="6419820" y="3585454"/>
            <a:ext cx="331470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84"/>
              </a:lnSpc>
              <a:buNone/>
            </a:pPr>
            <a:r>
              <a:rPr lang="en-US" sz="157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●</a:t>
            </a:r>
            <a:endParaRPr lang="en-US" sz="1575" dirty="0"/>
          </a:p>
        </p:txBody>
      </p:sp>
      <p:sp>
        <p:nvSpPr>
          <p:cNvPr id="24" name="Text 21"/>
          <p:cNvSpPr txBox="1"/>
          <p:nvPr/>
        </p:nvSpPr>
        <p:spPr>
          <a:xfrm>
            <a:off x="6734190" y="3585454"/>
            <a:ext cx="4688952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60fps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動作順，適合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倒果醬、撒糖粉、切蛋糕</a:t>
            </a:r>
            <a:pPr algn="l" indent="0" marL="0">
              <a:lnSpc>
                <a:spcPts val="2363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這種畫面</a:t>
            </a:r>
            <a:endParaRPr lang="en-US" sz="1575" dirty="0"/>
          </a:p>
        </p:txBody>
      </p:sp>
      <p:sp>
        <p:nvSpPr>
          <p:cNvPr id="25" name="Shape 22"/>
          <p:cNvSpPr/>
          <p:nvPr/>
        </p:nvSpPr>
        <p:spPr>
          <a:xfrm>
            <a:off x="800100" y="4633173"/>
            <a:ext cx="10591770" cy="691012"/>
          </a:xfrm>
          <a:prstGeom prst="roundRect">
            <a:avLst>
              <a:gd name="adj" fmla="val 24811"/>
            </a:avLst>
          </a:prstGeom>
          <a:solidFill>
            <a:srgbClr val="FBEEE6"/>
          </a:solidFill>
          <a:ln/>
        </p:spPr>
      </p:sp>
      <p:sp>
        <p:nvSpPr>
          <p:cNvPr id="26" name="Shape 23"/>
          <p:cNvSpPr/>
          <p:nvPr/>
        </p:nvSpPr>
        <p:spPr>
          <a:xfrm>
            <a:off x="800100" y="4633173"/>
            <a:ext cx="47640" cy="691012"/>
          </a:xfrm>
          <a:prstGeom prst="rect">
            <a:avLst/>
          </a:prstGeom>
          <a:solidFill>
            <a:srgbClr val="C05F3C"/>
          </a:solidFill>
          <a:ln/>
        </p:spPr>
      </p:sp>
      <p:pic>
        <p:nvPicPr>
          <p:cNvPr id="27" name="Image 1" descr="/home/user/gogoeveryday/photo-course/export-pptx/build/img/p16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5360" y="4826203"/>
            <a:ext cx="304770" cy="30477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1514521" y="4823643"/>
            <a:ext cx="7669713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初學者就設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 / 30fps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 要拍製作過程的動作畫面，再改成 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 / 60fps</a:t>
            </a:r>
            <a:pPr algn="l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。</a:t>
            </a:r>
            <a:endParaRPr lang="en-US" sz="1575" dirty="0"/>
          </a:p>
        </p:txBody>
      </p:sp>
      <p:sp>
        <p:nvSpPr>
          <p:cNvPr id="29" name="Text 25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  <p:sp>
        <p:nvSpPr>
          <p:cNvPr id="30" name="Text 26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16 / 17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B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ogoeveryday/photo-course/export-pptx/build/bg/1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3211647" y="1103224"/>
            <a:ext cx="1622328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spc="150" kern="0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 帶走頁</a:t>
            </a:r>
            <a:endParaRPr lang="en-US" sz="1500" dirty="0"/>
          </a:p>
        </p:txBody>
      </p:sp>
      <p:sp>
        <p:nvSpPr>
          <p:cNvPr id="4" name="Text 1"/>
          <p:cNvSpPr txBox="1"/>
          <p:nvPr/>
        </p:nvSpPr>
        <p:spPr>
          <a:xfrm>
            <a:off x="3086923" y="1484254"/>
            <a:ext cx="6027633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60"/>
              </a:lnSpc>
              <a:buNone/>
            </a:pPr>
            <a:r>
              <a:rPr lang="en-US" sz="3000" b="1" spc="-60" kern="0" dirty="0">
                <a:solidFill>
                  <a:srgbClr val="241C17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設好這五項，今天之後都不用再改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2095530" y="2339584"/>
            <a:ext cx="38576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2276490" y="252054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564892" y="2463394"/>
            <a:ext cx="1251996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格線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打開</a:t>
            </a:r>
            <a:endParaRPr lang="en-US" sz="1725" dirty="0"/>
          </a:p>
        </p:txBody>
      </p:sp>
      <p:sp>
        <p:nvSpPr>
          <p:cNvPr id="8" name="Shape 5"/>
          <p:cNvSpPr/>
          <p:nvPr/>
        </p:nvSpPr>
        <p:spPr>
          <a:xfrm>
            <a:off x="6238860" y="2339584"/>
            <a:ext cx="38576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19820" y="252054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98346" y="2463394"/>
            <a:ext cx="16014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照片比例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4:3</a:t>
            </a:r>
            <a:endParaRPr lang="en-US" sz="1725" dirty="0"/>
          </a:p>
        </p:txBody>
      </p:sp>
      <p:sp>
        <p:nvSpPr>
          <p:cNvPr id="11" name="Shape 8"/>
          <p:cNvSpPr/>
          <p:nvPr/>
        </p:nvSpPr>
        <p:spPr>
          <a:xfrm>
            <a:off x="2095530" y="3063514"/>
            <a:ext cx="38576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276490" y="324447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535174" y="3187324"/>
            <a:ext cx="230419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錄影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1080p / 30fps</a:t>
            </a:r>
            <a:endParaRPr lang="en-US" sz="1725" dirty="0"/>
          </a:p>
        </p:txBody>
      </p:sp>
      <p:sp>
        <p:nvSpPr>
          <p:cNvPr id="14" name="Shape 11"/>
          <p:cNvSpPr/>
          <p:nvPr/>
        </p:nvSpPr>
        <p:spPr>
          <a:xfrm>
            <a:off x="6238860" y="3063514"/>
            <a:ext cx="3857671" cy="590520"/>
          </a:xfrm>
          <a:prstGeom prst="roundRect">
            <a:avLst>
              <a:gd name="adj" fmla="val 22577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6419820" y="3244474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701729" y="3187324"/>
            <a:ext cx="1484254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閃光燈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關閉</a:t>
            </a:r>
            <a:endParaRPr lang="en-US" sz="1725" dirty="0"/>
          </a:p>
        </p:txBody>
      </p:sp>
      <p:sp>
        <p:nvSpPr>
          <p:cNvPr id="17" name="Shape 14"/>
          <p:cNvSpPr/>
          <p:nvPr/>
        </p:nvSpPr>
        <p:spPr>
          <a:xfrm>
            <a:off x="2095530" y="3787353"/>
            <a:ext cx="3857671" cy="914400"/>
          </a:xfrm>
          <a:prstGeom prst="roundRect">
            <a:avLst>
              <a:gd name="adj" fmla="val 14580"/>
            </a:avLst>
          </a:prstGeom>
          <a:solidFill>
            <a:srgbClr val="FFFFFF"/>
          </a:solidFill>
          <a:ln w="9525">
            <a:solidFill>
              <a:srgbClr val="241C17"/>
            </a:solidFill>
            <a:prstDash val="solid"/>
          </a:ln>
          <a:effectLst>
            <a:outerShdw sx="100000" sy="100000" kx="0" ky="0" algn="bl" rotWithShape="0" blurRad="127000" dist="38100" dir="5400000">
              <a:srgbClr val="3C2A1C">
                <a:alpha val="1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2276490" y="4130253"/>
            <a:ext cx="228600" cy="228600"/>
          </a:xfrm>
          <a:prstGeom prst="roundRect">
            <a:avLst>
              <a:gd name="adj" fmla="val 29160"/>
            </a:avLst>
          </a:prstGeom>
          <a:solidFill>
            <a:srgbClr val="C05F3C"/>
          </a:solidFill>
          <a:ln w="19050">
            <a:solidFill>
              <a:srgbClr val="C05F3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610703" y="3911163"/>
            <a:ext cx="3198663" cy="666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2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 上傳畫質 </a:t>
            </a:r>
            <a:pPr algn="ctr" indent="0" marL="0">
              <a:buNone/>
            </a:pPr>
            <a:r>
              <a:rPr lang="en-US" sz="1725" b="1" dirty="0">
                <a:solidFill>
                  <a:srgbClr val="C05F3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最高（社群 App 裡設定）</a:t>
            </a:r>
            <a:endParaRPr lang="en-US" sz="1725" dirty="0"/>
          </a:p>
        </p:txBody>
      </p:sp>
      <p:sp>
        <p:nvSpPr>
          <p:cNvPr id="20" name="Shape 17"/>
          <p:cNvSpPr/>
          <p:nvPr/>
        </p:nvSpPr>
        <p:spPr>
          <a:xfrm>
            <a:off x="2322759" y="4863694"/>
            <a:ext cx="7546360" cy="691012"/>
          </a:xfrm>
          <a:prstGeom prst="roundRect">
            <a:avLst>
              <a:gd name="adj" fmla="val 24811"/>
            </a:avLst>
          </a:prstGeom>
          <a:solidFill>
            <a:srgbClr val="DFE8DC"/>
          </a:solidFill>
          <a:ln/>
        </p:spPr>
      </p:sp>
      <p:sp>
        <p:nvSpPr>
          <p:cNvPr id="21" name="Shape 18"/>
          <p:cNvSpPr/>
          <p:nvPr/>
        </p:nvSpPr>
        <p:spPr>
          <a:xfrm>
            <a:off x="2322759" y="4863694"/>
            <a:ext cx="47640" cy="691012"/>
          </a:xfrm>
          <a:prstGeom prst="rect">
            <a:avLst/>
          </a:prstGeom>
          <a:solidFill>
            <a:srgbClr val="5F7A63"/>
          </a:solidFill>
          <a:ln/>
        </p:spPr>
      </p:sp>
      <p:pic>
        <p:nvPicPr>
          <p:cNvPr id="22" name="Image 1" descr="/home/user/gogoeveryday/photo-course/export-pptx/build/img/p17-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8019" y="5056723"/>
            <a:ext cx="304770" cy="304770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2838206" y="5054163"/>
            <a:ext cx="7029907" cy="304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這五項是一次性的設定。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設完就忘掉它</a:t>
            </a:r>
            <a:pPr algn="ctr" indent="0" marL="0">
              <a:lnSpc>
                <a:spcPts val="2441"/>
              </a:lnSpc>
              <a:buNone/>
            </a:pPr>
            <a:r>
              <a:rPr lang="en-US" sz="1575" b="1" dirty="0">
                <a:solidFill>
                  <a:srgbClr val="4A3C33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， 接下來整天我們只練「怎麼拍」。</a:t>
            </a:r>
            <a:endParaRPr lang="en-US" sz="1575" dirty="0"/>
          </a:p>
        </p:txBody>
      </p:sp>
      <p:sp>
        <p:nvSpPr>
          <p:cNvPr id="24" name="Text 20"/>
          <p:cNvSpPr txBox="1"/>
          <p:nvPr/>
        </p:nvSpPr>
        <p:spPr>
          <a:xfrm>
            <a:off x="761970" y="6343650"/>
            <a:ext cx="817382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PART 1</a:t>
            </a:r>
            <a:endParaRPr lang="en-US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10690616" y="6343650"/>
            <a:ext cx="794614" cy="2952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60" kern="0" dirty="0">
                <a:solidFill>
                  <a:srgbClr val="9C8B7C"/>
                </a:solidFill>
                <a:latin typeface="Noto Sans TC" pitchFamily="34" charset="0"/>
                <a:ea typeface="Noto Sans TC" pitchFamily="34" charset="-122"/>
                <a:cs typeface="Noto Sans TC" pitchFamily="34" charset="-120"/>
              </a:rPr>
              <a:t>17 / 17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手機拍攝商品與影像編修基礎（1）｜09/13</dc:title>
  <dc:subject>PptxGenJS Presentation</dc:subject>
  <dc:creator>PptxGenJS</dc:creator>
  <cp:lastModifiedBy>PptxGenJS</cp:lastModifiedBy>
  <cp:revision>1</cp:revision>
  <dcterms:created xsi:type="dcterms:W3CDTF">2026-09-01T16:25:12Z</dcterms:created>
  <dcterms:modified xsi:type="dcterms:W3CDTF">2026-09-01T16:25:12Z</dcterms:modified>
</cp:coreProperties>
</file>