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</p:sldIdLst>
  <p:notesMasterIdLst>
    <p:notesMasterId r:id="rId4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notesMaster" Target="notesMasters/notesMaster1.xml"/><Relationship Id="rId45" Type="http://schemas.openxmlformats.org/officeDocument/2006/relationships/presProps" Target="presProps.xml"/><Relationship Id="rId46" Type="http://schemas.openxmlformats.org/officeDocument/2006/relationships/viewProps" Target="viewProps.xml"/><Relationship Id="rId47" Type="http://schemas.openxmlformats.org/officeDocument/2006/relationships/theme" Target="theme/theme1.xml"/><Relationship Id="rId4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開場第一句就講清楚：今天不是聽課，是「動手做」。下課時每個人手上會有三個真的帳號。
· 請大家現在就把手機拿出來，整天都會用到。沒有安裝 FB／IG 的，現在先安裝。
【互動提問】
· 問：手機電量夠嗎？沒帶充電線的舉手（教室準備幾條備用）。
【學員實作】
· 確認每人手機能上網、能收簡訊或 Email（等一下註冊帳號會用到）。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強調節奏一致：每個平台都走同樣四步，學員第二、第三次會愈來愈順。
· 提醒：做不完沒關係，講義上有完整步驟，回家可以照著補。
【學員實作】
· 發下三張操作講義（FB／IG／LINE 各一張）。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把「今天會拿到什麼」講得很具體，學員才有安全感。
· 說明：三個平台不一定都要用，但今天都先建起來，之後要用隨時都在。
· 講師手機務必投影，速度放到「最慢的那位跟得上」。
【互動提問】
· 問：三個裡面，你最想學會哪一個？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第一個平台走得最慢，因為學員還在熟悉節奏。後面兩個會快很多。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最重要的一句：粉專是「掛在」個人帳號底下建立的，不用新註冊、不用新 Email。很多人卡在這裡。
· 也要說明：建立粉專不會讓朋友看到，也不會影響個人動態。
【互動提問】
· 問：有人已經有粉專了嗎？（有的話請他當小老師）
【學員實作】
· 請大家先確認自己的個人 Facebook 可以正常登入。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這一頁走非常慢，四個步驟分開示範，每一步都等全班跟上再往下。
· 第 3 步「名稱」最容易卡住：公式＝「做什麼 ＋ 在哪裡」，例如「小芳手作果醬｜台中」。名稱之後可以改，但一段時間內只能改一次，先想好。
· 「類別」選一個接近的就好，之後可以改，不要在這裡卡住。
【互動提問】
· 問：你的粉專要叫什麼？（請 2–3 位念出來，全班聽聽看懂不懂）
【學員實作】
· 全班一起完成四個步驟，建立出自己的粉絲專頁。預計 15 分鐘。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照片不用另外拍，用手機相簿裡現成的就好。今天的目標是「有」，不是「美」。
· 常見卡關：找不到相簿權限。iPhone 要允許「所有照片」，Android 要允許儲存空間權限。
· 封面建議用橫式照片，直式的會被裁掉很多。
【互動提問】
· 問：有人相簿裡沒有商品照嗎？（現場拿桌上任何東西拍一張就好）
【學員實作】
· 換好大頭貼與封面。完成的人舉手，助教過去確認。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「簡介」最重要，別人搜尋時會看到。一句話講清楚：做什麼、在哪裡、什麼時候買得到。
· 電話不想公開可以留空，但一定要留一個聯絡方式——LINE 連結最安全。
· 沒有店面的人，地址填到「區」就好，不用填門牌。
【互動提問】
· 問：你的簡介要怎麼寫？（請一位念出來，全班聽完回答「他在賣什麼」）
【學員實作】
· 四欄填完並儲存。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先讓學員認得介面，等一下講後台才不會迷路。
· 第 ③「按鈕」建議設成「傳送訊息」，客人點一下就能私訊。
· 第 ⑤「專業主頁面板」是這一段後半的重點，先讓大家找到它在哪。
【互動提問】
· 問：五個位置都找到了嗎？找不到的舉手。
【學員實作】
· 請每個人在自己的粉專上指出這五個位置。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休息前一定要做這個確認，否則後面的操作會卡住。
· 沒完成的人記下卡在哪一項，休息時間助教一對一協助。
【互動提問】
· 問：六項都打勾的請舉手。
【學員實作】
· 逐項確認。10:10 休息十分鐘。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第一篇不要求寫得好，重點是「按下發布」這個動作做過一次。
· 常見卡關：打完字找不到「發布」。提醒發布鍵在右上角，沒打字時是灰色的。
· 不敢公開發的人，可以先發一句「測試」，等一下再刪掉。
【學員實作】
· 每個人發出一篇貼文，內容不限。預計 10 分鐘。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「可以改、可以刪」是讓學員敢發文的關鍵，一定要示範給他們看。
· 示範時真的改一次、刪一次，讓他們親眼看到不可怕。
· 回留言要強調：有人留言一定要回，回一句「謝謝」都好。
【互動提問】
· 問：有人發過文之後想改卻不知道怎麼改嗎？
【學員實作】
· 請每個人把剛剛那篇貼文編輯一次，再置頂。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Facebook 介面常改版，位置可能跟投影的不完全一樣。請學員以「找到有數字的那一頁」為目標，不要背路徑。
· 如果現場版本不同，就用學員的手機當範例投影，比照著我的畫面更有用。
· 提醒：粉專剛建立，數據會是 0 或很小，這很正常，重點是知道去哪裡看。
【互動提問】
· 問：找到「專業主頁面板」的請舉手。
【學員實作】
· 全班一起進入洞察報告畫面。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四個數字逐一解釋，用「經過門口 vs 走進來」的比喻，中高齡學員最好懂。
· 重點提醒：不要看到觸及一兩百就沮喪。剛開始的粉專，20 個人看到都算正常。
· 互動率不用講數學，只要說「100 個人看到，有 5 個人按讚就很不錯了」。
【互動提問】
· 問：你現在的觸及是多少？互動是多少？（讓學員念自己的數字，破除比較心態）
【學員實作】
· 在講義上記下今天的四個數字，一個月後回來對照。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這一頁是「看得到後台」跟「會用後台」的分界線。前面教怎麼找數字，這裡教數字要拿來做什麼。
· 最實用的是第三種：找出表現最好的那一篇，然後複製它。不用分析原因，照著再做一次就好。
· 提醒學員：一個月看一次就夠，不要每天看，會焦慮。
【互動提問】
· 問：如果你的貼文都沒什麼人看，你會先改哪一件事？（引導到發文頻率與發文時間）
【學員實作】
· 請學員看自己的貼文成效，找出目前表現最好的一篇。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收尾時強調「步驟都一樣」，降低學員對後面兩個平台的焦慮。
· 沒完成的項目請記在講義上，午休或下課後補。
【互動提問】
· 問：八項都打勾的請舉手。
【學員實作】
· 逐項確認，助教協助補完。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提醒學員：IG 只有不到一半的人用過，這一段會從「怎麼註冊」開始，完全沒用過也跟得上。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這一頁是 IG 段落的關鍵。很多人用了 IG 好幾年，都不知道有「專業帳號」，所以從來沒看過數據。
· 強調三件事：免費、隨時可以切回去、切了之後朋友看不出差別。這樣他們才敢切。
【互動提問】
· 問：有人已經在用 IG 了嗎？知道自己是哪一種帳號嗎？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已經有 IG 的人請他們幫忙旁邊沒有的人，不要讓他們閒著。
· 「使用者名稱」用英文，建議跟粉專名稱有關聯，例如 xiaofang.jam。可以之後再改，不要卡住。
· 常見卡關：簡訊驗證碼沒收到。請他們檢查是否有擋簡訊，或改用 Email 註冊。
【學員實作】
· 沒有帳號的人現在建立。預計 12 分鐘。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六個步驟一步一步等，這是 IG 段最容易走丟的地方。IG 的設定選單層級比較深。
· IG 版本不同，選單文字可能是「帳號類型和工具」或「帳號」。請學員找關鍵字「專業帳號」。
· 切換過程中會問要不要連結 Facebook 粉專——可以連，連了之後發文能同步到 FB，但今天先跳過，不要增加複雜度。
【互動提問】
· 問：切換完成的人，去個人檔案看看，有沒有多出「洞察報告」？
【學員實作】
· 全班完成切換。這是後面看數據的前提，一定要確認每個人都完成。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「名稱」跟「使用者名稱」不一樣，一定要講清楚：名稱可以是中文、可以被搜尋；使用者名稱是英文的 @帳號。
· 個人簡介是唯一可以放連結的地方，所以 LINE 一定要放這裡。IG 貼文內文的網址不能點。
· 沒有 LINE 官方帳號連結的人先空著，下午做完 LINE 再回來補。
【互動提問】
· 問：你的簡介要怎麼寫？（沿用早上 Facebook 那一句就好）
【學員實作】
· 五欄填完並儲存。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IG 跟 FB 最大的差別：所有功能都在最下面那一排，不在右上角的選單。
· 請學員用手指依序點一遍五個按鈕，感受一下每個頁面長什麼樣，再回到個人檔案。
【互動提問】
· 問：五個按鈕都點過一遍了嗎？
【學員實作】
· 依序點過五個按鈕，最後回到個人檔案。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午休前務必確認「已切換專業帳號」這一項，下午才有數據可以看。
· 沒完成的人請留下來，午休前五分鐘一對一處理。
【互動提問】
· 問：五項都打勾的請舉手。
【學員實作】
· 逐項確認。12:00 午休。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請學員午休時拍一張照片，下午發文直接用，省下很多時間。
· 提醒 13:00 準時開始。
【學員實作】
· 午休時拍一張商品照。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用午休拍的照片直接發，不用重拍。
· Hashtag 打「#」之後 IG 會自動跳出建議，選一個就好。今天先放 3–5 個，不用糾結。
· 常見卡關：找不到「分享」按鈕。在右上角，有些版本寫「完成」。
【學員實作】
· 每個人發出一篇 IG 貼文。預計 10 分鐘。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限動跟 Reels 的操作起點都是同一個「＋」，這點要強調，學員才不會覺得又多學了兩個東西。
· Reels 錄影時建議把手機立在桌上，用桌上任何東西錄 5 秒就好，目的是「做過一次」。
· 不用教剪輯、配樂、特效——那是後面的攝影課。
【互動提問】
· 問：限動跟貼文差在哪？（答：限動 24 小時後消失）
【學員實作】
· 每個人發一則限時動態，並錄一支 5 秒的 Reels。預計 12 分鐘。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IG 的洞察入口比 FB 好找，就在個人檔案上方。
· 如果有學員看不到，99% 是沒切換成專業帳號，直接帶他重做。
· 再次提醒：剛建立的帳號數字很小很正常，不要氣餒。
【互動提問】
· 問：找到洞察報告的請舉手。
【學員實作】
· 全班一起進入洞察報告。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跟早上 Facebook 那四個數字對照著講，學員會發現概念一模一樣，只是名稱不同。
· 「儲存」是 IG 特有的，值得多講一句：有人儲存代表他想之後回來看，通常是食譜、教學、商品清單這類內容。
· 「個人檔案造訪」是最接近生意的數字，因為連結（LINE）就放在個人檔案。
【互動提問】
· 問：對照早上 FB 的數字，你覺得哪一個平台的人比較多？
【學員實作】
· 在講義上記下 IG 的四個數字。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三種情況對應三個具體動作，不要講抽象的「要經營」。
· 第三種順勢帶到下一段 LINE：人來了要有地方留下來。這是整天唯一保留的觀念連結。
· 再次提醒：一個月看一次數據就好。
【互動提問】
· 問：你覺得自己會是哪一種情況？
【學員實作】
· 請學員檢查：個人簡介裡有沒有放聯絡方式？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全班 30 人都用 LINE，所以這一段學員最有安全感。但「官方帳號」是另一個 App，要講清楚。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最重要的一句：要另外下載一個 App。很多人以為在原本的 LINE 裡面找，結果找不到。
· 強調免費：個人也可以開，不用公司行號、不用統一編號。
· 用「訊息被家人群組洗掉」這個例子，幾乎每個用私人 LINE 接單的人都遇過。
【互動提問】
· 問：有誰用私人 LINE 在接單？有沒有漏接過客人訊息？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第 1 步最容易卡：App 名稱是「LINE 官方帳號」，圖示是綠底白色對話框，跟一般 LINE 很像但不一樣。請投影 App Store 畫面給大家看。
· 第 2 步登入時會跳回 LINE 授權，按「同意」就好。
· 第 3 步「帳號名稱」建議跟粉專同名，客人才認得出是同一家。
【學員實作】
· 全班完成建立。預計 15 分鐘，這段最容易卡在下載 App。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LINE 後台比 FB、IG 單純，全部功能都在同一頁，這點可以讓學員放心。
· 請學員把五個位置都點一遍，感受一下。
【互動提問】
· 問：五個位置都找到了嗎？
【學員實作】
· 依序點過五個位置。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這是 LINE 官方帳號最實用、最容易看到效果的功能，一定要每個人都設定完成。
· 示範時請一位學員加講師的官方帳號，讓全班看到訊息真的自動跳出來，效果很好。
· 提醒：不要寫太長，也不要一次傳很多則，客人會覺得被騷擾。
【互動提問】
· 問：客人加你好友，你最想跟他說什麼？
【學員實作】
· 每個人寫好並儲存自己的歡迎訊息。完成後兩兩互加好友，測試看看。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群發一定要現場做一次，因為「按下傳送」對很多人是心理門檻。
· 提醒免費方案的則數上限（依 LINE 當期政策，通常是每月數百則），所以不要天天發。一則訊息送給 100 個好友算 100 則。
· 圖文選單不要現場逐步教設定，會吃掉太多時間，讓他們知道有這個功能、大概長什麼樣就好。
【互動提問】
· 問：你第一則群發訊息想跟客人說什麼？
【學員實作】
· 每個人群發一則訊息給自己的好友（現場互加的同學）。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請每個人現在就截圖存到相簿，回家才找得到。
· 實用建議：把 QR Code 存到相簿後，設成「我的最愛」，需要時一秒找到。
· 也可以把 IG 個人簡介的連結換成這個 LINE 網址，把兩個平台串起來。
【互動提問】
· 問：你會把 QR Code 放在哪裡？
【學員實作】
· 截圖存到相簿。有 IG 的人順便把連結貼到 IG 個人簡介。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LINE 的數據最單純，四個數字就夠。
· 「封鎖」這個數字要講清楚：有人封鎖是正常的，1–2 個不用在意。但如果群發一次就被封鎖好幾個，代表發太頻繁或內容不對。
· 「訊息則數」關係到免費額度，要提醒學員留意。
【互動提問】
· 問：現場互加之後，你的好友人數是幾個？
【學員實作】
· 進入「分析」頁面，找到這四個數字。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三個情況都很具體，尤其第二種：很多人一開官方帳號就天天發，好友馬上跑光。
· 「開封率」的意思要解釋：100 個人收到，有幾個人點開來看。
· 最後一句是整天唯一一句「觀念」，但因為前面都做過了，學員這時候會很有感。
【互動提問】
· 問：你打算多久發一次群發訊息？（引導到一個月 1–2 次）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這是今天最重要的一頁。逐項唸出來，讓每個人自己核對。
· 沒完成的一定要留下來處理，不要讓學員帶著半成品回家——回家就不會再動了。
【互動提問】
· 問：十二項全部打勾的請舉手。
【學員實作】
· 逐項確認，助教一對一補完。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給一個做得到的最小承諾：一週 30 分鐘。太高的目標學員回家就放棄了。
· 第 3 點呼應今天的後台教學：看數據不是天天看，是一個月一次，而且只做一個動作——複製表現最好的那一篇。
【互動提問】
· 問：這三件事，你覺得哪一件最難？（多半是「固定」）
【學員實作】
· 請學員在講義上寫下：我打算星期幾發文。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慢慢念完，停三秒再說「今天辛苦了」。
· 這句話的重點是「已經做出來了」——今天全程動手，這是跟一般課程最大的差別。
· 提醒填回饋單，並鼓勵大家互相追蹤、互加 LINE 好友。
【學員實作】
· 發回饋單。鼓勵學員互相追蹤帳號。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講義檔案：handouts.html，用 Chrome 開啟後按 Ctrl/Cmd + P，選 A4 直式列印。
· 建議每張多印幾份，現場一定有人寫錯或弄丟。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image" Target="../media/image-12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jp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jp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image" Target="../media/image-19-4.png"/><Relationship Id="rId5" Type="http://schemas.openxmlformats.org/officeDocument/2006/relationships/image" Target="../media/image-19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jpg"/><Relationship Id="rId2" Type="http://schemas.openxmlformats.org/officeDocument/2006/relationships/image" Target="../media/image-2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jp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g"/><Relationship Id="rId2" Type="http://schemas.openxmlformats.org/officeDocument/2006/relationships/image" Target="../media/image-23-2.png"/><Relationship Id="rId3" Type="http://schemas.openxmlformats.org/officeDocument/2006/relationships/image" Target="../media/image-2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jpg"/><Relationship Id="rId2" Type="http://schemas.openxmlformats.org/officeDocument/2006/relationships/image" Target="../media/image-2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jpg"/><Relationship Id="rId2" Type="http://schemas.openxmlformats.org/officeDocument/2006/relationships/image" Target="../media/image-25-2.png"/><Relationship Id="rId3" Type="http://schemas.openxmlformats.org/officeDocument/2006/relationships/image" Target="../media/image-25-3.png"/><Relationship Id="rId4" Type="http://schemas.openxmlformats.org/officeDocument/2006/relationships/image" Target="../media/image-25-4.png"/><Relationship Id="rId5" Type="http://schemas.openxmlformats.org/officeDocument/2006/relationships/image" Target="../media/image-25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jpg"/><Relationship Id="rId2" Type="http://schemas.openxmlformats.org/officeDocument/2006/relationships/image" Target="../media/image-26-2.png"/><Relationship Id="rId3" Type="http://schemas.openxmlformats.org/officeDocument/2006/relationships/image" Target="../media/image-26-3.png"/><Relationship Id="rId4" Type="http://schemas.openxmlformats.org/officeDocument/2006/relationships/image" Target="../media/image-2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jpg"/><Relationship Id="rId2" Type="http://schemas.openxmlformats.org/officeDocument/2006/relationships/image" Target="../media/image-27-2.png"/><Relationship Id="rId3" Type="http://schemas.openxmlformats.org/officeDocument/2006/relationships/image" Target="../media/image-2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jpg"/><Relationship Id="rId2" Type="http://schemas.openxmlformats.org/officeDocument/2006/relationships/image" Target="../media/image-2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jpg"/><Relationship Id="rId2" Type="http://schemas.openxmlformats.org/officeDocument/2006/relationships/image" Target="../media/image-2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jpg"/><Relationship Id="rId2" Type="http://schemas.openxmlformats.org/officeDocument/2006/relationships/image" Target="../media/image-3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jpg"/><Relationship Id="rId2" Type="http://schemas.openxmlformats.org/officeDocument/2006/relationships/image" Target="../media/image-31-2.png"/><Relationship Id="rId3" Type="http://schemas.openxmlformats.org/officeDocument/2006/relationships/image" Target="../media/image-31-3.png"/><Relationship Id="rId4" Type="http://schemas.openxmlformats.org/officeDocument/2006/relationships/image" Target="../media/image-3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jpg"/><Relationship Id="rId2" Type="http://schemas.openxmlformats.org/officeDocument/2006/relationships/image" Target="../media/image-32-2.png"/><Relationship Id="rId3" Type="http://schemas.openxmlformats.org/officeDocument/2006/relationships/image" Target="../media/image-32-3.png"/><Relationship Id="rId4" Type="http://schemas.openxmlformats.org/officeDocument/2006/relationships/image" Target="../media/image-32-4.png"/><Relationship Id="rId5" Type="http://schemas.openxmlformats.org/officeDocument/2006/relationships/image" Target="../media/image-3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jpg"/><Relationship Id="rId2" Type="http://schemas.openxmlformats.org/officeDocument/2006/relationships/image" Target="../media/image-3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jpg"/><Relationship Id="rId2" Type="http://schemas.openxmlformats.org/officeDocument/2006/relationships/image" Target="../media/image-34-2.png"/><Relationship Id="rId3" Type="http://schemas.openxmlformats.org/officeDocument/2006/relationships/image" Target="../media/image-3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jpg"/><Relationship Id="rId2" Type="http://schemas.openxmlformats.org/officeDocument/2006/relationships/image" Target="../media/image-35-2.png"/><Relationship Id="rId3" Type="http://schemas.openxmlformats.org/officeDocument/2006/relationships/image" Target="../media/image-35-3.png"/><Relationship Id="rId4" Type="http://schemas.openxmlformats.org/officeDocument/2006/relationships/image" Target="../media/image-3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jpg"/><Relationship Id="rId2" Type="http://schemas.openxmlformats.org/officeDocument/2006/relationships/image" Target="../media/image-36-2.png"/><Relationship Id="rId3" Type="http://schemas.openxmlformats.org/officeDocument/2006/relationships/image" Target="../media/image-3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jpg"/><Relationship Id="rId2" Type="http://schemas.openxmlformats.org/officeDocument/2006/relationships/image" Target="../media/image-37-2.png"/><Relationship Id="rId3" Type="http://schemas.openxmlformats.org/officeDocument/2006/relationships/image" Target="../media/image-3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jpg"/><Relationship Id="rId2" Type="http://schemas.openxmlformats.org/officeDocument/2006/relationships/image" Target="../media/image-3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jpg"/><Relationship Id="rId2" Type="http://schemas.openxmlformats.org/officeDocument/2006/relationships/image" Target="../media/image-39-2.png"/><Relationship Id="rId3" Type="http://schemas.openxmlformats.org/officeDocument/2006/relationships/image" Target="../media/image-39-3.png"/><Relationship Id="rId4" Type="http://schemas.openxmlformats.org/officeDocument/2006/relationships/image" Target="../media/image-39-4.png"/><Relationship Id="rId5" Type="http://schemas.openxmlformats.org/officeDocument/2006/relationships/image" Target="../media/image-39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jpg"/><Relationship Id="rId2" Type="http://schemas.openxmlformats.org/officeDocument/2006/relationships/image" Target="../media/image-40-2.png"/><Relationship Id="rId3" Type="http://schemas.openxmlformats.org/officeDocument/2006/relationships/image" Target="../media/image-40-3.png"/><Relationship Id="rId4" Type="http://schemas.openxmlformats.org/officeDocument/2006/relationships/image" Target="../media/image-40-4.png"/><Relationship Id="rId5" Type="http://schemas.openxmlformats.org/officeDocument/2006/relationships/image" Target="../media/image-4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jpg"/><Relationship Id="rId2" Type="http://schemas.openxmlformats.org/officeDocument/2006/relationships/image" Target="../media/image-41-2.png"/><Relationship Id="rId3" Type="http://schemas.openxmlformats.org/officeDocument/2006/relationships/image" Target="../media/image-41-3.png"/><Relationship Id="rId4" Type="http://schemas.openxmlformats.org/officeDocument/2006/relationships/image" Target="../media/image-4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2-1.jpg"/><Relationship Id="rId2" Type="http://schemas.openxmlformats.org/officeDocument/2006/relationships/image" Target="../media/image-4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social-course/export-pptx/build/bg/0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838230" y="1431768"/>
            <a:ext cx="2772644" cy="447690"/>
          </a:xfrm>
          <a:prstGeom prst="roundRect">
            <a:avLst>
              <a:gd name="adj" fmla="val 50000"/>
            </a:avLst>
          </a:prstGeom>
          <a:solidFill>
            <a:srgbClr val="FBEEE6"/>
          </a:solidFill>
          <a:ln/>
        </p:spPr>
      </p:sp>
      <p:sp>
        <p:nvSpPr>
          <p:cNvPr id="4" name="Text 1"/>
          <p:cNvSpPr txBox="1"/>
          <p:nvPr/>
        </p:nvSpPr>
        <p:spPr>
          <a:xfrm>
            <a:off x="971550" y="1507937"/>
            <a:ext cx="266648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50" kern="0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西屯婦女培力 · 一日課程</a:t>
            </a:r>
            <a:endParaRPr lang="en-US" sz="1500" dirty="0"/>
          </a:p>
        </p:txBody>
      </p:sp>
      <p:sp>
        <p:nvSpPr>
          <p:cNvPr id="5" name="Text 2"/>
          <p:cNvSpPr txBox="1"/>
          <p:nvPr/>
        </p:nvSpPr>
        <p:spPr>
          <a:xfrm>
            <a:off x="800100" y="1993666"/>
            <a:ext cx="2960004" cy="18134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105"/>
              </a:lnSpc>
              <a:buNone/>
            </a:pPr>
            <a:r>
              <a:rPr lang="en-US" sz="5550" b="1" spc="-222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社群平台</a:t>
            </a:r>
            <a:endParaRPr lang="en-US" sz="5550" dirty="0"/>
          </a:p>
          <a:p>
            <a:pPr algn="l" indent="0" marL="0">
              <a:lnSpc>
                <a:spcPts val="6105"/>
              </a:lnSpc>
              <a:buNone/>
            </a:pPr>
            <a:r>
              <a:rPr lang="en-US" sz="5550" b="1" spc="-222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操作入門</a:t>
            </a:r>
            <a:endParaRPr lang="en-US" sz="5550" dirty="0"/>
          </a:p>
        </p:txBody>
      </p:sp>
      <p:sp>
        <p:nvSpPr>
          <p:cNvPr id="6" name="Text 3"/>
          <p:cNvSpPr txBox="1"/>
          <p:nvPr/>
        </p:nvSpPr>
        <p:spPr>
          <a:xfrm>
            <a:off x="800100" y="3887114"/>
            <a:ext cx="4028938" cy="7552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22"/>
              </a:lnSpc>
              <a:buNone/>
            </a:pPr>
            <a:r>
              <a:rPr lang="en-US" sz="195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今天不談理論。</a:t>
            </a:r>
            <a:endParaRPr lang="en-US" sz="1950" dirty="0"/>
          </a:p>
          <a:p>
            <a:pPr algn="l" indent="0" marL="0">
              <a:lnSpc>
                <a:spcPts val="3022"/>
              </a:lnSpc>
              <a:buNone/>
            </a:pPr>
            <a:r>
              <a:rPr lang="en-US" sz="195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我們一起把三個帳號</a:t>
            </a:r>
            <a:pPr algn="l" indent="0" marL="0">
              <a:lnSpc>
                <a:spcPts val="3022"/>
              </a:lnSpc>
              <a:buNone/>
            </a:pPr>
            <a:r>
              <a:rPr lang="en-US" sz="195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親手做出來</a:t>
            </a:r>
            <a:pPr algn="l" indent="0" marL="0">
              <a:lnSpc>
                <a:spcPts val="3022"/>
              </a:lnSpc>
              <a:buNone/>
            </a:pPr>
            <a:r>
              <a:rPr lang="en-US" sz="195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。</a:t>
            </a:r>
            <a:endParaRPr lang="en-US" sz="1950" dirty="0"/>
          </a:p>
        </p:txBody>
      </p:sp>
      <p:sp>
        <p:nvSpPr>
          <p:cNvPr id="7" name="Shape 4"/>
          <p:cNvSpPr/>
          <p:nvPr/>
        </p:nvSpPr>
        <p:spPr>
          <a:xfrm>
            <a:off x="838230" y="4978634"/>
            <a:ext cx="2057217" cy="447690"/>
          </a:xfrm>
          <a:prstGeom prst="roundRect">
            <a:avLst>
              <a:gd name="adj" fmla="val 50000"/>
            </a:avLst>
          </a:prstGeom>
          <a:solidFill>
            <a:srgbClr val="EEF4FF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952530" y="5054803"/>
            <a:ext cx="1948495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30" kern="0" dirty="0">
                <a:solidFill>
                  <a:srgbClr val="1877F2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Facebook 粉絲專頁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3028767" y="4978634"/>
            <a:ext cx="1289578" cy="447690"/>
          </a:xfrm>
          <a:prstGeom prst="roundRect">
            <a:avLst>
              <a:gd name="adj" fmla="val 50000"/>
            </a:avLst>
          </a:prstGeom>
          <a:solidFill>
            <a:srgbClr val="FDEEF4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3143067" y="5054803"/>
            <a:ext cx="1134679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30" kern="0" dirty="0">
                <a:solidFill>
                  <a:srgbClr val="E1306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Instagram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4451756" y="4978634"/>
            <a:ext cx="1577249" cy="447690"/>
          </a:xfrm>
          <a:prstGeom prst="roundRect">
            <a:avLst>
              <a:gd name="adj" fmla="val 50000"/>
            </a:avLst>
          </a:prstGeom>
          <a:solidFill>
            <a:srgbClr val="E6F8EE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2" name="Text 9"/>
          <p:cNvSpPr txBox="1"/>
          <p:nvPr/>
        </p:nvSpPr>
        <p:spPr>
          <a:xfrm>
            <a:off x="4566056" y="5054803"/>
            <a:ext cx="1439723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30" kern="0" dirty="0">
                <a:solidFill>
                  <a:srgbClr val="03934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LINE 官方帳號</a:t>
            </a:r>
            <a:endParaRPr lang="en-US" sz="1500" dirty="0"/>
          </a:p>
        </p:txBody>
      </p:sp>
      <p:pic>
        <p:nvPicPr>
          <p:cNvPr id="13" name="Image 1" descr="/home/user/gogoeveryday/social-course/export-pptx/build/img/p1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9469" y="800100"/>
            <a:ext cx="2590770" cy="5257800"/>
          </a:xfrm>
          <a:prstGeom prst="rect">
            <a:avLst/>
          </a:prstGeom>
        </p:spPr>
      </p:pic>
      <p:pic>
        <p:nvPicPr>
          <p:cNvPr id="14" name="Image 2" descr="/home/user/gogoeveryday/social-course/export-pptx/build/img/p1-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66519" y="1466880"/>
            <a:ext cx="552480" cy="552480"/>
          </a:xfrm>
          <a:prstGeom prst="rect">
            <a:avLst/>
          </a:prstGeom>
        </p:spPr>
      </p:pic>
      <p:pic>
        <p:nvPicPr>
          <p:cNvPr id="15" name="Image 3" descr="/home/user/gogoeveryday/social-course/export-pptx/build/img/p1-3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95069" y="3047970"/>
            <a:ext cx="552480" cy="552480"/>
          </a:xfrm>
          <a:prstGeom prst="rect">
            <a:avLst/>
          </a:prstGeom>
        </p:spPr>
      </p:pic>
      <p:pic>
        <p:nvPicPr>
          <p:cNvPr id="16" name="Image 4" descr="/home/user/gogoeveryday/social-course/export-pptx/build/img/p1-4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42688" y="4610130"/>
            <a:ext cx="552480" cy="552480"/>
          </a:xfrm>
          <a:prstGeom prst="rect">
            <a:avLst/>
          </a:prstGeom>
        </p:spPr>
      </p:pic>
      <p:sp>
        <p:nvSpPr>
          <p:cNvPr id="17" name="Text 10"/>
          <p:cNvSpPr txBox="1"/>
          <p:nvPr/>
        </p:nvSpPr>
        <p:spPr>
          <a:xfrm>
            <a:off x="761970" y="6343650"/>
            <a:ext cx="1723553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開場 · 09:00</a:t>
            </a:r>
            <a:endParaRPr lang="en-US" sz="1500" dirty="0"/>
          </a:p>
        </p:txBody>
      </p:sp>
      <p:sp>
        <p:nvSpPr>
          <p:cNvPr id="18" name="Text 11"/>
          <p:cNvSpPr txBox="1"/>
          <p:nvPr/>
        </p:nvSpPr>
        <p:spPr>
          <a:xfrm>
            <a:off x="10810585" y="6343650"/>
            <a:ext cx="674644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 / 42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social-course/export-pptx/build/bg/0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09630" y="241219"/>
            <a:ext cx="2334189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50" kern="0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TODAY 09:00–16:00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609630" y="622249"/>
            <a:ext cx="4602907" cy="5429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77"/>
              </a:lnSpc>
              <a:buNone/>
            </a:pPr>
            <a:r>
              <a:rPr lang="en-US" sz="2850" b="1" spc="-57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三個平台，各約一個半小時</a:t>
            </a:r>
            <a:endParaRPr lang="en-US" sz="2850" dirty="0"/>
          </a:p>
        </p:txBody>
      </p:sp>
      <p:sp>
        <p:nvSpPr>
          <p:cNvPr id="5" name="Text 2"/>
          <p:cNvSpPr txBox="1"/>
          <p:nvPr/>
        </p:nvSpPr>
        <p:spPr>
          <a:xfrm>
            <a:off x="609630" y="1187623"/>
            <a:ext cx="5735665" cy="7477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1875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每一段都是同樣四步：</a:t>
            </a:r>
            <a:pPr algn="l" indent="0" marL="0">
              <a:lnSpc>
                <a:spcPts val="3038"/>
              </a:lnSpc>
              <a:buNone/>
            </a:pPr>
            <a:r>
              <a:rPr lang="en-US" sz="18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建立 → 設定 → 發一次 → 看後台</a:t>
            </a:r>
            <a:pPr algn="l" indent="0" marL="0">
              <a:lnSpc>
                <a:spcPts val="3038"/>
              </a:lnSpc>
              <a:buNone/>
            </a:pPr>
            <a:r>
              <a:rPr lang="en-US" sz="1875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。</a:t>
            </a:r>
            <a:endParaRPr lang="en-US" sz="1875" dirty="0"/>
          </a:p>
        </p:txBody>
      </p:sp>
      <p:sp>
        <p:nvSpPr>
          <p:cNvPr id="6" name="Shape 3"/>
          <p:cNvSpPr/>
          <p:nvPr/>
        </p:nvSpPr>
        <p:spPr>
          <a:xfrm>
            <a:off x="6415705" y="1501993"/>
            <a:ext cx="1499707" cy="447690"/>
          </a:xfrm>
          <a:prstGeom prst="roundRect">
            <a:avLst>
              <a:gd name="adj" fmla="val 50000"/>
            </a:avLst>
          </a:prstGeom>
          <a:solidFill>
            <a:srgbClr val="EEF4FF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6796644" y="1578163"/>
            <a:ext cx="1074786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30" kern="0" dirty="0">
                <a:solidFill>
                  <a:srgbClr val="1877F2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Facebook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8029712" y="1501993"/>
            <a:ext cx="1556309" cy="447690"/>
          </a:xfrm>
          <a:prstGeom prst="roundRect">
            <a:avLst>
              <a:gd name="adj" fmla="val 50000"/>
            </a:avLst>
          </a:prstGeom>
          <a:solidFill>
            <a:srgbClr val="FDEEF4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8410743" y="1578163"/>
            <a:ext cx="1134679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30" kern="0" dirty="0">
                <a:solidFill>
                  <a:srgbClr val="E1306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Instagram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9700321" y="1501993"/>
            <a:ext cx="1843979" cy="447690"/>
          </a:xfrm>
          <a:prstGeom prst="roundRect">
            <a:avLst>
              <a:gd name="adj" fmla="val 50000"/>
            </a:avLst>
          </a:prstGeom>
          <a:solidFill>
            <a:srgbClr val="E6F8EE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10081351" y="1578163"/>
            <a:ext cx="1439723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30" kern="0" dirty="0">
                <a:solidFill>
                  <a:srgbClr val="03934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LINE 官方帳號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714421" y="2149663"/>
            <a:ext cx="758038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5" kern="0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09:00–09:10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1828800" y="2282982"/>
            <a:ext cx="211016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開場：今天要做出什麼</a:t>
            </a:r>
            <a:endParaRPr lang="en-US" sz="1500" dirty="0"/>
          </a:p>
        </p:txBody>
      </p:sp>
      <p:sp>
        <p:nvSpPr>
          <p:cNvPr id="14" name="Text 11"/>
          <p:cNvSpPr txBox="1"/>
          <p:nvPr/>
        </p:nvSpPr>
        <p:spPr>
          <a:xfrm>
            <a:off x="6353160" y="2149663"/>
            <a:ext cx="758038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5" kern="0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09:10–10:10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7467630" y="2282982"/>
            <a:ext cx="3061777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Facebook：建立粉專＋完整設定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647670" y="2835463"/>
            <a:ext cx="5257800" cy="647670"/>
          </a:xfrm>
          <a:prstGeom prst="roundRect">
            <a:avLst>
              <a:gd name="adj" fmla="val 14711"/>
            </a:avLst>
          </a:prstGeom>
          <a:solidFill>
            <a:srgbClr val="F4ECE1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714421" y="2873593"/>
            <a:ext cx="758038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5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10:10–10:20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1828800" y="3006913"/>
            <a:ext cx="51243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休息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6353160" y="2873593"/>
            <a:ext cx="758038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5" kern="0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10:20–11:05</a:t>
            </a:r>
            <a:endParaRPr lang="en-US" sz="1500" dirty="0"/>
          </a:p>
        </p:txBody>
      </p:sp>
      <p:sp>
        <p:nvSpPr>
          <p:cNvPr id="20" name="Text 17"/>
          <p:cNvSpPr txBox="1"/>
          <p:nvPr/>
        </p:nvSpPr>
        <p:spPr>
          <a:xfrm>
            <a:off x="7467630" y="3006913"/>
            <a:ext cx="3061777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Facebook：發文操作＋後台數據</a:t>
            </a:r>
            <a:endParaRPr lang="en-US" sz="1500" dirty="0"/>
          </a:p>
        </p:txBody>
      </p:sp>
      <p:sp>
        <p:nvSpPr>
          <p:cNvPr id="21" name="Text 18"/>
          <p:cNvSpPr txBox="1"/>
          <p:nvPr/>
        </p:nvSpPr>
        <p:spPr>
          <a:xfrm>
            <a:off x="714421" y="3597432"/>
            <a:ext cx="758038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5" kern="0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11:05–12:00</a:t>
            </a:r>
            <a:endParaRPr lang="en-US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1828800" y="3730843"/>
            <a:ext cx="3117647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Instagram：建立＋切換專業帳號</a:t>
            </a:r>
            <a:endParaRPr lang="en-US" sz="1500" dirty="0"/>
          </a:p>
        </p:txBody>
      </p:sp>
      <p:sp>
        <p:nvSpPr>
          <p:cNvPr id="23" name="Shape 20"/>
          <p:cNvSpPr/>
          <p:nvPr/>
        </p:nvSpPr>
        <p:spPr>
          <a:xfrm>
            <a:off x="6286500" y="3559393"/>
            <a:ext cx="5257800" cy="647670"/>
          </a:xfrm>
          <a:prstGeom prst="roundRect">
            <a:avLst>
              <a:gd name="adj" fmla="val 14711"/>
            </a:avLst>
          </a:prstGeom>
          <a:solidFill>
            <a:srgbClr val="F4ECE1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6353160" y="3597432"/>
            <a:ext cx="758038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5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12:00–13:00</a:t>
            </a:r>
            <a:endParaRPr lang="en-US" sz="1500" dirty="0"/>
          </a:p>
        </p:txBody>
      </p:sp>
      <p:sp>
        <p:nvSpPr>
          <p:cNvPr id="25" name="Text 22"/>
          <p:cNvSpPr txBox="1"/>
          <p:nvPr/>
        </p:nvSpPr>
        <p:spPr>
          <a:xfrm>
            <a:off x="7467630" y="3730843"/>
            <a:ext cx="51243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午休</a:t>
            </a:r>
            <a:endParaRPr lang="en-US" sz="1500" dirty="0"/>
          </a:p>
        </p:txBody>
      </p:sp>
      <p:sp>
        <p:nvSpPr>
          <p:cNvPr id="26" name="Text 23"/>
          <p:cNvSpPr txBox="1"/>
          <p:nvPr/>
        </p:nvSpPr>
        <p:spPr>
          <a:xfrm>
            <a:off x="714421" y="4321363"/>
            <a:ext cx="758038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5" kern="0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13:00–13:50</a:t>
            </a:r>
            <a:endParaRPr lang="en-US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1828800" y="4454682"/>
            <a:ext cx="3651108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Instagram：發文、限動、Reels＋洞察</a:t>
            </a:r>
            <a:endParaRPr lang="en-US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6353160" y="4321363"/>
            <a:ext cx="758038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5" kern="0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13:50–14:25</a:t>
            </a:r>
            <a:endParaRPr lang="en-US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7467630" y="4454682"/>
            <a:ext cx="2972897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LINE：建立官方帳號＋基本設定</a:t>
            </a:r>
            <a:endParaRPr lang="en-US" sz="1500" dirty="0"/>
          </a:p>
        </p:txBody>
      </p:sp>
      <p:sp>
        <p:nvSpPr>
          <p:cNvPr id="30" name="Shape 27"/>
          <p:cNvSpPr/>
          <p:nvPr/>
        </p:nvSpPr>
        <p:spPr>
          <a:xfrm>
            <a:off x="647670" y="5007163"/>
            <a:ext cx="5257800" cy="647670"/>
          </a:xfrm>
          <a:prstGeom prst="roundRect">
            <a:avLst>
              <a:gd name="adj" fmla="val 14711"/>
            </a:avLst>
          </a:prstGeom>
          <a:solidFill>
            <a:srgbClr val="F4ECE1"/>
          </a:solidFill>
          <a:ln/>
        </p:spPr>
      </p:sp>
      <p:sp>
        <p:nvSpPr>
          <p:cNvPr id="31" name="Text 28"/>
          <p:cNvSpPr txBox="1"/>
          <p:nvPr/>
        </p:nvSpPr>
        <p:spPr>
          <a:xfrm>
            <a:off x="714421" y="5045293"/>
            <a:ext cx="758038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5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14:25–14:35</a:t>
            </a:r>
            <a:endParaRPr lang="en-US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1828800" y="5178613"/>
            <a:ext cx="51243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休息</a:t>
            </a:r>
            <a:endParaRPr lang="en-US" sz="1500" dirty="0"/>
          </a:p>
        </p:txBody>
      </p:sp>
      <p:sp>
        <p:nvSpPr>
          <p:cNvPr id="33" name="Text 30"/>
          <p:cNvSpPr txBox="1"/>
          <p:nvPr/>
        </p:nvSpPr>
        <p:spPr>
          <a:xfrm>
            <a:off x="6353160" y="5045293"/>
            <a:ext cx="758038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5" kern="0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14:35–15:45</a:t>
            </a:r>
            <a:endParaRPr lang="en-US" sz="1500" dirty="0"/>
          </a:p>
        </p:txBody>
      </p:sp>
      <p:sp>
        <p:nvSpPr>
          <p:cNvPr id="34" name="Text 31"/>
          <p:cNvSpPr txBox="1"/>
          <p:nvPr/>
        </p:nvSpPr>
        <p:spPr>
          <a:xfrm>
            <a:off x="7467630" y="5178613"/>
            <a:ext cx="3174888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LINE：訊息、圖文選單＋後台數據</a:t>
            </a:r>
            <a:endParaRPr lang="en-US" sz="1500" dirty="0"/>
          </a:p>
        </p:txBody>
      </p:sp>
      <p:sp>
        <p:nvSpPr>
          <p:cNvPr id="35" name="Text 32"/>
          <p:cNvSpPr txBox="1"/>
          <p:nvPr/>
        </p:nvSpPr>
        <p:spPr>
          <a:xfrm>
            <a:off x="714421" y="5769132"/>
            <a:ext cx="758038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5" kern="0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15:45–16:00</a:t>
            </a:r>
            <a:endParaRPr lang="en-US" sz="1500" dirty="0"/>
          </a:p>
        </p:txBody>
      </p:sp>
      <p:sp>
        <p:nvSpPr>
          <p:cNvPr id="36" name="Text 33"/>
          <p:cNvSpPr txBox="1"/>
          <p:nvPr/>
        </p:nvSpPr>
        <p:spPr>
          <a:xfrm>
            <a:off x="1828800" y="5902543"/>
            <a:ext cx="150437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三個帳號總檢查</a:t>
            </a:r>
            <a:endParaRPr lang="en-US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761970" y="6343650"/>
            <a:ext cx="1723553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開場 · 09:00</a:t>
            </a:r>
            <a:endParaRPr lang="en-US" sz="1500" dirty="0"/>
          </a:p>
        </p:txBody>
      </p:sp>
      <p:sp>
        <p:nvSpPr>
          <p:cNvPr id="38" name="Text 35"/>
          <p:cNvSpPr txBox="1"/>
          <p:nvPr/>
        </p:nvSpPr>
        <p:spPr>
          <a:xfrm>
            <a:off x="10810585" y="6343650"/>
            <a:ext cx="674644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2 / 42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social-course/export-pptx/build/bg/0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1970" y="909005"/>
            <a:ext cx="120152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50" kern="0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今天的目標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761970" y="1290036"/>
            <a:ext cx="4313956" cy="5429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77"/>
              </a:lnSpc>
              <a:buNone/>
            </a:pPr>
            <a:r>
              <a:rPr lang="en-US" sz="2850" b="1" spc="-57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下課時，你手上會有 ——</a:t>
            </a:r>
            <a:endParaRPr lang="en-US" sz="2850" dirty="0"/>
          </a:p>
        </p:txBody>
      </p:sp>
      <p:sp>
        <p:nvSpPr>
          <p:cNvPr id="5" name="Shape 2"/>
          <p:cNvSpPr/>
          <p:nvPr/>
        </p:nvSpPr>
        <p:spPr>
          <a:xfrm>
            <a:off x="800100" y="2122140"/>
            <a:ext cx="3390870" cy="2759842"/>
          </a:xfrm>
          <a:prstGeom prst="roundRect">
            <a:avLst>
              <a:gd name="adj" fmla="val 8283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809610" y="2131649"/>
            <a:ext cx="3371850" cy="819120"/>
          </a:xfrm>
          <a:prstGeom prst="rect">
            <a:avLst/>
          </a:prstGeom>
          <a:solidFill>
            <a:srgbClr val="EEF4FF"/>
          </a:solidFill>
          <a:ln/>
        </p:spPr>
      </p:sp>
      <p:pic>
        <p:nvPicPr>
          <p:cNvPr id="7" name="Image 1" descr="/home/user/gogoeveryday/social-course/export-pptx/build/img/p3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9190" y="2322210"/>
            <a:ext cx="438180" cy="43818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533540" y="2379360"/>
            <a:ext cx="2047707" cy="323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-17" kern="0" dirty="0">
                <a:solidFill>
                  <a:srgbClr val="1877F2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Facebook 粉絲專頁</a:t>
            </a:r>
            <a:endParaRPr lang="en-US" sz="1650" dirty="0"/>
          </a:p>
        </p:txBody>
      </p:sp>
      <p:sp>
        <p:nvSpPr>
          <p:cNvPr id="9" name="Text 5"/>
          <p:cNvSpPr txBox="1"/>
          <p:nvPr/>
        </p:nvSpPr>
        <p:spPr>
          <a:xfrm>
            <a:off x="981060" y="3112709"/>
            <a:ext cx="276149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84"/>
              </a:lnSpc>
              <a:buNone/>
            </a:pPr>
            <a:r>
              <a:rPr lang="en-US" sz="1575" b="1" dirty="0">
                <a:solidFill>
                  <a:srgbClr val="5F7A6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✓</a:t>
            </a:r>
            <a:endParaRPr lang="en-US" sz="1575" dirty="0"/>
          </a:p>
        </p:txBody>
      </p:sp>
      <p:sp>
        <p:nvSpPr>
          <p:cNvPr id="10" name="Text 6"/>
          <p:cNvSpPr txBox="1"/>
          <p:nvPr/>
        </p:nvSpPr>
        <p:spPr>
          <a:xfrm>
            <a:off x="1240018" y="3112709"/>
            <a:ext cx="130247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已建立並命名</a:t>
            </a:r>
            <a:endParaRPr lang="en-US" sz="1500" dirty="0"/>
          </a:p>
        </p:txBody>
      </p:sp>
      <p:sp>
        <p:nvSpPr>
          <p:cNvPr id="11" name="Text 7"/>
          <p:cNvSpPr txBox="1"/>
          <p:nvPr/>
        </p:nvSpPr>
        <p:spPr>
          <a:xfrm>
            <a:off x="981060" y="3497946"/>
            <a:ext cx="276149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84"/>
              </a:lnSpc>
              <a:buNone/>
            </a:pPr>
            <a:r>
              <a:rPr lang="en-US" sz="1575" b="1" dirty="0">
                <a:solidFill>
                  <a:srgbClr val="5F7A6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✓</a:t>
            </a:r>
            <a:endParaRPr lang="en-US" sz="1575" dirty="0"/>
          </a:p>
        </p:txBody>
      </p:sp>
      <p:sp>
        <p:nvSpPr>
          <p:cNvPr id="12" name="Text 8"/>
          <p:cNvSpPr txBox="1"/>
          <p:nvPr/>
        </p:nvSpPr>
        <p:spPr>
          <a:xfrm>
            <a:off x="1240018" y="3497946"/>
            <a:ext cx="251405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大頭貼、封面、簡介都填好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981060" y="3883091"/>
            <a:ext cx="276149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84"/>
              </a:lnSpc>
              <a:buNone/>
            </a:pPr>
            <a:r>
              <a:rPr lang="en-US" sz="1575" b="1" dirty="0">
                <a:solidFill>
                  <a:srgbClr val="5F7A6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✓</a:t>
            </a:r>
            <a:endParaRPr lang="en-US" sz="1575" dirty="0"/>
          </a:p>
        </p:txBody>
      </p:sp>
      <p:sp>
        <p:nvSpPr>
          <p:cNvPr id="14" name="Text 10"/>
          <p:cNvSpPr txBox="1"/>
          <p:nvPr/>
        </p:nvSpPr>
        <p:spPr>
          <a:xfrm>
            <a:off x="1240018" y="3883091"/>
            <a:ext cx="130247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發過一篇貼文</a:t>
            </a:r>
            <a:endParaRPr lang="en-US" sz="1500" dirty="0"/>
          </a:p>
        </p:txBody>
      </p:sp>
      <p:sp>
        <p:nvSpPr>
          <p:cNvPr id="15" name="Text 11"/>
          <p:cNvSpPr txBox="1"/>
          <p:nvPr/>
        </p:nvSpPr>
        <p:spPr>
          <a:xfrm>
            <a:off x="981060" y="4268236"/>
            <a:ext cx="276149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84"/>
              </a:lnSpc>
              <a:buNone/>
            </a:pPr>
            <a:r>
              <a:rPr lang="en-US" sz="1575" b="1" dirty="0">
                <a:solidFill>
                  <a:srgbClr val="5F7A6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✓</a:t>
            </a:r>
            <a:endParaRPr lang="en-US" sz="1575" dirty="0"/>
          </a:p>
        </p:txBody>
      </p:sp>
      <p:sp>
        <p:nvSpPr>
          <p:cNvPr id="16" name="Text 12"/>
          <p:cNvSpPr txBox="1"/>
          <p:nvPr/>
        </p:nvSpPr>
        <p:spPr>
          <a:xfrm>
            <a:off x="1240018" y="4268236"/>
            <a:ext cx="150437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看得懂洞察報告</a:t>
            </a:r>
            <a:endParaRPr lang="en-US" sz="1500" dirty="0"/>
          </a:p>
        </p:txBody>
      </p:sp>
      <p:sp>
        <p:nvSpPr>
          <p:cNvPr id="17" name="Shape 13"/>
          <p:cNvSpPr/>
          <p:nvPr/>
        </p:nvSpPr>
        <p:spPr>
          <a:xfrm>
            <a:off x="4400550" y="2122140"/>
            <a:ext cx="3390870" cy="2759842"/>
          </a:xfrm>
          <a:prstGeom prst="roundRect">
            <a:avLst>
              <a:gd name="adj" fmla="val 8283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4410060" y="2131649"/>
            <a:ext cx="3371850" cy="819120"/>
          </a:xfrm>
          <a:prstGeom prst="rect">
            <a:avLst/>
          </a:prstGeom>
          <a:solidFill>
            <a:srgbClr val="FDEEF4"/>
          </a:solidFill>
          <a:ln/>
        </p:spPr>
      </p:sp>
      <p:pic>
        <p:nvPicPr>
          <p:cNvPr id="19" name="Image 2" descr="/home/user/gogoeveryday/social-course/export-pptx/build/img/p3-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19640" y="2322210"/>
            <a:ext cx="438180" cy="438180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5133990" y="2379360"/>
            <a:ext cx="2106960" cy="323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-17" kern="0" dirty="0">
                <a:solidFill>
                  <a:srgbClr val="E1306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Instagram 專業帳號</a:t>
            </a:r>
            <a:endParaRPr lang="en-US" sz="1650" dirty="0"/>
          </a:p>
        </p:txBody>
      </p:sp>
      <p:sp>
        <p:nvSpPr>
          <p:cNvPr id="21" name="Text 16"/>
          <p:cNvSpPr txBox="1"/>
          <p:nvPr/>
        </p:nvSpPr>
        <p:spPr>
          <a:xfrm>
            <a:off x="4581510" y="3112709"/>
            <a:ext cx="276149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84"/>
              </a:lnSpc>
              <a:buNone/>
            </a:pPr>
            <a:r>
              <a:rPr lang="en-US" sz="1575" b="1" dirty="0">
                <a:solidFill>
                  <a:srgbClr val="5F7A6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✓</a:t>
            </a:r>
            <a:endParaRPr lang="en-US" sz="1575" dirty="0"/>
          </a:p>
        </p:txBody>
      </p:sp>
      <p:sp>
        <p:nvSpPr>
          <p:cNvPr id="22" name="Text 17"/>
          <p:cNvSpPr txBox="1"/>
          <p:nvPr/>
        </p:nvSpPr>
        <p:spPr>
          <a:xfrm>
            <a:off x="4840468" y="3112709"/>
            <a:ext cx="231206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已建立並切換成專業帳號</a:t>
            </a:r>
            <a:endParaRPr lang="en-US" sz="1500" dirty="0"/>
          </a:p>
        </p:txBody>
      </p:sp>
      <p:sp>
        <p:nvSpPr>
          <p:cNvPr id="23" name="Text 18"/>
          <p:cNvSpPr txBox="1"/>
          <p:nvPr/>
        </p:nvSpPr>
        <p:spPr>
          <a:xfrm>
            <a:off x="4581510" y="3497946"/>
            <a:ext cx="276149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84"/>
              </a:lnSpc>
              <a:buNone/>
            </a:pPr>
            <a:r>
              <a:rPr lang="en-US" sz="1575" b="1" dirty="0">
                <a:solidFill>
                  <a:srgbClr val="5F7A6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✓</a:t>
            </a:r>
            <a:endParaRPr lang="en-US" sz="1575" dirty="0"/>
          </a:p>
        </p:txBody>
      </p:sp>
      <p:sp>
        <p:nvSpPr>
          <p:cNvPr id="24" name="Text 19"/>
          <p:cNvSpPr txBox="1"/>
          <p:nvPr/>
        </p:nvSpPr>
        <p:spPr>
          <a:xfrm>
            <a:off x="4840468" y="3497946"/>
            <a:ext cx="130247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個人檔案填好</a:t>
            </a:r>
            <a:endParaRPr lang="en-US" sz="1500" dirty="0"/>
          </a:p>
        </p:txBody>
      </p:sp>
      <p:sp>
        <p:nvSpPr>
          <p:cNvPr id="25" name="Text 20"/>
          <p:cNvSpPr txBox="1"/>
          <p:nvPr/>
        </p:nvSpPr>
        <p:spPr>
          <a:xfrm>
            <a:off x="4581510" y="3883091"/>
            <a:ext cx="276149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84"/>
              </a:lnSpc>
              <a:buNone/>
            </a:pPr>
            <a:r>
              <a:rPr lang="en-US" sz="1575" b="1" dirty="0">
                <a:solidFill>
                  <a:srgbClr val="5F7A6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✓</a:t>
            </a:r>
            <a:endParaRPr lang="en-US" sz="1575" dirty="0"/>
          </a:p>
        </p:txBody>
      </p:sp>
      <p:sp>
        <p:nvSpPr>
          <p:cNvPr id="26" name="Text 21"/>
          <p:cNvSpPr txBox="1"/>
          <p:nvPr/>
        </p:nvSpPr>
        <p:spPr>
          <a:xfrm>
            <a:off x="4840468" y="3883091"/>
            <a:ext cx="190826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發過貼文與限時動態</a:t>
            </a:r>
            <a:endParaRPr lang="en-US" sz="1500" dirty="0"/>
          </a:p>
        </p:txBody>
      </p:sp>
      <p:sp>
        <p:nvSpPr>
          <p:cNvPr id="27" name="Text 22"/>
          <p:cNvSpPr txBox="1"/>
          <p:nvPr/>
        </p:nvSpPr>
        <p:spPr>
          <a:xfrm>
            <a:off x="4581510" y="4268236"/>
            <a:ext cx="276149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84"/>
              </a:lnSpc>
              <a:buNone/>
            </a:pPr>
            <a:r>
              <a:rPr lang="en-US" sz="1575" b="1" dirty="0">
                <a:solidFill>
                  <a:srgbClr val="5F7A6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✓</a:t>
            </a:r>
            <a:endParaRPr lang="en-US" sz="1575" dirty="0"/>
          </a:p>
        </p:txBody>
      </p:sp>
      <p:sp>
        <p:nvSpPr>
          <p:cNvPr id="28" name="Text 23"/>
          <p:cNvSpPr txBox="1"/>
          <p:nvPr/>
        </p:nvSpPr>
        <p:spPr>
          <a:xfrm>
            <a:off x="4840468" y="4268236"/>
            <a:ext cx="150437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看得懂洞察數據</a:t>
            </a:r>
            <a:endParaRPr lang="en-US" sz="1500" dirty="0"/>
          </a:p>
        </p:txBody>
      </p:sp>
      <p:sp>
        <p:nvSpPr>
          <p:cNvPr id="29" name="Shape 24"/>
          <p:cNvSpPr/>
          <p:nvPr/>
        </p:nvSpPr>
        <p:spPr>
          <a:xfrm>
            <a:off x="8001000" y="2122140"/>
            <a:ext cx="3390870" cy="2759842"/>
          </a:xfrm>
          <a:prstGeom prst="roundRect">
            <a:avLst>
              <a:gd name="adj" fmla="val 8283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30" name="Shape 25"/>
          <p:cNvSpPr/>
          <p:nvPr/>
        </p:nvSpPr>
        <p:spPr>
          <a:xfrm>
            <a:off x="8010510" y="2131649"/>
            <a:ext cx="3371850" cy="819120"/>
          </a:xfrm>
          <a:prstGeom prst="rect">
            <a:avLst/>
          </a:prstGeom>
          <a:solidFill>
            <a:srgbClr val="E6F8EE"/>
          </a:solidFill>
          <a:ln/>
        </p:spPr>
      </p:sp>
      <p:pic>
        <p:nvPicPr>
          <p:cNvPr id="31" name="Image 3" descr="/home/user/gogoeveryday/social-course/export-pptx/build/img/p3-3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0090" y="2322210"/>
            <a:ext cx="438180" cy="438180"/>
          </a:xfrm>
          <a:prstGeom prst="rect">
            <a:avLst/>
          </a:prstGeom>
        </p:spPr>
      </p:pic>
      <p:sp>
        <p:nvSpPr>
          <p:cNvPr id="32" name="Text 26"/>
          <p:cNvSpPr txBox="1"/>
          <p:nvPr/>
        </p:nvSpPr>
        <p:spPr>
          <a:xfrm>
            <a:off x="8734440" y="2379360"/>
            <a:ext cx="1514521" cy="323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-17" kern="0" dirty="0">
                <a:solidFill>
                  <a:srgbClr val="03934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LINE 官方帳號</a:t>
            </a:r>
            <a:endParaRPr lang="en-US" sz="1650" dirty="0"/>
          </a:p>
        </p:txBody>
      </p:sp>
      <p:sp>
        <p:nvSpPr>
          <p:cNvPr id="33" name="Text 27"/>
          <p:cNvSpPr txBox="1"/>
          <p:nvPr/>
        </p:nvSpPr>
        <p:spPr>
          <a:xfrm>
            <a:off x="8181960" y="3112709"/>
            <a:ext cx="276149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84"/>
              </a:lnSpc>
              <a:buNone/>
            </a:pPr>
            <a:r>
              <a:rPr lang="en-US" sz="1575" b="1" dirty="0">
                <a:solidFill>
                  <a:srgbClr val="5F7A6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✓</a:t>
            </a:r>
            <a:endParaRPr lang="en-US" sz="1575" dirty="0"/>
          </a:p>
        </p:txBody>
      </p:sp>
      <p:sp>
        <p:nvSpPr>
          <p:cNvPr id="34" name="Text 28"/>
          <p:cNvSpPr txBox="1"/>
          <p:nvPr/>
        </p:nvSpPr>
        <p:spPr>
          <a:xfrm>
            <a:off x="8440918" y="3112709"/>
            <a:ext cx="70299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已建立</a:t>
            </a:r>
            <a:endParaRPr lang="en-US" sz="1500" dirty="0"/>
          </a:p>
        </p:txBody>
      </p:sp>
      <p:sp>
        <p:nvSpPr>
          <p:cNvPr id="35" name="Text 29"/>
          <p:cNvSpPr txBox="1"/>
          <p:nvPr/>
        </p:nvSpPr>
        <p:spPr>
          <a:xfrm>
            <a:off x="8181960" y="3497946"/>
            <a:ext cx="276149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84"/>
              </a:lnSpc>
              <a:buNone/>
            </a:pPr>
            <a:r>
              <a:rPr lang="en-US" sz="1575" b="1" dirty="0">
                <a:solidFill>
                  <a:srgbClr val="5F7A6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✓</a:t>
            </a:r>
            <a:endParaRPr lang="en-US" sz="1575" dirty="0"/>
          </a:p>
        </p:txBody>
      </p:sp>
      <p:sp>
        <p:nvSpPr>
          <p:cNvPr id="36" name="Text 30"/>
          <p:cNvSpPr txBox="1"/>
          <p:nvPr/>
        </p:nvSpPr>
        <p:spPr>
          <a:xfrm>
            <a:off x="8440918" y="3497946"/>
            <a:ext cx="170627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歡迎訊息設定完成</a:t>
            </a:r>
            <a:endParaRPr lang="en-US" sz="1500" dirty="0"/>
          </a:p>
        </p:txBody>
      </p:sp>
      <p:sp>
        <p:nvSpPr>
          <p:cNvPr id="37" name="Text 31"/>
          <p:cNvSpPr txBox="1"/>
          <p:nvPr/>
        </p:nvSpPr>
        <p:spPr>
          <a:xfrm>
            <a:off x="8181960" y="3883091"/>
            <a:ext cx="276149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84"/>
              </a:lnSpc>
              <a:buNone/>
            </a:pPr>
            <a:r>
              <a:rPr lang="en-US" sz="1575" b="1" dirty="0">
                <a:solidFill>
                  <a:srgbClr val="5F7A6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✓</a:t>
            </a:r>
            <a:endParaRPr lang="en-US" sz="1575" dirty="0"/>
          </a:p>
        </p:txBody>
      </p:sp>
      <p:sp>
        <p:nvSpPr>
          <p:cNvPr id="38" name="Text 32"/>
          <p:cNvSpPr txBox="1"/>
          <p:nvPr/>
        </p:nvSpPr>
        <p:spPr>
          <a:xfrm>
            <a:off x="8440918" y="3883091"/>
            <a:ext cx="150437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群發過一則訊息</a:t>
            </a:r>
            <a:endParaRPr lang="en-US" sz="1500" dirty="0"/>
          </a:p>
        </p:txBody>
      </p:sp>
      <p:sp>
        <p:nvSpPr>
          <p:cNvPr id="39" name="Text 33"/>
          <p:cNvSpPr txBox="1"/>
          <p:nvPr/>
        </p:nvSpPr>
        <p:spPr>
          <a:xfrm>
            <a:off x="8181960" y="4268236"/>
            <a:ext cx="276149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84"/>
              </a:lnSpc>
              <a:buNone/>
            </a:pPr>
            <a:r>
              <a:rPr lang="en-US" sz="1575" b="1" dirty="0">
                <a:solidFill>
                  <a:srgbClr val="5F7A6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✓</a:t>
            </a:r>
            <a:endParaRPr lang="en-US" sz="1575" dirty="0"/>
          </a:p>
        </p:txBody>
      </p:sp>
      <p:sp>
        <p:nvSpPr>
          <p:cNvPr id="40" name="Text 34"/>
          <p:cNvSpPr txBox="1"/>
          <p:nvPr/>
        </p:nvSpPr>
        <p:spPr>
          <a:xfrm>
            <a:off x="8440918" y="4268236"/>
            <a:ext cx="211016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看得懂好友與開封數據</a:t>
            </a:r>
            <a:endParaRPr lang="en-US" sz="1500" dirty="0"/>
          </a:p>
        </p:txBody>
      </p:sp>
      <p:sp>
        <p:nvSpPr>
          <p:cNvPr id="41" name="Shape 35"/>
          <p:cNvSpPr/>
          <p:nvPr/>
        </p:nvSpPr>
        <p:spPr>
          <a:xfrm>
            <a:off x="800100" y="5043922"/>
            <a:ext cx="10591770" cy="704820"/>
          </a:xfrm>
          <a:prstGeom prst="roundRect">
            <a:avLst>
              <a:gd name="adj" fmla="val 24325"/>
            </a:avLst>
          </a:prstGeom>
          <a:solidFill>
            <a:srgbClr val="FBEEE6"/>
          </a:solidFill>
          <a:ln/>
        </p:spPr>
      </p:sp>
      <p:sp>
        <p:nvSpPr>
          <p:cNvPr id="42" name="Shape 36"/>
          <p:cNvSpPr/>
          <p:nvPr/>
        </p:nvSpPr>
        <p:spPr>
          <a:xfrm>
            <a:off x="800100" y="5043922"/>
            <a:ext cx="47640" cy="704820"/>
          </a:xfrm>
          <a:prstGeom prst="rect">
            <a:avLst/>
          </a:prstGeom>
          <a:solidFill>
            <a:srgbClr val="C05F3C"/>
          </a:solidFill>
          <a:ln/>
        </p:spPr>
      </p:sp>
      <p:pic>
        <p:nvPicPr>
          <p:cNvPr id="43" name="Image 4" descr="/home/user/gogoeveryday/social-course/export-pptx/build/img/p3-4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95360" y="5234391"/>
            <a:ext cx="323880" cy="323880"/>
          </a:xfrm>
          <a:prstGeom prst="rect">
            <a:avLst/>
          </a:prstGeom>
        </p:spPr>
      </p:pic>
      <p:sp>
        <p:nvSpPr>
          <p:cNvPr id="44" name="Text 37"/>
          <p:cNvSpPr txBox="1"/>
          <p:nvPr/>
        </p:nvSpPr>
        <p:spPr>
          <a:xfrm>
            <a:off x="1533540" y="5241249"/>
            <a:ext cx="7299838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全程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講師手機同步投影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，一個步驟一個步驟做。跟不上就舉手，我們會等你。</a:t>
            </a:r>
            <a:endParaRPr lang="en-US" sz="1575" dirty="0"/>
          </a:p>
        </p:txBody>
      </p:sp>
      <p:sp>
        <p:nvSpPr>
          <p:cNvPr id="45" name="Text 38"/>
          <p:cNvSpPr txBox="1"/>
          <p:nvPr/>
        </p:nvSpPr>
        <p:spPr>
          <a:xfrm>
            <a:off x="761970" y="6343650"/>
            <a:ext cx="1723553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開場 · 09:05</a:t>
            </a:r>
            <a:endParaRPr lang="en-US" sz="1500" dirty="0"/>
          </a:p>
        </p:txBody>
      </p:sp>
      <p:sp>
        <p:nvSpPr>
          <p:cNvPr id="46" name="Text 39"/>
          <p:cNvSpPr txBox="1"/>
          <p:nvPr/>
        </p:nvSpPr>
        <p:spPr>
          <a:xfrm>
            <a:off x="10810585" y="6343650"/>
            <a:ext cx="674644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3 / 42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social-course/export-pptx/build/bg/0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876270" y="1296253"/>
            <a:ext cx="2703698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20" kern="0" dirty="0">
                <a:solidFill>
                  <a:srgbClr val="D99A4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09:10 – 11:05 ｜ PART 1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876270" y="1496324"/>
            <a:ext cx="1726662" cy="20860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0"/>
              </a:lnSpc>
              <a:buNone/>
            </a:pPr>
            <a:r>
              <a:rPr lang="en-US" sz="11250" b="1" spc="-563" kern="0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01</a:t>
            </a:r>
            <a:endParaRPr lang="en-US" sz="11250" dirty="0"/>
          </a:p>
        </p:txBody>
      </p:sp>
      <p:sp>
        <p:nvSpPr>
          <p:cNvPr id="5" name="Text 2"/>
          <p:cNvSpPr txBox="1"/>
          <p:nvPr/>
        </p:nvSpPr>
        <p:spPr>
          <a:xfrm>
            <a:off x="876270" y="3039374"/>
            <a:ext cx="2619482" cy="15620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b="1" spc="-126" kern="0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Facebook</a:t>
            </a:r>
            <a:endParaRPr lang="en-US" sz="4200" dirty="0"/>
          </a:p>
          <a:p>
            <a:pPr algn="l" indent="0" marL="0">
              <a:buNone/>
            </a:pPr>
            <a:r>
              <a:rPr lang="en-US" sz="4200" b="1" spc="-126" kern="0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粉絲專頁</a:t>
            </a:r>
            <a:endParaRPr lang="en-US" sz="4200" dirty="0"/>
          </a:p>
        </p:txBody>
      </p:sp>
      <p:sp>
        <p:nvSpPr>
          <p:cNvPr id="6" name="Text 3"/>
          <p:cNvSpPr txBox="1"/>
          <p:nvPr/>
        </p:nvSpPr>
        <p:spPr>
          <a:xfrm>
            <a:off x="876270" y="4982474"/>
            <a:ext cx="5516027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buNone/>
            </a:pPr>
            <a:r>
              <a:rPr lang="en-US" sz="1725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建立 → 設定 → 發文 → 看後台。全部在手機上完成。</a:t>
            </a:r>
            <a:endParaRPr lang="en-US" sz="1725" dirty="0"/>
          </a:p>
        </p:txBody>
      </p:sp>
      <p:pic>
        <p:nvPicPr>
          <p:cNvPr id="7" name="Image 1" descr="/home/user/gogoeveryday/social-course/export-pptx/build/img/p4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86871" y="2803916"/>
            <a:ext cx="1200150" cy="120015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761970" y="6343650"/>
            <a:ext cx="2730307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PART 1 · 09:10–11:05</a:t>
            </a:r>
            <a:endParaRPr lang="en-US" sz="1500" dirty="0"/>
          </a:p>
        </p:txBody>
      </p:sp>
      <p:sp>
        <p:nvSpPr>
          <p:cNvPr id="9" name="Text 5"/>
          <p:cNvSpPr txBox="1"/>
          <p:nvPr/>
        </p:nvSpPr>
        <p:spPr>
          <a:xfrm>
            <a:off x="10810585" y="6343650"/>
            <a:ext cx="674644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4 / 42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social-course/export-pptx/build/bg/0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1970" y="594909"/>
            <a:ext cx="1645737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50" kern="0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開始前先分清楚</a:t>
            </a:r>
            <a:endParaRPr lang="en-US" sz="1500" dirty="0"/>
          </a:p>
        </p:txBody>
      </p:sp>
      <p:sp>
        <p:nvSpPr>
          <p:cNvPr id="4" name="Shape 1"/>
          <p:cNvSpPr/>
          <p:nvPr/>
        </p:nvSpPr>
        <p:spPr>
          <a:xfrm>
            <a:off x="800100" y="1194938"/>
            <a:ext cx="5086350" cy="3705240"/>
          </a:xfrm>
          <a:prstGeom prst="roundRect">
            <a:avLst>
              <a:gd name="adj" fmla="val 6170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5" name="Text 2"/>
          <p:cNvSpPr txBox="1"/>
          <p:nvPr/>
        </p:nvSpPr>
        <p:spPr>
          <a:xfrm>
            <a:off x="1019190" y="1442557"/>
            <a:ext cx="1181313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2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你現在有的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1019190" y="1814078"/>
            <a:ext cx="1210483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spc="-21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個人帳號</a:t>
            </a:r>
            <a:endParaRPr lang="en-US" sz="2100" dirty="0"/>
          </a:p>
        </p:txBody>
      </p:sp>
      <p:sp>
        <p:nvSpPr>
          <p:cNvPr id="7" name="Shape 4"/>
          <p:cNvSpPr/>
          <p:nvPr/>
        </p:nvSpPr>
        <p:spPr>
          <a:xfrm>
            <a:off x="1057321" y="2337938"/>
            <a:ext cx="4572000" cy="1047720"/>
          </a:xfrm>
          <a:prstGeom prst="roundRect">
            <a:avLst>
              <a:gd name="adj" fmla="val 12725"/>
            </a:avLst>
          </a:prstGeom>
          <a:solidFill>
            <a:srgbClr val="F4ECE1"/>
          </a:solidFill>
          <a:ln/>
        </p:spPr>
      </p:sp>
      <p:pic>
        <p:nvPicPr>
          <p:cNvPr id="8" name="Image 1" descr="/home/user/gogoeveryday/social-course/export-pptx/build/img/p5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28900" y="2290298"/>
            <a:ext cx="1428750" cy="114300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181130" y="3509559"/>
            <a:ext cx="190826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用你的名字，加朋友</a:t>
            </a:r>
            <a:endParaRPr lang="en-US" sz="1500" dirty="0"/>
          </a:p>
        </p:txBody>
      </p:sp>
      <p:sp>
        <p:nvSpPr>
          <p:cNvPr id="10" name="Text 6"/>
          <p:cNvSpPr txBox="1"/>
          <p:nvPr/>
        </p:nvSpPr>
        <p:spPr>
          <a:xfrm>
            <a:off x="1181130" y="3919118"/>
            <a:ext cx="130247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沒有後台數據</a:t>
            </a:r>
            <a:endParaRPr lang="en-US" sz="1500" dirty="0"/>
          </a:p>
        </p:txBody>
      </p:sp>
      <p:sp>
        <p:nvSpPr>
          <p:cNvPr id="11" name="Text 7"/>
          <p:cNvSpPr txBox="1"/>
          <p:nvPr/>
        </p:nvSpPr>
        <p:spPr>
          <a:xfrm>
            <a:off x="1181130" y="4328678"/>
            <a:ext cx="1734434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好友上限 5,000 人</a:t>
            </a:r>
            <a:endParaRPr lang="en-US" sz="1500" dirty="0"/>
          </a:p>
        </p:txBody>
      </p:sp>
      <p:sp>
        <p:nvSpPr>
          <p:cNvPr id="12" name="Shape 8"/>
          <p:cNvSpPr/>
          <p:nvPr/>
        </p:nvSpPr>
        <p:spPr>
          <a:xfrm>
            <a:off x="6305520" y="1194938"/>
            <a:ext cx="5086350" cy="3705240"/>
          </a:xfrm>
          <a:prstGeom prst="roundRect">
            <a:avLst>
              <a:gd name="adj" fmla="val 6170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6305520" y="1194938"/>
            <a:ext cx="5067330" cy="38130"/>
          </a:xfrm>
          <a:prstGeom prst="rect">
            <a:avLst/>
          </a:prstGeom>
          <a:solidFill>
            <a:srgbClr val="1877F2"/>
          </a:solidFill>
          <a:ln/>
        </p:spPr>
      </p:sp>
      <p:sp>
        <p:nvSpPr>
          <p:cNvPr id="14" name="Text 10"/>
          <p:cNvSpPr txBox="1"/>
          <p:nvPr/>
        </p:nvSpPr>
        <p:spPr>
          <a:xfrm>
            <a:off x="6524610" y="1442557"/>
            <a:ext cx="1399398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20" kern="0" dirty="0">
                <a:solidFill>
                  <a:srgbClr val="1877F2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今天要建立的</a:t>
            </a:r>
            <a:endParaRPr lang="en-US" sz="1500" dirty="0"/>
          </a:p>
        </p:txBody>
      </p:sp>
      <p:sp>
        <p:nvSpPr>
          <p:cNvPr id="15" name="Text 11"/>
          <p:cNvSpPr txBox="1"/>
          <p:nvPr/>
        </p:nvSpPr>
        <p:spPr>
          <a:xfrm>
            <a:off x="6524610" y="1814078"/>
            <a:ext cx="1210483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spc="-21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粉絲專頁</a:t>
            </a:r>
            <a:endParaRPr lang="en-US" sz="2100" dirty="0"/>
          </a:p>
        </p:txBody>
      </p:sp>
      <p:sp>
        <p:nvSpPr>
          <p:cNvPr id="16" name="Shape 12"/>
          <p:cNvSpPr/>
          <p:nvPr/>
        </p:nvSpPr>
        <p:spPr>
          <a:xfrm>
            <a:off x="6562740" y="2337938"/>
            <a:ext cx="4572000" cy="1047720"/>
          </a:xfrm>
          <a:prstGeom prst="roundRect">
            <a:avLst>
              <a:gd name="adj" fmla="val 12725"/>
            </a:avLst>
          </a:prstGeom>
          <a:solidFill>
            <a:srgbClr val="EEF4FF"/>
          </a:solidFill>
          <a:ln/>
        </p:spPr>
      </p:sp>
      <p:pic>
        <p:nvPicPr>
          <p:cNvPr id="17" name="Image 2" descr="/home/user/gogoeveryday/social-course/export-pptx/build/img/p5-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91490" y="2136587"/>
            <a:ext cx="1714500" cy="1450604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686550" y="3509559"/>
            <a:ext cx="291785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用店名或商品名，別人可以追蹤</a:t>
            </a:r>
            <a:endParaRPr lang="en-US" sz="1500" dirty="0"/>
          </a:p>
        </p:txBody>
      </p:sp>
      <p:sp>
        <p:nvSpPr>
          <p:cNvPr id="19" name="Text 14"/>
          <p:cNvSpPr txBox="1"/>
          <p:nvPr/>
        </p:nvSpPr>
        <p:spPr>
          <a:xfrm>
            <a:off x="6686550" y="3919118"/>
            <a:ext cx="170627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有後台可以看數據</a:t>
            </a:r>
            <a:endParaRPr lang="en-US" sz="1500" dirty="0"/>
          </a:p>
        </p:txBody>
      </p:sp>
      <p:sp>
        <p:nvSpPr>
          <p:cNvPr id="20" name="Text 15"/>
          <p:cNvSpPr txBox="1"/>
          <p:nvPr/>
        </p:nvSpPr>
        <p:spPr>
          <a:xfrm>
            <a:off x="6686550" y="4328678"/>
            <a:ext cx="170627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追蹤人數沒有上限</a:t>
            </a:r>
            <a:endParaRPr lang="en-US" sz="1500" dirty="0"/>
          </a:p>
        </p:txBody>
      </p:sp>
      <p:sp>
        <p:nvSpPr>
          <p:cNvPr id="21" name="Shape 16"/>
          <p:cNvSpPr/>
          <p:nvPr/>
        </p:nvSpPr>
        <p:spPr>
          <a:xfrm>
            <a:off x="800100" y="5062118"/>
            <a:ext cx="10591770" cy="1000994"/>
          </a:xfrm>
          <a:prstGeom prst="roundRect">
            <a:avLst>
              <a:gd name="adj" fmla="val 17128"/>
            </a:avLst>
          </a:prstGeom>
          <a:solidFill>
            <a:srgbClr val="FBEEE6"/>
          </a:solidFill>
          <a:ln/>
        </p:spPr>
      </p:sp>
      <p:sp>
        <p:nvSpPr>
          <p:cNvPr id="22" name="Shape 17"/>
          <p:cNvSpPr/>
          <p:nvPr/>
        </p:nvSpPr>
        <p:spPr>
          <a:xfrm>
            <a:off x="800100" y="5062118"/>
            <a:ext cx="47640" cy="1000994"/>
          </a:xfrm>
          <a:prstGeom prst="rect">
            <a:avLst/>
          </a:prstGeom>
          <a:solidFill>
            <a:srgbClr val="C05F3C"/>
          </a:solidFill>
          <a:ln/>
        </p:spPr>
      </p:sp>
      <p:pic>
        <p:nvPicPr>
          <p:cNvPr id="23" name="Image 3" descr="/home/user/gogoeveryday/social-course/export-pptx/build/img/p5-3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5360" y="5400721"/>
            <a:ext cx="323880" cy="323880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1533540" y="5252588"/>
            <a:ext cx="5603626" cy="6148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粉絲專頁是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用你的個人帳號去建立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的，不用另外註冊。</a:t>
            </a:r>
            <a:endParaRPr lang="en-US" sz="1575" dirty="0"/>
          </a:p>
          <a:p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建好之後兩個是分開的，發文時要看清楚現在用哪個身分。</a:t>
            </a:r>
            <a:endParaRPr lang="en-US" sz="1575" dirty="0"/>
          </a:p>
        </p:txBody>
      </p:sp>
      <p:sp>
        <p:nvSpPr>
          <p:cNvPr id="25" name="Text 19"/>
          <p:cNvSpPr txBox="1"/>
          <p:nvPr/>
        </p:nvSpPr>
        <p:spPr>
          <a:xfrm>
            <a:off x="761970" y="6343650"/>
            <a:ext cx="2029877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PART 1 · 09:10</a:t>
            </a:r>
            <a:endParaRPr lang="en-US" sz="1500" dirty="0"/>
          </a:p>
        </p:txBody>
      </p:sp>
      <p:sp>
        <p:nvSpPr>
          <p:cNvPr id="26" name="Text 20"/>
          <p:cNvSpPr txBox="1"/>
          <p:nvPr/>
        </p:nvSpPr>
        <p:spPr>
          <a:xfrm>
            <a:off x="10810585" y="6343650"/>
            <a:ext cx="674644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5 / 42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social-course/export-pptx/build/bg/06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09630" y="452902"/>
            <a:ext cx="2888498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50" kern="0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跟著做 · 講師手機同步投影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609630" y="833841"/>
            <a:ext cx="4009278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94"/>
              </a:lnSpc>
              <a:buNone/>
            </a:pPr>
            <a:r>
              <a:rPr lang="en-US" sz="2700" b="1" spc="-54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建立粉絲專頁，只要四步</a:t>
            </a:r>
            <a:endParaRPr lang="en-US" sz="2700" dirty="0"/>
          </a:p>
        </p:txBody>
      </p:sp>
      <p:pic>
        <p:nvPicPr>
          <p:cNvPr id="5" name="Image 1" descr="/home/user/gogoeveryday/social-course/export-pptx/build/img/p6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76420" y="1509309"/>
            <a:ext cx="1866930" cy="3733770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1933590" y="1366388"/>
            <a:ext cx="361920" cy="361920"/>
          </a:xfrm>
          <a:prstGeom prst="roundRect">
            <a:avLst>
              <a:gd name="adj" fmla="val 50000"/>
            </a:avLst>
          </a:prstGeom>
          <a:solidFill>
            <a:srgbClr val="C05F3C"/>
          </a:solidFill>
          <a:ln w="28575">
            <a:solidFill>
              <a:srgbClr val="FBF7F1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7" name="Text 3"/>
          <p:cNvSpPr txBox="1"/>
          <p:nvPr/>
        </p:nvSpPr>
        <p:spPr>
          <a:xfrm>
            <a:off x="1997324" y="1399764"/>
            <a:ext cx="24396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</a:t>
            </a:r>
            <a:endParaRPr lang="en-US" sz="1500" dirty="0"/>
          </a:p>
        </p:txBody>
      </p:sp>
      <p:sp>
        <p:nvSpPr>
          <p:cNvPr id="8" name="Text 4"/>
          <p:cNvSpPr txBox="1"/>
          <p:nvPr/>
        </p:nvSpPr>
        <p:spPr>
          <a:xfrm>
            <a:off x="2565349" y="5309738"/>
            <a:ext cx="89858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950"/>
              </a:lnSpc>
              <a:buNone/>
            </a:pPr>
            <a:r>
              <a:rPr lang="en-US" sz="1500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打開選單</a:t>
            </a:r>
            <a:endParaRPr lang="en-US" sz="1500" dirty="0"/>
          </a:p>
        </p:txBody>
      </p:sp>
      <p:sp>
        <p:nvSpPr>
          <p:cNvPr id="9" name="Text 5"/>
          <p:cNvSpPr txBox="1"/>
          <p:nvPr/>
        </p:nvSpPr>
        <p:spPr>
          <a:xfrm>
            <a:off x="2272650" y="5614507"/>
            <a:ext cx="1484254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7A6A5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點右下角「☰」</a:t>
            </a:r>
            <a:endParaRPr lang="en-US" sz="1500" dirty="0"/>
          </a:p>
        </p:txBody>
      </p:sp>
      <p:pic>
        <p:nvPicPr>
          <p:cNvPr id="10" name="Image 2" descr="/home/user/gogoeveryday/social-course/export-pptx/build/img/p6-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33820" y="1509309"/>
            <a:ext cx="1866930" cy="3733770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3990990" y="1366388"/>
            <a:ext cx="361920" cy="361920"/>
          </a:xfrm>
          <a:prstGeom prst="roundRect">
            <a:avLst>
              <a:gd name="adj" fmla="val 50000"/>
            </a:avLst>
          </a:prstGeom>
          <a:solidFill>
            <a:srgbClr val="C05F3C"/>
          </a:solidFill>
          <a:ln w="28575">
            <a:solidFill>
              <a:srgbClr val="FBF7F1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2" name="Text 7"/>
          <p:cNvSpPr txBox="1"/>
          <p:nvPr/>
        </p:nvSpPr>
        <p:spPr>
          <a:xfrm>
            <a:off x="4054724" y="1399764"/>
            <a:ext cx="24396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Text 8"/>
          <p:cNvSpPr txBox="1"/>
          <p:nvPr/>
        </p:nvSpPr>
        <p:spPr>
          <a:xfrm>
            <a:off x="4319808" y="5309738"/>
            <a:ext cx="150437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950"/>
              </a:lnSpc>
              <a:buNone/>
            </a:pPr>
            <a:r>
              <a:rPr lang="en-US" sz="1500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點「粉絲專頁」</a:t>
            </a:r>
            <a:endParaRPr lang="en-US" sz="1500" dirty="0"/>
          </a:p>
        </p:txBody>
      </p:sp>
      <p:sp>
        <p:nvSpPr>
          <p:cNvPr id="14" name="Text 9"/>
          <p:cNvSpPr txBox="1"/>
          <p:nvPr/>
        </p:nvSpPr>
        <p:spPr>
          <a:xfrm>
            <a:off x="4117909" y="5614507"/>
            <a:ext cx="1908261" cy="561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7A6A5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再點「建立新的粉絲專頁」</a:t>
            </a:r>
            <a:endParaRPr lang="en-US" sz="1500" dirty="0"/>
          </a:p>
        </p:txBody>
      </p:sp>
      <p:pic>
        <p:nvPicPr>
          <p:cNvPr id="15" name="Image 3" descr="/home/user/gogoeveryday/social-course/export-pptx/build/img/p6-3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91220" y="1509309"/>
            <a:ext cx="1866930" cy="3733770"/>
          </a:xfrm>
          <a:prstGeom prst="rect">
            <a:avLst/>
          </a:prstGeom>
        </p:spPr>
      </p:pic>
      <p:sp>
        <p:nvSpPr>
          <p:cNvPr id="16" name="Shape 10"/>
          <p:cNvSpPr/>
          <p:nvPr/>
        </p:nvSpPr>
        <p:spPr>
          <a:xfrm>
            <a:off x="6048390" y="1366388"/>
            <a:ext cx="361920" cy="361920"/>
          </a:xfrm>
          <a:prstGeom prst="roundRect">
            <a:avLst>
              <a:gd name="adj" fmla="val 50000"/>
            </a:avLst>
          </a:prstGeom>
          <a:solidFill>
            <a:srgbClr val="C05F3C"/>
          </a:solidFill>
          <a:ln w="28575">
            <a:solidFill>
              <a:srgbClr val="FBF7F1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7" name="Text 11"/>
          <p:cNvSpPr txBox="1"/>
          <p:nvPr/>
        </p:nvSpPr>
        <p:spPr>
          <a:xfrm>
            <a:off x="6112124" y="1399764"/>
            <a:ext cx="24396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3</a:t>
            </a:r>
            <a:endParaRPr lang="en-US" sz="1500" dirty="0"/>
          </a:p>
        </p:txBody>
      </p:sp>
      <p:sp>
        <p:nvSpPr>
          <p:cNvPr id="18" name="Text 12"/>
          <p:cNvSpPr txBox="1"/>
          <p:nvPr/>
        </p:nvSpPr>
        <p:spPr>
          <a:xfrm>
            <a:off x="6478250" y="5309738"/>
            <a:ext cx="130247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950"/>
              </a:lnSpc>
              <a:buNone/>
            </a:pPr>
            <a:r>
              <a:rPr lang="en-US" sz="1500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填名稱與類別</a:t>
            </a:r>
            <a:endParaRPr lang="en-US" sz="1500" dirty="0"/>
          </a:p>
        </p:txBody>
      </p:sp>
      <p:sp>
        <p:nvSpPr>
          <p:cNvPr id="19" name="Text 13"/>
          <p:cNvSpPr txBox="1"/>
          <p:nvPr/>
        </p:nvSpPr>
        <p:spPr>
          <a:xfrm>
            <a:off x="6175309" y="5614507"/>
            <a:ext cx="1908261" cy="561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7A6A5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名稱＝別人看到的店名</a:t>
            </a:r>
            <a:endParaRPr lang="en-US" sz="1500" dirty="0"/>
          </a:p>
        </p:txBody>
      </p:sp>
      <p:pic>
        <p:nvPicPr>
          <p:cNvPr id="20" name="Image 4" descr="/home/user/gogoeveryday/social-course/export-pptx/build/img/p6-4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48620" y="1509309"/>
            <a:ext cx="1866930" cy="3733770"/>
          </a:xfrm>
          <a:prstGeom prst="rect">
            <a:avLst/>
          </a:prstGeom>
        </p:spPr>
      </p:pic>
      <p:sp>
        <p:nvSpPr>
          <p:cNvPr id="21" name="Shape 14"/>
          <p:cNvSpPr/>
          <p:nvPr/>
        </p:nvSpPr>
        <p:spPr>
          <a:xfrm>
            <a:off x="8105790" y="1366388"/>
            <a:ext cx="361920" cy="361920"/>
          </a:xfrm>
          <a:prstGeom prst="roundRect">
            <a:avLst>
              <a:gd name="adj" fmla="val 50000"/>
            </a:avLst>
          </a:prstGeom>
          <a:solidFill>
            <a:srgbClr val="C05F3C"/>
          </a:solidFill>
          <a:ln w="28575">
            <a:solidFill>
              <a:srgbClr val="FBF7F1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22" name="Text 15"/>
          <p:cNvSpPr txBox="1"/>
          <p:nvPr/>
        </p:nvSpPr>
        <p:spPr>
          <a:xfrm>
            <a:off x="8169524" y="1399764"/>
            <a:ext cx="24396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4</a:t>
            </a:r>
            <a:endParaRPr lang="en-US" sz="1500" dirty="0"/>
          </a:p>
        </p:txBody>
      </p:sp>
      <p:sp>
        <p:nvSpPr>
          <p:cNvPr id="23" name="Text 16"/>
          <p:cNvSpPr txBox="1"/>
          <p:nvPr/>
        </p:nvSpPr>
        <p:spPr>
          <a:xfrm>
            <a:off x="8930670" y="5309738"/>
            <a:ext cx="51243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950"/>
              </a:lnSpc>
              <a:buNone/>
            </a:pPr>
            <a:r>
              <a:rPr lang="en-US" sz="1500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完成</a:t>
            </a:r>
            <a:endParaRPr lang="en-US" sz="1500" dirty="0"/>
          </a:p>
        </p:txBody>
      </p:sp>
      <p:sp>
        <p:nvSpPr>
          <p:cNvPr id="24" name="Text 17"/>
          <p:cNvSpPr txBox="1"/>
          <p:nvPr/>
        </p:nvSpPr>
        <p:spPr>
          <a:xfrm>
            <a:off x="8232709" y="5614507"/>
            <a:ext cx="190826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7A6A5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接著換大頭貼與封面</a:t>
            </a:r>
            <a:endParaRPr lang="en-US" sz="1500" dirty="0"/>
          </a:p>
        </p:txBody>
      </p:sp>
      <p:sp>
        <p:nvSpPr>
          <p:cNvPr id="25" name="Shape 18"/>
          <p:cNvSpPr/>
          <p:nvPr/>
        </p:nvSpPr>
        <p:spPr>
          <a:xfrm>
            <a:off x="10260208" y="228600"/>
            <a:ext cx="1131661" cy="447690"/>
          </a:xfrm>
          <a:prstGeom prst="roundRect">
            <a:avLst>
              <a:gd name="adj" fmla="val 50000"/>
            </a:avLst>
          </a:prstGeom>
          <a:solidFill>
            <a:srgbClr val="C05F3C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26" name="Text 19"/>
          <p:cNvSpPr txBox="1"/>
          <p:nvPr/>
        </p:nvSpPr>
        <p:spPr>
          <a:xfrm>
            <a:off x="10384018" y="304770"/>
            <a:ext cx="947136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90" kern="0" dirty="0">
                <a:solidFill>
                  <a:srgbClr val="FBF7F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手機實作</a:t>
            </a:r>
            <a:endParaRPr lang="en-US" sz="1500" dirty="0"/>
          </a:p>
        </p:txBody>
      </p:sp>
      <p:sp>
        <p:nvSpPr>
          <p:cNvPr id="27" name="Text 20"/>
          <p:cNvSpPr txBox="1"/>
          <p:nvPr/>
        </p:nvSpPr>
        <p:spPr>
          <a:xfrm>
            <a:off x="761970" y="6343650"/>
            <a:ext cx="2029877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PART 1 · 09:15</a:t>
            </a:r>
            <a:endParaRPr lang="en-US" sz="1500" dirty="0"/>
          </a:p>
        </p:txBody>
      </p:sp>
      <p:sp>
        <p:nvSpPr>
          <p:cNvPr id="28" name="Text 21"/>
          <p:cNvSpPr txBox="1"/>
          <p:nvPr/>
        </p:nvSpPr>
        <p:spPr>
          <a:xfrm>
            <a:off x="10810585" y="6343650"/>
            <a:ext cx="674644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6 / 42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social-course/export-pptx/build/bg/07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1970" y="366674"/>
            <a:ext cx="120152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50" kern="0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設定第一步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761970" y="747705"/>
            <a:ext cx="3296869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94"/>
              </a:lnSpc>
              <a:buNone/>
            </a:pPr>
            <a:r>
              <a:rPr lang="en-US" sz="2700" b="1" spc="-54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大頭貼與封面怎麼換</a:t>
            </a:r>
            <a:endParaRPr lang="en-US" sz="2700" dirty="0"/>
          </a:p>
        </p:txBody>
      </p:sp>
      <p:sp>
        <p:nvSpPr>
          <p:cNvPr id="5" name="Shape 2"/>
          <p:cNvSpPr/>
          <p:nvPr/>
        </p:nvSpPr>
        <p:spPr>
          <a:xfrm>
            <a:off x="800100" y="1413571"/>
            <a:ext cx="5300685" cy="847740"/>
          </a:xfrm>
          <a:prstGeom prst="roundRect">
            <a:avLst>
              <a:gd name="adj" fmla="val 16859"/>
            </a:avLst>
          </a:prstGeom>
          <a:solidFill>
            <a:srgbClr val="FFFFFF">
              <a:alpha val="62000"/>
            </a:srgbClr>
          </a:solidFill>
          <a:ln w="9525">
            <a:solidFill>
              <a:srgbClr val="241C17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981060" y="1556400"/>
            <a:ext cx="304770" cy="304770"/>
          </a:xfrm>
          <a:prstGeom prst="roundRect">
            <a:avLst>
              <a:gd name="adj" fmla="val 31263"/>
            </a:avLst>
          </a:prstGeom>
          <a:solidFill>
            <a:srgbClr val="1877F2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1039124" y="1556400"/>
            <a:ext cx="24396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1381110" y="1546890"/>
            <a:ext cx="1999061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75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點粉專首頁的大頭貼</a:t>
            </a:r>
            <a:endParaRPr lang="en-US" sz="1575" dirty="0"/>
          </a:p>
        </p:txBody>
      </p:sp>
      <p:sp>
        <p:nvSpPr>
          <p:cNvPr id="9" name="Text 6"/>
          <p:cNvSpPr txBox="1"/>
          <p:nvPr/>
        </p:nvSpPr>
        <p:spPr>
          <a:xfrm>
            <a:off x="1381110" y="1832640"/>
            <a:ext cx="211016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7A6A5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會跳出「編輯大頭貼」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800100" y="2366101"/>
            <a:ext cx="5300685" cy="847740"/>
          </a:xfrm>
          <a:prstGeom prst="roundRect">
            <a:avLst>
              <a:gd name="adj" fmla="val 16859"/>
            </a:avLst>
          </a:prstGeom>
          <a:solidFill>
            <a:srgbClr val="FFFFFF">
              <a:alpha val="62000"/>
            </a:srgbClr>
          </a:solidFill>
          <a:ln w="9525">
            <a:solidFill>
              <a:srgbClr val="241C17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981060" y="2508931"/>
            <a:ext cx="304770" cy="304770"/>
          </a:xfrm>
          <a:prstGeom prst="roundRect">
            <a:avLst>
              <a:gd name="adj" fmla="val 31263"/>
            </a:avLst>
          </a:prstGeom>
          <a:solidFill>
            <a:srgbClr val="1877F2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2" name="Text 9"/>
          <p:cNvSpPr txBox="1"/>
          <p:nvPr/>
        </p:nvSpPr>
        <p:spPr>
          <a:xfrm>
            <a:off x="1039124" y="2508931"/>
            <a:ext cx="24396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1381110" y="2499421"/>
            <a:ext cx="2211202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75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選「從相簿選擇照片」</a:t>
            </a:r>
            <a:endParaRPr lang="en-US" sz="1575" dirty="0"/>
          </a:p>
        </p:txBody>
      </p:sp>
      <p:sp>
        <p:nvSpPr>
          <p:cNvPr id="14" name="Text 11"/>
          <p:cNvSpPr txBox="1"/>
          <p:nvPr/>
        </p:nvSpPr>
        <p:spPr>
          <a:xfrm>
            <a:off x="1381110" y="2785171"/>
            <a:ext cx="190826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7A6A5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用手機裡現成的就好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800100" y="3318540"/>
            <a:ext cx="5300685" cy="847740"/>
          </a:xfrm>
          <a:prstGeom prst="roundRect">
            <a:avLst>
              <a:gd name="adj" fmla="val 16859"/>
            </a:avLst>
          </a:prstGeom>
          <a:solidFill>
            <a:srgbClr val="FFFFFF">
              <a:alpha val="62000"/>
            </a:srgbClr>
          </a:solidFill>
          <a:ln w="9525">
            <a:solidFill>
              <a:srgbClr val="241C17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981060" y="3461461"/>
            <a:ext cx="304770" cy="304770"/>
          </a:xfrm>
          <a:prstGeom prst="roundRect">
            <a:avLst>
              <a:gd name="adj" fmla="val 31263"/>
            </a:avLst>
          </a:prstGeom>
          <a:solidFill>
            <a:srgbClr val="1877F2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7" name="Text 14"/>
          <p:cNvSpPr txBox="1"/>
          <p:nvPr/>
        </p:nvSpPr>
        <p:spPr>
          <a:xfrm>
            <a:off x="1039124" y="3461461"/>
            <a:ext cx="24396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3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1381110" y="3451951"/>
            <a:ext cx="2211202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75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調整位置後按「儲存」</a:t>
            </a:r>
            <a:endParaRPr lang="en-US" sz="1575" dirty="0"/>
          </a:p>
        </p:txBody>
      </p:sp>
      <p:sp>
        <p:nvSpPr>
          <p:cNvPr id="19" name="Text 16"/>
          <p:cNvSpPr txBox="1"/>
          <p:nvPr/>
        </p:nvSpPr>
        <p:spPr>
          <a:xfrm>
            <a:off x="1381110" y="3737701"/>
            <a:ext cx="211016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7A6A5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圓形範圍內看得到就行</a:t>
            </a:r>
            <a:endParaRPr lang="en-US" sz="1500" dirty="0"/>
          </a:p>
        </p:txBody>
      </p:sp>
      <p:sp>
        <p:nvSpPr>
          <p:cNvPr id="20" name="Shape 17"/>
          <p:cNvSpPr/>
          <p:nvPr/>
        </p:nvSpPr>
        <p:spPr>
          <a:xfrm>
            <a:off x="800100" y="4271071"/>
            <a:ext cx="5300685" cy="847740"/>
          </a:xfrm>
          <a:prstGeom prst="roundRect">
            <a:avLst>
              <a:gd name="adj" fmla="val 16859"/>
            </a:avLst>
          </a:prstGeom>
          <a:solidFill>
            <a:srgbClr val="FFFFFF">
              <a:alpha val="62000"/>
            </a:srgbClr>
          </a:solidFill>
          <a:ln w="9525">
            <a:solidFill>
              <a:srgbClr val="241C17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981060" y="4413900"/>
            <a:ext cx="304770" cy="304770"/>
          </a:xfrm>
          <a:prstGeom prst="roundRect">
            <a:avLst>
              <a:gd name="adj" fmla="val 31263"/>
            </a:avLst>
          </a:prstGeom>
          <a:solidFill>
            <a:srgbClr val="1877F2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22" name="Text 19"/>
          <p:cNvSpPr txBox="1"/>
          <p:nvPr/>
        </p:nvSpPr>
        <p:spPr>
          <a:xfrm>
            <a:off x="1039124" y="4413900"/>
            <a:ext cx="24396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4</a:t>
            </a:r>
            <a:endParaRPr lang="en-US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1381110" y="4404390"/>
            <a:ext cx="1787103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75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封面照片同樣做法</a:t>
            </a:r>
            <a:endParaRPr lang="en-US" sz="1575" dirty="0"/>
          </a:p>
        </p:txBody>
      </p:sp>
      <p:sp>
        <p:nvSpPr>
          <p:cNvPr id="24" name="Text 21"/>
          <p:cNvSpPr txBox="1"/>
          <p:nvPr/>
        </p:nvSpPr>
        <p:spPr>
          <a:xfrm>
            <a:off x="1381110" y="4690140"/>
            <a:ext cx="1798076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7A6A5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點封面 → 編輯封面</a:t>
            </a:r>
            <a:endParaRPr lang="en-US" sz="1500" dirty="0"/>
          </a:p>
        </p:txBody>
      </p:sp>
      <p:sp>
        <p:nvSpPr>
          <p:cNvPr id="25" name="Shape 22"/>
          <p:cNvSpPr/>
          <p:nvPr/>
        </p:nvSpPr>
        <p:spPr>
          <a:xfrm>
            <a:off x="800100" y="5290261"/>
            <a:ext cx="5300685" cy="1000994"/>
          </a:xfrm>
          <a:prstGeom prst="roundRect">
            <a:avLst>
              <a:gd name="adj" fmla="val 17128"/>
            </a:avLst>
          </a:prstGeom>
          <a:solidFill>
            <a:srgbClr val="EEF4FF"/>
          </a:solidFill>
          <a:ln/>
        </p:spPr>
      </p:sp>
      <p:sp>
        <p:nvSpPr>
          <p:cNvPr id="26" name="Shape 23"/>
          <p:cNvSpPr/>
          <p:nvPr/>
        </p:nvSpPr>
        <p:spPr>
          <a:xfrm>
            <a:off x="800100" y="5290261"/>
            <a:ext cx="47640" cy="1000994"/>
          </a:xfrm>
          <a:prstGeom prst="rect">
            <a:avLst/>
          </a:prstGeom>
          <a:solidFill>
            <a:srgbClr val="1877F2"/>
          </a:solidFill>
          <a:ln/>
        </p:spPr>
      </p:sp>
      <p:pic>
        <p:nvPicPr>
          <p:cNvPr id="27" name="Image 1" descr="/home/user/gogoeveryday/social-course/export-pptx/build/img/p7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360" y="5628864"/>
            <a:ext cx="323880" cy="323880"/>
          </a:xfrm>
          <a:prstGeom prst="rect">
            <a:avLst/>
          </a:prstGeom>
        </p:spPr>
      </p:pic>
      <p:sp>
        <p:nvSpPr>
          <p:cNvPr id="28" name="Text 24"/>
          <p:cNvSpPr txBox="1"/>
          <p:nvPr/>
        </p:nvSpPr>
        <p:spPr>
          <a:xfrm>
            <a:off x="1533540" y="5480731"/>
            <a:ext cx="3483315" cy="6148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大頭貼放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商品或本人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，不要放風景。</a:t>
            </a:r>
            <a:endParaRPr lang="en-US" sz="1575" dirty="0"/>
          </a:p>
          <a:p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別人在留言區只看得到那個小圓圈。</a:t>
            </a:r>
            <a:endParaRPr lang="en-US" sz="1575" dirty="0"/>
          </a:p>
        </p:txBody>
      </p:sp>
      <p:pic>
        <p:nvPicPr>
          <p:cNvPr id="29" name="Image 2" descr="/home/user/gogoeveryday/social-course/export-pptx/build/img/p7-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98608" y="704820"/>
            <a:ext cx="2590770" cy="5257800"/>
          </a:xfrm>
          <a:prstGeom prst="rect">
            <a:avLst/>
          </a:prstGeom>
        </p:spPr>
      </p:pic>
      <p:sp>
        <p:nvSpPr>
          <p:cNvPr id="30" name="Shape 25"/>
          <p:cNvSpPr/>
          <p:nvPr/>
        </p:nvSpPr>
        <p:spPr>
          <a:xfrm>
            <a:off x="10517977" y="1695480"/>
            <a:ext cx="609630" cy="390540"/>
          </a:xfrm>
          <a:prstGeom prst="roundRect">
            <a:avLst>
              <a:gd name="adj" fmla="val 49988"/>
            </a:avLst>
          </a:prstGeom>
          <a:solidFill>
            <a:srgbClr val="241C17"/>
          </a:solidFill>
          <a:ln/>
        </p:spPr>
      </p:sp>
      <p:sp>
        <p:nvSpPr>
          <p:cNvPr id="31" name="Text 26"/>
          <p:cNvSpPr txBox="1"/>
          <p:nvPr/>
        </p:nvSpPr>
        <p:spPr>
          <a:xfrm>
            <a:off x="10571287" y="1743121"/>
            <a:ext cx="51243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BF7F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封面</a:t>
            </a:r>
            <a:endParaRPr lang="en-US" sz="1500" dirty="0"/>
          </a:p>
        </p:txBody>
      </p:sp>
      <p:sp>
        <p:nvSpPr>
          <p:cNvPr id="32" name="Shape 27"/>
          <p:cNvSpPr/>
          <p:nvPr/>
        </p:nvSpPr>
        <p:spPr>
          <a:xfrm>
            <a:off x="6784208" y="2343150"/>
            <a:ext cx="800100" cy="390540"/>
          </a:xfrm>
          <a:prstGeom prst="roundRect">
            <a:avLst>
              <a:gd name="adj" fmla="val 49988"/>
            </a:avLst>
          </a:prstGeom>
          <a:solidFill>
            <a:srgbClr val="241C17"/>
          </a:solidFill>
          <a:ln/>
        </p:spPr>
      </p:sp>
      <p:sp>
        <p:nvSpPr>
          <p:cNvPr id="33" name="Text 28"/>
          <p:cNvSpPr txBox="1"/>
          <p:nvPr/>
        </p:nvSpPr>
        <p:spPr>
          <a:xfrm>
            <a:off x="6837517" y="2390790"/>
            <a:ext cx="70299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BF7F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大頭貼</a:t>
            </a:r>
            <a:endParaRPr lang="en-US" sz="1500" dirty="0"/>
          </a:p>
        </p:txBody>
      </p:sp>
      <p:sp>
        <p:nvSpPr>
          <p:cNvPr id="34" name="Shape 29"/>
          <p:cNvSpPr/>
          <p:nvPr/>
        </p:nvSpPr>
        <p:spPr>
          <a:xfrm>
            <a:off x="10260208" y="228600"/>
            <a:ext cx="1131661" cy="447690"/>
          </a:xfrm>
          <a:prstGeom prst="roundRect">
            <a:avLst>
              <a:gd name="adj" fmla="val 50000"/>
            </a:avLst>
          </a:prstGeom>
          <a:solidFill>
            <a:srgbClr val="C05F3C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35" name="Text 30"/>
          <p:cNvSpPr txBox="1"/>
          <p:nvPr/>
        </p:nvSpPr>
        <p:spPr>
          <a:xfrm>
            <a:off x="10384018" y="304770"/>
            <a:ext cx="947136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90" kern="0" dirty="0">
                <a:solidFill>
                  <a:srgbClr val="FBF7F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手機實作</a:t>
            </a:r>
            <a:endParaRPr lang="en-US" sz="1500" dirty="0"/>
          </a:p>
        </p:txBody>
      </p:sp>
      <p:sp>
        <p:nvSpPr>
          <p:cNvPr id="36" name="Text 31"/>
          <p:cNvSpPr txBox="1"/>
          <p:nvPr/>
        </p:nvSpPr>
        <p:spPr>
          <a:xfrm>
            <a:off x="761970" y="6343650"/>
            <a:ext cx="2029877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PART 1 · 09:30</a:t>
            </a:r>
            <a:endParaRPr lang="en-US" sz="1500" dirty="0"/>
          </a:p>
        </p:txBody>
      </p:sp>
      <p:sp>
        <p:nvSpPr>
          <p:cNvPr id="37" name="Text 32"/>
          <p:cNvSpPr txBox="1"/>
          <p:nvPr/>
        </p:nvSpPr>
        <p:spPr>
          <a:xfrm>
            <a:off x="10810585" y="6343650"/>
            <a:ext cx="674644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7 / 42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social-course/export-pptx/build/bg/08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1970" y="362377"/>
            <a:ext cx="120152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50" kern="0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設定第二步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761970" y="743407"/>
            <a:ext cx="2584369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94"/>
              </a:lnSpc>
              <a:buNone/>
            </a:pPr>
            <a:r>
              <a:rPr lang="en-US" sz="2700" b="1" spc="-54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讓別人找得到你</a:t>
            </a:r>
            <a:endParaRPr lang="en-US" sz="2700" dirty="0"/>
          </a:p>
        </p:txBody>
      </p:sp>
      <p:sp>
        <p:nvSpPr>
          <p:cNvPr id="5" name="Text 2"/>
          <p:cNvSpPr txBox="1"/>
          <p:nvPr/>
        </p:nvSpPr>
        <p:spPr>
          <a:xfrm>
            <a:off x="761970" y="1361633"/>
            <a:ext cx="5321899" cy="7477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1875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粉專首頁 →「編輯粉絲專頁資訊」，把這四欄填完。</a:t>
            </a:r>
            <a:endParaRPr lang="en-US" sz="1875" dirty="0"/>
          </a:p>
        </p:txBody>
      </p:sp>
      <p:sp>
        <p:nvSpPr>
          <p:cNvPr id="6" name="Shape 3"/>
          <p:cNvSpPr/>
          <p:nvPr/>
        </p:nvSpPr>
        <p:spPr>
          <a:xfrm>
            <a:off x="800100" y="2276033"/>
            <a:ext cx="5300685" cy="1133490"/>
          </a:xfrm>
          <a:prstGeom prst="roundRect">
            <a:avLst>
              <a:gd name="adj" fmla="val 12609"/>
            </a:avLst>
          </a:prstGeom>
          <a:solidFill>
            <a:srgbClr val="FFFFFF">
              <a:alpha val="62000"/>
            </a:srgbClr>
          </a:solidFill>
          <a:ln w="9525">
            <a:solidFill>
              <a:srgbClr val="241C17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43021" y="2399843"/>
            <a:ext cx="531541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75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簡介</a:t>
            </a:r>
            <a:endParaRPr lang="en-US" sz="1575" dirty="0"/>
          </a:p>
        </p:txBody>
      </p:sp>
      <p:sp>
        <p:nvSpPr>
          <p:cNvPr id="8" name="Text 5"/>
          <p:cNvSpPr txBox="1"/>
          <p:nvPr/>
        </p:nvSpPr>
        <p:spPr>
          <a:xfrm>
            <a:off x="1438260" y="2399843"/>
            <a:ext cx="170627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7A6A5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一句話說你做什麼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943021" y="2714214"/>
            <a:ext cx="5139111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例：用當季水果小批製作的手工果醬，每週三西屯市集擺攤。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800100" y="3514314"/>
            <a:ext cx="5300685" cy="857250"/>
          </a:xfrm>
          <a:prstGeom prst="roundRect">
            <a:avLst>
              <a:gd name="adj" fmla="val 16672"/>
            </a:avLst>
          </a:prstGeom>
          <a:solidFill>
            <a:srgbClr val="FFFFFF">
              <a:alpha val="62000"/>
            </a:srgbClr>
          </a:solidFill>
          <a:ln w="9525">
            <a:solidFill>
              <a:srgbClr val="241C17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943021" y="3638123"/>
            <a:ext cx="531541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75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電話</a:t>
            </a:r>
            <a:endParaRPr lang="en-US" sz="1575" dirty="0"/>
          </a:p>
        </p:txBody>
      </p:sp>
      <p:sp>
        <p:nvSpPr>
          <p:cNvPr id="12" name="Text 9"/>
          <p:cNvSpPr txBox="1"/>
          <p:nvPr/>
        </p:nvSpPr>
        <p:spPr>
          <a:xfrm>
            <a:off x="1438260" y="3638123"/>
            <a:ext cx="150437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7A6A5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願意接電話再填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943021" y="3952403"/>
            <a:ext cx="1835658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例：0912-345-678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800100" y="4476262"/>
            <a:ext cx="5300685" cy="857250"/>
          </a:xfrm>
          <a:prstGeom prst="roundRect">
            <a:avLst>
              <a:gd name="adj" fmla="val 16672"/>
            </a:avLst>
          </a:prstGeom>
          <a:solidFill>
            <a:srgbClr val="FFFFFF">
              <a:alpha val="62000"/>
            </a:srgbClr>
          </a:solidFill>
          <a:ln w="9525">
            <a:solidFill>
              <a:srgbClr val="241C17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943021" y="4600164"/>
            <a:ext cx="1151047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75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地址／地區</a:t>
            </a:r>
            <a:endParaRPr lang="en-US" sz="1575" dirty="0"/>
          </a:p>
        </p:txBody>
      </p:sp>
      <p:sp>
        <p:nvSpPr>
          <p:cNvPr id="16" name="Text 13"/>
          <p:cNvSpPr txBox="1"/>
          <p:nvPr/>
        </p:nvSpPr>
        <p:spPr>
          <a:xfrm>
            <a:off x="2038380" y="4600164"/>
            <a:ext cx="170627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7A6A5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沒有店面就填區域</a:t>
            </a:r>
            <a:endParaRPr lang="en-US" sz="1500" dirty="0"/>
          </a:p>
        </p:txBody>
      </p:sp>
      <p:sp>
        <p:nvSpPr>
          <p:cNvPr id="17" name="Text 14"/>
          <p:cNvSpPr txBox="1"/>
          <p:nvPr/>
        </p:nvSpPr>
        <p:spPr>
          <a:xfrm>
            <a:off x="943021" y="4914443"/>
            <a:ext cx="170627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例：台中市西屯區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800100" y="5438303"/>
            <a:ext cx="5300685" cy="857250"/>
          </a:xfrm>
          <a:prstGeom prst="roundRect">
            <a:avLst>
              <a:gd name="adj" fmla="val 16672"/>
            </a:avLst>
          </a:prstGeom>
          <a:solidFill>
            <a:srgbClr val="FFFFFF">
              <a:alpha val="62000"/>
            </a:srgbClr>
          </a:solidFill>
          <a:ln w="9525">
            <a:solidFill>
              <a:srgbClr val="241C17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943021" y="5562112"/>
            <a:ext cx="1151047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75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網站／連結</a:t>
            </a:r>
            <a:endParaRPr lang="en-US" sz="1575" dirty="0"/>
          </a:p>
        </p:txBody>
      </p:sp>
      <p:sp>
        <p:nvSpPr>
          <p:cNvPr id="20" name="Text 17"/>
          <p:cNvSpPr txBox="1"/>
          <p:nvPr/>
        </p:nvSpPr>
        <p:spPr>
          <a:xfrm>
            <a:off x="2038380" y="5562112"/>
            <a:ext cx="225692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7A6A5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可以放 LINE 或訂購表單</a:t>
            </a:r>
            <a:endParaRPr lang="en-US" sz="1500" dirty="0"/>
          </a:p>
        </p:txBody>
      </p:sp>
      <p:sp>
        <p:nvSpPr>
          <p:cNvPr id="21" name="Text 18"/>
          <p:cNvSpPr txBox="1"/>
          <p:nvPr/>
        </p:nvSpPr>
        <p:spPr>
          <a:xfrm>
            <a:off x="943021" y="5876483"/>
            <a:ext cx="341958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例：line.me/R/ti/p/@xiaofangjam</a:t>
            </a:r>
            <a:endParaRPr lang="en-US" sz="1500" dirty="0"/>
          </a:p>
        </p:txBody>
      </p:sp>
      <p:pic>
        <p:nvPicPr>
          <p:cNvPr id="22" name="Image 1" descr="/home/user/gogoeveryday/social-course/export-pptx/build/img/p8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98608" y="404805"/>
            <a:ext cx="2590770" cy="5257800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8064825" y="5786415"/>
            <a:ext cx="1867845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spc="15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四欄填完就算完成</a:t>
            </a:r>
            <a:endParaRPr lang="en-US" sz="1500" dirty="0"/>
          </a:p>
        </p:txBody>
      </p:sp>
      <p:sp>
        <p:nvSpPr>
          <p:cNvPr id="24" name="Shape 20"/>
          <p:cNvSpPr/>
          <p:nvPr/>
        </p:nvSpPr>
        <p:spPr>
          <a:xfrm>
            <a:off x="10260208" y="228600"/>
            <a:ext cx="1131661" cy="447690"/>
          </a:xfrm>
          <a:prstGeom prst="roundRect">
            <a:avLst>
              <a:gd name="adj" fmla="val 50000"/>
            </a:avLst>
          </a:prstGeom>
          <a:solidFill>
            <a:srgbClr val="C05F3C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25" name="Text 21"/>
          <p:cNvSpPr txBox="1"/>
          <p:nvPr/>
        </p:nvSpPr>
        <p:spPr>
          <a:xfrm>
            <a:off x="10384018" y="304770"/>
            <a:ext cx="947136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90" kern="0" dirty="0">
                <a:solidFill>
                  <a:srgbClr val="FBF7F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手機實作</a:t>
            </a:r>
            <a:endParaRPr lang="en-US" sz="1500" dirty="0"/>
          </a:p>
        </p:txBody>
      </p:sp>
      <p:sp>
        <p:nvSpPr>
          <p:cNvPr id="26" name="Text 22"/>
          <p:cNvSpPr txBox="1"/>
          <p:nvPr/>
        </p:nvSpPr>
        <p:spPr>
          <a:xfrm>
            <a:off x="761970" y="6343650"/>
            <a:ext cx="2029877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PART 1 · 09:40</a:t>
            </a:r>
            <a:endParaRPr lang="en-US" sz="1500" dirty="0"/>
          </a:p>
        </p:txBody>
      </p:sp>
      <p:sp>
        <p:nvSpPr>
          <p:cNvPr id="27" name="Text 23"/>
          <p:cNvSpPr txBox="1"/>
          <p:nvPr/>
        </p:nvSpPr>
        <p:spPr>
          <a:xfrm>
            <a:off x="10810585" y="6343650"/>
            <a:ext cx="674644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8 / 42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social-course/export-pptx/build/bg/09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1970" y="543336"/>
            <a:ext cx="231206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50" kern="0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設定完成，先認識介面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761970" y="924367"/>
            <a:ext cx="2940619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94"/>
              </a:lnSpc>
              <a:buNone/>
            </a:pPr>
            <a:r>
              <a:rPr lang="en-US" sz="2700" b="1" spc="-54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粉專首頁有這五塊</a:t>
            </a:r>
            <a:endParaRPr lang="en-US" sz="2700" dirty="0"/>
          </a:p>
        </p:txBody>
      </p:sp>
      <p:sp>
        <p:nvSpPr>
          <p:cNvPr id="5" name="Shape 2"/>
          <p:cNvSpPr/>
          <p:nvPr/>
        </p:nvSpPr>
        <p:spPr>
          <a:xfrm>
            <a:off x="800100" y="1552103"/>
            <a:ext cx="5300685" cy="828721"/>
          </a:xfrm>
          <a:prstGeom prst="roundRect">
            <a:avLst>
              <a:gd name="adj" fmla="val 17246"/>
            </a:avLst>
          </a:prstGeom>
          <a:solidFill>
            <a:srgbClr val="FFFFFF">
              <a:alpha val="62000"/>
            </a:srgbClr>
          </a:solidFill>
          <a:ln w="9525">
            <a:solidFill>
              <a:srgbClr val="241C17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943021" y="1804568"/>
            <a:ext cx="341163" cy="323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1877F2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①</a:t>
            </a:r>
            <a:endParaRPr lang="en-US" sz="1650" dirty="0"/>
          </a:p>
        </p:txBody>
      </p:sp>
      <p:sp>
        <p:nvSpPr>
          <p:cNvPr id="7" name="Text 4"/>
          <p:cNvSpPr txBox="1"/>
          <p:nvPr/>
        </p:nvSpPr>
        <p:spPr>
          <a:xfrm>
            <a:off x="1286012" y="1675912"/>
            <a:ext cx="1363096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75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封面與大頭貼</a:t>
            </a:r>
            <a:endParaRPr lang="en-US" sz="1575" dirty="0"/>
          </a:p>
        </p:txBody>
      </p:sp>
      <p:sp>
        <p:nvSpPr>
          <p:cNvPr id="8" name="Text 5"/>
          <p:cNvSpPr txBox="1"/>
          <p:nvPr/>
        </p:nvSpPr>
        <p:spPr>
          <a:xfrm>
            <a:off x="1286012" y="1961662"/>
            <a:ext cx="150437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7A6A5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別人的第一印象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800100" y="2485614"/>
            <a:ext cx="5300685" cy="828721"/>
          </a:xfrm>
          <a:prstGeom prst="roundRect">
            <a:avLst>
              <a:gd name="adj" fmla="val 17246"/>
            </a:avLst>
          </a:prstGeom>
          <a:solidFill>
            <a:srgbClr val="FFFFFF">
              <a:alpha val="62000"/>
            </a:srgbClr>
          </a:solidFill>
          <a:ln w="9525">
            <a:solidFill>
              <a:srgbClr val="241C17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943021" y="2737988"/>
            <a:ext cx="341163" cy="323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1877F2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②</a:t>
            </a:r>
            <a:endParaRPr lang="en-US" sz="1650" dirty="0"/>
          </a:p>
        </p:txBody>
      </p:sp>
      <p:sp>
        <p:nvSpPr>
          <p:cNvPr id="11" name="Text 8"/>
          <p:cNvSpPr txBox="1"/>
          <p:nvPr/>
        </p:nvSpPr>
        <p:spPr>
          <a:xfrm>
            <a:off x="1286012" y="2609423"/>
            <a:ext cx="1151047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75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名稱與類別</a:t>
            </a:r>
            <a:endParaRPr lang="en-US" sz="1575" dirty="0"/>
          </a:p>
        </p:txBody>
      </p:sp>
      <p:sp>
        <p:nvSpPr>
          <p:cNvPr id="12" name="Text 9"/>
          <p:cNvSpPr txBox="1"/>
          <p:nvPr/>
        </p:nvSpPr>
        <p:spPr>
          <a:xfrm>
            <a:off x="1286012" y="2895173"/>
            <a:ext cx="170627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7A6A5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搜尋時會出現的字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800100" y="3419033"/>
            <a:ext cx="5300685" cy="828721"/>
          </a:xfrm>
          <a:prstGeom prst="roundRect">
            <a:avLst>
              <a:gd name="adj" fmla="val 17246"/>
            </a:avLst>
          </a:prstGeom>
          <a:solidFill>
            <a:srgbClr val="FFFFFF">
              <a:alpha val="62000"/>
            </a:srgbClr>
          </a:solidFill>
          <a:ln w="9525">
            <a:solidFill>
              <a:srgbClr val="241C17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943021" y="3671407"/>
            <a:ext cx="341163" cy="323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1877F2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③</a:t>
            </a:r>
            <a:endParaRPr lang="en-US" sz="1650" dirty="0"/>
          </a:p>
        </p:txBody>
      </p:sp>
      <p:sp>
        <p:nvSpPr>
          <p:cNvPr id="15" name="Text 12"/>
          <p:cNvSpPr txBox="1"/>
          <p:nvPr/>
        </p:nvSpPr>
        <p:spPr>
          <a:xfrm>
            <a:off x="1286012" y="3542843"/>
            <a:ext cx="531541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75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按鈕</a:t>
            </a:r>
            <a:endParaRPr lang="en-US" sz="1575" dirty="0"/>
          </a:p>
        </p:txBody>
      </p:sp>
      <p:sp>
        <p:nvSpPr>
          <p:cNvPr id="16" name="Text 13"/>
          <p:cNvSpPr txBox="1"/>
          <p:nvPr/>
        </p:nvSpPr>
        <p:spPr>
          <a:xfrm>
            <a:off x="1286012" y="3828593"/>
            <a:ext cx="190826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7A6A5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可設成「傳送訊息」</a:t>
            </a:r>
            <a:endParaRPr lang="en-US" sz="1500" dirty="0"/>
          </a:p>
        </p:txBody>
      </p:sp>
      <p:sp>
        <p:nvSpPr>
          <p:cNvPr id="17" name="Shape 14"/>
          <p:cNvSpPr/>
          <p:nvPr/>
        </p:nvSpPr>
        <p:spPr>
          <a:xfrm>
            <a:off x="800100" y="4352453"/>
            <a:ext cx="5300685" cy="828721"/>
          </a:xfrm>
          <a:prstGeom prst="roundRect">
            <a:avLst>
              <a:gd name="adj" fmla="val 17246"/>
            </a:avLst>
          </a:prstGeom>
          <a:solidFill>
            <a:srgbClr val="FFFFFF">
              <a:alpha val="62000"/>
            </a:srgbClr>
          </a:solidFill>
          <a:ln w="9525">
            <a:solidFill>
              <a:srgbClr val="241C17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943021" y="4604918"/>
            <a:ext cx="341163" cy="323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1877F2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④</a:t>
            </a:r>
            <a:endParaRPr lang="en-US" sz="1650" dirty="0"/>
          </a:p>
        </p:txBody>
      </p:sp>
      <p:sp>
        <p:nvSpPr>
          <p:cNvPr id="19" name="Text 16"/>
          <p:cNvSpPr txBox="1"/>
          <p:nvPr/>
        </p:nvSpPr>
        <p:spPr>
          <a:xfrm>
            <a:off x="1286012" y="4476262"/>
            <a:ext cx="731520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75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發文區</a:t>
            </a:r>
            <a:endParaRPr lang="en-US" sz="1575" dirty="0"/>
          </a:p>
        </p:txBody>
      </p:sp>
      <p:sp>
        <p:nvSpPr>
          <p:cNvPr id="20" name="Text 17"/>
          <p:cNvSpPr txBox="1"/>
          <p:nvPr/>
        </p:nvSpPr>
        <p:spPr>
          <a:xfrm>
            <a:off x="1286012" y="4762012"/>
            <a:ext cx="170627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7A6A5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點這裡開始寫貼文</a:t>
            </a:r>
            <a:endParaRPr lang="en-US" sz="1500" dirty="0"/>
          </a:p>
        </p:txBody>
      </p:sp>
      <p:sp>
        <p:nvSpPr>
          <p:cNvPr id="21" name="Shape 18"/>
          <p:cNvSpPr/>
          <p:nvPr/>
        </p:nvSpPr>
        <p:spPr>
          <a:xfrm>
            <a:off x="800100" y="5285964"/>
            <a:ext cx="5300685" cy="828721"/>
          </a:xfrm>
          <a:prstGeom prst="roundRect">
            <a:avLst>
              <a:gd name="adj" fmla="val 17246"/>
            </a:avLst>
          </a:prstGeom>
          <a:solidFill>
            <a:srgbClr val="FFFFFF">
              <a:alpha val="62000"/>
            </a:srgbClr>
          </a:solidFill>
          <a:ln w="9525">
            <a:solidFill>
              <a:srgbClr val="241C17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943021" y="5538338"/>
            <a:ext cx="341163" cy="323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1877F2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⑤</a:t>
            </a:r>
            <a:endParaRPr lang="en-US" sz="1650" dirty="0"/>
          </a:p>
        </p:txBody>
      </p:sp>
      <p:sp>
        <p:nvSpPr>
          <p:cNvPr id="23" name="Text 20"/>
          <p:cNvSpPr txBox="1"/>
          <p:nvPr/>
        </p:nvSpPr>
        <p:spPr>
          <a:xfrm>
            <a:off x="1286012" y="5409773"/>
            <a:ext cx="1363096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75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專業主頁面板</a:t>
            </a:r>
            <a:endParaRPr lang="en-US" sz="1575" dirty="0"/>
          </a:p>
        </p:txBody>
      </p:sp>
      <p:sp>
        <p:nvSpPr>
          <p:cNvPr id="24" name="Text 21"/>
          <p:cNvSpPr txBox="1"/>
          <p:nvPr/>
        </p:nvSpPr>
        <p:spPr>
          <a:xfrm>
            <a:off x="1286012" y="5695523"/>
            <a:ext cx="130247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7A6A5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看數據的入口</a:t>
            </a:r>
            <a:endParaRPr lang="en-US" sz="1500" dirty="0"/>
          </a:p>
        </p:txBody>
      </p:sp>
      <p:pic>
        <p:nvPicPr>
          <p:cNvPr id="25" name="Image 1" descr="/home/user/gogoeveryday/social-course/export-pptx/build/img/p9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98608" y="704820"/>
            <a:ext cx="2590770" cy="5257800"/>
          </a:xfrm>
          <a:prstGeom prst="rect">
            <a:avLst/>
          </a:prstGeom>
        </p:spPr>
      </p:pic>
      <p:sp>
        <p:nvSpPr>
          <p:cNvPr id="26" name="Shape 22"/>
          <p:cNvSpPr/>
          <p:nvPr/>
        </p:nvSpPr>
        <p:spPr>
          <a:xfrm>
            <a:off x="7260427" y="1581180"/>
            <a:ext cx="323880" cy="323880"/>
          </a:xfrm>
          <a:prstGeom prst="roundRect">
            <a:avLst>
              <a:gd name="adj" fmla="val 50000"/>
            </a:avLst>
          </a:prstGeom>
          <a:solidFill>
            <a:srgbClr val="1877F2"/>
          </a:solidFill>
          <a:ln/>
        </p:spPr>
      </p:sp>
      <p:sp>
        <p:nvSpPr>
          <p:cNvPr id="27" name="Text 23"/>
          <p:cNvSpPr txBox="1"/>
          <p:nvPr/>
        </p:nvSpPr>
        <p:spPr>
          <a:xfrm>
            <a:off x="7266188" y="1590690"/>
            <a:ext cx="32196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①</a:t>
            </a:r>
            <a:endParaRPr lang="en-US" sz="1500" dirty="0"/>
          </a:p>
        </p:txBody>
      </p:sp>
      <p:sp>
        <p:nvSpPr>
          <p:cNvPr id="28" name="Shape 24"/>
          <p:cNvSpPr/>
          <p:nvPr/>
        </p:nvSpPr>
        <p:spPr>
          <a:xfrm>
            <a:off x="7260427" y="2381280"/>
            <a:ext cx="323880" cy="323880"/>
          </a:xfrm>
          <a:prstGeom prst="roundRect">
            <a:avLst>
              <a:gd name="adj" fmla="val 50000"/>
            </a:avLst>
          </a:prstGeom>
          <a:solidFill>
            <a:srgbClr val="1877F2"/>
          </a:solidFill>
          <a:ln/>
        </p:spPr>
      </p:sp>
      <p:sp>
        <p:nvSpPr>
          <p:cNvPr id="29" name="Text 25"/>
          <p:cNvSpPr txBox="1"/>
          <p:nvPr/>
        </p:nvSpPr>
        <p:spPr>
          <a:xfrm>
            <a:off x="7266188" y="2390790"/>
            <a:ext cx="32196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②</a:t>
            </a:r>
            <a:endParaRPr lang="en-US" sz="1500" dirty="0"/>
          </a:p>
        </p:txBody>
      </p:sp>
      <p:sp>
        <p:nvSpPr>
          <p:cNvPr id="30" name="Shape 26"/>
          <p:cNvSpPr/>
          <p:nvPr/>
        </p:nvSpPr>
        <p:spPr>
          <a:xfrm>
            <a:off x="7260427" y="2914650"/>
            <a:ext cx="323880" cy="323880"/>
          </a:xfrm>
          <a:prstGeom prst="roundRect">
            <a:avLst>
              <a:gd name="adj" fmla="val 50000"/>
            </a:avLst>
          </a:prstGeom>
          <a:solidFill>
            <a:srgbClr val="1877F2"/>
          </a:solidFill>
          <a:ln/>
        </p:spPr>
      </p:sp>
      <p:sp>
        <p:nvSpPr>
          <p:cNvPr id="31" name="Text 27"/>
          <p:cNvSpPr txBox="1"/>
          <p:nvPr/>
        </p:nvSpPr>
        <p:spPr>
          <a:xfrm>
            <a:off x="7266188" y="2924160"/>
            <a:ext cx="32196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③</a:t>
            </a:r>
            <a:endParaRPr lang="en-US" sz="1500" dirty="0"/>
          </a:p>
        </p:txBody>
      </p:sp>
      <p:sp>
        <p:nvSpPr>
          <p:cNvPr id="32" name="Shape 28"/>
          <p:cNvSpPr/>
          <p:nvPr/>
        </p:nvSpPr>
        <p:spPr>
          <a:xfrm>
            <a:off x="10403677" y="3486150"/>
            <a:ext cx="323880" cy="323880"/>
          </a:xfrm>
          <a:prstGeom prst="roundRect">
            <a:avLst>
              <a:gd name="adj" fmla="val 50000"/>
            </a:avLst>
          </a:prstGeom>
          <a:solidFill>
            <a:srgbClr val="1877F2"/>
          </a:solidFill>
          <a:ln/>
        </p:spPr>
      </p:sp>
      <p:sp>
        <p:nvSpPr>
          <p:cNvPr id="33" name="Text 29"/>
          <p:cNvSpPr txBox="1"/>
          <p:nvPr/>
        </p:nvSpPr>
        <p:spPr>
          <a:xfrm>
            <a:off x="10409438" y="3495660"/>
            <a:ext cx="32196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④</a:t>
            </a:r>
            <a:endParaRPr lang="en-US" sz="1500" dirty="0"/>
          </a:p>
        </p:txBody>
      </p:sp>
      <p:sp>
        <p:nvSpPr>
          <p:cNvPr id="34" name="Shape 30"/>
          <p:cNvSpPr/>
          <p:nvPr/>
        </p:nvSpPr>
        <p:spPr>
          <a:xfrm>
            <a:off x="10403677" y="4038630"/>
            <a:ext cx="323880" cy="323880"/>
          </a:xfrm>
          <a:prstGeom prst="roundRect">
            <a:avLst>
              <a:gd name="adj" fmla="val 50000"/>
            </a:avLst>
          </a:prstGeom>
          <a:solidFill>
            <a:srgbClr val="1877F2"/>
          </a:solidFill>
          <a:ln/>
        </p:spPr>
      </p:sp>
      <p:sp>
        <p:nvSpPr>
          <p:cNvPr id="35" name="Text 31"/>
          <p:cNvSpPr txBox="1"/>
          <p:nvPr/>
        </p:nvSpPr>
        <p:spPr>
          <a:xfrm>
            <a:off x="10409438" y="4048140"/>
            <a:ext cx="32196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⑤</a:t>
            </a:r>
            <a:endParaRPr lang="en-US" sz="1500" dirty="0"/>
          </a:p>
        </p:txBody>
      </p:sp>
      <p:sp>
        <p:nvSpPr>
          <p:cNvPr id="36" name="Shape 32"/>
          <p:cNvSpPr/>
          <p:nvPr/>
        </p:nvSpPr>
        <p:spPr>
          <a:xfrm>
            <a:off x="10058400" y="228600"/>
            <a:ext cx="1333470" cy="447690"/>
          </a:xfrm>
          <a:prstGeom prst="roundRect">
            <a:avLst>
              <a:gd name="adj" fmla="val 50000"/>
            </a:avLst>
          </a:prstGeom>
          <a:solidFill>
            <a:srgbClr val="5F7A63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37" name="Text 33"/>
          <p:cNvSpPr txBox="1"/>
          <p:nvPr/>
        </p:nvSpPr>
        <p:spPr>
          <a:xfrm>
            <a:off x="10182210" y="304770"/>
            <a:ext cx="1161105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90" kern="0" dirty="0">
                <a:solidFill>
                  <a:srgbClr val="FBF7F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一起找位置</a:t>
            </a:r>
            <a:endParaRPr lang="en-US" sz="1500" dirty="0"/>
          </a:p>
        </p:txBody>
      </p:sp>
      <p:sp>
        <p:nvSpPr>
          <p:cNvPr id="38" name="Text 34"/>
          <p:cNvSpPr txBox="1"/>
          <p:nvPr/>
        </p:nvSpPr>
        <p:spPr>
          <a:xfrm>
            <a:off x="761970" y="6343650"/>
            <a:ext cx="2029877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PART 1 · 09:50</a:t>
            </a:r>
            <a:endParaRPr lang="en-US" sz="1500" dirty="0"/>
          </a:p>
        </p:txBody>
      </p:sp>
      <p:sp>
        <p:nvSpPr>
          <p:cNvPr id="39" name="Text 35"/>
          <p:cNvSpPr txBox="1"/>
          <p:nvPr/>
        </p:nvSpPr>
        <p:spPr>
          <a:xfrm>
            <a:off x="10810585" y="6343650"/>
            <a:ext cx="674644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9 / 42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social-course/export-pptx/build/bg/1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1970" y="443393"/>
            <a:ext cx="1423629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50" kern="0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休息前先確認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761970" y="824332"/>
            <a:ext cx="3296869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94"/>
              </a:lnSpc>
              <a:buNone/>
            </a:pPr>
            <a:r>
              <a:rPr lang="en-US" sz="2700" b="1" spc="-54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這六項都做到了嗎？</a:t>
            </a:r>
            <a:endParaRPr lang="en-US" sz="2700" dirty="0"/>
          </a:p>
        </p:txBody>
      </p:sp>
      <p:sp>
        <p:nvSpPr>
          <p:cNvPr id="5" name="Shape 2"/>
          <p:cNvSpPr/>
          <p:nvPr/>
        </p:nvSpPr>
        <p:spPr>
          <a:xfrm>
            <a:off x="800100" y="1452159"/>
            <a:ext cx="5805526" cy="552480"/>
          </a:xfrm>
          <a:prstGeom prst="roundRect">
            <a:avLst>
              <a:gd name="adj" fmla="val 24131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1304940" y="1575968"/>
            <a:ext cx="1787103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粉絲專頁已經建立</a:t>
            </a:r>
            <a:endParaRPr lang="en-US" sz="1575" dirty="0"/>
          </a:p>
        </p:txBody>
      </p:sp>
      <p:sp>
        <p:nvSpPr>
          <p:cNvPr id="7" name="Shape 4"/>
          <p:cNvSpPr/>
          <p:nvPr/>
        </p:nvSpPr>
        <p:spPr>
          <a:xfrm>
            <a:off x="800100" y="2118848"/>
            <a:ext cx="5805526" cy="552480"/>
          </a:xfrm>
          <a:prstGeom prst="roundRect">
            <a:avLst>
              <a:gd name="adj" fmla="val 24131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1304940" y="2242657"/>
            <a:ext cx="2635209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名稱是「做什麼＋在哪裡」</a:t>
            </a:r>
            <a:endParaRPr lang="en-US" sz="1575" dirty="0"/>
          </a:p>
        </p:txBody>
      </p:sp>
      <p:sp>
        <p:nvSpPr>
          <p:cNvPr id="9" name="Shape 6"/>
          <p:cNvSpPr/>
          <p:nvPr/>
        </p:nvSpPr>
        <p:spPr>
          <a:xfrm>
            <a:off x="800100" y="2785628"/>
            <a:ext cx="5805526" cy="552480"/>
          </a:xfrm>
          <a:prstGeom prst="roundRect">
            <a:avLst>
              <a:gd name="adj" fmla="val 24131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1304940" y="2909438"/>
            <a:ext cx="1363096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大頭貼換好了</a:t>
            </a:r>
            <a:endParaRPr lang="en-US" sz="1575" dirty="0"/>
          </a:p>
        </p:txBody>
      </p:sp>
      <p:sp>
        <p:nvSpPr>
          <p:cNvPr id="11" name="Shape 8"/>
          <p:cNvSpPr/>
          <p:nvPr/>
        </p:nvSpPr>
        <p:spPr>
          <a:xfrm>
            <a:off x="800100" y="3452409"/>
            <a:ext cx="5805526" cy="552480"/>
          </a:xfrm>
          <a:prstGeom prst="roundRect">
            <a:avLst>
              <a:gd name="adj" fmla="val 24131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2" name="Text 9"/>
          <p:cNvSpPr txBox="1"/>
          <p:nvPr/>
        </p:nvSpPr>
        <p:spPr>
          <a:xfrm>
            <a:off x="1304940" y="3576218"/>
            <a:ext cx="1575054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封面照片換好了</a:t>
            </a:r>
            <a:endParaRPr lang="en-US" sz="1575" dirty="0"/>
          </a:p>
        </p:txBody>
      </p:sp>
      <p:sp>
        <p:nvSpPr>
          <p:cNvPr id="13" name="Shape 10"/>
          <p:cNvSpPr/>
          <p:nvPr/>
        </p:nvSpPr>
        <p:spPr>
          <a:xfrm>
            <a:off x="800100" y="4119098"/>
            <a:ext cx="5805526" cy="552480"/>
          </a:xfrm>
          <a:prstGeom prst="roundRect">
            <a:avLst>
              <a:gd name="adj" fmla="val 24131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4" name="Text 11"/>
          <p:cNvSpPr txBox="1"/>
          <p:nvPr/>
        </p:nvSpPr>
        <p:spPr>
          <a:xfrm>
            <a:off x="1304940" y="4242907"/>
            <a:ext cx="1151047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簡介填好了</a:t>
            </a:r>
            <a:endParaRPr lang="en-US" sz="1575" dirty="0"/>
          </a:p>
        </p:txBody>
      </p:sp>
      <p:sp>
        <p:nvSpPr>
          <p:cNvPr id="15" name="Shape 12"/>
          <p:cNvSpPr/>
          <p:nvPr/>
        </p:nvSpPr>
        <p:spPr>
          <a:xfrm>
            <a:off x="800100" y="4785878"/>
            <a:ext cx="5805526" cy="552480"/>
          </a:xfrm>
          <a:prstGeom prst="roundRect">
            <a:avLst>
              <a:gd name="adj" fmla="val 24131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1304940" y="4909688"/>
            <a:ext cx="2211202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至少留了一個聯絡方式</a:t>
            </a:r>
            <a:endParaRPr lang="en-US" sz="1575" dirty="0"/>
          </a:p>
        </p:txBody>
      </p:sp>
      <p:sp>
        <p:nvSpPr>
          <p:cNvPr id="17" name="Shape 14"/>
          <p:cNvSpPr/>
          <p:nvPr/>
        </p:nvSpPr>
        <p:spPr>
          <a:xfrm>
            <a:off x="800100" y="5509809"/>
            <a:ext cx="5805526" cy="704820"/>
          </a:xfrm>
          <a:prstGeom prst="roundRect">
            <a:avLst>
              <a:gd name="adj" fmla="val 24325"/>
            </a:avLst>
          </a:prstGeom>
          <a:solidFill>
            <a:srgbClr val="DFE8DC"/>
          </a:solidFill>
          <a:ln/>
        </p:spPr>
      </p:sp>
      <p:sp>
        <p:nvSpPr>
          <p:cNvPr id="18" name="Shape 15"/>
          <p:cNvSpPr/>
          <p:nvPr/>
        </p:nvSpPr>
        <p:spPr>
          <a:xfrm>
            <a:off x="800100" y="5509809"/>
            <a:ext cx="47640" cy="704820"/>
          </a:xfrm>
          <a:prstGeom prst="rect">
            <a:avLst/>
          </a:prstGeom>
          <a:solidFill>
            <a:srgbClr val="5F7A63"/>
          </a:solidFill>
          <a:ln/>
        </p:spPr>
      </p:sp>
      <p:pic>
        <p:nvPicPr>
          <p:cNvPr id="19" name="Image 1" descr="/home/user/gogoeveryday/social-course/export-pptx/build/img/p10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360" y="5700278"/>
            <a:ext cx="323880" cy="323880"/>
          </a:xfrm>
          <a:prstGeom prst="rect">
            <a:avLst/>
          </a:prstGeom>
        </p:spPr>
      </p:pic>
      <p:sp>
        <p:nvSpPr>
          <p:cNvPr id="20" name="Text 16"/>
          <p:cNvSpPr txBox="1"/>
          <p:nvPr/>
        </p:nvSpPr>
        <p:spPr>
          <a:xfrm>
            <a:off x="1533540" y="5707136"/>
            <a:ext cx="4119372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已經完成的人，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5F7A6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請幫忙旁邊還沒好的同學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。</a:t>
            </a:r>
            <a:endParaRPr lang="en-US" sz="1575" dirty="0"/>
          </a:p>
        </p:txBody>
      </p:sp>
      <p:pic>
        <p:nvPicPr>
          <p:cNvPr id="21" name="Image 2" descr="/home/user/gogoeveryday/social-course/export-pptx/build/img/p10-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12852" y="1881469"/>
            <a:ext cx="2667030" cy="2256648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8095092" y="4309659"/>
            <a:ext cx="231206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spc="15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你的店面，已經開好了</a:t>
            </a:r>
            <a:endParaRPr lang="en-US" sz="1500" dirty="0"/>
          </a:p>
        </p:txBody>
      </p:sp>
      <p:sp>
        <p:nvSpPr>
          <p:cNvPr id="23" name="Shape 18"/>
          <p:cNvSpPr/>
          <p:nvPr/>
        </p:nvSpPr>
        <p:spPr>
          <a:xfrm>
            <a:off x="10260208" y="228600"/>
            <a:ext cx="1131661" cy="447690"/>
          </a:xfrm>
          <a:prstGeom prst="roundRect">
            <a:avLst>
              <a:gd name="adj" fmla="val 50000"/>
            </a:avLst>
          </a:prstGeom>
          <a:solidFill>
            <a:srgbClr val="C05F3C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24" name="Text 19"/>
          <p:cNvSpPr txBox="1"/>
          <p:nvPr/>
        </p:nvSpPr>
        <p:spPr>
          <a:xfrm>
            <a:off x="10384018" y="304770"/>
            <a:ext cx="947136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90" kern="0" dirty="0">
                <a:solidFill>
                  <a:srgbClr val="FBF7F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成果確認</a:t>
            </a:r>
            <a:endParaRPr lang="en-US" sz="1500" dirty="0"/>
          </a:p>
        </p:txBody>
      </p:sp>
      <p:sp>
        <p:nvSpPr>
          <p:cNvPr id="25" name="Text 20"/>
          <p:cNvSpPr txBox="1"/>
          <p:nvPr/>
        </p:nvSpPr>
        <p:spPr>
          <a:xfrm>
            <a:off x="761970" y="6343650"/>
            <a:ext cx="2029877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PART 1 · 10:00</a:t>
            </a:r>
            <a:endParaRPr lang="en-US" sz="1500" dirty="0"/>
          </a:p>
        </p:txBody>
      </p:sp>
      <p:sp>
        <p:nvSpPr>
          <p:cNvPr id="26" name="Text 21"/>
          <p:cNvSpPr txBox="1"/>
          <p:nvPr/>
        </p:nvSpPr>
        <p:spPr>
          <a:xfrm>
            <a:off x="10690616" y="6343650"/>
            <a:ext cx="794614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10 / 42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social-course/export-pptx/build/bg/1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09630" y="586222"/>
            <a:ext cx="2222175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50" kern="0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休息回來 · 開始發文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609630" y="967252"/>
            <a:ext cx="3653028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94"/>
              </a:lnSpc>
              <a:buNone/>
            </a:pPr>
            <a:r>
              <a:rPr lang="en-US" sz="2700" b="1" spc="-54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發一篇貼文，四個步驟</a:t>
            </a:r>
            <a:endParaRPr lang="en-US" sz="2700" dirty="0"/>
          </a:p>
        </p:txBody>
      </p:sp>
      <p:pic>
        <p:nvPicPr>
          <p:cNvPr id="5" name="Image 1" descr="/home/user/gogoeveryday/social-course/export-pptx/build/img/p11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76420" y="1642628"/>
            <a:ext cx="1866930" cy="3733770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1933590" y="1499707"/>
            <a:ext cx="361920" cy="361920"/>
          </a:xfrm>
          <a:prstGeom prst="roundRect">
            <a:avLst>
              <a:gd name="adj" fmla="val 50000"/>
            </a:avLst>
          </a:prstGeom>
          <a:solidFill>
            <a:srgbClr val="C05F3C"/>
          </a:solidFill>
          <a:ln w="28575">
            <a:solidFill>
              <a:srgbClr val="FBF7F1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7" name="Text 3"/>
          <p:cNvSpPr txBox="1"/>
          <p:nvPr/>
        </p:nvSpPr>
        <p:spPr>
          <a:xfrm>
            <a:off x="1997324" y="1533083"/>
            <a:ext cx="24396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</a:t>
            </a:r>
            <a:endParaRPr lang="en-US" sz="1500" dirty="0"/>
          </a:p>
        </p:txBody>
      </p:sp>
      <p:sp>
        <p:nvSpPr>
          <p:cNvPr id="8" name="Text 4"/>
          <p:cNvSpPr txBox="1"/>
          <p:nvPr/>
        </p:nvSpPr>
        <p:spPr>
          <a:xfrm>
            <a:off x="2565349" y="5443057"/>
            <a:ext cx="89858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950"/>
              </a:lnSpc>
              <a:buNone/>
            </a:pPr>
            <a:r>
              <a:rPr lang="en-US" sz="1500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點發文區</a:t>
            </a:r>
            <a:endParaRPr lang="en-US" sz="1500" dirty="0"/>
          </a:p>
        </p:txBody>
      </p:sp>
      <p:sp>
        <p:nvSpPr>
          <p:cNvPr id="9" name="Text 5"/>
          <p:cNvSpPr txBox="1"/>
          <p:nvPr/>
        </p:nvSpPr>
        <p:spPr>
          <a:xfrm>
            <a:off x="2161550" y="5747918"/>
            <a:ext cx="170627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7A6A5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「在想些什麼？」</a:t>
            </a:r>
            <a:endParaRPr lang="en-US" sz="1500" dirty="0"/>
          </a:p>
        </p:txBody>
      </p:sp>
      <p:pic>
        <p:nvPicPr>
          <p:cNvPr id="10" name="Image 2" descr="/home/user/gogoeveryday/social-course/export-pptx/build/img/p11-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33820" y="1642628"/>
            <a:ext cx="1866930" cy="3733770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3990990" y="1499707"/>
            <a:ext cx="361920" cy="361920"/>
          </a:xfrm>
          <a:prstGeom prst="roundRect">
            <a:avLst>
              <a:gd name="adj" fmla="val 50000"/>
            </a:avLst>
          </a:prstGeom>
          <a:solidFill>
            <a:srgbClr val="C05F3C"/>
          </a:solidFill>
          <a:ln w="28575">
            <a:solidFill>
              <a:srgbClr val="FBF7F1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2" name="Text 7"/>
          <p:cNvSpPr txBox="1"/>
          <p:nvPr/>
        </p:nvSpPr>
        <p:spPr>
          <a:xfrm>
            <a:off x="4054724" y="1533083"/>
            <a:ext cx="24396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Text 8"/>
          <p:cNvSpPr txBox="1"/>
          <p:nvPr/>
        </p:nvSpPr>
        <p:spPr>
          <a:xfrm>
            <a:off x="4815870" y="5443057"/>
            <a:ext cx="51243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950"/>
              </a:lnSpc>
              <a:buNone/>
            </a:pPr>
            <a:r>
              <a:rPr lang="en-US" sz="1500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打字</a:t>
            </a:r>
            <a:endParaRPr lang="en-US" sz="1500" dirty="0"/>
          </a:p>
        </p:txBody>
      </p:sp>
      <p:sp>
        <p:nvSpPr>
          <p:cNvPr id="14" name="Text 9"/>
          <p:cNvSpPr txBox="1"/>
          <p:nvPr/>
        </p:nvSpPr>
        <p:spPr>
          <a:xfrm>
            <a:off x="4420850" y="5747918"/>
            <a:ext cx="130247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7A6A5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寫幾句話就好</a:t>
            </a:r>
            <a:endParaRPr lang="en-US" sz="1500" dirty="0"/>
          </a:p>
        </p:txBody>
      </p:sp>
      <p:pic>
        <p:nvPicPr>
          <p:cNvPr id="15" name="Image 3" descr="/home/user/gogoeveryday/social-course/export-pptx/build/img/p11-3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91220" y="1642628"/>
            <a:ext cx="1866930" cy="3733770"/>
          </a:xfrm>
          <a:prstGeom prst="rect">
            <a:avLst/>
          </a:prstGeom>
        </p:spPr>
      </p:pic>
      <p:sp>
        <p:nvSpPr>
          <p:cNvPr id="16" name="Shape 10"/>
          <p:cNvSpPr/>
          <p:nvPr/>
        </p:nvSpPr>
        <p:spPr>
          <a:xfrm>
            <a:off x="6048390" y="1499707"/>
            <a:ext cx="361920" cy="361920"/>
          </a:xfrm>
          <a:prstGeom prst="roundRect">
            <a:avLst>
              <a:gd name="adj" fmla="val 50000"/>
            </a:avLst>
          </a:prstGeom>
          <a:solidFill>
            <a:srgbClr val="C05F3C"/>
          </a:solidFill>
          <a:ln w="28575">
            <a:solidFill>
              <a:srgbClr val="FBF7F1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7" name="Text 11"/>
          <p:cNvSpPr txBox="1"/>
          <p:nvPr/>
        </p:nvSpPr>
        <p:spPr>
          <a:xfrm>
            <a:off x="6112124" y="1533083"/>
            <a:ext cx="24396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3</a:t>
            </a:r>
            <a:endParaRPr lang="en-US" sz="1500" dirty="0"/>
          </a:p>
        </p:txBody>
      </p:sp>
      <p:sp>
        <p:nvSpPr>
          <p:cNvPr id="18" name="Text 12"/>
          <p:cNvSpPr txBox="1"/>
          <p:nvPr/>
        </p:nvSpPr>
        <p:spPr>
          <a:xfrm>
            <a:off x="6777990" y="5443057"/>
            <a:ext cx="70299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950"/>
              </a:lnSpc>
              <a:buNone/>
            </a:pPr>
            <a:r>
              <a:rPr lang="en-US" sz="1500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加照片</a:t>
            </a:r>
            <a:endParaRPr lang="en-US" sz="1500" dirty="0"/>
          </a:p>
        </p:txBody>
      </p:sp>
      <p:sp>
        <p:nvSpPr>
          <p:cNvPr id="19" name="Text 13"/>
          <p:cNvSpPr txBox="1"/>
          <p:nvPr/>
        </p:nvSpPr>
        <p:spPr>
          <a:xfrm>
            <a:off x="6276350" y="5747918"/>
            <a:ext cx="170627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7A6A5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點「相片／影片」</a:t>
            </a:r>
            <a:endParaRPr lang="en-US" sz="1500" dirty="0"/>
          </a:p>
        </p:txBody>
      </p:sp>
      <p:pic>
        <p:nvPicPr>
          <p:cNvPr id="20" name="Image 4" descr="/home/user/gogoeveryday/social-course/export-pptx/build/img/p11-4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48620" y="1642628"/>
            <a:ext cx="1866930" cy="3733770"/>
          </a:xfrm>
          <a:prstGeom prst="rect">
            <a:avLst/>
          </a:prstGeom>
        </p:spPr>
      </p:pic>
      <p:sp>
        <p:nvSpPr>
          <p:cNvPr id="21" name="Shape 14"/>
          <p:cNvSpPr/>
          <p:nvPr/>
        </p:nvSpPr>
        <p:spPr>
          <a:xfrm>
            <a:off x="8105790" y="1499707"/>
            <a:ext cx="361920" cy="361920"/>
          </a:xfrm>
          <a:prstGeom prst="roundRect">
            <a:avLst>
              <a:gd name="adj" fmla="val 50000"/>
            </a:avLst>
          </a:prstGeom>
          <a:solidFill>
            <a:srgbClr val="C05F3C"/>
          </a:solidFill>
          <a:ln w="28575">
            <a:solidFill>
              <a:srgbClr val="FBF7F1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22" name="Text 15"/>
          <p:cNvSpPr txBox="1"/>
          <p:nvPr/>
        </p:nvSpPr>
        <p:spPr>
          <a:xfrm>
            <a:off x="8169524" y="1533083"/>
            <a:ext cx="24396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4</a:t>
            </a:r>
            <a:endParaRPr lang="en-US" sz="1500" dirty="0"/>
          </a:p>
        </p:txBody>
      </p:sp>
      <p:sp>
        <p:nvSpPr>
          <p:cNvPr id="23" name="Text 16"/>
          <p:cNvSpPr txBox="1"/>
          <p:nvPr/>
        </p:nvSpPr>
        <p:spPr>
          <a:xfrm>
            <a:off x="8835390" y="5443057"/>
            <a:ext cx="70299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950"/>
              </a:lnSpc>
              <a:buNone/>
            </a:pPr>
            <a:r>
              <a:rPr lang="en-US" sz="1500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按發布</a:t>
            </a:r>
            <a:endParaRPr lang="en-US" sz="1500" dirty="0"/>
          </a:p>
        </p:txBody>
      </p:sp>
      <p:sp>
        <p:nvSpPr>
          <p:cNvPr id="24" name="Text 17"/>
          <p:cNvSpPr txBox="1"/>
          <p:nvPr/>
        </p:nvSpPr>
        <p:spPr>
          <a:xfrm>
            <a:off x="8930670" y="5747918"/>
            <a:ext cx="51243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7A6A5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完成</a:t>
            </a:r>
            <a:endParaRPr lang="en-US" sz="1500" dirty="0"/>
          </a:p>
        </p:txBody>
      </p:sp>
      <p:sp>
        <p:nvSpPr>
          <p:cNvPr id="25" name="Shape 18"/>
          <p:cNvSpPr/>
          <p:nvPr/>
        </p:nvSpPr>
        <p:spPr>
          <a:xfrm>
            <a:off x="10260208" y="228600"/>
            <a:ext cx="1131661" cy="447690"/>
          </a:xfrm>
          <a:prstGeom prst="roundRect">
            <a:avLst>
              <a:gd name="adj" fmla="val 50000"/>
            </a:avLst>
          </a:prstGeom>
          <a:solidFill>
            <a:srgbClr val="C05F3C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26" name="Text 19"/>
          <p:cNvSpPr txBox="1"/>
          <p:nvPr/>
        </p:nvSpPr>
        <p:spPr>
          <a:xfrm>
            <a:off x="10384018" y="304770"/>
            <a:ext cx="947136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90" kern="0" dirty="0">
                <a:solidFill>
                  <a:srgbClr val="FBF7F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手機實作</a:t>
            </a:r>
            <a:endParaRPr lang="en-US" sz="1500" dirty="0"/>
          </a:p>
        </p:txBody>
      </p:sp>
      <p:sp>
        <p:nvSpPr>
          <p:cNvPr id="27" name="Text 20"/>
          <p:cNvSpPr txBox="1"/>
          <p:nvPr/>
        </p:nvSpPr>
        <p:spPr>
          <a:xfrm>
            <a:off x="761970" y="6343650"/>
            <a:ext cx="2029877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PART 1 · 10:20</a:t>
            </a:r>
            <a:endParaRPr lang="en-US" sz="1500" dirty="0"/>
          </a:p>
        </p:txBody>
      </p:sp>
      <p:sp>
        <p:nvSpPr>
          <p:cNvPr id="28" name="Text 21"/>
          <p:cNvSpPr txBox="1"/>
          <p:nvPr/>
        </p:nvSpPr>
        <p:spPr>
          <a:xfrm>
            <a:off x="10690616" y="6343650"/>
            <a:ext cx="794614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11 / 42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social-course/export-pptx/build/bg/1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1970" y="1062350"/>
            <a:ext cx="120152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50" kern="0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發出去之後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761970" y="1443380"/>
            <a:ext cx="2940619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94"/>
              </a:lnSpc>
              <a:buNone/>
            </a:pPr>
            <a:r>
              <a:rPr lang="en-US" sz="2700" b="1" spc="-54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這四件事一定要會</a:t>
            </a:r>
            <a:endParaRPr lang="en-US" sz="2700" dirty="0"/>
          </a:p>
        </p:txBody>
      </p:sp>
      <p:sp>
        <p:nvSpPr>
          <p:cNvPr id="5" name="Shape 2"/>
          <p:cNvSpPr/>
          <p:nvPr/>
        </p:nvSpPr>
        <p:spPr>
          <a:xfrm>
            <a:off x="800100" y="2252076"/>
            <a:ext cx="2505090" cy="2476835"/>
          </a:xfrm>
          <a:prstGeom prst="roundRect">
            <a:avLst>
              <a:gd name="adj" fmla="val 9230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1000171" y="2471166"/>
            <a:ext cx="552480" cy="552480"/>
          </a:xfrm>
          <a:prstGeom prst="roundRect">
            <a:avLst>
              <a:gd name="adj" fmla="val 27590"/>
            </a:avLst>
          </a:prstGeom>
          <a:solidFill>
            <a:srgbClr val="FBEEE6"/>
          </a:solidFill>
          <a:ln/>
        </p:spPr>
      </p:sp>
      <p:pic>
        <p:nvPicPr>
          <p:cNvPr id="7" name="Image 1" descr="/home/user/gogoeveryday/social-course/export-pptx/build/img/p12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7321" y="2528316"/>
            <a:ext cx="438180" cy="43818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2040" y="3128345"/>
            <a:ext cx="565282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25" b="1" spc="-17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編輯</a:t>
            </a:r>
            <a:endParaRPr lang="en-US" sz="1725" dirty="0"/>
          </a:p>
        </p:txBody>
      </p:sp>
      <p:sp>
        <p:nvSpPr>
          <p:cNvPr id="9" name="Text 5"/>
          <p:cNvSpPr txBox="1"/>
          <p:nvPr/>
        </p:nvSpPr>
        <p:spPr>
          <a:xfrm>
            <a:off x="962040" y="3490356"/>
            <a:ext cx="89858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7A6A5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打錯字了</a:t>
            </a:r>
            <a:endParaRPr lang="en-US" sz="1500" dirty="0"/>
          </a:p>
        </p:txBody>
      </p:sp>
      <p:sp>
        <p:nvSpPr>
          <p:cNvPr id="10" name="Text 6"/>
          <p:cNvSpPr txBox="1"/>
          <p:nvPr/>
        </p:nvSpPr>
        <p:spPr>
          <a:xfrm>
            <a:off x="962040" y="3871295"/>
            <a:ext cx="2211202" cy="6288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52"/>
              </a:lnSpc>
              <a:buNone/>
            </a:pPr>
            <a:r>
              <a:rPr lang="en-US" sz="1575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點貼文右上角「⋯」→ 編輯貼文</a:t>
            </a:r>
            <a:endParaRPr lang="en-US" sz="1575" dirty="0"/>
          </a:p>
        </p:txBody>
      </p:sp>
      <p:sp>
        <p:nvSpPr>
          <p:cNvPr id="11" name="Shape 7"/>
          <p:cNvSpPr/>
          <p:nvPr/>
        </p:nvSpPr>
        <p:spPr>
          <a:xfrm>
            <a:off x="3495660" y="2252076"/>
            <a:ext cx="2505090" cy="2476835"/>
          </a:xfrm>
          <a:prstGeom prst="roundRect">
            <a:avLst>
              <a:gd name="adj" fmla="val 9230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3695730" y="2471166"/>
            <a:ext cx="552480" cy="552480"/>
          </a:xfrm>
          <a:prstGeom prst="roundRect">
            <a:avLst>
              <a:gd name="adj" fmla="val 27590"/>
            </a:avLst>
          </a:prstGeom>
          <a:solidFill>
            <a:srgbClr val="F8E6C9"/>
          </a:solidFill>
          <a:ln/>
        </p:spPr>
      </p:sp>
      <p:pic>
        <p:nvPicPr>
          <p:cNvPr id="13" name="Image 2" descr="/home/user/gogoeveryday/social-course/export-pptx/build/img/p12-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52880" y="2528316"/>
            <a:ext cx="438180" cy="43818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3657600" y="3128345"/>
            <a:ext cx="565282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25" b="1" spc="-17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刪除</a:t>
            </a:r>
            <a:endParaRPr lang="en-US" sz="1725" dirty="0"/>
          </a:p>
        </p:txBody>
      </p:sp>
      <p:sp>
        <p:nvSpPr>
          <p:cNvPr id="15" name="Text 10"/>
          <p:cNvSpPr txBox="1"/>
          <p:nvPr/>
        </p:nvSpPr>
        <p:spPr>
          <a:xfrm>
            <a:off x="3657600" y="3490356"/>
            <a:ext cx="110048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7A6A5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發錯想收回</a:t>
            </a:r>
            <a:endParaRPr lang="en-US" sz="1500" dirty="0"/>
          </a:p>
        </p:txBody>
      </p:sp>
      <p:sp>
        <p:nvSpPr>
          <p:cNvPr id="16" name="Text 11"/>
          <p:cNvSpPr txBox="1"/>
          <p:nvPr/>
        </p:nvSpPr>
        <p:spPr>
          <a:xfrm>
            <a:off x="3657600" y="3871295"/>
            <a:ext cx="2046793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52"/>
              </a:lnSpc>
              <a:buNone/>
            </a:pPr>
            <a:r>
              <a:rPr lang="en-US" sz="1575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點「⋯」→ 刪除貼文</a:t>
            </a:r>
            <a:endParaRPr lang="en-US" sz="1575" dirty="0"/>
          </a:p>
        </p:txBody>
      </p:sp>
      <p:sp>
        <p:nvSpPr>
          <p:cNvPr id="17" name="Shape 12"/>
          <p:cNvSpPr/>
          <p:nvPr/>
        </p:nvSpPr>
        <p:spPr>
          <a:xfrm>
            <a:off x="6191220" y="2252076"/>
            <a:ext cx="2505090" cy="2476835"/>
          </a:xfrm>
          <a:prstGeom prst="roundRect">
            <a:avLst>
              <a:gd name="adj" fmla="val 9230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8" name="Shape 13"/>
          <p:cNvSpPr/>
          <p:nvPr/>
        </p:nvSpPr>
        <p:spPr>
          <a:xfrm>
            <a:off x="6391290" y="2471166"/>
            <a:ext cx="552480" cy="552480"/>
          </a:xfrm>
          <a:prstGeom prst="roundRect">
            <a:avLst>
              <a:gd name="adj" fmla="val 27590"/>
            </a:avLst>
          </a:prstGeom>
          <a:solidFill>
            <a:srgbClr val="DFE8DC"/>
          </a:solidFill>
          <a:ln/>
        </p:spPr>
      </p:sp>
      <p:pic>
        <p:nvPicPr>
          <p:cNvPr id="19" name="Image 3" descr="/home/user/gogoeveryday/social-course/export-pptx/build/img/p12-3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48440" y="2528316"/>
            <a:ext cx="438180" cy="438180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6353160" y="3128345"/>
            <a:ext cx="565282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25" b="1" spc="-17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置頂</a:t>
            </a:r>
            <a:endParaRPr lang="en-US" sz="1725" dirty="0"/>
          </a:p>
        </p:txBody>
      </p:sp>
      <p:sp>
        <p:nvSpPr>
          <p:cNvPr id="21" name="Text 15"/>
          <p:cNvSpPr txBox="1"/>
          <p:nvPr/>
        </p:nvSpPr>
        <p:spPr>
          <a:xfrm>
            <a:off x="6353160" y="3490356"/>
            <a:ext cx="150437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7A6A5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想讓它排最前面</a:t>
            </a:r>
            <a:endParaRPr lang="en-US" sz="1500" dirty="0"/>
          </a:p>
        </p:txBody>
      </p:sp>
      <p:sp>
        <p:nvSpPr>
          <p:cNvPr id="22" name="Text 16"/>
          <p:cNvSpPr txBox="1"/>
          <p:nvPr/>
        </p:nvSpPr>
        <p:spPr>
          <a:xfrm>
            <a:off x="6353160" y="3871295"/>
            <a:ext cx="2258568" cy="6288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52"/>
              </a:lnSpc>
              <a:buNone/>
            </a:pPr>
            <a:r>
              <a:rPr lang="en-US" sz="1575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點「⋯」→ 置頂於粉絲專頁</a:t>
            </a:r>
            <a:endParaRPr lang="en-US" sz="1575" dirty="0"/>
          </a:p>
        </p:txBody>
      </p:sp>
      <p:sp>
        <p:nvSpPr>
          <p:cNvPr id="23" name="Shape 17"/>
          <p:cNvSpPr/>
          <p:nvPr/>
        </p:nvSpPr>
        <p:spPr>
          <a:xfrm>
            <a:off x="8886871" y="2252076"/>
            <a:ext cx="2505090" cy="2476835"/>
          </a:xfrm>
          <a:prstGeom prst="roundRect">
            <a:avLst>
              <a:gd name="adj" fmla="val 9230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24" name="Shape 18"/>
          <p:cNvSpPr/>
          <p:nvPr/>
        </p:nvSpPr>
        <p:spPr>
          <a:xfrm>
            <a:off x="9086850" y="2471166"/>
            <a:ext cx="552480" cy="552480"/>
          </a:xfrm>
          <a:prstGeom prst="roundRect">
            <a:avLst>
              <a:gd name="adj" fmla="val 27590"/>
            </a:avLst>
          </a:prstGeom>
          <a:solidFill>
            <a:srgbClr val="F0DFE4"/>
          </a:solidFill>
          <a:ln/>
        </p:spPr>
      </p:sp>
      <p:pic>
        <p:nvPicPr>
          <p:cNvPr id="25" name="Image 4" descr="/home/user/gogoeveryday/social-course/export-pptx/build/img/p12-4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44000" y="2528316"/>
            <a:ext cx="438180" cy="438180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9048720" y="3128345"/>
            <a:ext cx="782086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25" b="1" spc="-17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回留言</a:t>
            </a:r>
            <a:endParaRPr lang="en-US" sz="1725" dirty="0"/>
          </a:p>
        </p:txBody>
      </p:sp>
      <p:sp>
        <p:nvSpPr>
          <p:cNvPr id="27" name="Text 20"/>
          <p:cNvSpPr txBox="1"/>
          <p:nvPr/>
        </p:nvSpPr>
        <p:spPr>
          <a:xfrm>
            <a:off x="9048720" y="3490356"/>
            <a:ext cx="89858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7A6A5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有人留言</a:t>
            </a:r>
            <a:endParaRPr lang="en-US" sz="1500" dirty="0"/>
          </a:p>
        </p:txBody>
      </p:sp>
      <p:sp>
        <p:nvSpPr>
          <p:cNvPr id="28" name="Text 21"/>
          <p:cNvSpPr txBox="1"/>
          <p:nvPr/>
        </p:nvSpPr>
        <p:spPr>
          <a:xfrm>
            <a:off x="9048720" y="3871295"/>
            <a:ext cx="2306300" cy="6288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52"/>
              </a:lnSpc>
              <a:buNone/>
            </a:pPr>
            <a:r>
              <a:rPr lang="en-US" sz="1575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點留言 →「回覆」→ 送出</a:t>
            </a:r>
            <a:endParaRPr lang="en-US" sz="1575" dirty="0"/>
          </a:p>
        </p:txBody>
      </p:sp>
      <p:sp>
        <p:nvSpPr>
          <p:cNvPr id="29" name="Shape 22"/>
          <p:cNvSpPr/>
          <p:nvPr/>
        </p:nvSpPr>
        <p:spPr>
          <a:xfrm>
            <a:off x="800100" y="4890760"/>
            <a:ext cx="10591770" cy="704820"/>
          </a:xfrm>
          <a:prstGeom prst="roundRect">
            <a:avLst>
              <a:gd name="adj" fmla="val 24325"/>
            </a:avLst>
          </a:prstGeom>
          <a:solidFill>
            <a:srgbClr val="FBEEE6"/>
          </a:solidFill>
          <a:ln/>
        </p:spPr>
      </p:sp>
      <p:sp>
        <p:nvSpPr>
          <p:cNvPr id="30" name="Shape 23"/>
          <p:cNvSpPr/>
          <p:nvPr/>
        </p:nvSpPr>
        <p:spPr>
          <a:xfrm>
            <a:off x="800100" y="4890760"/>
            <a:ext cx="47640" cy="704820"/>
          </a:xfrm>
          <a:prstGeom prst="rect">
            <a:avLst/>
          </a:prstGeom>
          <a:solidFill>
            <a:srgbClr val="C05F3C"/>
          </a:solidFill>
          <a:ln/>
        </p:spPr>
      </p:sp>
      <p:pic>
        <p:nvPicPr>
          <p:cNvPr id="31" name="Image 5" descr="/home/user/gogoeveryday/social-course/export-pptx/build/img/p12-5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95360" y="5081321"/>
            <a:ext cx="323880" cy="323880"/>
          </a:xfrm>
          <a:prstGeom prst="rect">
            <a:avLst/>
          </a:prstGeom>
        </p:spPr>
      </p:pic>
      <p:sp>
        <p:nvSpPr>
          <p:cNvPr id="32" name="Text 24"/>
          <p:cNvSpPr txBox="1"/>
          <p:nvPr/>
        </p:nvSpPr>
        <p:spPr>
          <a:xfrm>
            <a:off x="1533540" y="5088179"/>
            <a:ext cx="6981718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全部都在同一個地方：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貼文右上角的「⋯」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。記住這三個點，就不怕發錯。</a:t>
            </a:r>
            <a:endParaRPr lang="en-US" sz="1575" dirty="0"/>
          </a:p>
        </p:txBody>
      </p:sp>
      <p:sp>
        <p:nvSpPr>
          <p:cNvPr id="33" name="Shape 25"/>
          <p:cNvSpPr/>
          <p:nvPr/>
        </p:nvSpPr>
        <p:spPr>
          <a:xfrm>
            <a:off x="10260208" y="228600"/>
            <a:ext cx="1131661" cy="447690"/>
          </a:xfrm>
          <a:prstGeom prst="roundRect">
            <a:avLst>
              <a:gd name="adj" fmla="val 50000"/>
            </a:avLst>
          </a:prstGeom>
          <a:solidFill>
            <a:srgbClr val="C05F3C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34" name="Text 26"/>
          <p:cNvSpPr txBox="1"/>
          <p:nvPr/>
        </p:nvSpPr>
        <p:spPr>
          <a:xfrm>
            <a:off x="10384018" y="304770"/>
            <a:ext cx="947136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90" kern="0" dirty="0">
                <a:solidFill>
                  <a:srgbClr val="FBF7F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手機實作</a:t>
            </a:r>
            <a:endParaRPr lang="en-US" sz="1500" dirty="0"/>
          </a:p>
        </p:txBody>
      </p:sp>
      <p:sp>
        <p:nvSpPr>
          <p:cNvPr id="35" name="Text 27"/>
          <p:cNvSpPr txBox="1"/>
          <p:nvPr/>
        </p:nvSpPr>
        <p:spPr>
          <a:xfrm>
            <a:off x="761970" y="6343650"/>
            <a:ext cx="2029877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PART 1 · 10:32</a:t>
            </a:r>
            <a:endParaRPr lang="en-US" sz="1500" dirty="0"/>
          </a:p>
        </p:txBody>
      </p:sp>
      <p:sp>
        <p:nvSpPr>
          <p:cNvPr id="36" name="Text 28"/>
          <p:cNvSpPr txBox="1"/>
          <p:nvPr/>
        </p:nvSpPr>
        <p:spPr>
          <a:xfrm>
            <a:off x="10690616" y="6343650"/>
            <a:ext cx="794614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12 / 42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social-course/export-pptx/build/bg/1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1970" y="871515"/>
            <a:ext cx="1645737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50" kern="0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今天的重點之一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761970" y="1252545"/>
            <a:ext cx="4009278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94"/>
              </a:lnSpc>
              <a:buNone/>
            </a:pPr>
            <a:r>
              <a:rPr lang="en-US" sz="2700" b="1" spc="-54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數據在「專業主頁面板」</a:t>
            </a:r>
            <a:endParaRPr lang="en-US" sz="2700" dirty="0"/>
          </a:p>
        </p:txBody>
      </p:sp>
      <p:sp>
        <p:nvSpPr>
          <p:cNvPr id="5" name="Shape 2"/>
          <p:cNvSpPr/>
          <p:nvPr/>
        </p:nvSpPr>
        <p:spPr>
          <a:xfrm>
            <a:off x="800100" y="1880281"/>
            <a:ext cx="5300685" cy="609630"/>
          </a:xfrm>
          <a:prstGeom prst="roundRect">
            <a:avLst>
              <a:gd name="adj" fmla="val 23444"/>
            </a:avLst>
          </a:prstGeom>
          <a:solidFill>
            <a:srgbClr val="FFFFFF">
              <a:alpha val="62000"/>
            </a:srgbClr>
          </a:solidFill>
          <a:ln w="9525">
            <a:solidFill>
              <a:srgbClr val="241C17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000171" y="2023201"/>
            <a:ext cx="323880" cy="323880"/>
          </a:xfrm>
          <a:prstGeom prst="roundRect">
            <a:avLst>
              <a:gd name="adj" fmla="val 29418"/>
            </a:avLst>
          </a:prstGeom>
          <a:solidFill>
            <a:srgbClr val="1877F2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1067653" y="2032711"/>
            <a:ext cx="24396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1428750" y="2023201"/>
            <a:ext cx="1410371" cy="323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-17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回到粉專首頁</a:t>
            </a:r>
            <a:endParaRPr lang="en-US" sz="1650" dirty="0"/>
          </a:p>
        </p:txBody>
      </p:sp>
      <p:sp>
        <p:nvSpPr>
          <p:cNvPr id="9" name="Shape 6"/>
          <p:cNvSpPr/>
          <p:nvPr/>
        </p:nvSpPr>
        <p:spPr>
          <a:xfrm>
            <a:off x="800100" y="2594701"/>
            <a:ext cx="5300685" cy="609630"/>
          </a:xfrm>
          <a:prstGeom prst="roundRect">
            <a:avLst>
              <a:gd name="adj" fmla="val 23444"/>
            </a:avLst>
          </a:prstGeom>
          <a:solidFill>
            <a:srgbClr val="FFFFFF">
              <a:alpha val="62000"/>
            </a:srgbClr>
          </a:solidFill>
          <a:ln w="9525">
            <a:solidFill>
              <a:srgbClr val="241C17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0171" y="2737531"/>
            <a:ext cx="323880" cy="323880"/>
          </a:xfrm>
          <a:prstGeom prst="roundRect">
            <a:avLst>
              <a:gd name="adj" fmla="val 29418"/>
            </a:avLst>
          </a:prstGeom>
          <a:solidFill>
            <a:srgbClr val="1877F2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1067653" y="2747040"/>
            <a:ext cx="24396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1428750" y="2737531"/>
            <a:ext cx="3169493" cy="323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-17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往下滑，找到「專業主頁面板」</a:t>
            </a:r>
            <a:endParaRPr lang="en-US" sz="1650" dirty="0"/>
          </a:p>
        </p:txBody>
      </p:sp>
      <p:sp>
        <p:nvSpPr>
          <p:cNvPr id="13" name="Shape 10"/>
          <p:cNvSpPr/>
          <p:nvPr/>
        </p:nvSpPr>
        <p:spPr>
          <a:xfrm>
            <a:off x="800100" y="3309031"/>
            <a:ext cx="5300685" cy="609630"/>
          </a:xfrm>
          <a:prstGeom prst="roundRect">
            <a:avLst>
              <a:gd name="adj" fmla="val 23444"/>
            </a:avLst>
          </a:prstGeom>
          <a:solidFill>
            <a:srgbClr val="FFFFFF">
              <a:alpha val="62000"/>
            </a:srgbClr>
          </a:solidFill>
          <a:ln w="9525">
            <a:solidFill>
              <a:srgbClr val="241C17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1000171" y="3451951"/>
            <a:ext cx="323880" cy="323880"/>
          </a:xfrm>
          <a:prstGeom prst="roundRect">
            <a:avLst>
              <a:gd name="adj" fmla="val 29418"/>
            </a:avLst>
          </a:prstGeom>
          <a:solidFill>
            <a:srgbClr val="1877F2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5" name="Text 12"/>
          <p:cNvSpPr txBox="1"/>
          <p:nvPr/>
        </p:nvSpPr>
        <p:spPr>
          <a:xfrm>
            <a:off x="1067653" y="3461461"/>
            <a:ext cx="24396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3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1428750" y="3451951"/>
            <a:ext cx="753831" cy="323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-17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點進去</a:t>
            </a:r>
            <a:endParaRPr lang="en-US" sz="1650" dirty="0"/>
          </a:p>
        </p:txBody>
      </p:sp>
      <p:sp>
        <p:nvSpPr>
          <p:cNvPr id="17" name="Shape 14"/>
          <p:cNvSpPr/>
          <p:nvPr/>
        </p:nvSpPr>
        <p:spPr>
          <a:xfrm>
            <a:off x="800100" y="4023451"/>
            <a:ext cx="5300685" cy="609630"/>
          </a:xfrm>
          <a:prstGeom prst="roundRect">
            <a:avLst>
              <a:gd name="adj" fmla="val 23444"/>
            </a:avLst>
          </a:prstGeom>
          <a:solidFill>
            <a:srgbClr val="FFFFFF">
              <a:alpha val="62000"/>
            </a:srgbClr>
          </a:solidFill>
          <a:ln w="9525">
            <a:solidFill>
              <a:srgbClr val="241C17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1000171" y="4166281"/>
            <a:ext cx="323880" cy="323880"/>
          </a:xfrm>
          <a:prstGeom prst="roundRect">
            <a:avLst>
              <a:gd name="adj" fmla="val 29418"/>
            </a:avLst>
          </a:prstGeom>
          <a:solidFill>
            <a:srgbClr val="1877F2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9" name="Text 16"/>
          <p:cNvSpPr txBox="1"/>
          <p:nvPr/>
        </p:nvSpPr>
        <p:spPr>
          <a:xfrm>
            <a:off x="1067653" y="4175790"/>
            <a:ext cx="24396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4</a:t>
            </a:r>
            <a:endParaRPr lang="en-US" sz="1500" dirty="0"/>
          </a:p>
        </p:txBody>
      </p:sp>
      <p:sp>
        <p:nvSpPr>
          <p:cNvPr id="20" name="Text 17"/>
          <p:cNvSpPr txBox="1"/>
          <p:nvPr/>
        </p:nvSpPr>
        <p:spPr>
          <a:xfrm>
            <a:off x="1428750" y="4166281"/>
            <a:ext cx="2290023" cy="323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-17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再點「查看洞察報告」</a:t>
            </a:r>
            <a:endParaRPr lang="en-US" sz="1650" dirty="0"/>
          </a:p>
        </p:txBody>
      </p:sp>
      <p:sp>
        <p:nvSpPr>
          <p:cNvPr id="21" name="Shape 18"/>
          <p:cNvSpPr/>
          <p:nvPr/>
        </p:nvSpPr>
        <p:spPr>
          <a:xfrm>
            <a:off x="800100" y="4785421"/>
            <a:ext cx="5300685" cy="1000994"/>
          </a:xfrm>
          <a:prstGeom prst="roundRect">
            <a:avLst>
              <a:gd name="adj" fmla="val 17128"/>
            </a:avLst>
          </a:prstGeom>
          <a:solidFill>
            <a:srgbClr val="EEF4FF"/>
          </a:solidFill>
          <a:ln/>
        </p:spPr>
      </p:sp>
      <p:sp>
        <p:nvSpPr>
          <p:cNvPr id="22" name="Shape 19"/>
          <p:cNvSpPr/>
          <p:nvPr/>
        </p:nvSpPr>
        <p:spPr>
          <a:xfrm>
            <a:off x="800100" y="4785421"/>
            <a:ext cx="47640" cy="1000994"/>
          </a:xfrm>
          <a:prstGeom prst="rect">
            <a:avLst/>
          </a:prstGeom>
          <a:solidFill>
            <a:srgbClr val="1877F2"/>
          </a:solidFill>
          <a:ln/>
        </p:spPr>
      </p:sp>
      <p:pic>
        <p:nvPicPr>
          <p:cNvPr id="23" name="Image 1" descr="/home/user/gogoeveryday/social-course/export-pptx/build/img/p13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360" y="5124023"/>
            <a:ext cx="323880" cy="323880"/>
          </a:xfrm>
          <a:prstGeom prst="rect">
            <a:avLst/>
          </a:prstGeom>
        </p:spPr>
      </p:pic>
      <p:sp>
        <p:nvSpPr>
          <p:cNvPr id="24" name="Text 20"/>
          <p:cNvSpPr txBox="1"/>
          <p:nvPr/>
        </p:nvSpPr>
        <p:spPr>
          <a:xfrm>
            <a:off x="1533540" y="4975890"/>
            <a:ext cx="3271266" cy="6148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找不到的人：粉專首頁往下滑，</a:t>
            </a:r>
            <a:endParaRPr lang="en-US" sz="1575" dirty="0"/>
          </a:p>
          <a:p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通常在「編輯」按鈕再下面一點。</a:t>
            </a:r>
            <a:endParaRPr lang="en-US" sz="1575" dirty="0"/>
          </a:p>
        </p:txBody>
      </p:sp>
      <p:pic>
        <p:nvPicPr>
          <p:cNvPr id="25" name="Image 2" descr="/home/user/gogoeveryday/social-course/export-pptx/build/img/p13-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98608" y="404805"/>
            <a:ext cx="2590770" cy="5257800"/>
          </a:xfrm>
          <a:prstGeom prst="rect">
            <a:avLst/>
          </a:prstGeom>
        </p:spPr>
      </p:pic>
      <p:sp>
        <p:nvSpPr>
          <p:cNvPr id="26" name="Text 21"/>
          <p:cNvSpPr txBox="1"/>
          <p:nvPr/>
        </p:nvSpPr>
        <p:spPr>
          <a:xfrm>
            <a:off x="7398410" y="5786415"/>
            <a:ext cx="3200583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spc="15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點「查看洞察報告」看完整數據</a:t>
            </a:r>
            <a:endParaRPr lang="en-US" sz="1500" dirty="0"/>
          </a:p>
        </p:txBody>
      </p:sp>
      <p:sp>
        <p:nvSpPr>
          <p:cNvPr id="27" name="Shape 22"/>
          <p:cNvSpPr/>
          <p:nvPr/>
        </p:nvSpPr>
        <p:spPr>
          <a:xfrm>
            <a:off x="10260208" y="228600"/>
            <a:ext cx="1131661" cy="447690"/>
          </a:xfrm>
          <a:prstGeom prst="roundRect">
            <a:avLst>
              <a:gd name="adj" fmla="val 50000"/>
            </a:avLst>
          </a:prstGeom>
          <a:solidFill>
            <a:srgbClr val="C05F3C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28" name="Text 23"/>
          <p:cNvSpPr txBox="1"/>
          <p:nvPr/>
        </p:nvSpPr>
        <p:spPr>
          <a:xfrm>
            <a:off x="10384018" y="304770"/>
            <a:ext cx="947136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90" kern="0" dirty="0">
                <a:solidFill>
                  <a:srgbClr val="FBF7F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手機實作</a:t>
            </a:r>
            <a:endParaRPr lang="en-US" sz="1500" dirty="0"/>
          </a:p>
        </p:txBody>
      </p:sp>
      <p:sp>
        <p:nvSpPr>
          <p:cNvPr id="29" name="Text 24"/>
          <p:cNvSpPr txBox="1"/>
          <p:nvPr/>
        </p:nvSpPr>
        <p:spPr>
          <a:xfrm>
            <a:off x="761970" y="6343650"/>
            <a:ext cx="2029877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PART 1 · 10:40</a:t>
            </a:r>
            <a:endParaRPr lang="en-US" sz="1500" dirty="0"/>
          </a:p>
        </p:txBody>
      </p:sp>
      <p:sp>
        <p:nvSpPr>
          <p:cNvPr id="30" name="Text 25"/>
          <p:cNvSpPr txBox="1"/>
          <p:nvPr/>
        </p:nvSpPr>
        <p:spPr>
          <a:xfrm>
            <a:off x="10690616" y="6343650"/>
            <a:ext cx="794614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13 / 42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social-course/export-pptx/build/bg/1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09630" y="1214415"/>
            <a:ext cx="266648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50" kern="0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洞察報告 · 只要看這四個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609630" y="1595445"/>
            <a:ext cx="2940619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94"/>
              </a:lnSpc>
              <a:buNone/>
            </a:pPr>
            <a:r>
              <a:rPr lang="en-US" sz="2700" b="1" spc="-54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其他數字先不用管</a:t>
            </a:r>
            <a:endParaRPr lang="en-US" sz="2700" dirty="0"/>
          </a:p>
        </p:txBody>
      </p:sp>
      <p:sp>
        <p:nvSpPr>
          <p:cNvPr id="5" name="Shape 2"/>
          <p:cNvSpPr/>
          <p:nvPr/>
        </p:nvSpPr>
        <p:spPr>
          <a:xfrm>
            <a:off x="647670" y="2270821"/>
            <a:ext cx="2595524" cy="2382012"/>
          </a:xfrm>
          <a:prstGeom prst="roundRect">
            <a:avLst>
              <a:gd name="adj" fmla="val 9597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790590" y="2461290"/>
            <a:ext cx="963229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20" kern="0" dirty="0">
                <a:solidFill>
                  <a:srgbClr val="1877F2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觸及人數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790590" y="2785171"/>
            <a:ext cx="1082650" cy="5429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spc="-57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1,284</a:t>
            </a:r>
            <a:endParaRPr lang="en-US" sz="2850" dirty="0"/>
          </a:p>
        </p:txBody>
      </p:sp>
      <p:sp>
        <p:nvSpPr>
          <p:cNvPr id="8" name="Shape 5"/>
          <p:cNvSpPr/>
          <p:nvPr/>
        </p:nvSpPr>
        <p:spPr>
          <a:xfrm>
            <a:off x="828721" y="3404311"/>
            <a:ext cx="2233605" cy="18288"/>
          </a:xfrm>
          <a:prstGeom prst="rect">
            <a:avLst/>
          </a:prstGeom>
          <a:solidFill>
            <a:srgbClr val="EEF4FF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790590" y="3480481"/>
            <a:ext cx="2423160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48"/>
              </a:lnSpc>
              <a:buNone/>
            </a:pPr>
            <a:r>
              <a:rPr lang="en-US" sz="1575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多少人「看到」你的貼文</a:t>
            </a:r>
            <a:endParaRPr lang="en-US" sz="1575" dirty="0"/>
          </a:p>
        </p:txBody>
      </p:sp>
      <p:sp>
        <p:nvSpPr>
          <p:cNvPr id="10" name="Text 7"/>
          <p:cNvSpPr txBox="1"/>
          <p:nvPr/>
        </p:nvSpPr>
        <p:spPr>
          <a:xfrm>
            <a:off x="790590" y="3835725"/>
            <a:ext cx="2312060" cy="6037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不等於有人點進來，只是出現在他畫面上。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3414735" y="2270821"/>
            <a:ext cx="2595524" cy="2382012"/>
          </a:xfrm>
          <a:prstGeom prst="roundRect">
            <a:avLst>
              <a:gd name="adj" fmla="val 9597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2" name="Text 9"/>
          <p:cNvSpPr txBox="1"/>
          <p:nvPr/>
        </p:nvSpPr>
        <p:spPr>
          <a:xfrm>
            <a:off x="3557565" y="2461290"/>
            <a:ext cx="963229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20" kern="0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互動次數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3557565" y="2785171"/>
            <a:ext cx="544159" cy="5429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spc="-57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96</a:t>
            </a:r>
            <a:endParaRPr lang="en-US" sz="2850" dirty="0"/>
          </a:p>
        </p:txBody>
      </p:sp>
      <p:sp>
        <p:nvSpPr>
          <p:cNvPr id="14" name="Shape 11"/>
          <p:cNvSpPr/>
          <p:nvPr/>
        </p:nvSpPr>
        <p:spPr>
          <a:xfrm>
            <a:off x="3595695" y="3404311"/>
            <a:ext cx="2233605" cy="18288"/>
          </a:xfrm>
          <a:prstGeom prst="rect">
            <a:avLst/>
          </a:prstGeom>
          <a:solidFill>
            <a:srgbClr val="FBEEE6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3557565" y="3480481"/>
            <a:ext cx="2423160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48"/>
              </a:lnSpc>
              <a:buNone/>
            </a:pPr>
            <a:r>
              <a:rPr lang="en-US" sz="1575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多少人按讚、留言、分享</a:t>
            </a:r>
            <a:endParaRPr lang="en-US" sz="1575" dirty="0"/>
          </a:p>
        </p:txBody>
      </p:sp>
      <p:sp>
        <p:nvSpPr>
          <p:cNvPr id="16" name="Text 13"/>
          <p:cNvSpPr txBox="1"/>
          <p:nvPr/>
        </p:nvSpPr>
        <p:spPr>
          <a:xfrm>
            <a:off x="3557565" y="3835725"/>
            <a:ext cx="2312060" cy="6037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比觸及重要，代表真的有人在乎。</a:t>
            </a:r>
            <a:endParaRPr lang="en-US" sz="1500" dirty="0"/>
          </a:p>
        </p:txBody>
      </p:sp>
      <p:sp>
        <p:nvSpPr>
          <p:cNvPr id="17" name="Shape 14"/>
          <p:cNvSpPr/>
          <p:nvPr/>
        </p:nvSpPr>
        <p:spPr>
          <a:xfrm>
            <a:off x="6181710" y="2270821"/>
            <a:ext cx="2595524" cy="2382012"/>
          </a:xfrm>
          <a:prstGeom prst="roundRect">
            <a:avLst>
              <a:gd name="adj" fmla="val 9597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8" name="Text 15"/>
          <p:cNvSpPr txBox="1"/>
          <p:nvPr/>
        </p:nvSpPr>
        <p:spPr>
          <a:xfrm>
            <a:off x="6324630" y="2461290"/>
            <a:ext cx="963229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20" kern="0" dirty="0">
                <a:solidFill>
                  <a:srgbClr val="5F7A6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新追蹤者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6324630" y="2785171"/>
            <a:ext cx="904250" cy="5429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spc="-57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＋12</a:t>
            </a:r>
            <a:endParaRPr lang="en-US" sz="2850" dirty="0"/>
          </a:p>
        </p:txBody>
      </p:sp>
      <p:sp>
        <p:nvSpPr>
          <p:cNvPr id="20" name="Shape 17"/>
          <p:cNvSpPr/>
          <p:nvPr/>
        </p:nvSpPr>
        <p:spPr>
          <a:xfrm>
            <a:off x="6362670" y="3404311"/>
            <a:ext cx="2233605" cy="18288"/>
          </a:xfrm>
          <a:prstGeom prst="rect">
            <a:avLst/>
          </a:prstGeom>
          <a:solidFill>
            <a:srgbClr val="DFE8DC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6324630" y="3480481"/>
            <a:ext cx="2423160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48"/>
              </a:lnSpc>
              <a:buNone/>
            </a:pPr>
            <a:r>
              <a:rPr lang="en-US" sz="1575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這段期間多了幾個人追蹤</a:t>
            </a:r>
            <a:endParaRPr lang="en-US" sz="1575" dirty="0"/>
          </a:p>
        </p:txBody>
      </p:sp>
      <p:sp>
        <p:nvSpPr>
          <p:cNvPr id="22" name="Text 19"/>
          <p:cNvSpPr txBox="1"/>
          <p:nvPr/>
        </p:nvSpPr>
        <p:spPr>
          <a:xfrm>
            <a:off x="6324630" y="3835725"/>
            <a:ext cx="2312060" cy="6037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慢慢增加就是好事，不用跟別人比。</a:t>
            </a:r>
            <a:endParaRPr lang="en-US" sz="1500" dirty="0"/>
          </a:p>
        </p:txBody>
      </p:sp>
      <p:sp>
        <p:nvSpPr>
          <p:cNvPr id="23" name="Shape 20"/>
          <p:cNvSpPr/>
          <p:nvPr/>
        </p:nvSpPr>
        <p:spPr>
          <a:xfrm>
            <a:off x="8948776" y="2270821"/>
            <a:ext cx="2595524" cy="2382012"/>
          </a:xfrm>
          <a:prstGeom prst="roundRect">
            <a:avLst>
              <a:gd name="adj" fmla="val 9597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24" name="Text 21"/>
          <p:cNvSpPr txBox="1"/>
          <p:nvPr/>
        </p:nvSpPr>
        <p:spPr>
          <a:xfrm>
            <a:off x="9091605" y="2461290"/>
            <a:ext cx="963229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20" kern="0" dirty="0">
                <a:solidFill>
                  <a:srgbClr val="D99A4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貼文成效</a:t>
            </a:r>
            <a:endParaRPr lang="en-US" sz="1500" dirty="0"/>
          </a:p>
        </p:txBody>
      </p:sp>
      <p:sp>
        <p:nvSpPr>
          <p:cNvPr id="25" name="Text 22"/>
          <p:cNvSpPr txBox="1"/>
          <p:nvPr/>
        </p:nvSpPr>
        <p:spPr>
          <a:xfrm>
            <a:off x="9091605" y="2785171"/>
            <a:ext cx="842894" cy="5429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spc="-57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每篇</a:t>
            </a:r>
            <a:endParaRPr lang="en-US" sz="2850" dirty="0"/>
          </a:p>
        </p:txBody>
      </p:sp>
      <p:sp>
        <p:nvSpPr>
          <p:cNvPr id="26" name="Shape 23"/>
          <p:cNvSpPr/>
          <p:nvPr/>
        </p:nvSpPr>
        <p:spPr>
          <a:xfrm>
            <a:off x="9129735" y="3404311"/>
            <a:ext cx="2233605" cy="18288"/>
          </a:xfrm>
          <a:prstGeom prst="rect">
            <a:avLst/>
          </a:prstGeom>
          <a:solidFill>
            <a:srgbClr val="F8E6C9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9091605" y="3480481"/>
            <a:ext cx="1787103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48"/>
              </a:lnSpc>
              <a:buNone/>
            </a:pPr>
            <a:r>
              <a:rPr lang="en-US" sz="1575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每一篇各自的表現</a:t>
            </a:r>
            <a:endParaRPr lang="en-US" sz="1575" dirty="0"/>
          </a:p>
        </p:txBody>
      </p:sp>
      <p:sp>
        <p:nvSpPr>
          <p:cNvPr id="28" name="Text 25"/>
          <p:cNvSpPr txBox="1"/>
          <p:nvPr/>
        </p:nvSpPr>
        <p:spPr>
          <a:xfrm>
            <a:off x="9091605" y="3835725"/>
            <a:ext cx="2312060" cy="6037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可以看出哪一種內容大家比較喜歡。</a:t>
            </a:r>
            <a:endParaRPr lang="en-US" sz="1500" dirty="0"/>
          </a:p>
        </p:txBody>
      </p:sp>
      <p:sp>
        <p:nvSpPr>
          <p:cNvPr id="29" name="Shape 26"/>
          <p:cNvSpPr/>
          <p:nvPr/>
        </p:nvSpPr>
        <p:spPr>
          <a:xfrm>
            <a:off x="647670" y="4814773"/>
            <a:ext cx="10896630" cy="590520"/>
          </a:xfrm>
          <a:prstGeom prst="roundRect">
            <a:avLst>
              <a:gd name="adj" fmla="val 29034"/>
            </a:avLst>
          </a:prstGeom>
          <a:solidFill>
            <a:srgbClr val="F8E6C9"/>
          </a:solidFill>
          <a:ln/>
        </p:spPr>
      </p:sp>
      <p:sp>
        <p:nvSpPr>
          <p:cNvPr id="30" name="Shape 27"/>
          <p:cNvSpPr/>
          <p:nvPr/>
        </p:nvSpPr>
        <p:spPr>
          <a:xfrm>
            <a:off x="647670" y="4814773"/>
            <a:ext cx="47640" cy="590520"/>
          </a:xfrm>
          <a:prstGeom prst="rect">
            <a:avLst/>
          </a:prstGeom>
          <a:solidFill>
            <a:srgbClr val="D99A4E"/>
          </a:solidFill>
          <a:ln/>
        </p:spPr>
      </p:sp>
      <p:pic>
        <p:nvPicPr>
          <p:cNvPr id="31" name="Image 1" descr="/home/user/gogoeveryday/social-course/export-pptx/build/img/p14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910" y="4957602"/>
            <a:ext cx="304770" cy="304770"/>
          </a:xfrm>
          <a:prstGeom prst="rect">
            <a:avLst/>
          </a:prstGeom>
        </p:spPr>
      </p:pic>
      <p:sp>
        <p:nvSpPr>
          <p:cNvPr id="32" name="Text 28"/>
          <p:cNvSpPr txBox="1"/>
          <p:nvPr/>
        </p:nvSpPr>
        <p:spPr>
          <a:xfrm>
            <a:off x="1343071" y="4950927"/>
            <a:ext cx="7723845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5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觸及</a:t>
            </a:r>
            <a:pPr algn="l" indent="0" marL="0">
              <a:lnSpc>
                <a:spcPts val="2205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＝有多少人經過你的店門口，</a:t>
            </a:r>
            <a:pPr algn="l" indent="0" marL="0">
              <a:lnSpc>
                <a:spcPts val="2205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互動</a:t>
            </a:r>
            <a:pPr algn="l" indent="0" marL="0">
              <a:lnSpc>
                <a:spcPts val="2205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＝有多少人真的走進來。互動比觸及重要。</a:t>
            </a:r>
            <a:endParaRPr lang="en-US" sz="1575" dirty="0"/>
          </a:p>
        </p:txBody>
      </p:sp>
      <p:sp>
        <p:nvSpPr>
          <p:cNvPr id="33" name="Shape 29"/>
          <p:cNvSpPr/>
          <p:nvPr/>
        </p:nvSpPr>
        <p:spPr>
          <a:xfrm>
            <a:off x="10260208" y="228600"/>
            <a:ext cx="1131661" cy="447690"/>
          </a:xfrm>
          <a:prstGeom prst="roundRect">
            <a:avLst>
              <a:gd name="adj" fmla="val 50000"/>
            </a:avLst>
          </a:prstGeom>
          <a:solidFill>
            <a:srgbClr val="C05F3C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34" name="Text 30"/>
          <p:cNvSpPr txBox="1"/>
          <p:nvPr/>
        </p:nvSpPr>
        <p:spPr>
          <a:xfrm>
            <a:off x="10384018" y="304770"/>
            <a:ext cx="947136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90" kern="0" dirty="0">
                <a:solidFill>
                  <a:srgbClr val="FBF7F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記下數字</a:t>
            </a:r>
            <a:endParaRPr lang="en-US" sz="1500" dirty="0"/>
          </a:p>
        </p:txBody>
      </p:sp>
      <p:sp>
        <p:nvSpPr>
          <p:cNvPr id="35" name="Text 31"/>
          <p:cNvSpPr txBox="1"/>
          <p:nvPr/>
        </p:nvSpPr>
        <p:spPr>
          <a:xfrm>
            <a:off x="761970" y="6343650"/>
            <a:ext cx="2029877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PART 1 · 10:48</a:t>
            </a:r>
            <a:endParaRPr lang="en-US" sz="1500" dirty="0"/>
          </a:p>
        </p:txBody>
      </p:sp>
      <p:sp>
        <p:nvSpPr>
          <p:cNvPr id="36" name="Text 32"/>
          <p:cNvSpPr txBox="1"/>
          <p:nvPr/>
        </p:nvSpPr>
        <p:spPr>
          <a:xfrm>
            <a:off x="10690616" y="6343650"/>
            <a:ext cx="794614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14 / 42</a:t>
            </a:r>
            <a:endParaRPr lang="en-US" sz="15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social-course/export-pptx/build/bg/1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1970" y="815553"/>
            <a:ext cx="2090044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50" kern="0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這才是看後台的意義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761970" y="1196584"/>
            <a:ext cx="3653028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94"/>
              </a:lnSpc>
              <a:buNone/>
            </a:pPr>
            <a:r>
              <a:rPr lang="en-US" sz="2700" b="1" spc="-54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三種常見情況，怎麼改</a:t>
            </a:r>
            <a:endParaRPr lang="en-US" sz="2700" dirty="0"/>
          </a:p>
        </p:txBody>
      </p:sp>
      <p:sp>
        <p:nvSpPr>
          <p:cNvPr id="5" name="Shape 2"/>
          <p:cNvSpPr/>
          <p:nvPr/>
        </p:nvSpPr>
        <p:spPr>
          <a:xfrm>
            <a:off x="800100" y="2005279"/>
            <a:ext cx="3390870" cy="2972440"/>
          </a:xfrm>
          <a:prstGeom prst="roundRect">
            <a:avLst>
              <a:gd name="adj" fmla="val 7691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1019190" y="2224369"/>
            <a:ext cx="381030" cy="381030"/>
          </a:xfrm>
          <a:prstGeom prst="roundRect">
            <a:avLst>
              <a:gd name="adj" fmla="val 29998"/>
            </a:avLst>
          </a:prstGeom>
          <a:solidFill>
            <a:srgbClr val="FBEEE6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1066648" y="2252990"/>
            <a:ext cx="341163" cy="323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低</a:t>
            </a:r>
            <a:endParaRPr lang="en-US" sz="1650" dirty="0"/>
          </a:p>
        </p:txBody>
      </p:sp>
      <p:sp>
        <p:nvSpPr>
          <p:cNvPr id="8" name="Text 5"/>
          <p:cNvSpPr txBox="1"/>
          <p:nvPr/>
        </p:nvSpPr>
        <p:spPr>
          <a:xfrm>
            <a:off x="1466880" y="2262500"/>
            <a:ext cx="1770187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75" b="1" spc="-16" kern="0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觸及低、互動也低</a:t>
            </a:r>
            <a:endParaRPr lang="en-US" sz="1575" dirty="0"/>
          </a:p>
        </p:txBody>
      </p:sp>
      <p:sp>
        <p:nvSpPr>
          <p:cNvPr id="9" name="Text 6"/>
          <p:cNvSpPr txBox="1"/>
          <p:nvPr/>
        </p:nvSpPr>
        <p:spPr>
          <a:xfrm>
            <a:off x="981060" y="2710190"/>
            <a:ext cx="963229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2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代表什麼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981060" y="3043580"/>
            <a:ext cx="3059308" cy="6288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52"/>
              </a:lnSpc>
              <a:buNone/>
            </a:pPr>
            <a:r>
              <a:rPr lang="en-US" sz="1575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幾乎沒有人看到。多半是發文太少，或發的時間沒人在滑手機。</a:t>
            </a:r>
            <a:endParaRPr lang="en-US" sz="1575" dirty="0"/>
          </a:p>
        </p:txBody>
      </p:sp>
      <p:sp>
        <p:nvSpPr>
          <p:cNvPr id="11" name="Text 8"/>
          <p:cNvSpPr txBox="1"/>
          <p:nvPr/>
        </p:nvSpPr>
        <p:spPr>
          <a:xfrm>
            <a:off x="981060" y="3786805"/>
            <a:ext cx="1399398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2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下一篇怎麼改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981060" y="4120195"/>
            <a:ext cx="3173791" cy="6288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52"/>
              </a:lnSpc>
              <a:buNone/>
            </a:pPr>
            <a:r>
              <a:rPr lang="en-US" sz="1575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固定一週發 2–3 篇，改在</a:t>
            </a:r>
            <a:pPr algn="l" indent="0" marL="0">
              <a:lnSpc>
                <a:spcPts val="2552"/>
              </a:lnSpc>
              <a:buNone/>
            </a:pPr>
            <a:r>
              <a:rPr lang="en-US" sz="1575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晚上 8–10 點</a:t>
            </a:r>
            <a:pPr algn="l" indent="0" marL="0">
              <a:lnSpc>
                <a:spcPts val="2552"/>
              </a:lnSpc>
              <a:buNone/>
            </a:pPr>
            <a:r>
              <a:rPr lang="en-US" sz="1575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發發看。</a:t>
            </a:r>
            <a:endParaRPr lang="en-US" sz="1575" dirty="0"/>
          </a:p>
        </p:txBody>
      </p:sp>
      <p:sp>
        <p:nvSpPr>
          <p:cNvPr id="13" name="Shape 10"/>
          <p:cNvSpPr/>
          <p:nvPr/>
        </p:nvSpPr>
        <p:spPr>
          <a:xfrm>
            <a:off x="4400550" y="2005279"/>
            <a:ext cx="3390870" cy="2972440"/>
          </a:xfrm>
          <a:prstGeom prst="roundRect">
            <a:avLst>
              <a:gd name="adj" fmla="val 7691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4619640" y="2224369"/>
            <a:ext cx="381030" cy="381030"/>
          </a:xfrm>
          <a:prstGeom prst="roundRect">
            <a:avLst>
              <a:gd name="adj" fmla="val 29998"/>
            </a:avLst>
          </a:prstGeom>
          <a:solidFill>
            <a:srgbClr val="F8E6C9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4667098" y="2252990"/>
            <a:ext cx="341163" cy="323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D99A4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中</a:t>
            </a:r>
            <a:endParaRPr lang="en-US" sz="1650" dirty="0"/>
          </a:p>
        </p:txBody>
      </p:sp>
      <p:sp>
        <p:nvSpPr>
          <p:cNvPr id="16" name="Text 13"/>
          <p:cNvSpPr txBox="1"/>
          <p:nvPr/>
        </p:nvSpPr>
        <p:spPr>
          <a:xfrm>
            <a:off x="5067330" y="2262500"/>
            <a:ext cx="2189988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75" b="1" spc="-16" kern="0" dirty="0">
                <a:solidFill>
                  <a:srgbClr val="D99A4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觸及還可以、互動很低</a:t>
            </a:r>
            <a:endParaRPr lang="en-US" sz="1575" dirty="0"/>
          </a:p>
        </p:txBody>
      </p:sp>
      <p:sp>
        <p:nvSpPr>
          <p:cNvPr id="17" name="Text 14"/>
          <p:cNvSpPr txBox="1"/>
          <p:nvPr/>
        </p:nvSpPr>
        <p:spPr>
          <a:xfrm>
            <a:off x="4581510" y="2710190"/>
            <a:ext cx="963229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2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代表什麼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4581510" y="3043580"/>
            <a:ext cx="3059308" cy="6288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52"/>
              </a:lnSpc>
              <a:buNone/>
            </a:pPr>
            <a:r>
              <a:rPr lang="en-US" sz="1575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有人看到，但沒有人想理你。內容多半「只在賣東西」。</a:t>
            </a:r>
            <a:endParaRPr lang="en-US" sz="1575" dirty="0"/>
          </a:p>
        </p:txBody>
      </p:sp>
      <p:sp>
        <p:nvSpPr>
          <p:cNvPr id="19" name="Text 16"/>
          <p:cNvSpPr txBox="1"/>
          <p:nvPr/>
        </p:nvSpPr>
        <p:spPr>
          <a:xfrm>
            <a:off x="4581510" y="3786805"/>
            <a:ext cx="1399398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2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下一篇怎麼改</a:t>
            </a:r>
            <a:endParaRPr lang="en-US" sz="1500" dirty="0"/>
          </a:p>
        </p:txBody>
      </p:sp>
      <p:sp>
        <p:nvSpPr>
          <p:cNvPr id="20" name="Text 17"/>
          <p:cNvSpPr txBox="1"/>
          <p:nvPr/>
        </p:nvSpPr>
        <p:spPr>
          <a:xfrm>
            <a:off x="4581510" y="4120195"/>
            <a:ext cx="3059308" cy="6288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52"/>
              </a:lnSpc>
              <a:buNone/>
            </a:pPr>
            <a:r>
              <a:rPr lang="en-US" sz="1575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下一篇改成</a:t>
            </a:r>
            <a:pPr algn="l" indent="0" marL="0">
              <a:lnSpc>
                <a:spcPts val="2552"/>
              </a:lnSpc>
              <a:buNone/>
            </a:pPr>
            <a:r>
              <a:rPr lang="en-US" sz="1575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問問題</a:t>
            </a:r>
            <a:pPr algn="l" indent="0" marL="0">
              <a:lnSpc>
                <a:spcPts val="2552"/>
              </a:lnSpc>
              <a:buNone/>
            </a:pPr>
            <a:r>
              <a:rPr lang="en-US" sz="1575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或</a:t>
            </a:r>
            <a:pPr algn="l" indent="0" marL="0">
              <a:lnSpc>
                <a:spcPts val="2552"/>
              </a:lnSpc>
              <a:buNone/>
            </a:pPr>
            <a:r>
              <a:rPr lang="en-US" sz="1575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分享製作過程</a:t>
            </a:r>
            <a:pPr algn="l" indent="0" marL="0">
              <a:lnSpc>
                <a:spcPts val="2552"/>
              </a:lnSpc>
              <a:buNone/>
            </a:pPr>
            <a:r>
              <a:rPr lang="en-US" sz="1575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，先不要放價格。</a:t>
            </a:r>
            <a:endParaRPr lang="en-US" sz="1575" dirty="0"/>
          </a:p>
        </p:txBody>
      </p:sp>
      <p:sp>
        <p:nvSpPr>
          <p:cNvPr id="21" name="Shape 18"/>
          <p:cNvSpPr/>
          <p:nvPr/>
        </p:nvSpPr>
        <p:spPr>
          <a:xfrm>
            <a:off x="8001000" y="2005279"/>
            <a:ext cx="3390870" cy="2972440"/>
          </a:xfrm>
          <a:prstGeom prst="roundRect">
            <a:avLst>
              <a:gd name="adj" fmla="val 7691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8220090" y="2224369"/>
            <a:ext cx="381030" cy="381030"/>
          </a:xfrm>
          <a:prstGeom prst="roundRect">
            <a:avLst>
              <a:gd name="adj" fmla="val 29998"/>
            </a:avLst>
          </a:prstGeom>
          <a:solidFill>
            <a:srgbClr val="DFE8DC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8267548" y="2252990"/>
            <a:ext cx="341163" cy="323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5F7A6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高</a:t>
            </a:r>
            <a:endParaRPr lang="en-US" sz="1650" dirty="0"/>
          </a:p>
        </p:txBody>
      </p:sp>
      <p:sp>
        <p:nvSpPr>
          <p:cNvPr id="24" name="Text 21"/>
          <p:cNvSpPr txBox="1"/>
          <p:nvPr/>
        </p:nvSpPr>
        <p:spPr>
          <a:xfrm>
            <a:off x="8667780" y="2262500"/>
            <a:ext cx="1350386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75" b="1" spc="-16" kern="0" dirty="0">
                <a:solidFill>
                  <a:srgbClr val="5F7A6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某一篇特別高</a:t>
            </a:r>
            <a:endParaRPr lang="en-US" sz="1575" dirty="0"/>
          </a:p>
        </p:txBody>
      </p:sp>
      <p:sp>
        <p:nvSpPr>
          <p:cNvPr id="25" name="Text 22"/>
          <p:cNvSpPr txBox="1"/>
          <p:nvPr/>
        </p:nvSpPr>
        <p:spPr>
          <a:xfrm>
            <a:off x="8181960" y="2710190"/>
            <a:ext cx="963229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2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代表什麼</a:t>
            </a:r>
            <a:endParaRPr lang="en-US" sz="1500" dirty="0"/>
          </a:p>
        </p:txBody>
      </p:sp>
      <p:sp>
        <p:nvSpPr>
          <p:cNvPr id="26" name="Text 23"/>
          <p:cNvSpPr txBox="1"/>
          <p:nvPr/>
        </p:nvSpPr>
        <p:spPr>
          <a:xfrm>
            <a:off x="8181960" y="3043580"/>
            <a:ext cx="3059308" cy="6288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52"/>
              </a:lnSpc>
              <a:buNone/>
            </a:pPr>
            <a:r>
              <a:rPr lang="en-US" sz="1575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這種內容大家喜歡，這是最重要的線索。</a:t>
            </a:r>
            <a:endParaRPr lang="en-US" sz="1575" dirty="0"/>
          </a:p>
        </p:txBody>
      </p:sp>
      <p:sp>
        <p:nvSpPr>
          <p:cNvPr id="27" name="Text 24"/>
          <p:cNvSpPr txBox="1"/>
          <p:nvPr/>
        </p:nvSpPr>
        <p:spPr>
          <a:xfrm>
            <a:off x="8181960" y="3786805"/>
            <a:ext cx="1399398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2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下一篇怎麼改</a:t>
            </a:r>
            <a:endParaRPr lang="en-US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8181960" y="4120195"/>
            <a:ext cx="3059308" cy="6288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52"/>
              </a:lnSpc>
              <a:buNone/>
            </a:pPr>
            <a:r>
              <a:rPr lang="en-US" sz="1575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把那一篇</a:t>
            </a:r>
            <a:pPr algn="l" indent="0" marL="0">
              <a:lnSpc>
                <a:spcPts val="2552"/>
              </a:lnSpc>
              <a:buNone/>
            </a:pPr>
            <a:r>
              <a:rPr lang="en-US" sz="1575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再做一次</a:t>
            </a:r>
            <a:pPr algn="l" indent="0" marL="0">
              <a:lnSpc>
                <a:spcPts val="2552"/>
              </a:lnSpc>
              <a:buNone/>
            </a:pPr>
            <a:r>
              <a:rPr lang="en-US" sz="1575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：同樣主題、同樣拍法，換個商品。</a:t>
            </a:r>
            <a:endParaRPr lang="en-US" sz="1575" dirty="0"/>
          </a:p>
        </p:txBody>
      </p:sp>
      <p:sp>
        <p:nvSpPr>
          <p:cNvPr id="29" name="Shape 26"/>
          <p:cNvSpPr/>
          <p:nvPr/>
        </p:nvSpPr>
        <p:spPr>
          <a:xfrm>
            <a:off x="800100" y="5139660"/>
            <a:ext cx="10591770" cy="702625"/>
          </a:xfrm>
          <a:prstGeom prst="roundRect">
            <a:avLst>
              <a:gd name="adj" fmla="val 24401"/>
            </a:avLst>
          </a:prstGeom>
          <a:solidFill>
            <a:srgbClr val="FBEEE6"/>
          </a:solidFill>
          <a:ln/>
        </p:spPr>
      </p:sp>
      <p:sp>
        <p:nvSpPr>
          <p:cNvPr id="30" name="Shape 27"/>
          <p:cNvSpPr/>
          <p:nvPr/>
        </p:nvSpPr>
        <p:spPr>
          <a:xfrm>
            <a:off x="800100" y="5139660"/>
            <a:ext cx="47640" cy="702625"/>
          </a:xfrm>
          <a:prstGeom prst="rect">
            <a:avLst/>
          </a:prstGeom>
          <a:solidFill>
            <a:srgbClr val="C05F3C"/>
          </a:solidFill>
          <a:ln/>
        </p:spPr>
      </p:sp>
      <p:pic>
        <p:nvPicPr>
          <p:cNvPr id="31" name="Image 1" descr="/home/user/gogoeveryday/social-course/export-pptx/build/img/p15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360" y="5330129"/>
            <a:ext cx="361920" cy="321594"/>
          </a:xfrm>
          <a:prstGeom prst="rect">
            <a:avLst/>
          </a:prstGeom>
        </p:spPr>
      </p:pic>
      <p:sp>
        <p:nvSpPr>
          <p:cNvPr id="32" name="Text 28"/>
          <p:cNvSpPr txBox="1"/>
          <p:nvPr/>
        </p:nvSpPr>
        <p:spPr>
          <a:xfrm>
            <a:off x="1571671" y="5335890"/>
            <a:ext cx="4967478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看數據只要回答一個問題：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下一篇要跟哪一篇一樣？</a:t>
            </a:r>
            <a:endParaRPr lang="en-US" sz="1575" dirty="0"/>
          </a:p>
        </p:txBody>
      </p:sp>
      <p:sp>
        <p:nvSpPr>
          <p:cNvPr id="33" name="Shape 29"/>
          <p:cNvSpPr/>
          <p:nvPr/>
        </p:nvSpPr>
        <p:spPr>
          <a:xfrm>
            <a:off x="10260208" y="228600"/>
            <a:ext cx="1131661" cy="447690"/>
          </a:xfrm>
          <a:prstGeom prst="roundRect">
            <a:avLst>
              <a:gd name="adj" fmla="val 50000"/>
            </a:avLst>
          </a:prstGeom>
          <a:solidFill>
            <a:srgbClr val="5F7A63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34" name="Text 30"/>
          <p:cNvSpPr txBox="1"/>
          <p:nvPr/>
        </p:nvSpPr>
        <p:spPr>
          <a:xfrm>
            <a:off x="10384018" y="304770"/>
            <a:ext cx="947136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90" kern="0" dirty="0">
                <a:solidFill>
                  <a:srgbClr val="FBF7F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一起判讀</a:t>
            </a:r>
            <a:endParaRPr lang="en-US" sz="1500" dirty="0"/>
          </a:p>
        </p:txBody>
      </p:sp>
      <p:sp>
        <p:nvSpPr>
          <p:cNvPr id="35" name="Text 31"/>
          <p:cNvSpPr txBox="1"/>
          <p:nvPr/>
        </p:nvSpPr>
        <p:spPr>
          <a:xfrm>
            <a:off x="761970" y="6343650"/>
            <a:ext cx="2029877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PART 1 · 10:56</a:t>
            </a:r>
            <a:endParaRPr lang="en-US" sz="1500" dirty="0"/>
          </a:p>
        </p:txBody>
      </p:sp>
      <p:sp>
        <p:nvSpPr>
          <p:cNvPr id="36" name="Text 32"/>
          <p:cNvSpPr txBox="1"/>
          <p:nvPr/>
        </p:nvSpPr>
        <p:spPr>
          <a:xfrm>
            <a:off x="10690616" y="6343650"/>
            <a:ext cx="794614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15 / 42</a:t>
            </a:r>
            <a:endParaRPr lang="en-US" sz="15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social-course/export-pptx/build/bg/16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1970" y="1033455"/>
            <a:ext cx="238064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50" kern="0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Facebook 這一段結束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761970" y="1414485"/>
            <a:ext cx="2228118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94"/>
              </a:lnSpc>
              <a:buNone/>
            </a:pPr>
            <a:r>
              <a:rPr lang="en-US" sz="2700" b="1" spc="-54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八項全部打勾</a:t>
            </a:r>
            <a:endParaRPr lang="en-US" sz="2700" dirty="0"/>
          </a:p>
        </p:txBody>
      </p:sp>
      <p:sp>
        <p:nvSpPr>
          <p:cNvPr id="5" name="Shape 2"/>
          <p:cNvSpPr/>
          <p:nvPr/>
        </p:nvSpPr>
        <p:spPr>
          <a:xfrm>
            <a:off x="800100" y="2042221"/>
            <a:ext cx="2826502" cy="523860"/>
          </a:xfrm>
          <a:prstGeom prst="roundRect">
            <a:avLst>
              <a:gd name="adj" fmla="val 25449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1257300" y="2156521"/>
            <a:ext cx="150437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粉絲專頁已建立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3779032" y="2042221"/>
            <a:ext cx="2826502" cy="523860"/>
          </a:xfrm>
          <a:prstGeom prst="roundRect">
            <a:avLst>
              <a:gd name="adj" fmla="val 25449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4236232" y="2156521"/>
            <a:ext cx="170627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大頭貼、封面完成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800100" y="2670871"/>
            <a:ext cx="2826502" cy="523860"/>
          </a:xfrm>
          <a:prstGeom prst="roundRect">
            <a:avLst>
              <a:gd name="adj" fmla="val 25449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1257300" y="2785171"/>
            <a:ext cx="190826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簡介與聯絡方式完成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3779032" y="2670871"/>
            <a:ext cx="2826502" cy="523860"/>
          </a:xfrm>
          <a:prstGeom prst="roundRect">
            <a:avLst>
              <a:gd name="adj" fmla="val 25449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2" name="Text 9"/>
          <p:cNvSpPr txBox="1"/>
          <p:nvPr/>
        </p:nvSpPr>
        <p:spPr>
          <a:xfrm>
            <a:off x="4236232" y="2785171"/>
            <a:ext cx="170627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找得到發文的位置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800100" y="3299521"/>
            <a:ext cx="2826502" cy="523860"/>
          </a:xfrm>
          <a:prstGeom prst="roundRect">
            <a:avLst>
              <a:gd name="adj" fmla="val 25449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4" name="Text 11"/>
          <p:cNvSpPr txBox="1"/>
          <p:nvPr/>
        </p:nvSpPr>
        <p:spPr>
          <a:xfrm>
            <a:off x="1257300" y="3413821"/>
            <a:ext cx="130247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發過一篇貼文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3779032" y="3299521"/>
            <a:ext cx="2826502" cy="523860"/>
          </a:xfrm>
          <a:prstGeom prst="roundRect">
            <a:avLst>
              <a:gd name="adj" fmla="val 25449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4236232" y="3413821"/>
            <a:ext cx="170627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會編輯與刪除貼文</a:t>
            </a:r>
            <a:endParaRPr lang="en-US" sz="1500" dirty="0"/>
          </a:p>
        </p:txBody>
      </p:sp>
      <p:sp>
        <p:nvSpPr>
          <p:cNvPr id="17" name="Shape 14"/>
          <p:cNvSpPr/>
          <p:nvPr/>
        </p:nvSpPr>
        <p:spPr>
          <a:xfrm>
            <a:off x="800100" y="3928171"/>
            <a:ext cx="2826502" cy="523860"/>
          </a:xfrm>
          <a:prstGeom prst="roundRect">
            <a:avLst>
              <a:gd name="adj" fmla="val 25449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8" name="Text 15"/>
          <p:cNvSpPr txBox="1"/>
          <p:nvPr/>
        </p:nvSpPr>
        <p:spPr>
          <a:xfrm>
            <a:off x="1257300" y="4042471"/>
            <a:ext cx="190826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找得到專業主頁面板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3779032" y="3928171"/>
            <a:ext cx="2826502" cy="523860"/>
          </a:xfrm>
          <a:prstGeom prst="roundRect">
            <a:avLst>
              <a:gd name="adj" fmla="val 25449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20" name="Text 17"/>
          <p:cNvSpPr txBox="1"/>
          <p:nvPr/>
        </p:nvSpPr>
        <p:spPr>
          <a:xfrm>
            <a:off x="4236232" y="4042471"/>
            <a:ext cx="150437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看得懂四個數字</a:t>
            </a:r>
            <a:endParaRPr lang="en-US" sz="1500" dirty="0"/>
          </a:p>
        </p:txBody>
      </p:sp>
      <p:sp>
        <p:nvSpPr>
          <p:cNvPr id="21" name="Shape 18"/>
          <p:cNvSpPr/>
          <p:nvPr/>
        </p:nvSpPr>
        <p:spPr>
          <a:xfrm>
            <a:off x="800100" y="4623481"/>
            <a:ext cx="5805526" cy="1000994"/>
          </a:xfrm>
          <a:prstGeom prst="roundRect">
            <a:avLst>
              <a:gd name="adj" fmla="val 17128"/>
            </a:avLst>
          </a:prstGeom>
          <a:solidFill>
            <a:srgbClr val="DFE8DC"/>
          </a:solidFill>
          <a:ln/>
        </p:spPr>
      </p:sp>
      <p:sp>
        <p:nvSpPr>
          <p:cNvPr id="22" name="Shape 19"/>
          <p:cNvSpPr/>
          <p:nvPr/>
        </p:nvSpPr>
        <p:spPr>
          <a:xfrm>
            <a:off x="800100" y="4623481"/>
            <a:ext cx="47640" cy="1000994"/>
          </a:xfrm>
          <a:prstGeom prst="rect">
            <a:avLst/>
          </a:prstGeom>
          <a:solidFill>
            <a:srgbClr val="5F7A63"/>
          </a:solidFill>
          <a:ln/>
        </p:spPr>
      </p:sp>
      <p:pic>
        <p:nvPicPr>
          <p:cNvPr id="23" name="Image 1" descr="/home/user/gogoeveryday/social-course/export-pptx/build/img/p16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360" y="4971593"/>
            <a:ext cx="272948" cy="304770"/>
          </a:xfrm>
          <a:prstGeom prst="rect">
            <a:avLst/>
          </a:prstGeom>
        </p:spPr>
      </p:pic>
      <p:sp>
        <p:nvSpPr>
          <p:cNvPr id="24" name="Text 20"/>
          <p:cNvSpPr txBox="1"/>
          <p:nvPr/>
        </p:nvSpPr>
        <p:spPr>
          <a:xfrm>
            <a:off x="1482608" y="4813950"/>
            <a:ext cx="5179527" cy="6148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第一個平台完成了。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5F7A6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接下來兩個會快很多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，因為步驟都一樣。</a:t>
            </a:r>
            <a:endParaRPr lang="en-US" sz="1575" dirty="0"/>
          </a:p>
        </p:txBody>
      </p:sp>
      <p:pic>
        <p:nvPicPr>
          <p:cNvPr id="25" name="Image 2" descr="/home/user/gogoeveryday/social-course/export-pptx/build/img/p16-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22553" y="2476470"/>
            <a:ext cx="1047720" cy="1047720"/>
          </a:xfrm>
          <a:prstGeom prst="rect">
            <a:avLst/>
          </a:prstGeom>
        </p:spPr>
      </p:pic>
      <p:sp>
        <p:nvSpPr>
          <p:cNvPr id="26" name="Text 21"/>
          <p:cNvSpPr txBox="1"/>
          <p:nvPr/>
        </p:nvSpPr>
        <p:spPr>
          <a:xfrm>
            <a:off x="8551103" y="3714750"/>
            <a:ext cx="140031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spc="15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PART 1 完成</a:t>
            </a:r>
            <a:endParaRPr lang="en-US" sz="1500" dirty="0"/>
          </a:p>
        </p:txBody>
      </p:sp>
      <p:sp>
        <p:nvSpPr>
          <p:cNvPr id="27" name="Shape 22"/>
          <p:cNvSpPr/>
          <p:nvPr/>
        </p:nvSpPr>
        <p:spPr>
          <a:xfrm>
            <a:off x="10260208" y="228600"/>
            <a:ext cx="1131661" cy="447690"/>
          </a:xfrm>
          <a:prstGeom prst="roundRect">
            <a:avLst>
              <a:gd name="adj" fmla="val 50000"/>
            </a:avLst>
          </a:prstGeom>
          <a:solidFill>
            <a:srgbClr val="C05F3C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28" name="Text 23"/>
          <p:cNvSpPr txBox="1"/>
          <p:nvPr/>
        </p:nvSpPr>
        <p:spPr>
          <a:xfrm>
            <a:off x="10384018" y="304770"/>
            <a:ext cx="947136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90" kern="0" dirty="0">
                <a:solidFill>
                  <a:srgbClr val="FBF7F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成果確認</a:t>
            </a:r>
            <a:endParaRPr lang="en-US" sz="1500" dirty="0"/>
          </a:p>
        </p:txBody>
      </p:sp>
      <p:sp>
        <p:nvSpPr>
          <p:cNvPr id="29" name="Text 24"/>
          <p:cNvSpPr txBox="1"/>
          <p:nvPr/>
        </p:nvSpPr>
        <p:spPr>
          <a:xfrm>
            <a:off x="761970" y="6343650"/>
            <a:ext cx="2029877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PART 1 · 11:00</a:t>
            </a:r>
            <a:endParaRPr lang="en-US" sz="1500" dirty="0"/>
          </a:p>
        </p:txBody>
      </p:sp>
      <p:sp>
        <p:nvSpPr>
          <p:cNvPr id="30" name="Text 25"/>
          <p:cNvSpPr txBox="1"/>
          <p:nvPr/>
        </p:nvSpPr>
        <p:spPr>
          <a:xfrm>
            <a:off x="10690616" y="6343650"/>
            <a:ext cx="794614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16 / 42</a:t>
            </a:r>
            <a:endParaRPr lang="en-US" sz="15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social-course/export-pptx/build/bg/17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876270" y="1506840"/>
            <a:ext cx="2703698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20" kern="0" dirty="0">
                <a:solidFill>
                  <a:srgbClr val="D99A4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11:05 – 13:50 ｜ PART 2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876270" y="1706910"/>
            <a:ext cx="1726662" cy="20860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0"/>
              </a:lnSpc>
              <a:buNone/>
            </a:pPr>
            <a:r>
              <a:rPr lang="en-US" sz="11250" b="1" spc="-563" kern="0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02</a:t>
            </a:r>
            <a:endParaRPr lang="en-US" sz="11250" dirty="0"/>
          </a:p>
        </p:txBody>
      </p:sp>
      <p:sp>
        <p:nvSpPr>
          <p:cNvPr id="5" name="Text 2"/>
          <p:cNvSpPr txBox="1"/>
          <p:nvPr/>
        </p:nvSpPr>
        <p:spPr>
          <a:xfrm>
            <a:off x="876270" y="3249960"/>
            <a:ext cx="2759019" cy="790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b="1" spc="-126" kern="0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Instagram</a:t>
            </a:r>
            <a:endParaRPr lang="en-US" sz="4200" dirty="0"/>
          </a:p>
        </p:txBody>
      </p:sp>
      <p:sp>
        <p:nvSpPr>
          <p:cNvPr id="6" name="Text 3"/>
          <p:cNvSpPr txBox="1"/>
          <p:nvPr/>
        </p:nvSpPr>
        <p:spPr>
          <a:xfrm>
            <a:off x="876270" y="4421490"/>
            <a:ext cx="4587179" cy="6933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buNone/>
            </a:pPr>
            <a:r>
              <a:rPr lang="en-US" sz="1725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同樣四步：建立 → 設定 → 發文 → 看後台。</a:t>
            </a:r>
            <a:endParaRPr lang="en-US" sz="1725" dirty="0"/>
          </a:p>
          <a:p>
            <a:pPr algn="l" indent="0" marL="0">
              <a:lnSpc>
                <a:spcPts val="2760"/>
              </a:lnSpc>
              <a:buNone/>
            </a:pPr>
            <a:r>
              <a:rPr lang="en-US" sz="1725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多一個關鍵動作：切換成「專業帳號」。</a:t>
            </a:r>
            <a:endParaRPr lang="en-US" sz="1725" dirty="0"/>
          </a:p>
        </p:txBody>
      </p:sp>
      <p:pic>
        <p:nvPicPr>
          <p:cNvPr id="7" name="Image 1" descr="/home/user/gogoeveryday/social-course/export-pptx/build/img/p17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86871" y="2803916"/>
            <a:ext cx="1200150" cy="120015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761970" y="6343650"/>
            <a:ext cx="2730307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PART 2 · 11:05–13:50</a:t>
            </a:r>
            <a:endParaRPr lang="en-US" sz="1500" dirty="0"/>
          </a:p>
        </p:txBody>
      </p:sp>
      <p:sp>
        <p:nvSpPr>
          <p:cNvPr id="9" name="Text 5"/>
          <p:cNvSpPr txBox="1"/>
          <p:nvPr/>
        </p:nvSpPr>
        <p:spPr>
          <a:xfrm>
            <a:off x="10690616" y="6343650"/>
            <a:ext cx="794614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17 / 42</a:t>
            </a:r>
            <a:endParaRPr lang="en-US" sz="15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social-course/export-pptx/build/bg/18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1970" y="594909"/>
            <a:ext cx="1423629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50" kern="0" dirty="0">
                <a:solidFill>
                  <a:srgbClr val="8A5A6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開始前先知道</a:t>
            </a:r>
            <a:endParaRPr lang="en-US" sz="1500" dirty="0"/>
          </a:p>
        </p:txBody>
      </p:sp>
      <p:sp>
        <p:nvSpPr>
          <p:cNvPr id="4" name="Shape 1"/>
          <p:cNvSpPr/>
          <p:nvPr/>
        </p:nvSpPr>
        <p:spPr>
          <a:xfrm>
            <a:off x="800100" y="1194938"/>
            <a:ext cx="5086350" cy="3705240"/>
          </a:xfrm>
          <a:prstGeom prst="roundRect">
            <a:avLst>
              <a:gd name="adj" fmla="val 6170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5" name="Text 2"/>
          <p:cNvSpPr txBox="1"/>
          <p:nvPr/>
        </p:nvSpPr>
        <p:spPr>
          <a:xfrm>
            <a:off x="1019190" y="1442557"/>
            <a:ext cx="1181313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2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一般人用的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1019190" y="1814078"/>
            <a:ext cx="1210483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spc="-21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個人帳號</a:t>
            </a:r>
            <a:endParaRPr lang="en-US" sz="2100" dirty="0"/>
          </a:p>
        </p:txBody>
      </p:sp>
      <p:sp>
        <p:nvSpPr>
          <p:cNvPr id="7" name="Shape 4"/>
          <p:cNvSpPr/>
          <p:nvPr/>
        </p:nvSpPr>
        <p:spPr>
          <a:xfrm>
            <a:off x="1057321" y="2337938"/>
            <a:ext cx="4572000" cy="1047720"/>
          </a:xfrm>
          <a:prstGeom prst="roundRect">
            <a:avLst>
              <a:gd name="adj" fmla="val 12725"/>
            </a:avLst>
          </a:prstGeom>
          <a:solidFill>
            <a:srgbClr val="F4ECE1"/>
          </a:solidFill>
          <a:ln/>
        </p:spPr>
      </p:sp>
      <p:pic>
        <p:nvPicPr>
          <p:cNvPr id="8" name="Image 1" descr="/home/user/gogoeveryday/social-course/export-pptx/build/img/p18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28900" y="2290298"/>
            <a:ext cx="1428750" cy="114300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181130" y="3509559"/>
            <a:ext cx="150437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發照片給朋友看</a:t>
            </a:r>
            <a:endParaRPr lang="en-US" sz="1500" dirty="0"/>
          </a:p>
        </p:txBody>
      </p:sp>
      <p:sp>
        <p:nvSpPr>
          <p:cNvPr id="10" name="Text 6"/>
          <p:cNvSpPr txBox="1"/>
          <p:nvPr/>
        </p:nvSpPr>
        <p:spPr>
          <a:xfrm>
            <a:off x="1181130" y="3919118"/>
            <a:ext cx="130247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沒有任何數據</a:t>
            </a:r>
            <a:endParaRPr lang="en-US" sz="1500" dirty="0"/>
          </a:p>
        </p:txBody>
      </p:sp>
      <p:sp>
        <p:nvSpPr>
          <p:cNvPr id="11" name="Text 7"/>
          <p:cNvSpPr txBox="1"/>
          <p:nvPr/>
        </p:nvSpPr>
        <p:spPr>
          <a:xfrm>
            <a:off x="1181130" y="4328678"/>
            <a:ext cx="130247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沒有聯絡按鈕</a:t>
            </a:r>
            <a:endParaRPr lang="en-US" sz="1500" dirty="0"/>
          </a:p>
        </p:txBody>
      </p:sp>
      <p:sp>
        <p:nvSpPr>
          <p:cNvPr id="12" name="Shape 8"/>
          <p:cNvSpPr/>
          <p:nvPr/>
        </p:nvSpPr>
        <p:spPr>
          <a:xfrm>
            <a:off x="6305520" y="1194938"/>
            <a:ext cx="5086350" cy="3705240"/>
          </a:xfrm>
          <a:prstGeom prst="roundRect">
            <a:avLst>
              <a:gd name="adj" fmla="val 6170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3" name="Text 9"/>
          <p:cNvSpPr txBox="1"/>
          <p:nvPr/>
        </p:nvSpPr>
        <p:spPr>
          <a:xfrm>
            <a:off x="6524610" y="1442557"/>
            <a:ext cx="1181313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20" kern="0" dirty="0">
                <a:solidFill>
                  <a:srgbClr val="E1306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今天要用的</a:t>
            </a:r>
            <a:endParaRPr lang="en-US" sz="1500" dirty="0"/>
          </a:p>
        </p:txBody>
      </p:sp>
      <p:sp>
        <p:nvSpPr>
          <p:cNvPr id="14" name="Text 10"/>
          <p:cNvSpPr txBox="1"/>
          <p:nvPr/>
        </p:nvSpPr>
        <p:spPr>
          <a:xfrm>
            <a:off x="6524610" y="1814078"/>
            <a:ext cx="1210483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spc="-21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專業帳號</a:t>
            </a:r>
            <a:endParaRPr lang="en-US" sz="2100" dirty="0"/>
          </a:p>
        </p:txBody>
      </p:sp>
      <p:sp>
        <p:nvSpPr>
          <p:cNvPr id="15" name="Shape 11"/>
          <p:cNvSpPr/>
          <p:nvPr/>
        </p:nvSpPr>
        <p:spPr>
          <a:xfrm>
            <a:off x="6562740" y="2337938"/>
            <a:ext cx="4572000" cy="1047720"/>
          </a:xfrm>
          <a:prstGeom prst="roundRect">
            <a:avLst>
              <a:gd name="adj" fmla="val 12725"/>
            </a:avLst>
          </a:prstGeom>
          <a:solidFill>
            <a:srgbClr val="FDEEF4"/>
          </a:solidFill>
          <a:ln/>
        </p:spPr>
      </p:sp>
      <p:pic>
        <p:nvPicPr>
          <p:cNvPr id="16" name="Image 2" descr="/home/user/gogoeveryday/social-course/export-pptx/build/img/p18-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96210" y="2163379"/>
            <a:ext cx="1904970" cy="1396929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6686550" y="3509559"/>
            <a:ext cx="291785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一樣是免費的，隨時可以切回去</a:t>
            </a:r>
            <a:endParaRPr lang="en-US" sz="1500" dirty="0"/>
          </a:p>
        </p:txBody>
      </p:sp>
      <p:sp>
        <p:nvSpPr>
          <p:cNvPr id="18" name="Text 13"/>
          <p:cNvSpPr txBox="1"/>
          <p:nvPr/>
        </p:nvSpPr>
        <p:spPr>
          <a:xfrm>
            <a:off x="6686550" y="3919118"/>
            <a:ext cx="211016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有洞察報告可以看數據</a:t>
            </a:r>
            <a:endParaRPr lang="en-US" sz="1500" dirty="0"/>
          </a:p>
        </p:txBody>
      </p:sp>
      <p:sp>
        <p:nvSpPr>
          <p:cNvPr id="19" name="Text 14"/>
          <p:cNvSpPr txBox="1"/>
          <p:nvPr/>
        </p:nvSpPr>
        <p:spPr>
          <a:xfrm>
            <a:off x="6686550" y="4328678"/>
            <a:ext cx="231206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可以放「傳送訊息」按鈕</a:t>
            </a:r>
            <a:endParaRPr lang="en-US" sz="1500" dirty="0"/>
          </a:p>
        </p:txBody>
      </p:sp>
      <p:sp>
        <p:nvSpPr>
          <p:cNvPr id="20" name="Shape 15"/>
          <p:cNvSpPr/>
          <p:nvPr/>
        </p:nvSpPr>
        <p:spPr>
          <a:xfrm>
            <a:off x="800100" y="5062118"/>
            <a:ext cx="10591770" cy="1000994"/>
          </a:xfrm>
          <a:prstGeom prst="roundRect">
            <a:avLst>
              <a:gd name="adj" fmla="val 17128"/>
            </a:avLst>
          </a:prstGeom>
          <a:solidFill>
            <a:srgbClr val="FDEEF4"/>
          </a:solidFill>
          <a:ln/>
        </p:spPr>
      </p:sp>
      <p:sp>
        <p:nvSpPr>
          <p:cNvPr id="21" name="Shape 16"/>
          <p:cNvSpPr/>
          <p:nvPr/>
        </p:nvSpPr>
        <p:spPr>
          <a:xfrm>
            <a:off x="800100" y="5062118"/>
            <a:ext cx="47640" cy="1000994"/>
          </a:xfrm>
          <a:prstGeom prst="rect">
            <a:avLst/>
          </a:prstGeom>
          <a:solidFill>
            <a:srgbClr val="E1306C"/>
          </a:solidFill>
          <a:ln/>
        </p:spPr>
      </p:sp>
      <p:pic>
        <p:nvPicPr>
          <p:cNvPr id="22" name="Image 3" descr="/home/user/gogoeveryday/social-course/export-pptx/build/img/p18-3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5360" y="5400721"/>
            <a:ext cx="323880" cy="32388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1533540" y="5252588"/>
            <a:ext cx="4119372" cy="6148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E1306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沒有切換成專業帳號，就完全看不到數據。</a:t>
            </a:r>
            <a:endParaRPr lang="en-US" sz="1575" dirty="0"/>
          </a:p>
          <a:p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這是今天這一段最重要的一個動作。</a:t>
            </a:r>
            <a:endParaRPr lang="en-US" sz="1575" dirty="0"/>
          </a:p>
        </p:txBody>
      </p:sp>
      <p:sp>
        <p:nvSpPr>
          <p:cNvPr id="24" name="Text 18"/>
          <p:cNvSpPr txBox="1"/>
          <p:nvPr/>
        </p:nvSpPr>
        <p:spPr>
          <a:xfrm>
            <a:off x="761970" y="6343650"/>
            <a:ext cx="2029877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PART 2 · 11:05</a:t>
            </a:r>
            <a:endParaRPr lang="en-US" sz="1500" dirty="0"/>
          </a:p>
        </p:txBody>
      </p:sp>
      <p:sp>
        <p:nvSpPr>
          <p:cNvPr id="25" name="Text 19"/>
          <p:cNvSpPr txBox="1"/>
          <p:nvPr/>
        </p:nvSpPr>
        <p:spPr>
          <a:xfrm>
            <a:off x="10690616" y="6343650"/>
            <a:ext cx="794614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18 / 42</a:t>
            </a:r>
            <a:endParaRPr lang="en-US" sz="15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social-course/export-pptx/build/bg/19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09630" y="586222"/>
            <a:ext cx="342278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50" kern="0" dirty="0">
                <a:solidFill>
                  <a:srgbClr val="8A5A6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已經有帳號的人，直接跳到下一頁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609630" y="967252"/>
            <a:ext cx="3653028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94"/>
              </a:lnSpc>
              <a:buNone/>
            </a:pPr>
            <a:r>
              <a:rPr lang="en-US" sz="2700" b="1" spc="-54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還沒有帳號？四步就好</a:t>
            </a:r>
            <a:endParaRPr lang="en-US" sz="2700" dirty="0"/>
          </a:p>
        </p:txBody>
      </p:sp>
      <p:pic>
        <p:nvPicPr>
          <p:cNvPr id="5" name="Image 1" descr="/home/user/gogoeveryday/social-course/export-pptx/build/img/p19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76420" y="1642628"/>
            <a:ext cx="1866930" cy="3733770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1933590" y="1499707"/>
            <a:ext cx="361920" cy="361920"/>
          </a:xfrm>
          <a:prstGeom prst="roundRect">
            <a:avLst>
              <a:gd name="adj" fmla="val 50000"/>
            </a:avLst>
          </a:prstGeom>
          <a:solidFill>
            <a:srgbClr val="C05F3C"/>
          </a:solidFill>
          <a:ln w="28575">
            <a:solidFill>
              <a:srgbClr val="FBF7F1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7" name="Text 3"/>
          <p:cNvSpPr txBox="1"/>
          <p:nvPr/>
        </p:nvSpPr>
        <p:spPr>
          <a:xfrm>
            <a:off x="1997324" y="1533083"/>
            <a:ext cx="24396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</a:t>
            </a:r>
            <a:endParaRPr lang="en-US" sz="1500" dirty="0"/>
          </a:p>
        </p:txBody>
      </p:sp>
      <p:sp>
        <p:nvSpPr>
          <p:cNvPr id="8" name="Text 4"/>
          <p:cNvSpPr txBox="1"/>
          <p:nvPr/>
        </p:nvSpPr>
        <p:spPr>
          <a:xfrm>
            <a:off x="2246772" y="5443057"/>
            <a:ext cx="1535918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950"/>
              </a:lnSpc>
              <a:buNone/>
            </a:pPr>
            <a:r>
              <a:rPr lang="en-US" sz="1500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下載並打開 App</a:t>
            </a:r>
            <a:endParaRPr lang="en-US" sz="1500" dirty="0"/>
          </a:p>
        </p:txBody>
      </p:sp>
      <p:sp>
        <p:nvSpPr>
          <p:cNvPr id="9" name="Text 5"/>
          <p:cNvSpPr txBox="1"/>
          <p:nvPr/>
        </p:nvSpPr>
        <p:spPr>
          <a:xfrm>
            <a:off x="2161550" y="5747918"/>
            <a:ext cx="170627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7A6A5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點「建立新帳號」</a:t>
            </a:r>
            <a:endParaRPr lang="en-US" sz="1500" dirty="0"/>
          </a:p>
        </p:txBody>
      </p:sp>
      <p:pic>
        <p:nvPicPr>
          <p:cNvPr id="10" name="Image 2" descr="/home/user/gogoeveryday/social-course/export-pptx/build/img/p19-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33820" y="1642628"/>
            <a:ext cx="1866930" cy="3733770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3990990" y="1499707"/>
            <a:ext cx="361920" cy="361920"/>
          </a:xfrm>
          <a:prstGeom prst="roundRect">
            <a:avLst>
              <a:gd name="adj" fmla="val 50000"/>
            </a:avLst>
          </a:prstGeom>
          <a:solidFill>
            <a:srgbClr val="C05F3C"/>
          </a:solidFill>
          <a:ln w="28575">
            <a:solidFill>
              <a:srgbClr val="FBF7F1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2" name="Text 7"/>
          <p:cNvSpPr txBox="1"/>
          <p:nvPr/>
        </p:nvSpPr>
        <p:spPr>
          <a:xfrm>
            <a:off x="4054724" y="1533083"/>
            <a:ext cx="24396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Text 8"/>
          <p:cNvSpPr txBox="1"/>
          <p:nvPr/>
        </p:nvSpPr>
        <p:spPr>
          <a:xfrm>
            <a:off x="4318071" y="5443057"/>
            <a:ext cx="1507663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950"/>
              </a:lnSpc>
              <a:buNone/>
            </a:pPr>
            <a:r>
              <a:rPr lang="en-US" sz="1500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填手機或 Email</a:t>
            </a:r>
            <a:endParaRPr lang="en-US" sz="1500" dirty="0"/>
          </a:p>
        </p:txBody>
      </p:sp>
      <p:sp>
        <p:nvSpPr>
          <p:cNvPr id="14" name="Text 9"/>
          <p:cNvSpPr txBox="1"/>
          <p:nvPr/>
        </p:nvSpPr>
        <p:spPr>
          <a:xfrm>
            <a:off x="4218950" y="5747918"/>
            <a:ext cx="170627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7A6A5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會收到一組驗證碼</a:t>
            </a:r>
            <a:endParaRPr lang="en-US" sz="1500" dirty="0"/>
          </a:p>
        </p:txBody>
      </p:sp>
      <p:pic>
        <p:nvPicPr>
          <p:cNvPr id="15" name="Image 3" descr="/home/user/gogoeveryday/social-course/export-pptx/build/img/p19-3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91220" y="1642628"/>
            <a:ext cx="1866930" cy="3733770"/>
          </a:xfrm>
          <a:prstGeom prst="rect">
            <a:avLst/>
          </a:prstGeom>
        </p:spPr>
      </p:pic>
      <p:sp>
        <p:nvSpPr>
          <p:cNvPr id="16" name="Shape 10"/>
          <p:cNvSpPr/>
          <p:nvPr/>
        </p:nvSpPr>
        <p:spPr>
          <a:xfrm>
            <a:off x="6048390" y="1499707"/>
            <a:ext cx="361920" cy="361920"/>
          </a:xfrm>
          <a:prstGeom prst="roundRect">
            <a:avLst>
              <a:gd name="adj" fmla="val 50000"/>
            </a:avLst>
          </a:prstGeom>
          <a:solidFill>
            <a:srgbClr val="C05F3C"/>
          </a:solidFill>
          <a:ln w="28575">
            <a:solidFill>
              <a:srgbClr val="FBF7F1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7" name="Text 11"/>
          <p:cNvSpPr txBox="1"/>
          <p:nvPr/>
        </p:nvSpPr>
        <p:spPr>
          <a:xfrm>
            <a:off x="6112124" y="1533083"/>
            <a:ext cx="24396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3</a:t>
            </a:r>
            <a:endParaRPr lang="en-US" sz="1500" dirty="0"/>
          </a:p>
        </p:txBody>
      </p:sp>
      <p:sp>
        <p:nvSpPr>
          <p:cNvPr id="18" name="Text 12"/>
          <p:cNvSpPr txBox="1"/>
          <p:nvPr/>
        </p:nvSpPr>
        <p:spPr>
          <a:xfrm>
            <a:off x="6377208" y="5443057"/>
            <a:ext cx="150437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950"/>
              </a:lnSpc>
              <a:buNone/>
            </a:pPr>
            <a:r>
              <a:rPr lang="en-US" sz="1500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設定使用者名稱</a:t>
            </a:r>
            <a:endParaRPr lang="en-US" sz="1500" dirty="0"/>
          </a:p>
        </p:txBody>
      </p:sp>
      <p:sp>
        <p:nvSpPr>
          <p:cNvPr id="19" name="Text 13"/>
          <p:cNvSpPr txBox="1"/>
          <p:nvPr/>
        </p:nvSpPr>
        <p:spPr>
          <a:xfrm>
            <a:off x="6276350" y="5747918"/>
            <a:ext cx="170627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7A6A5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英文，之後可以改</a:t>
            </a:r>
            <a:endParaRPr lang="en-US" sz="1500" dirty="0"/>
          </a:p>
        </p:txBody>
      </p:sp>
      <p:pic>
        <p:nvPicPr>
          <p:cNvPr id="20" name="Image 4" descr="/home/user/gogoeveryday/social-course/export-pptx/build/img/p19-4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48620" y="1642628"/>
            <a:ext cx="1866930" cy="3733770"/>
          </a:xfrm>
          <a:prstGeom prst="rect">
            <a:avLst/>
          </a:prstGeom>
        </p:spPr>
      </p:pic>
      <p:sp>
        <p:nvSpPr>
          <p:cNvPr id="21" name="Shape 14"/>
          <p:cNvSpPr/>
          <p:nvPr/>
        </p:nvSpPr>
        <p:spPr>
          <a:xfrm>
            <a:off x="8105790" y="1499707"/>
            <a:ext cx="361920" cy="361920"/>
          </a:xfrm>
          <a:prstGeom prst="roundRect">
            <a:avLst>
              <a:gd name="adj" fmla="val 50000"/>
            </a:avLst>
          </a:prstGeom>
          <a:solidFill>
            <a:srgbClr val="C05F3C"/>
          </a:solidFill>
          <a:ln w="28575">
            <a:solidFill>
              <a:srgbClr val="FBF7F1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22" name="Text 15"/>
          <p:cNvSpPr txBox="1"/>
          <p:nvPr/>
        </p:nvSpPr>
        <p:spPr>
          <a:xfrm>
            <a:off x="8169524" y="1533083"/>
            <a:ext cx="24396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4</a:t>
            </a:r>
            <a:endParaRPr lang="en-US" sz="1500" dirty="0"/>
          </a:p>
        </p:txBody>
      </p:sp>
      <p:sp>
        <p:nvSpPr>
          <p:cNvPr id="23" name="Text 16"/>
          <p:cNvSpPr txBox="1"/>
          <p:nvPr/>
        </p:nvSpPr>
        <p:spPr>
          <a:xfrm>
            <a:off x="8930670" y="5443057"/>
            <a:ext cx="51243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950"/>
              </a:lnSpc>
              <a:buNone/>
            </a:pPr>
            <a:r>
              <a:rPr lang="en-US" sz="1500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完成</a:t>
            </a:r>
            <a:endParaRPr lang="en-US" sz="1500" dirty="0"/>
          </a:p>
        </p:txBody>
      </p:sp>
      <p:sp>
        <p:nvSpPr>
          <p:cNvPr id="24" name="Text 17"/>
          <p:cNvSpPr txBox="1"/>
          <p:nvPr/>
        </p:nvSpPr>
        <p:spPr>
          <a:xfrm>
            <a:off x="8232709" y="5747918"/>
            <a:ext cx="190826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7A6A5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接著切換成專業帳號</a:t>
            </a:r>
            <a:endParaRPr lang="en-US" sz="1500" dirty="0"/>
          </a:p>
        </p:txBody>
      </p:sp>
      <p:sp>
        <p:nvSpPr>
          <p:cNvPr id="25" name="Shape 18"/>
          <p:cNvSpPr/>
          <p:nvPr/>
        </p:nvSpPr>
        <p:spPr>
          <a:xfrm>
            <a:off x="10260208" y="228600"/>
            <a:ext cx="1131661" cy="447690"/>
          </a:xfrm>
          <a:prstGeom prst="roundRect">
            <a:avLst>
              <a:gd name="adj" fmla="val 50000"/>
            </a:avLst>
          </a:prstGeom>
          <a:solidFill>
            <a:srgbClr val="C05F3C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26" name="Text 19"/>
          <p:cNvSpPr txBox="1"/>
          <p:nvPr/>
        </p:nvSpPr>
        <p:spPr>
          <a:xfrm>
            <a:off x="10384018" y="304770"/>
            <a:ext cx="947136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90" kern="0" dirty="0">
                <a:solidFill>
                  <a:srgbClr val="FBF7F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手機實作</a:t>
            </a:r>
            <a:endParaRPr lang="en-US" sz="1500" dirty="0"/>
          </a:p>
        </p:txBody>
      </p:sp>
      <p:sp>
        <p:nvSpPr>
          <p:cNvPr id="27" name="Text 20"/>
          <p:cNvSpPr txBox="1"/>
          <p:nvPr/>
        </p:nvSpPr>
        <p:spPr>
          <a:xfrm>
            <a:off x="761970" y="6343650"/>
            <a:ext cx="2029877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PART 2 · 11:12</a:t>
            </a:r>
            <a:endParaRPr lang="en-US" sz="1500" dirty="0"/>
          </a:p>
        </p:txBody>
      </p:sp>
      <p:sp>
        <p:nvSpPr>
          <p:cNvPr id="28" name="Text 21"/>
          <p:cNvSpPr txBox="1"/>
          <p:nvPr/>
        </p:nvSpPr>
        <p:spPr>
          <a:xfrm>
            <a:off x="10690616" y="6343650"/>
            <a:ext cx="794614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19 / 42</a:t>
            </a:r>
            <a:endParaRPr lang="en-US" sz="15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social-course/export-pptx/build/bg/2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1970" y="328635"/>
            <a:ext cx="1645737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50" kern="0" dirty="0">
                <a:solidFill>
                  <a:srgbClr val="8A5A6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這一步一定要做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761970" y="709574"/>
            <a:ext cx="2584369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94"/>
              </a:lnSpc>
              <a:buNone/>
            </a:pPr>
            <a:r>
              <a:rPr lang="en-US" sz="2700" b="1" spc="-54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切換成專業帳號</a:t>
            </a:r>
            <a:endParaRPr lang="en-US" sz="2700" dirty="0"/>
          </a:p>
        </p:txBody>
      </p:sp>
      <p:sp>
        <p:nvSpPr>
          <p:cNvPr id="5" name="Shape 2"/>
          <p:cNvSpPr/>
          <p:nvPr/>
        </p:nvSpPr>
        <p:spPr>
          <a:xfrm>
            <a:off x="800100" y="1337401"/>
            <a:ext cx="5300685" cy="552480"/>
          </a:xfrm>
          <a:prstGeom prst="roundRect">
            <a:avLst>
              <a:gd name="adj" fmla="val 24131"/>
            </a:avLst>
          </a:prstGeom>
          <a:solidFill>
            <a:srgbClr val="FFFFFF">
              <a:alpha val="62000"/>
            </a:srgbClr>
          </a:solidFill>
          <a:ln w="9525">
            <a:solidFill>
              <a:srgbClr val="241C17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981060" y="1461211"/>
            <a:ext cx="304770" cy="304770"/>
          </a:xfrm>
          <a:prstGeom prst="roundRect">
            <a:avLst>
              <a:gd name="adj" fmla="val 31263"/>
            </a:avLst>
          </a:prstGeom>
          <a:solidFill>
            <a:srgbClr val="E1306C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1039124" y="1461211"/>
            <a:ext cx="24396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1381110" y="1461211"/>
            <a:ext cx="1980042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75" b="1" spc="-16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點右下角自己的頭像</a:t>
            </a:r>
            <a:endParaRPr lang="en-US" sz="1575" dirty="0"/>
          </a:p>
        </p:txBody>
      </p:sp>
      <p:sp>
        <p:nvSpPr>
          <p:cNvPr id="9" name="Shape 6"/>
          <p:cNvSpPr/>
          <p:nvPr/>
        </p:nvSpPr>
        <p:spPr>
          <a:xfrm>
            <a:off x="800100" y="1994581"/>
            <a:ext cx="5300685" cy="552480"/>
          </a:xfrm>
          <a:prstGeom prst="roundRect">
            <a:avLst>
              <a:gd name="adj" fmla="val 24131"/>
            </a:avLst>
          </a:prstGeom>
          <a:solidFill>
            <a:srgbClr val="FFFFFF">
              <a:alpha val="62000"/>
            </a:srgbClr>
          </a:solidFill>
          <a:ln w="9525">
            <a:solidFill>
              <a:srgbClr val="241C17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981060" y="2118390"/>
            <a:ext cx="304770" cy="304770"/>
          </a:xfrm>
          <a:prstGeom prst="roundRect">
            <a:avLst>
              <a:gd name="adj" fmla="val 31263"/>
            </a:avLst>
          </a:prstGeom>
          <a:solidFill>
            <a:srgbClr val="E1306C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1039124" y="2118390"/>
            <a:ext cx="24396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1381110" y="2118390"/>
            <a:ext cx="1540032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75" b="1" spc="-16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點右上角「☰」</a:t>
            </a:r>
            <a:endParaRPr lang="en-US" sz="1575" dirty="0"/>
          </a:p>
        </p:txBody>
      </p:sp>
      <p:sp>
        <p:nvSpPr>
          <p:cNvPr id="13" name="Shape 10"/>
          <p:cNvSpPr/>
          <p:nvPr/>
        </p:nvSpPr>
        <p:spPr>
          <a:xfrm>
            <a:off x="800100" y="2651851"/>
            <a:ext cx="5300685" cy="552480"/>
          </a:xfrm>
          <a:prstGeom prst="roundRect">
            <a:avLst>
              <a:gd name="adj" fmla="val 24131"/>
            </a:avLst>
          </a:prstGeom>
          <a:solidFill>
            <a:srgbClr val="FFFFFF">
              <a:alpha val="62000"/>
            </a:srgbClr>
          </a:solidFill>
          <a:ln w="9525">
            <a:solidFill>
              <a:srgbClr val="241C17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981060" y="2775661"/>
            <a:ext cx="304770" cy="304770"/>
          </a:xfrm>
          <a:prstGeom prst="roundRect">
            <a:avLst>
              <a:gd name="adj" fmla="val 31263"/>
            </a:avLst>
          </a:prstGeom>
          <a:solidFill>
            <a:srgbClr val="E1306C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5" name="Text 12"/>
          <p:cNvSpPr txBox="1"/>
          <p:nvPr/>
        </p:nvSpPr>
        <p:spPr>
          <a:xfrm>
            <a:off x="1039124" y="2775661"/>
            <a:ext cx="24396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3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1381110" y="2775661"/>
            <a:ext cx="1980042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75" b="1" spc="-16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進入「設定和隱私」</a:t>
            </a:r>
            <a:endParaRPr lang="en-US" sz="1575" dirty="0"/>
          </a:p>
        </p:txBody>
      </p:sp>
      <p:sp>
        <p:nvSpPr>
          <p:cNvPr id="17" name="Shape 14"/>
          <p:cNvSpPr/>
          <p:nvPr/>
        </p:nvSpPr>
        <p:spPr>
          <a:xfrm>
            <a:off x="800100" y="3309031"/>
            <a:ext cx="5300685" cy="552480"/>
          </a:xfrm>
          <a:prstGeom prst="roundRect">
            <a:avLst>
              <a:gd name="adj" fmla="val 24131"/>
            </a:avLst>
          </a:prstGeom>
          <a:solidFill>
            <a:srgbClr val="FFFFFF">
              <a:alpha val="62000"/>
            </a:srgbClr>
          </a:solidFill>
          <a:ln w="9525">
            <a:solidFill>
              <a:srgbClr val="241C17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981060" y="3432840"/>
            <a:ext cx="304770" cy="304770"/>
          </a:xfrm>
          <a:prstGeom prst="roundRect">
            <a:avLst>
              <a:gd name="adj" fmla="val 31263"/>
            </a:avLst>
          </a:prstGeom>
          <a:solidFill>
            <a:srgbClr val="E1306C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9" name="Text 16"/>
          <p:cNvSpPr txBox="1"/>
          <p:nvPr/>
        </p:nvSpPr>
        <p:spPr>
          <a:xfrm>
            <a:off x="1039124" y="3432840"/>
            <a:ext cx="24396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4</a:t>
            </a:r>
            <a:endParaRPr lang="en-US" sz="1500" dirty="0"/>
          </a:p>
        </p:txBody>
      </p:sp>
      <p:sp>
        <p:nvSpPr>
          <p:cNvPr id="20" name="Text 17"/>
          <p:cNvSpPr txBox="1"/>
          <p:nvPr/>
        </p:nvSpPr>
        <p:spPr>
          <a:xfrm>
            <a:off x="1381110" y="3432840"/>
            <a:ext cx="2400026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75" b="1" spc="-16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找到「帳號類型和工具」</a:t>
            </a:r>
            <a:endParaRPr lang="en-US" sz="1575" dirty="0"/>
          </a:p>
        </p:txBody>
      </p:sp>
      <p:sp>
        <p:nvSpPr>
          <p:cNvPr id="21" name="Shape 18"/>
          <p:cNvSpPr/>
          <p:nvPr/>
        </p:nvSpPr>
        <p:spPr>
          <a:xfrm>
            <a:off x="800100" y="3966301"/>
            <a:ext cx="5300685" cy="552480"/>
          </a:xfrm>
          <a:prstGeom prst="roundRect">
            <a:avLst>
              <a:gd name="adj" fmla="val 24131"/>
            </a:avLst>
          </a:prstGeom>
          <a:solidFill>
            <a:srgbClr val="FFFFFF">
              <a:alpha val="62000"/>
            </a:srgbClr>
          </a:solidFill>
          <a:ln w="9525">
            <a:solidFill>
              <a:srgbClr val="241C17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981060" y="4090111"/>
            <a:ext cx="304770" cy="304770"/>
          </a:xfrm>
          <a:prstGeom prst="roundRect">
            <a:avLst>
              <a:gd name="adj" fmla="val 31263"/>
            </a:avLst>
          </a:prstGeom>
          <a:solidFill>
            <a:srgbClr val="E1306C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23" name="Text 20"/>
          <p:cNvSpPr txBox="1"/>
          <p:nvPr/>
        </p:nvSpPr>
        <p:spPr>
          <a:xfrm>
            <a:off x="1039124" y="4090111"/>
            <a:ext cx="24396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5</a:t>
            </a:r>
            <a:endParaRPr lang="en-US" sz="1500" dirty="0"/>
          </a:p>
        </p:txBody>
      </p:sp>
      <p:sp>
        <p:nvSpPr>
          <p:cNvPr id="24" name="Text 21"/>
          <p:cNvSpPr txBox="1"/>
          <p:nvPr/>
        </p:nvSpPr>
        <p:spPr>
          <a:xfrm>
            <a:off x="1381110" y="4090111"/>
            <a:ext cx="2189988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75" b="1" spc="-16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點「切換為專業帳號」</a:t>
            </a:r>
            <a:endParaRPr lang="en-US" sz="1575" dirty="0"/>
          </a:p>
        </p:txBody>
      </p:sp>
      <p:sp>
        <p:nvSpPr>
          <p:cNvPr id="25" name="Shape 22"/>
          <p:cNvSpPr/>
          <p:nvPr/>
        </p:nvSpPr>
        <p:spPr>
          <a:xfrm>
            <a:off x="800100" y="4623481"/>
            <a:ext cx="5300685" cy="552480"/>
          </a:xfrm>
          <a:prstGeom prst="roundRect">
            <a:avLst>
              <a:gd name="adj" fmla="val 24131"/>
            </a:avLst>
          </a:prstGeom>
          <a:solidFill>
            <a:srgbClr val="FFFFFF">
              <a:alpha val="62000"/>
            </a:srgbClr>
          </a:solidFill>
          <a:ln w="9525">
            <a:solidFill>
              <a:srgbClr val="241C17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981060" y="4747290"/>
            <a:ext cx="304770" cy="304770"/>
          </a:xfrm>
          <a:prstGeom prst="roundRect">
            <a:avLst>
              <a:gd name="adj" fmla="val 31263"/>
            </a:avLst>
          </a:prstGeom>
          <a:solidFill>
            <a:srgbClr val="E1306C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27" name="Text 24"/>
          <p:cNvSpPr txBox="1"/>
          <p:nvPr/>
        </p:nvSpPr>
        <p:spPr>
          <a:xfrm>
            <a:off x="1039124" y="4747290"/>
            <a:ext cx="24396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6</a:t>
            </a:r>
            <a:endParaRPr lang="en-US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1381110" y="4747290"/>
            <a:ext cx="2400026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75" b="1" spc="-16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類別選一個接近的，完成</a:t>
            </a:r>
            <a:endParaRPr lang="en-US" sz="1575" dirty="0"/>
          </a:p>
        </p:txBody>
      </p:sp>
      <p:sp>
        <p:nvSpPr>
          <p:cNvPr id="29" name="Shape 26"/>
          <p:cNvSpPr/>
          <p:nvPr/>
        </p:nvSpPr>
        <p:spPr>
          <a:xfrm>
            <a:off x="800100" y="5328300"/>
            <a:ext cx="5300685" cy="1000994"/>
          </a:xfrm>
          <a:prstGeom prst="roundRect">
            <a:avLst>
              <a:gd name="adj" fmla="val 17128"/>
            </a:avLst>
          </a:prstGeom>
          <a:solidFill>
            <a:srgbClr val="FDEEF4"/>
          </a:solidFill>
          <a:ln/>
        </p:spPr>
      </p:sp>
      <p:sp>
        <p:nvSpPr>
          <p:cNvPr id="30" name="Shape 27"/>
          <p:cNvSpPr/>
          <p:nvPr/>
        </p:nvSpPr>
        <p:spPr>
          <a:xfrm>
            <a:off x="800100" y="5328300"/>
            <a:ext cx="47640" cy="1000994"/>
          </a:xfrm>
          <a:prstGeom prst="rect">
            <a:avLst/>
          </a:prstGeom>
          <a:solidFill>
            <a:srgbClr val="E1306C"/>
          </a:solidFill>
          <a:ln/>
        </p:spPr>
      </p:sp>
      <p:pic>
        <p:nvPicPr>
          <p:cNvPr id="31" name="Image 1" descr="/home/user/gogoeveryday/social-course/export-pptx/build/img/p20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360" y="5676412"/>
            <a:ext cx="304770" cy="304770"/>
          </a:xfrm>
          <a:prstGeom prst="rect">
            <a:avLst/>
          </a:prstGeom>
        </p:spPr>
      </p:pic>
      <p:sp>
        <p:nvSpPr>
          <p:cNvPr id="32" name="Text 28"/>
          <p:cNvSpPr txBox="1"/>
          <p:nvPr/>
        </p:nvSpPr>
        <p:spPr>
          <a:xfrm>
            <a:off x="1514521" y="5518861"/>
            <a:ext cx="4119372" cy="6148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中間會問你要「創作者」還是「商家」——</a:t>
            </a:r>
            <a:endParaRPr lang="en-US" sz="1575" dirty="0"/>
          </a:p>
          <a:p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選「商家」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就好，兩個差別很小。</a:t>
            </a:r>
            <a:endParaRPr lang="en-US" sz="1575" dirty="0"/>
          </a:p>
        </p:txBody>
      </p:sp>
      <p:pic>
        <p:nvPicPr>
          <p:cNvPr id="33" name="Image 2" descr="/home/user/gogoeveryday/social-course/export-pptx/build/img/p20-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98608" y="404805"/>
            <a:ext cx="2590770" cy="5257800"/>
          </a:xfrm>
          <a:prstGeom prst="rect">
            <a:avLst/>
          </a:prstGeom>
        </p:spPr>
      </p:pic>
      <p:sp>
        <p:nvSpPr>
          <p:cNvPr id="34" name="Text 29"/>
          <p:cNvSpPr txBox="1"/>
          <p:nvPr/>
        </p:nvSpPr>
        <p:spPr>
          <a:xfrm>
            <a:off x="7509510" y="5786415"/>
            <a:ext cx="2978475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spc="15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切換後才會出現「洞察報告」</a:t>
            </a:r>
            <a:endParaRPr lang="en-US" sz="1500" dirty="0"/>
          </a:p>
        </p:txBody>
      </p:sp>
      <p:sp>
        <p:nvSpPr>
          <p:cNvPr id="35" name="Shape 30"/>
          <p:cNvSpPr/>
          <p:nvPr/>
        </p:nvSpPr>
        <p:spPr>
          <a:xfrm>
            <a:off x="10260208" y="228600"/>
            <a:ext cx="1131661" cy="447690"/>
          </a:xfrm>
          <a:prstGeom prst="roundRect">
            <a:avLst>
              <a:gd name="adj" fmla="val 50000"/>
            </a:avLst>
          </a:prstGeom>
          <a:solidFill>
            <a:srgbClr val="C05F3C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36" name="Text 31"/>
          <p:cNvSpPr txBox="1"/>
          <p:nvPr/>
        </p:nvSpPr>
        <p:spPr>
          <a:xfrm>
            <a:off x="10384018" y="304770"/>
            <a:ext cx="947136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90" kern="0" dirty="0">
                <a:solidFill>
                  <a:srgbClr val="FBF7F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手機實作</a:t>
            </a:r>
            <a:endParaRPr lang="en-US" sz="1500" dirty="0"/>
          </a:p>
        </p:txBody>
      </p:sp>
      <p:sp>
        <p:nvSpPr>
          <p:cNvPr id="37" name="Text 32"/>
          <p:cNvSpPr txBox="1"/>
          <p:nvPr/>
        </p:nvSpPr>
        <p:spPr>
          <a:xfrm>
            <a:off x="761970" y="6343650"/>
            <a:ext cx="2029877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PART 2 · 11:25</a:t>
            </a:r>
            <a:endParaRPr lang="en-US" sz="1500" dirty="0"/>
          </a:p>
        </p:txBody>
      </p:sp>
      <p:sp>
        <p:nvSpPr>
          <p:cNvPr id="38" name="Text 33"/>
          <p:cNvSpPr txBox="1"/>
          <p:nvPr/>
        </p:nvSpPr>
        <p:spPr>
          <a:xfrm>
            <a:off x="10690616" y="6343650"/>
            <a:ext cx="794614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20 / 42</a:t>
            </a:r>
            <a:endParaRPr lang="en-US" sz="15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social-course/export-pptx/build/bg/2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1970" y="431414"/>
            <a:ext cx="55056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50" kern="0" dirty="0">
                <a:solidFill>
                  <a:srgbClr val="8A5A6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設定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761970" y="812444"/>
            <a:ext cx="3296869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94"/>
              </a:lnSpc>
              <a:buNone/>
            </a:pPr>
            <a:r>
              <a:rPr lang="en-US" sz="2700" b="1" spc="-54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個人檔案有五欄要填</a:t>
            </a:r>
            <a:endParaRPr lang="en-US" sz="2700" dirty="0"/>
          </a:p>
        </p:txBody>
      </p:sp>
      <p:sp>
        <p:nvSpPr>
          <p:cNvPr id="5" name="Text 2"/>
          <p:cNvSpPr txBox="1"/>
          <p:nvPr/>
        </p:nvSpPr>
        <p:spPr>
          <a:xfrm>
            <a:off x="761970" y="1430670"/>
            <a:ext cx="3428909" cy="36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1875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個人檔案 →「編輯個人檔案」</a:t>
            </a:r>
            <a:endParaRPr lang="en-US" sz="1875" dirty="0"/>
          </a:p>
        </p:txBody>
      </p:sp>
      <p:sp>
        <p:nvSpPr>
          <p:cNvPr id="6" name="Shape 3"/>
          <p:cNvSpPr/>
          <p:nvPr/>
        </p:nvSpPr>
        <p:spPr>
          <a:xfrm>
            <a:off x="800100" y="1959285"/>
            <a:ext cx="5300685" cy="533370"/>
          </a:xfrm>
          <a:prstGeom prst="roundRect">
            <a:avLst>
              <a:gd name="adj" fmla="val 24996"/>
            </a:avLst>
          </a:prstGeom>
          <a:solidFill>
            <a:srgbClr val="FFFFFF">
              <a:alpha val="62000"/>
            </a:srgbClr>
          </a:solidFill>
          <a:ln w="9525">
            <a:solidFill>
              <a:srgbClr val="241C17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43021" y="2073585"/>
            <a:ext cx="731520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75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大頭貼</a:t>
            </a:r>
            <a:endParaRPr lang="en-US" sz="1575" dirty="0"/>
          </a:p>
        </p:txBody>
      </p:sp>
      <p:sp>
        <p:nvSpPr>
          <p:cNvPr id="8" name="Text 5"/>
          <p:cNvSpPr txBox="1"/>
          <p:nvPr/>
        </p:nvSpPr>
        <p:spPr>
          <a:xfrm>
            <a:off x="1638330" y="2073585"/>
            <a:ext cx="110048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7A6A5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商品或本人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800100" y="2597536"/>
            <a:ext cx="5300685" cy="828721"/>
          </a:xfrm>
          <a:prstGeom prst="roundRect">
            <a:avLst>
              <a:gd name="adj" fmla="val 16087"/>
            </a:avLst>
          </a:prstGeom>
          <a:solidFill>
            <a:srgbClr val="FFFFFF">
              <a:alpha val="62000"/>
            </a:srgbClr>
          </a:solidFill>
          <a:ln w="9525">
            <a:solidFill>
              <a:srgbClr val="241C17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943021" y="2711836"/>
            <a:ext cx="531541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75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名稱</a:t>
            </a:r>
            <a:endParaRPr lang="en-US" sz="1575" dirty="0"/>
          </a:p>
        </p:txBody>
      </p:sp>
      <p:sp>
        <p:nvSpPr>
          <p:cNvPr id="11" name="Text 8"/>
          <p:cNvSpPr txBox="1"/>
          <p:nvPr/>
        </p:nvSpPr>
        <p:spPr>
          <a:xfrm>
            <a:off x="1438260" y="2711836"/>
            <a:ext cx="190826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7A6A5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中文，可以搜尋得到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943021" y="3016606"/>
            <a:ext cx="170627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8A5A6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例：小芳手作果醬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800100" y="3530956"/>
            <a:ext cx="5300685" cy="828721"/>
          </a:xfrm>
          <a:prstGeom prst="roundRect">
            <a:avLst>
              <a:gd name="adj" fmla="val 16087"/>
            </a:avLst>
          </a:prstGeom>
          <a:solidFill>
            <a:srgbClr val="FFFFFF">
              <a:alpha val="62000"/>
            </a:srgbClr>
          </a:solidFill>
          <a:ln w="9525">
            <a:solidFill>
              <a:srgbClr val="241C17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943021" y="3645256"/>
            <a:ext cx="1151047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75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使用者名稱</a:t>
            </a:r>
            <a:endParaRPr lang="en-US" sz="1575" dirty="0"/>
          </a:p>
        </p:txBody>
      </p:sp>
      <p:sp>
        <p:nvSpPr>
          <p:cNvPr id="15" name="Text 12"/>
          <p:cNvSpPr txBox="1"/>
          <p:nvPr/>
        </p:nvSpPr>
        <p:spPr>
          <a:xfrm>
            <a:off x="2038380" y="3645256"/>
            <a:ext cx="89858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7A6A5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英文帳號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943021" y="3950025"/>
            <a:ext cx="1803288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8A5A6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例：xiaofang.jam</a:t>
            </a:r>
            <a:endParaRPr lang="en-US" sz="1500" dirty="0"/>
          </a:p>
        </p:txBody>
      </p:sp>
      <p:sp>
        <p:nvSpPr>
          <p:cNvPr id="17" name="Shape 14"/>
          <p:cNvSpPr/>
          <p:nvPr/>
        </p:nvSpPr>
        <p:spPr>
          <a:xfrm>
            <a:off x="800100" y="4464375"/>
            <a:ext cx="5300685" cy="828721"/>
          </a:xfrm>
          <a:prstGeom prst="roundRect">
            <a:avLst>
              <a:gd name="adj" fmla="val 16087"/>
            </a:avLst>
          </a:prstGeom>
          <a:solidFill>
            <a:srgbClr val="FFFFFF">
              <a:alpha val="62000"/>
            </a:srgbClr>
          </a:solidFill>
          <a:ln w="9525">
            <a:solidFill>
              <a:srgbClr val="241C17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943021" y="4578675"/>
            <a:ext cx="938997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75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個人簡介</a:t>
            </a:r>
            <a:endParaRPr lang="en-US" sz="1575" dirty="0"/>
          </a:p>
        </p:txBody>
      </p:sp>
      <p:sp>
        <p:nvSpPr>
          <p:cNvPr id="19" name="Text 16"/>
          <p:cNvSpPr txBox="1"/>
          <p:nvPr/>
        </p:nvSpPr>
        <p:spPr>
          <a:xfrm>
            <a:off x="1838310" y="4578675"/>
            <a:ext cx="231206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7A6A5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做什麼、賣給誰、在哪裡</a:t>
            </a:r>
            <a:endParaRPr lang="en-US" sz="1500" dirty="0"/>
          </a:p>
        </p:txBody>
      </p:sp>
      <p:sp>
        <p:nvSpPr>
          <p:cNvPr id="20" name="Text 17"/>
          <p:cNvSpPr txBox="1"/>
          <p:nvPr/>
        </p:nvSpPr>
        <p:spPr>
          <a:xfrm>
            <a:off x="943021" y="4883536"/>
            <a:ext cx="3413547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8A5A6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例：手工果醬 · 小批製作／台中西屯</a:t>
            </a:r>
            <a:endParaRPr lang="en-US" sz="1500" dirty="0"/>
          </a:p>
        </p:txBody>
      </p:sp>
      <p:sp>
        <p:nvSpPr>
          <p:cNvPr id="21" name="Shape 18"/>
          <p:cNvSpPr/>
          <p:nvPr/>
        </p:nvSpPr>
        <p:spPr>
          <a:xfrm>
            <a:off x="800100" y="5397886"/>
            <a:ext cx="5300685" cy="828721"/>
          </a:xfrm>
          <a:prstGeom prst="roundRect">
            <a:avLst>
              <a:gd name="adj" fmla="val 16087"/>
            </a:avLst>
          </a:prstGeom>
          <a:solidFill>
            <a:srgbClr val="FFFFFF">
              <a:alpha val="62000"/>
            </a:srgbClr>
          </a:solidFill>
          <a:ln w="9525">
            <a:solidFill>
              <a:srgbClr val="241C17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943021" y="5512186"/>
            <a:ext cx="531541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75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連結</a:t>
            </a:r>
            <a:endParaRPr lang="en-US" sz="1575" dirty="0"/>
          </a:p>
        </p:txBody>
      </p:sp>
      <p:sp>
        <p:nvSpPr>
          <p:cNvPr id="23" name="Text 20"/>
          <p:cNvSpPr txBox="1"/>
          <p:nvPr/>
        </p:nvSpPr>
        <p:spPr>
          <a:xfrm>
            <a:off x="1438260" y="5512186"/>
            <a:ext cx="185303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7A6A5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放 LINE 或訂購表單</a:t>
            </a:r>
            <a:endParaRPr lang="en-US" sz="1500" dirty="0"/>
          </a:p>
        </p:txBody>
      </p:sp>
      <p:sp>
        <p:nvSpPr>
          <p:cNvPr id="24" name="Text 21"/>
          <p:cNvSpPr txBox="1"/>
          <p:nvPr/>
        </p:nvSpPr>
        <p:spPr>
          <a:xfrm>
            <a:off x="943021" y="5816956"/>
            <a:ext cx="341958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8A5A6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例：line.me/R/ti/p/@xiaofangjam</a:t>
            </a:r>
            <a:endParaRPr lang="en-US" sz="1500" dirty="0"/>
          </a:p>
        </p:txBody>
      </p:sp>
      <p:pic>
        <p:nvPicPr>
          <p:cNvPr id="25" name="Image 1" descr="/home/user/gogoeveryday/social-course/export-pptx/build/img/p21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98608" y="404805"/>
            <a:ext cx="2590770" cy="5257800"/>
          </a:xfrm>
          <a:prstGeom prst="rect">
            <a:avLst/>
          </a:prstGeom>
        </p:spPr>
      </p:pic>
      <p:sp>
        <p:nvSpPr>
          <p:cNvPr id="26" name="Text 22"/>
          <p:cNvSpPr txBox="1"/>
          <p:nvPr/>
        </p:nvSpPr>
        <p:spPr>
          <a:xfrm>
            <a:off x="7731709" y="5786415"/>
            <a:ext cx="253426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spc="15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連結只有專業帳號才好用</a:t>
            </a:r>
            <a:endParaRPr lang="en-US" sz="1500" dirty="0"/>
          </a:p>
        </p:txBody>
      </p:sp>
      <p:sp>
        <p:nvSpPr>
          <p:cNvPr id="27" name="Shape 23"/>
          <p:cNvSpPr/>
          <p:nvPr/>
        </p:nvSpPr>
        <p:spPr>
          <a:xfrm>
            <a:off x="10260208" y="228600"/>
            <a:ext cx="1131661" cy="447690"/>
          </a:xfrm>
          <a:prstGeom prst="roundRect">
            <a:avLst>
              <a:gd name="adj" fmla="val 50000"/>
            </a:avLst>
          </a:prstGeom>
          <a:solidFill>
            <a:srgbClr val="C05F3C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28" name="Text 24"/>
          <p:cNvSpPr txBox="1"/>
          <p:nvPr/>
        </p:nvSpPr>
        <p:spPr>
          <a:xfrm>
            <a:off x="10384018" y="304770"/>
            <a:ext cx="947136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90" kern="0" dirty="0">
                <a:solidFill>
                  <a:srgbClr val="FBF7F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手機實作</a:t>
            </a:r>
            <a:endParaRPr lang="en-US" sz="1500" dirty="0"/>
          </a:p>
        </p:txBody>
      </p:sp>
      <p:sp>
        <p:nvSpPr>
          <p:cNvPr id="29" name="Text 25"/>
          <p:cNvSpPr txBox="1"/>
          <p:nvPr/>
        </p:nvSpPr>
        <p:spPr>
          <a:xfrm>
            <a:off x="761970" y="6343650"/>
            <a:ext cx="2029877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PART 2 · 11:38</a:t>
            </a:r>
            <a:endParaRPr lang="en-US" sz="1500" dirty="0"/>
          </a:p>
        </p:txBody>
      </p:sp>
      <p:sp>
        <p:nvSpPr>
          <p:cNvPr id="30" name="Text 26"/>
          <p:cNvSpPr txBox="1"/>
          <p:nvPr/>
        </p:nvSpPr>
        <p:spPr>
          <a:xfrm>
            <a:off x="10690616" y="6343650"/>
            <a:ext cx="794614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21 / 42</a:t>
            </a:r>
            <a:endParaRPr lang="en-US" sz="15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social-course/export-pptx/build/bg/2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1970" y="577626"/>
            <a:ext cx="1645737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50" kern="0" dirty="0">
                <a:solidFill>
                  <a:srgbClr val="8A5A6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先認得按鈕在哪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761970" y="968167"/>
            <a:ext cx="2109429" cy="4858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11"/>
              </a:lnSpc>
              <a:buNone/>
            </a:pPr>
            <a:r>
              <a:rPr lang="en-US" sz="2550" b="1" spc="-51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下面五個按鈕</a:t>
            </a:r>
            <a:endParaRPr lang="en-US" sz="2550" dirty="0"/>
          </a:p>
        </p:txBody>
      </p:sp>
      <p:sp>
        <p:nvSpPr>
          <p:cNvPr id="5" name="Shape 2"/>
          <p:cNvSpPr/>
          <p:nvPr/>
        </p:nvSpPr>
        <p:spPr>
          <a:xfrm>
            <a:off x="800100" y="1525036"/>
            <a:ext cx="5300685" cy="688177"/>
          </a:xfrm>
          <a:prstGeom prst="roundRect">
            <a:avLst>
              <a:gd name="adj" fmla="val 17991"/>
            </a:avLst>
          </a:prstGeom>
          <a:solidFill>
            <a:srgbClr val="FFFFFF">
              <a:alpha val="62000"/>
            </a:srgbClr>
          </a:solidFill>
          <a:ln w="9525">
            <a:solidFill>
              <a:srgbClr val="241C17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923910" y="1692920"/>
            <a:ext cx="417241" cy="352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🏠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1333470" y="1591696"/>
            <a:ext cx="531541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69"/>
              </a:lnSpc>
              <a:buNone/>
            </a:pPr>
            <a:r>
              <a:rPr lang="en-US" sz="1575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首頁</a:t>
            </a:r>
            <a:endParaRPr lang="en-US" sz="1575" dirty="0"/>
          </a:p>
        </p:txBody>
      </p:sp>
      <p:sp>
        <p:nvSpPr>
          <p:cNvPr id="8" name="Text 5"/>
          <p:cNvSpPr txBox="1"/>
          <p:nvPr/>
        </p:nvSpPr>
        <p:spPr>
          <a:xfrm>
            <a:off x="1333470" y="1841784"/>
            <a:ext cx="150437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500" b="1" dirty="0">
                <a:solidFill>
                  <a:srgbClr val="7A6A5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看別人發的內容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800100" y="2318004"/>
            <a:ext cx="5300685" cy="688177"/>
          </a:xfrm>
          <a:prstGeom prst="roundRect">
            <a:avLst>
              <a:gd name="adj" fmla="val 17991"/>
            </a:avLst>
          </a:prstGeom>
          <a:solidFill>
            <a:srgbClr val="FFFFFF">
              <a:alpha val="62000"/>
            </a:srgbClr>
          </a:solidFill>
          <a:ln w="9525">
            <a:solidFill>
              <a:srgbClr val="241C17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923910" y="2485888"/>
            <a:ext cx="417241" cy="352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🔍</a:t>
            </a:r>
            <a:endParaRPr lang="en-US" sz="1800" dirty="0"/>
          </a:p>
        </p:txBody>
      </p:sp>
      <p:sp>
        <p:nvSpPr>
          <p:cNvPr id="11" name="Text 8"/>
          <p:cNvSpPr txBox="1"/>
          <p:nvPr/>
        </p:nvSpPr>
        <p:spPr>
          <a:xfrm>
            <a:off x="1333470" y="2384664"/>
            <a:ext cx="531541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69"/>
              </a:lnSpc>
              <a:buNone/>
            </a:pPr>
            <a:r>
              <a:rPr lang="en-US" sz="1575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搜尋</a:t>
            </a:r>
            <a:endParaRPr lang="en-US" sz="1575" dirty="0"/>
          </a:p>
        </p:txBody>
      </p:sp>
      <p:sp>
        <p:nvSpPr>
          <p:cNvPr id="12" name="Text 9"/>
          <p:cNvSpPr txBox="1"/>
          <p:nvPr/>
        </p:nvSpPr>
        <p:spPr>
          <a:xfrm>
            <a:off x="1333470" y="2634661"/>
            <a:ext cx="257376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500" b="1" dirty="0">
                <a:solidFill>
                  <a:srgbClr val="7A6A5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找人、找主題、找 Hashtag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800100" y="3110972"/>
            <a:ext cx="5300685" cy="688177"/>
          </a:xfrm>
          <a:prstGeom prst="roundRect">
            <a:avLst>
              <a:gd name="adj" fmla="val 17991"/>
            </a:avLst>
          </a:prstGeom>
          <a:solidFill>
            <a:srgbClr val="FFFFFF">
              <a:alpha val="62000"/>
            </a:srgbClr>
          </a:solidFill>
          <a:ln w="9525">
            <a:solidFill>
              <a:srgbClr val="241C17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923910" y="3278856"/>
            <a:ext cx="417241" cy="352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➕</a:t>
            </a:r>
            <a:endParaRPr lang="en-US" sz="1800" dirty="0"/>
          </a:p>
        </p:txBody>
      </p:sp>
      <p:sp>
        <p:nvSpPr>
          <p:cNvPr id="15" name="Text 12"/>
          <p:cNvSpPr txBox="1"/>
          <p:nvPr/>
        </p:nvSpPr>
        <p:spPr>
          <a:xfrm>
            <a:off x="1333470" y="3177631"/>
            <a:ext cx="531541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69"/>
              </a:lnSpc>
              <a:buNone/>
            </a:pPr>
            <a:r>
              <a:rPr lang="en-US" sz="1575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發布</a:t>
            </a:r>
            <a:endParaRPr lang="en-US" sz="1575" dirty="0"/>
          </a:p>
        </p:txBody>
      </p:sp>
      <p:sp>
        <p:nvSpPr>
          <p:cNvPr id="16" name="Text 13"/>
          <p:cNvSpPr txBox="1"/>
          <p:nvPr/>
        </p:nvSpPr>
        <p:spPr>
          <a:xfrm>
            <a:off x="1333470" y="3427628"/>
            <a:ext cx="2689616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500" b="1" dirty="0">
                <a:solidFill>
                  <a:srgbClr val="7A6A5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貼文、限動、Reels 都從這裡</a:t>
            </a:r>
            <a:endParaRPr lang="en-US" sz="1500" dirty="0"/>
          </a:p>
        </p:txBody>
      </p:sp>
      <p:sp>
        <p:nvSpPr>
          <p:cNvPr id="17" name="Shape 14"/>
          <p:cNvSpPr/>
          <p:nvPr/>
        </p:nvSpPr>
        <p:spPr>
          <a:xfrm>
            <a:off x="800100" y="3903939"/>
            <a:ext cx="5300685" cy="688177"/>
          </a:xfrm>
          <a:prstGeom prst="roundRect">
            <a:avLst>
              <a:gd name="adj" fmla="val 17991"/>
            </a:avLst>
          </a:prstGeom>
          <a:solidFill>
            <a:srgbClr val="FFFFFF">
              <a:alpha val="62000"/>
            </a:srgbClr>
          </a:solidFill>
          <a:ln w="9525">
            <a:solidFill>
              <a:srgbClr val="241C17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923910" y="4071823"/>
            <a:ext cx="417241" cy="352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🎬</a:t>
            </a:r>
            <a:endParaRPr lang="en-US" sz="1800" dirty="0"/>
          </a:p>
        </p:txBody>
      </p:sp>
      <p:sp>
        <p:nvSpPr>
          <p:cNvPr id="19" name="Text 16"/>
          <p:cNvSpPr txBox="1"/>
          <p:nvPr/>
        </p:nvSpPr>
        <p:spPr>
          <a:xfrm>
            <a:off x="1333470" y="3970599"/>
            <a:ext cx="659922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69"/>
              </a:lnSpc>
              <a:buNone/>
            </a:pPr>
            <a:r>
              <a:rPr lang="en-US" sz="1575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Reels</a:t>
            </a:r>
            <a:endParaRPr lang="en-US" sz="1575" dirty="0"/>
          </a:p>
        </p:txBody>
      </p:sp>
      <p:sp>
        <p:nvSpPr>
          <p:cNvPr id="20" name="Text 17"/>
          <p:cNvSpPr txBox="1"/>
          <p:nvPr/>
        </p:nvSpPr>
        <p:spPr>
          <a:xfrm>
            <a:off x="1333470" y="4220596"/>
            <a:ext cx="150437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500" b="1" dirty="0">
                <a:solidFill>
                  <a:srgbClr val="7A6A5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看短影片的地方</a:t>
            </a:r>
            <a:endParaRPr lang="en-US" sz="1500" dirty="0"/>
          </a:p>
        </p:txBody>
      </p:sp>
      <p:sp>
        <p:nvSpPr>
          <p:cNvPr id="21" name="Shape 18"/>
          <p:cNvSpPr/>
          <p:nvPr/>
        </p:nvSpPr>
        <p:spPr>
          <a:xfrm>
            <a:off x="800100" y="4696907"/>
            <a:ext cx="5300685" cy="688177"/>
          </a:xfrm>
          <a:prstGeom prst="roundRect">
            <a:avLst>
              <a:gd name="adj" fmla="val 17991"/>
            </a:avLst>
          </a:prstGeom>
          <a:solidFill>
            <a:srgbClr val="FFFFFF">
              <a:alpha val="62000"/>
            </a:srgbClr>
          </a:solidFill>
          <a:ln w="9525">
            <a:solidFill>
              <a:srgbClr val="241C17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923910" y="4864699"/>
            <a:ext cx="417241" cy="352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👤</a:t>
            </a:r>
            <a:endParaRPr lang="en-US" sz="1800" dirty="0"/>
          </a:p>
        </p:txBody>
      </p:sp>
      <p:sp>
        <p:nvSpPr>
          <p:cNvPr id="23" name="Text 20"/>
          <p:cNvSpPr txBox="1"/>
          <p:nvPr/>
        </p:nvSpPr>
        <p:spPr>
          <a:xfrm>
            <a:off x="1333470" y="4763567"/>
            <a:ext cx="938997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69"/>
              </a:lnSpc>
              <a:buNone/>
            </a:pPr>
            <a:r>
              <a:rPr lang="en-US" sz="1575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個人檔案</a:t>
            </a:r>
            <a:endParaRPr lang="en-US" sz="1575" dirty="0"/>
          </a:p>
        </p:txBody>
      </p:sp>
      <p:sp>
        <p:nvSpPr>
          <p:cNvPr id="24" name="Text 21"/>
          <p:cNvSpPr txBox="1"/>
          <p:nvPr/>
        </p:nvSpPr>
        <p:spPr>
          <a:xfrm>
            <a:off x="1333470" y="5013564"/>
            <a:ext cx="231206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500" b="1" dirty="0">
                <a:solidFill>
                  <a:srgbClr val="7A6A5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你的頁面，數據也在這裡</a:t>
            </a:r>
            <a:endParaRPr lang="en-US" sz="1500" dirty="0"/>
          </a:p>
        </p:txBody>
      </p:sp>
      <p:sp>
        <p:nvSpPr>
          <p:cNvPr id="25" name="Shape 22"/>
          <p:cNvSpPr/>
          <p:nvPr/>
        </p:nvSpPr>
        <p:spPr>
          <a:xfrm>
            <a:off x="800100" y="5518404"/>
            <a:ext cx="5300685" cy="561990"/>
          </a:xfrm>
          <a:prstGeom prst="roundRect">
            <a:avLst>
              <a:gd name="adj" fmla="val 30508"/>
            </a:avLst>
          </a:prstGeom>
          <a:solidFill>
            <a:srgbClr val="FDEEF4"/>
          </a:solidFill>
          <a:ln/>
        </p:spPr>
      </p:sp>
      <p:sp>
        <p:nvSpPr>
          <p:cNvPr id="26" name="Shape 23"/>
          <p:cNvSpPr/>
          <p:nvPr/>
        </p:nvSpPr>
        <p:spPr>
          <a:xfrm>
            <a:off x="800100" y="5518404"/>
            <a:ext cx="47640" cy="561990"/>
          </a:xfrm>
          <a:prstGeom prst="rect">
            <a:avLst/>
          </a:prstGeom>
          <a:solidFill>
            <a:srgbClr val="E1306C"/>
          </a:solidFill>
          <a:ln/>
        </p:spPr>
      </p:sp>
      <p:pic>
        <p:nvPicPr>
          <p:cNvPr id="27" name="Image 1" descr="/home/user/gogoeveryday/social-course/export-pptx/build/img/p22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8210" y="5656478"/>
            <a:ext cx="285750" cy="285750"/>
          </a:xfrm>
          <a:prstGeom prst="rect">
            <a:avLst/>
          </a:prstGeom>
        </p:spPr>
      </p:pic>
      <p:sp>
        <p:nvSpPr>
          <p:cNvPr id="28" name="Text 24"/>
          <p:cNvSpPr txBox="1"/>
          <p:nvPr/>
        </p:nvSpPr>
        <p:spPr>
          <a:xfrm>
            <a:off x="1438260" y="5651724"/>
            <a:ext cx="3574115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25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今天只會用到</a:t>
            </a:r>
            <a:pPr algn="l" indent="0" marL="0">
              <a:lnSpc>
                <a:spcPts val="2325"/>
              </a:lnSpc>
              <a:buNone/>
            </a:pPr>
            <a:r>
              <a:rPr lang="en-US" sz="1500" b="1" dirty="0">
                <a:solidFill>
                  <a:srgbClr val="E1306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「＋」跟「👤」</a:t>
            </a:r>
            <a:pPr algn="l" indent="0" marL="0">
              <a:lnSpc>
                <a:spcPts val="2325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這兩個。</a:t>
            </a:r>
            <a:endParaRPr lang="en-US" sz="1500" dirty="0"/>
          </a:p>
        </p:txBody>
      </p:sp>
      <p:pic>
        <p:nvPicPr>
          <p:cNvPr id="29" name="Image 2" descr="/home/user/gogoeveryday/social-course/export-pptx/build/img/p22-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08097" y="833476"/>
            <a:ext cx="2171700" cy="4400550"/>
          </a:xfrm>
          <a:prstGeom prst="rect">
            <a:avLst/>
          </a:prstGeom>
        </p:spPr>
      </p:pic>
      <p:sp>
        <p:nvSpPr>
          <p:cNvPr id="30" name="Text 25"/>
          <p:cNvSpPr txBox="1"/>
          <p:nvPr/>
        </p:nvSpPr>
        <p:spPr>
          <a:xfrm>
            <a:off x="7731709" y="5357835"/>
            <a:ext cx="253426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spc="15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最下面那一排就是主選單</a:t>
            </a:r>
            <a:endParaRPr lang="en-US" sz="1500" dirty="0"/>
          </a:p>
        </p:txBody>
      </p:sp>
      <p:sp>
        <p:nvSpPr>
          <p:cNvPr id="31" name="Shape 26"/>
          <p:cNvSpPr/>
          <p:nvPr/>
        </p:nvSpPr>
        <p:spPr>
          <a:xfrm>
            <a:off x="10058400" y="228600"/>
            <a:ext cx="1333470" cy="447690"/>
          </a:xfrm>
          <a:prstGeom prst="roundRect">
            <a:avLst>
              <a:gd name="adj" fmla="val 50000"/>
            </a:avLst>
          </a:prstGeom>
          <a:solidFill>
            <a:srgbClr val="5F7A63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32" name="Text 27"/>
          <p:cNvSpPr txBox="1"/>
          <p:nvPr/>
        </p:nvSpPr>
        <p:spPr>
          <a:xfrm>
            <a:off x="10182210" y="304770"/>
            <a:ext cx="1161105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90" kern="0" dirty="0">
                <a:solidFill>
                  <a:srgbClr val="FBF7F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一起找位置</a:t>
            </a:r>
            <a:endParaRPr lang="en-US" sz="1500" dirty="0"/>
          </a:p>
        </p:txBody>
      </p:sp>
      <p:sp>
        <p:nvSpPr>
          <p:cNvPr id="33" name="Text 28"/>
          <p:cNvSpPr txBox="1"/>
          <p:nvPr/>
        </p:nvSpPr>
        <p:spPr>
          <a:xfrm>
            <a:off x="761970" y="6343650"/>
            <a:ext cx="2029877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PART 2 · 11:48</a:t>
            </a:r>
            <a:endParaRPr lang="en-US" sz="1500" dirty="0"/>
          </a:p>
        </p:txBody>
      </p:sp>
      <p:sp>
        <p:nvSpPr>
          <p:cNvPr id="34" name="Text 29"/>
          <p:cNvSpPr txBox="1"/>
          <p:nvPr/>
        </p:nvSpPr>
        <p:spPr>
          <a:xfrm>
            <a:off x="10690616" y="6343650"/>
            <a:ext cx="794614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22 / 42</a:t>
            </a:r>
            <a:endParaRPr lang="en-US" sz="15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social-course/export-pptx/build/bg/2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1970" y="628650"/>
            <a:ext cx="120152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50" kern="0" dirty="0">
                <a:solidFill>
                  <a:srgbClr val="8A5A6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午休前確認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761970" y="1009680"/>
            <a:ext cx="3296869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94"/>
              </a:lnSpc>
              <a:buNone/>
            </a:pPr>
            <a:r>
              <a:rPr lang="en-US" sz="2700" b="1" spc="-54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這五項都完成了嗎？</a:t>
            </a:r>
            <a:endParaRPr lang="en-US" sz="2700" dirty="0"/>
          </a:p>
        </p:txBody>
      </p:sp>
      <p:sp>
        <p:nvSpPr>
          <p:cNvPr id="5" name="Shape 2"/>
          <p:cNvSpPr/>
          <p:nvPr/>
        </p:nvSpPr>
        <p:spPr>
          <a:xfrm>
            <a:off x="800100" y="1637416"/>
            <a:ext cx="5805526" cy="552480"/>
          </a:xfrm>
          <a:prstGeom prst="roundRect">
            <a:avLst>
              <a:gd name="adj" fmla="val 24131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1304940" y="1761226"/>
            <a:ext cx="2257014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Instagram 帳號已建立</a:t>
            </a:r>
            <a:endParaRPr lang="en-US" sz="1575" dirty="0"/>
          </a:p>
        </p:txBody>
      </p:sp>
      <p:sp>
        <p:nvSpPr>
          <p:cNvPr id="7" name="Shape 4"/>
          <p:cNvSpPr/>
          <p:nvPr/>
        </p:nvSpPr>
        <p:spPr>
          <a:xfrm>
            <a:off x="800100" y="2304197"/>
            <a:ext cx="5805526" cy="552480"/>
          </a:xfrm>
          <a:prstGeom prst="roundRect">
            <a:avLst>
              <a:gd name="adj" fmla="val 24131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981060" y="2466045"/>
            <a:ext cx="228600" cy="228600"/>
          </a:xfrm>
          <a:prstGeom prst="roundRect">
            <a:avLst>
              <a:gd name="adj" fmla="val 29160"/>
            </a:avLst>
          </a:prstGeom>
          <a:solidFill>
            <a:srgbClr val="FFFFFF"/>
          </a:solidFill>
          <a:ln w="19050">
            <a:solidFill>
              <a:srgbClr val="C05F3C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304940" y="2428006"/>
            <a:ext cx="1999061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已經切換成專業帳號</a:t>
            </a:r>
            <a:endParaRPr lang="en-US" sz="1575" dirty="0"/>
          </a:p>
        </p:txBody>
      </p:sp>
      <p:sp>
        <p:nvSpPr>
          <p:cNvPr id="10" name="Shape 7"/>
          <p:cNvSpPr/>
          <p:nvPr/>
        </p:nvSpPr>
        <p:spPr>
          <a:xfrm>
            <a:off x="800100" y="2970886"/>
            <a:ext cx="5805526" cy="552480"/>
          </a:xfrm>
          <a:prstGeom prst="roundRect">
            <a:avLst>
              <a:gd name="adj" fmla="val 24131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1304940" y="3094695"/>
            <a:ext cx="1363096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大頭貼換好了</a:t>
            </a:r>
            <a:endParaRPr lang="en-US" sz="1575" dirty="0"/>
          </a:p>
        </p:txBody>
      </p:sp>
      <p:sp>
        <p:nvSpPr>
          <p:cNvPr id="12" name="Shape 9"/>
          <p:cNvSpPr/>
          <p:nvPr/>
        </p:nvSpPr>
        <p:spPr>
          <a:xfrm>
            <a:off x="800100" y="3637666"/>
            <a:ext cx="5805526" cy="552480"/>
          </a:xfrm>
          <a:prstGeom prst="roundRect">
            <a:avLst>
              <a:gd name="adj" fmla="val 24131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3" name="Text 10"/>
          <p:cNvSpPr txBox="1"/>
          <p:nvPr/>
        </p:nvSpPr>
        <p:spPr>
          <a:xfrm>
            <a:off x="1304940" y="3761476"/>
            <a:ext cx="2211202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名稱與個人簡介填好了</a:t>
            </a:r>
            <a:endParaRPr lang="en-US" sz="1575" dirty="0"/>
          </a:p>
        </p:txBody>
      </p:sp>
      <p:sp>
        <p:nvSpPr>
          <p:cNvPr id="14" name="Shape 11"/>
          <p:cNvSpPr/>
          <p:nvPr/>
        </p:nvSpPr>
        <p:spPr>
          <a:xfrm>
            <a:off x="800100" y="4304447"/>
            <a:ext cx="5805526" cy="552480"/>
          </a:xfrm>
          <a:prstGeom prst="roundRect">
            <a:avLst>
              <a:gd name="adj" fmla="val 24131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5" name="Text 12"/>
          <p:cNvSpPr txBox="1"/>
          <p:nvPr/>
        </p:nvSpPr>
        <p:spPr>
          <a:xfrm>
            <a:off x="1304940" y="4428256"/>
            <a:ext cx="3059308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知道「＋」跟「個人檔案」在哪</a:t>
            </a:r>
            <a:endParaRPr lang="en-US" sz="1575" dirty="0"/>
          </a:p>
        </p:txBody>
      </p:sp>
      <p:sp>
        <p:nvSpPr>
          <p:cNvPr id="16" name="Shape 13"/>
          <p:cNvSpPr/>
          <p:nvPr/>
        </p:nvSpPr>
        <p:spPr>
          <a:xfrm>
            <a:off x="800100" y="5028286"/>
            <a:ext cx="5805526" cy="1000994"/>
          </a:xfrm>
          <a:prstGeom prst="roundRect">
            <a:avLst>
              <a:gd name="adj" fmla="val 17128"/>
            </a:avLst>
          </a:prstGeom>
          <a:solidFill>
            <a:srgbClr val="FDEEF4"/>
          </a:solidFill>
          <a:ln/>
        </p:spPr>
      </p:sp>
      <p:sp>
        <p:nvSpPr>
          <p:cNvPr id="17" name="Shape 14"/>
          <p:cNvSpPr/>
          <p:nvPr/>
        </p:nvSpPr>
        <p:spPr>
          <a:xfrm>
            <a:off x="800100" y="5028286"/>
            <a:ext cx="47640" cy="1000994"/>
          </a:xfrm>
          <a:prstGeom prst="rect">
            <a:avLst/>
          </a:prstGeom>
          <a:solidFill>
            <a:srgbClr val="E1306C"/>
          </a:solidFill>
          <a:ln/>
        </p:spPr>
      </p:sp>
      <p:pic>
        <p:nvPicPr>
          <p:cNvPr id="18" name="Image 1" descr="/home/user/gogoeveryday/social-course/export-pptx/build/img/p23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360" y="5376398"/>
            <a:ext cx="304770" cy="304770"/>
          </a:xfrm>
          <a:prstGeom prst="rect">
            <a:avLst/>
          </a:prstGeom>
        </p:spPr>
      </p:pic>
      <p:sp>
        <p:nvSpPr>
          <p:cNvPr id="19" name="Text 15"/>
          <p:cNvSpPr txBox="1"/>
          <p:nvPr/>
        </p:nvSpPr>
        <p:spPr>
          <a:xfrm>
            <a:off x="1514521" y="5218847"/>
            <a:ext cx="2856677" cy="6148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第 2 項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E1306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沒完成的人請先舉手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，</a:t>
            </a:r>
            <a:endParaRPr lang="en-US" sz="1575" dirty="0"/>
          </a:p>
          <a:p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下午的數據那一段會用到。</a:t>
            </a:r>
            <a:endParaRPr lang="en-US" sz="1575" dirty="0"/>
          </a:p>
        </p:txBody>
      </p:sp>
      <p:pic>
        <p:nvPicPr>
          <p:cNvPr id="20" name="Image 2" descr="/home/user/gogoeveryday/social-course/export-pptx/build/img/p23-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22553" y="2476470"/>
            <a:ext cx="1047720" cy="1047720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7719090" y="3714750"/>
            <a:ext cx="3064154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spc="15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12:00 午休，13:00 準時回來</a:t>
            </a:r>
            <a:endParaRPr lang="en-US" sz="1500" dirty="0"/>
          </a:p>
        </p:txBody>
      </p:sp>
      <p:sp>
        <p:nvSpPr>
          <p:cNvPr id="22" name="Shape 17"/>
          <p:cNvSpPr/>
          <p:nvPr/>
        </p:nvSpPr>
        <p:spPr>
          <a:xfrm>
            <a:off x="10260208" y="228600"/>
            <a:ext cx="1131661" cy="447690"/>
          </a:xfrm>
          <a:prstGeom prst="roundRect">
            <a:avLst>
              <a:gd name="adj" fmla="val 50000"/>
            </a:avLst>
          </a:prstGeom>
          <a:solidFill>
            <a:srgbClr val="C05F3C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23" name="Text 18"/>
          <p:cNvSpPr txBox="1"/>
          <p:nvPr/>
        </p:nvSpPr>
        <p:spPr>
          <a:xfrm>
            <a:off x="10384018" y="304770"/>
            <a:ext cx="947136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90" kern="0" dirty="0">
                <a:solidFill>
                  <a:srgbClr val="FBF7F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成果確認</a:t>
            </a:r>
            <a:endParaRPr lang="en-US" sz="1500" dirty="0"/>
          </a:p>
        </p:txBody>
      </p:sp>
      <p:sp>
        <p:nvSpPr>
          <p:cNvPr id="24" name="Text 19"/>
          <p:cNvSpPr txBox="1"/>
          <p:nvPr/>
        </p:nvSpPr>
        <p:spPr>
          <a:xfrm>
            <a:off x="761970" y="6343650"/>
            <a:ext cx="2029877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PART 2 · 11:56</a:t>
            </a:r>
            <a:endParaRPr lang="en-US" sz="1500" dirty="0"/>
          </a:p>
        </p:txBody>
      </p:sp>
      <p:sp>
        <p:nvSpPr>
          <p:cNvPr id="25" name="Text 20"/>
          <p:cNvSpPr txBox="1"/>
          <p:nvPr/>
        </p:nvSpPr>
        <p:spPr>
          <a:xfrm>
            <a:off x="10690616" y="6343650"/>
            <a:ext cx="794614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23 / 42</a:t>
            </a:r>
            <a:endParaRPr lang="en-US" sz="15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social-course/export-pptx/build/bg/2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876270" y="1768815"/>
            <a:ext cx="158685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20" kern="0" dirty="0">
                <a:solidFill>
                  <a:srgbClr val="D99A4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12:00 – 13:00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876270" y="2054565"/>
            <a:ext cx="2200961" cy="1543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250"/>
              </a:lnSpc>
              <a:buNone/>
            </a:pPr>
            <a:r>
              <a:rPr lang="en-US" sz="8250" b="1" spc="-413" kern="0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午休</a:t>
            </a:r>
            <a:endParaRPr lang="en-US" sz="8250" dirty="0"/>
          </a:p>
        </p:txBody>
      </p:sp>
      <p:sp>
        <p:nvSpPr>
          <p:cNvPr id="5" name="Text 2"/>
          <p:cNvSpPr txBox="1"/>
          <p:nvPr/>
        </p:nvSpPr>
        <p:spPr>
          <a:xfrm>
            <a:off x="876270" y="3130906"/>
            <a:ext cx="2794041" cy="6476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50" b="1" spc="-103" kern="0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下午繼續動手</a:t>
            </a:r>
            <a:endParaRPr lang="en-US" sz="3450" dirty="0"/>
          </a:p>
        </p:txBody>
      </p:sp>
      <p:sp>
        <p:nvSpPr>
          <p:cNvPr id="6" name="Text 3"/>
          <p:cNvSpPr txBox="1"/>
          <p:nvPr/>
        </p:nvSpPr>
        <p:spPr>
          <a:xfrm>
            <a:off x="876270" y="4159606"/>
            <a:ext cx="4270888" cy="6933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buNone/>
            </a:pPr>
            <a:r>
              <a:rPr lang="en-US" sz="1725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吃飯前先做一件事：</a:t>
            </a:r>
            <a:endParaRPr lang="en-US" sz="1725" dirty="0"/>
          </a:p>
          <a:p>
            <a:pPr algn="l" indent="0" marL="0">
              <a:lnSpc>
                <a:spcPts val="2760"/>
              </a:lnSpc>
              <a:buNone/>
            </a:pPr>
            <a:r>
              <a:rPr lang="en-US" sz="1725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拍一張你商品的照片，下午發文會用到。</a:t>
            </a:r>
            <a:endParaRPr lang="en-US" sz="1725" dirty="0"/>
          </a:p>
        </p:txBody>
      </p:sp>
      <p:pic>
        <p:nvPicPr>
          <p:cNvPr id="7" name="Image 1" descr="/home/user/gogoeveryday/social-course/export-pptx/build/img/p24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53430" y="2095530"/>
            <a:ext cx="2667030" cy="266703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761970" y="6343650"/>
            <a:ext cx="2424166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午休 · 12:00–13:00</a:t>
            </a:r>
            <a:endParaRPr lang="en-US" sz="1500" dirty="0"/>
          </a:p>
        </p:txBody>
      </p:sp>
      <p:sp>
        <p:nvSpPr>
          <p:cNvPr id="9" name="Text 5"/>
          <p:cNvSpPr txBox="1"/>
          <p:nvPr/>
        </p:nvSpPr>
        <p:spPr>
          <a:xfrm>
            <a:off x="10690616" y="6343650"/>
            <a:ext cx="794614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24 / 42</a:t>
            </a:r>
            <a:endParaRPr lang="en-US" sz="15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social-course/export-pptx/build/bg/2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09630" y="586222"/>
            <a:ext cx="1423629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50" kern="0" dirty="0">
                <a:solidFill>
                  <a:srgbClr val="8A5A6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下午第一件事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609630" y="967252"/>
            <a:ext cx="2940619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94"/>
              </a:lnSpc>
              <a:buNone/>
            </a:pPr>
            <a:r>
              <a:rPr lang="en-US" sz="2700" b="1" spc="-54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發貼文，四個步驟</a:t>
            </a:r>
            <a:endParaRPr lang="en-US" sz="2700" dirty="0"/>
          </a:p>
        </p:txBody>
      </p:sp>
      <p:pic>
        <p:nvPicPr>
          <p:cNvPr id="5" name="Image 1" descr="/home/user/gogoeveryday/social-course/export-pptx/build/img/p25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76420" y="1642628"/>
            <a:ext cx="1866930" cy="3733770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1933590" y="1499707"/>
            <a:ext cx="361920" cy="361920"/>
          </a:xfrm>
          <a:prstGeom prst="roundRect">
            <a:avLst>
              <a:gd name="adj" fmla="val 50000"/>
            </a:avLst>
          </a:prstGeom>
          <a:solidFill>
            <a:srgbClr val="C05F3C"/>
          </a:solidFill>
          <a:ln w="28575">
            <a:solidFill>
              <a:srgbClr val="FBF7F1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7" name="Text 3"/>
          <p:cNvSpPr txBox="1"/>
          <p:nvPr/>
        </p:nvSpPr>
        <p:spPr>
          <a:xfrm>
            <a:off x="1997324" y="1533083"/>
            <a:ext cx="24396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</a:t>
            </a:r>
            <a:endParaRPr lang="en-US" sz="1500" dirty="0"/>
          </a:p>
        </p:txBody>
      </p:sp>
      <p:sp>
        <p:nvSpPr>
          <p:cNvPr id="8" name="Text 4"/>
          <p:cNvSpPr txBox="1"/>
          <p:nvPr/>
        </p:nvSpPr>
        <p:spPr>
          <a:xfrm>
            <a:off x="2565349" y="5443057"/>
            <a:ext cx="89858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950"/>
              </a:lnSpc>
              <a:buNone/>
            </a:pPr>
            <a:r>
              <a:rPr lang="en-US" sz="1500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點「＋」</a:t>
            </a:r>
            <a:endParaRPr lang="en-US" sz="1500" dirty="0"/>
          </a:p>
        </p:txBody>
      </p:sp>
      <p:sp>
        <p:nvSpPr>
          <p:cNvPr id="9" name="Text 5"/>
          <p:cNvSpPr txBox="1"/>
          <p:nvPr/>
        </p:nvSpPr>
        <p:spPr>
          <a:xfrm>
            <a:off x="2464399" y="5747918"/>
            <a:ext cx="110048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7A6A5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選「貼文」</a:t>
            </a:r>
            <a:endParaRPr lang="en-US" sz="1500" dirty="0"/>
          </a:p>
        </p:txBody>
      </p:sp>
      <p:pic>
        <p:nvPicPr>
          <p:cNvPr id="10" name="Image 2" descr="/home/user/gogoeveryday/social-course/export-pptx/build/img/p25-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33820" y="1642628"/>
            <a:ext cx="1866930" cy="3733770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3990990" y="1499707"/>
            <a:ext cx="361920" cy="361920"/>
          </a:xfrm>
          <a:prstGeom prst="roundRect">
            <a:avLst>
              <a:gd name="adj" fmla="val 50000"/>
            </a:avLst>
          </a:prstGeom>
          <a:solidFill>
            <a:srgbClr val="C05F3C"/>
          </a:solidFill>
          <a:ln w="28575">
            <a:solidFill>
              <a:srgbClr val="FBF7F1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2" name="Text 7"/>
          <p:cNvSpPr txBox="1"/>
          <p:nvPr/>
        </p:nvSpPr>
        <p:spPr>
          <a:xfrm>
            <a:off x="4054724" y="1533083"/>
            <a:ext cx="24396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Text 8"/>
          <p:cNvSpPr txBox="1"/>
          <p:nvPr/>
        </p:nvSpPr>
        <p:spPr>
          <a:xfrm>
            <a:off x="4720590" y="5443057"/>
            <a:ext cx="70299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950"/>
              </a:lnSpc>
              <a:buNone/>
            </a:pPr>
            <a:r>
              <a:rPr lang="en-US" sz="1500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選照片</a:t>
            </a:r>
            <a:endParaRPr lang="en-US" sz="1500" dirty="0"/>
          </a:p>
        </p:txBody>
      </p:sp>
      <p:sp>
        <p:nvSpPr>
          <p:cNvPr id="14" name="Text 9"/>
          <p:cNvSpPr txBox="1"/>
          <p:nvPr/>
        </p:nvSpPr>
        <p:spPr>
          <a:xfrm>
            <a:off x="4420850" y="5747918"/>
            <a:ext cx="130247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7A6A5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從相簿挑一張</a:t>
            </a:r>
            <a:endParaRPr lang="en-US" sz="1500" dirty="0"/>
          </a:p>
        </p:txBody>
      </p:sp>
      <p:pic>
        <p:nvPicPr>
          <p:cNvPr id="15" name="Image 3" descr="/home/user/gogoeveryday/social-course/export-pptx/build/img/p25-3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91220" y="1642628"/>
            <a:ext cx="1866930" cy="3733770"/>
          </a:xfrm>
          <a:prstGeom prst="rect">
            <a:avLst/>
          </a:prstGeom>
        </p:spPr>
      </p:pic>
      <p:sp>
        <p:nvSpPr>
          <p:cNvPr id="16" name="Shape 10"/>
          <p:cNvSpPr/>
          <p:nvPr/>
        </p:nvSpPr>
        <p:spPr>
          <a:xfrm>
            <a:off x="6048390" y="1499707"/>
            <a:ext cx="361920" cy="361920"/>
          </a:xfrm>
          <a:prstGeom prst="roundRect">
            <a:avLst>
              <a:gd name="adj" fmla="val 50000"/>
            </a:avLst>
          </a:prstGeom>
          <a:solidFill>
            <a:srgbClr val="C05F3C"/>
          </a:solidFill>
          <a:ln w="28575">
            <a:solidFill>
              <a:srgbClr val="FBF7F1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7" name="Text 11"/>
          <p:cNvSpPr txBox="1"/>
          <p:nvPr/>
        </p:nvSpPr>
        <p:spPr>
          <a:xfrm>
            <a:off x="6112124" y="1533083"/>
            <a:ext cx="24396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3</a:t>
            </a:r>
            <a:endParaRPr lang="en-US" sz="1500" dirty="0"/>
          </a:p>
        </p:txBody>
      </p:sp>
      <p:sp>
        <p:nvSpPr>
          <p:cNvPr id="18" name="Text 12"/>
          <p:cNvSpPr txBox="1"/>
          <p:nvPr/>
        </p:nvSpPr>
        <p:spPr>
          <a:xfrm>
            <a:off x="6680149" y="5443057"/>
            <a:ext cx="89858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950"/>
              </a:lnSpc>
              <a:buNone/>
            </a:pPr>
            <a:r>
              <a:rPr lang="en-US" sz="1500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寫幾句話</a:t>
            </a:r>
            <a:endParaRPr lang="en-US" sz="1500" dirty="0"/>
          </a:p>
        </p:txBody>
      </p:sp>
      <p:sp>
        <p:nvSpPr>
          <p:cNvPr id="19" name="Text 13"/>
          <p:cNvSpPr txBox="1"/>
          <p:nvPr/>
        </p:nvSpPr>
        <p:spPr>
          <a:xfrm>
            <a:off x="6448257" y="5747918"/>
            <a:ext cx="136218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7A6A5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加上 Hashtag</a:t>
            </a:r>
            <a:endParaRPr lang="en-US" sz="1500" dirty="0"/>
          </a:p>
        </p:txBody>
      </p:sp>
      <p:pic>
        <p:nvPicPr>
          <p:cNvPr id="20" name="Image 4" descr="/home/user/gogoeveryday/social-course/export-pptx/build/img/p25-4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48620" y="1642628"/>
            <a:ext cx="1866930" cy="3733770"/>
          </a:xfrm>
          <a:prstGeom prst="rect">
            <a:avLst/>
          </a:prstGeom>
        </p:spPr>
      </p:pic>
      <p:sp>
        <p:nvSpPr>
          <p:cNvPr id="21" name="Shape 14"/>
          <p:cNvSpPr/>
          <p:nvPr/>
        </p:nvSpPr>
        <p:spPr>
          <a:xfrm>
            <a:off x="8105790" y="1499707"/>
            <a:ext cx="361920" cy="361920"/>
          </a:xfrm>
          <a:prstGeom prst="roundRect">
            <a:avLst>
              <a:gd name="adj" fmla="val 50000"/>
            </a:avLst>
          </a:prstGeom>
          <a:solidFill>
            <a:srgbClr val="C05F3C"/>
          </a:solidFill>
          <a:ln w="28575">
            <a:solidFill>
              <a:srgbClr val="FBF7F1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22" name="Text 15"/>
          <p:cNvSpPr txBox="1"/>
          <p:nvPr/>
        </p:nvSpPr>
        <p:spPr>
          <a:xfrm>
            <a:off x="8169524" y="1533083"/>
            <a:ext cx="24396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4</a:t>
            </a:r>
            <a:endParaRPr lang="en-US" sz="1500" dirty="0"/>
          </a:p>
        </p:txBody>
      </p:sp>
      <p:sp>
        <p:nvSpPr>
          <p:cNvPr id="23" name="Text 16"/>
          <p:cNvSpPr txBox="1"/>
          <p:nvPr/>
        </p:nvSpPr>
        <p:spPr>
          <a:xfrm>
            <a:off x="8636599" y="5443057"/>
            <a:ext cx="110048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950"/>
              </a:lnSpc>
              <a:buNone/>
            </a:pPr>
            <a:r>
              <a:rPr lang="en-US" sz="1500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按「分享」</a:t>
            </a:r>
            <a:endParaRPr lang="en-US" sz="1500" dirty="0"/>
          </a:p>
        </p:txBody>
      </p:sp>
      <p:sp>
        <p:nvSpPr>
          <p:cNvPr id="24" name="Text 17"/>
          <p:cNvSpPr txBox="1"/>
          <p:nvPr/>
        </p:nvSpPr>
        <p:spPr>
          <a:xfrm>
            <a:off x="8930670" y="5747918"/>
            <a:ext cx="51243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7A6A5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完成</a:t>
            </a:r>
            <a:endParaRPr lang="en-US" sz="1500" dirty="0"/>
          </a:p>
        </p:txBody>
      </p:sp>
      <p:sp>
        <p:nvSpPr>
          <p:cNvPr id="25" name="Shape 18"/>
          <p:cNvSpPr/>
          <p:nvPr/>
        </p:nvSpPr>
        <p:spPr>
          <a:xfrm>
            <a:off x="10260208" y="228600"/>
            <a:ext cx="1131661" cy="447690"/>
          </a:xfrm>
          <a:prstGeom prst="roundRect">
            <a:avLst>
              <a:gd name="adj" fmla="val 50000"/>
            </a:avLst>
          </a:prstGeom>
          <a:solidFill>
            <a:srgbClr val="C05F3C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26" name="Text 19"/>
          <p:cNvSpPr txBox="1"/>
          <p:nvPr/>
        </p:nvSpPr>
        <p:spPr>
          <a:xfrm>
            <a:off x="10384018" y="304770"/>
            <a:ext cx="947136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90" kern="0" dirty="0">
                <a:solidFill>
                  <a:srgbClr val="FBF7F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手機實作</a:t>
            </a:r>
            <a:endParaRPr lang="en-US" sz="1500" dirty="0"/>
          </a:p>
        </p:txBody>
      </p:sp>
      <p:sp>
        <p:nvSpPr>
          <p:cNvPr id="27" name="Text 20"/>
          <p:cNvSpPr txBox="1"/>
          <p:nvPr/>
        </p:nvSpPr>
        <p:spPr>
          <a:xfrm>
            <a:off x="761970" y="6343650"/>
            <a:ext cx="2029877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PART 2 · 13:00</a:t>
            </a:r>
            <a:endParaRPr lang="en-US" sz="1500" dirty="0"/>
          </a:p>
        </p:txBody>
      </p:sp>
      <p:sp>
        <p:nvSpPr>
          <p:cNvPr id="28" name="Text 21"/>
          <p:cNvSpPr txBox="1"/>
          <p:nvPr/>
        </p:nvSpPr>
        <p:spPr>
          <a:xfrm>
            <a:off x="10690616" y="6343650"/>
            <a:ext cx="794614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25 / 42</a:t>
            </a:r>
            <a:endParaRPr lang="en-US" sz="15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social-course/export-pptx/build/bg/26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1970" y="668975"/>
            <a:ext cx="1867845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50" kern="0" dirty="0">
                <a:solidFill>
                  <a:srgbClr val="8A5A6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另外兩種發布方式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761970" y="1050006"/>
            <a:ext cx="2871125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94"/>
              </a:lnSpc>
              <a:buNone/>
            </a:pPr>
            <a:r>
              <a:rPr lang="en-US" sz="2700" b="1" spc="-54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限時動態與 Reels</a:t>
            </a:r>
            <a:endParaRPr lang="en-US" sz="2700" dirty="0"/>
          </a:p>
        </p:txBody>
      </p:sp>
      <p:sp>
        <p:nvSpPr>
          <p:cNvPr id="5" name="Shape 2"/>
          <p:cNvSpPr/>
          <p:nvPr/>
        </p:nvSpPr>
        <p:spPr>
          <a:xfrm>
            <a:off x="800100" y="1858701"/>
            <a:ext cx="5105370" cy="3277301"/>
          </a:xfrm>
          <a:prstGeom prst="roundRect">
            <a:avLst>
              <a:gd name="adj" fmla="val 6975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800100" y="1858701"/>
            <a:ext cx="5086350" cy="38130"/>
          </a:xfrm>
          <a:prstGeom prst="rect">
            <a:avLst/>
          </a:prstGeom>
          <a:solidFill>
            <a:srgbClr val="D99A4E"/>
          </a:solidFill>
          <a:ln/>
        </p:spPr>
      </p:sp>
      <p:pic>
        <p:nvPicPr>
          <p:cNvPr id="7" name="Image 1" descr="/home/user/gogoeveryday/social-course/export-pptx/build/img/p26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7321" y="2115922"/>
            <a:ext cx="381030" cy="38103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514521" y="2130186"/>
            <a:ext cx="1050463" cy="352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-18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限時動態</a:t>
            </a:r>
            <a:endParaRPr lang="en-US" sz="1800" dirty="0"/>
          </a:p>
        </p:txBody>
      </p:sp>
      <p:sp>
        <p:nvSpPr>
          <p:cNvPr id="9" name="Shape 5"/>
          <p:cNvSpPr/>
          <p:nvPr/>
        </p:nvSpPr>
        <p:spPr>
          <a:xfrm>
            <a:off x="1057321" y="2649291"/>
            <a:ext cx="285750" cy="285750"/>
          </a:xfrm>
          <a:prstGeom prst="roundRect">
            <a:avLst>
              <a:gd name="adj" fmla="val 30016"/>
            </a:avLst>
          </a:prstGeom>
          <a:solidFill>
            <a:srgbClr val="D99A4E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0" name="Text 6"/>
          <p:cNvSpPr txBox="1"/>
          <p:nvPr/>
        </p:nvSpPr>
        <p:spPr>
          <a:xfrm>
            <a:off x="1105784" y="2639781"/>
            <a:ext cx="24396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</a:t>
            </a:r>
            <a:endParaRPr lang="en-US" sz="1500" dirty="0"/>
          </a:p>
        </p:txBody>
      </p:sp>
      <p:sp>
        <p:nvSpPr>
          <p:cNvPr id="11" name="Text 7"/>
          <p:cNvSpPr txBox="1"/>
          <p:nvPr/>
        </p:nvSpPr>
        <p:spPr>
          <a:xfrm>
            <a:off x="1419240" y="2639781"/>
            <a:ext cx="2683490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52"/>
              </a:lnSpc>
              <a:buNone/>
            </a:pPr>
            <a:r>
              <a:rPr lang="en-US" sz="1575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點「＋」→ 選「限時動態」</a:t>
            </a:r>
            <a:endParaRPr lang="en-US" sz="1575" dirty="0"/>
          </a:p>
        </p:txBody>
      </p:sp>
      <p:sp>
        <p:nvSpPr>
          <p:cNvPr id="12" name="Shape 8"/>
          <p:cNvSpPr/>
          <p:nvPr/>
        </p:nvSpPr>
        <p:spPr>
          <a:xfrm>
            <a:off x="1057321" y="3078053"/>
            <a:ext cx="285750" cy="285750"/>
          </a:xfrm>
          <a:prstGeom prst="roundRect">
            <a:avLst>
              <a:gd name="adj" fmla="val 30016"/>
            </a:avLst>
          </a:prstGeom>
          <a:solidFill>
            <a:srgbClr val="D99A4E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3" name="Text 9"/>
          <p:cNvSpPr txBox="1"/>
          <p:nvPr/>
        </p:nvSpPr>
        <p:spPr>
          <a:xfrm>
            <a:off x="1105784" y="3068544"/>
            <a:ext cx="24396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2</a:t>
            </a:r>
            <a:endParaRPr lang="en-US" sz="1500" dirty="0"/>
          </a:p>
        </p:txBody>
      </p:sp>
      <p:sp>
        <p:nvSpPr>
          <p:cNvPr id="14" name="Text 10"/>
          <p:cNvSpPr txBox="1"/>
          <p:nvPr/>
        </p:nvSpPr>
        <p:spPr>
          <a:xfrm>
            <a:off x="1419240" y="3068544"/>
            <a:ext cx="1363096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52"/>
              </a:lnSpc>
              <a:buNone/>
            </a:pPr>
            <a:r>
              <a:rPr lang="en-US" sz="1575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拍照或選照片</a:t>
            </a:r>
            <a:endParaRPr lang="en-US" sz="1575" dirty="0"/>
          </a:p>
        </p:txBody>
      </p:sp>
      <p:sp>
        <p:nvSpPr>
          <p:cNvPr id="15" name="Shape 11"/>
          <p:cNvSpPr/>
          <p:nvPr/>
        </p:nvSpPr>
        <p:spPr>
          <a:xfrm>
            <a:off x="1057321" y="3506815"/>
            <a:ext cx="285750" cy="285750"/>
          </a:xfrm>
          <a:prstGeom prst="roundRect">
            <a:avLst>
              <a:gd name="adj" fmla="val 30016"/>
            </a:avLst>
          </a:prstGeom>
          <a:solidFill>
            <a:srgbClr val="D99A4E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6" name="Text 12"/>
          <p:cNvSpPr txBox="1"/>
          <p:nvPr/>
        </p:nvSpPr>
        <p:spPr>
          <a:xfrm>
            <a:off x="1105784" y="3497306"/>
            <a:ext cx="24396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3"/>
          <p:cNvSpPr txBox="1"/>
          <p:nvPr/>
        </p:nvSpPr>
        <p:spPr>
          <a:xfrm>
            <a:off x="1419240" y="3497306"/>
            <a:ext cx="1840413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52"/>
              </a:lnSpc>
              <a:buNone/>
            </a:pPr>
            <a:r>
              <a:rPr lang="en-US" sz="1575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點「Aa」可以加字</a:t>
            </a:r>
            <a:endParaRPr lang="en-US" sz="1575" dirty="0"/>
          </a:p>
        </p:txBody>
      </p:sp>
      <p:sp>
        <p:nvSpPr>
          <p:cNvPr id="18" name="Shape 14"/>
          <p:cNvSpPr/>
          <p:nvPr/>
        </p:nvSpPr>
        <p:spPr>
          <a:xfrm>
            <a:off x="1057321" y="3935578"/>
            <a:ext cx="285750" cy="285750"/>
          </a:xfrm>
          <a:prstGeom prst="roundRect">
            <a:avLst>
              <a:gd name="adj" fmla="val 30016"/>
            </a:avLst>
          </a:prstGeom>
          <a:solidFill>
            <a:srgbClr val="D99A4E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9" name="Text 15"/>
          <p:cNvSpPr txBox="1"/>
          <p:nvPr/>
        </p:nvSpPr>
        <p:spPr>
          <a:xfrm>
            <a:off x="1105784" y="3926068"/>
            <a:ext cx="24396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4</a:t>
            </a:r>
            <a:endParaRPr lang="en-US" sz="1500" dirty="0"/>
          </a:p>
        </p:txBody>
      </p:sp>
      <p:sp>
        <p:nvSpPr>
          <p:cNvPr id="20" name="Text 16"/>
          <p:cNvSpPr txBox="1"/>
          <p:nvPr/>
        </p:nvSpPr>
        <p:spPr>
          <a:xfrm>
            <a:off x="1419240" y="3926068"/>
            <a:ext cx="2847259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52"/>
              </a:lnSpc>
              <a:buNone/>
            </a:pPr>
            <a:r>
              <a:rPr lang="en-US" sz="1575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點左下「你的限時動態」送出</a:t>
            </a:r>
            <a:endParaRPr lang="en-US" sz="1575" dirty="0"/>
          </a:p>
        </p:txBody>
      </p:sp>
      <p:sp>
        <p:nvSpPr>
          <p:cNvPr id="21" name="Shape 17"/>
          <p:cNvSpPr/>
          <p:nvPr/>
        </p:nvSpPr>
        <p:spPr>
          <a:xfrm>
            <a:off x="1057321" y="4392960"/>
            <a:ext cx="4591020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22" name="Text 18"/>
          <p:cNvSpPr txBox="1"/>
          <p:nvPr/>
        </p:nvSpPr>
        <p:spPr>
          <a:xfrm>
            <a:off x="1019190" y="4545391"/>
            <a:ext cx="4841748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52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24 小時後自動消失</a:t>
            </a:r>
            <a:pPr algn="l" indent="0" marL="0">
              <a:lnSpc>
                <a:spcPts val="2552"/>
              </a:lnSpc>
              <a:buNone/>
            </a:pPr>
            <a:r>
              <a:rPr lang="en-US" sz="1575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，所以隨手拍就好，不用完美。</a:t>
            </a:r>
            <a:endParaRPr lang="en-US" sz="1575" dirty="0"/>
          </a:p>
        </p:txBody>
      </p:sp>
      <p:sp>
        <p:nvSpPr>
          <p:cNvPr id="23" name="Shape 19"/>
          <p:cNvSpPr/>
          <p:nvPr/>
        </p:nvSpPr>
        <p:spPr>
          <a:xfrm>
            <a:off x="6286500" y="1858701"/>
            <a:ext cx="5105370" cy="3277301"/>
          </a:xfrm>
          <a:prstGeom prst="roundRect">
            <a:avLst>
              <a:gd name="adj" fmla="val 6975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24" name="Shape 20"/>
          <p:cNvSpPr/>
          <p:nvPr/>
        </p:nvSpPr>
        <p:spPr>
          <a:xfrm>
            <a:off x="6286500" y="1858701"/>
            <a:ext cx="5086350" cy="38130"/>
          </a:xfrm>
          <a:prstGeom prst="rect">
            <a:avLst/>
          </a:prstGeom>
          <a:solidFill>
            <a:srgbClr val="8A5A6D"/>
          </a:solidFill>
          <a:ln/>
        </p:spPr>
      </p:sp>
      <p:pic>
        <p:nvPicPr>
          <p:cNvPr id="25" name="Image 2" descr="/home/user/gogoeveryday/social-course/export-pptx/build/img/p26-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43721" y="2115922"/>
            <a:ext cx="381030" cy="381030"/>
          </a:xfrm>
          <a:prstGeom prst="rect">
            <a:avLst/>
          </a:prstGeom>
        </p:spPr>
      </p:pic>
      <p:sp>
        <p:nvSpPr>
          <p:cNvPr id="26" name="Text 21"/>
          <p:cNvSpPr txBox="1"/>
          <p:nvPr/>
        </p:nvSpPr>
        <p:spPr>
          <a:xfrm>
            <a:off x="7000921" y="2130186"/>
            <a:ext cx="1491295" cy="352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-18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Reels 短影片</a:t>
            </a:r>
            <a:endParaRPr lang="en-US" sz="1800" dirty="0"/>
          </a:p>
        </p:txBody>
      </p:sp>
      <p:sp>
        <p:nvSpPr>
          <p:cNvPr id="27" name="Shape 22"/>
          <p:cNvSpPr/>
          <p:nvPr/>
        </p:nvSpPr>
        <p:spPr>
          <a:xfrm>
            <a:off x="6543721" y="2649291"/>
            <a:ext cx="285750" cy="285750"/>
          </a:xfrm>
          <a:prstGeom prst="roundRect">
            <a:avLst>
              <a:gd name="adj" fmla="val 30016"/>
            </a:avLst>
          </a:prstGeom>
          <a:solidFill>
            <a:srgbClr val="8A5A6D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28" name="Text 23"/>
          <p:cNvSpPr txBox="1"/>
          <p:nvPr/>
        </p:nvSpPr>
        <p:spPr>
          <a:xfrm>
            <a:off x="6592184" y="2639781"/>
            <a:ext cx="24396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</a:t>
            </a:r>
            <a:endParaRPr lang="en-US" sz="1500" dirty="0"/>
          </a:p>
        </p:txBody>
      </p:sp>
      <p:sp>
        <p:nvSpPr>
          <p:cNvPr id="29" name="Text 24"/>
          <p:cNvSpPr txBox="1"/>
          <p:nvPr/>
        </p:nvSpPr>
        <p:spPr>
          <a:xfrm>
            <a:off x="6905640" y="2639781"/>
            <a:ext cx="2395454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52"/>
              </a:lnSpc>
              <a:buNone/>
            </a:pPr>
            <a:r>
              <a:rPr lang="en-US" sz="1575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點「＋」→ 選「Reels」</a:t>
            </a:r>
            <a:endParaRPr lang="en-US" sz="1575" dirty="0"/>
          </a:p>
        </p:txBody>
      </p:sp>
      <p:sp>
        <p:nvSpPr>
          <p:cNvPr id="30" name="Shape 25"/>
          <p:cNvSpPr/>
          <p:nvPr/>
        </p:nvSpPr>
        <p:spPr>
          <a:xfrm>
            <a:off x="6543721" y="3078053"/>
            <a:ext cx="285750" cy="285750"/>
          </a:xfrm>
          <a:prstGeom prst="roundRect">
            <a:avLst>
              <a:gd name="adj" fmla="val 30016"/>
            </a:avLst>
          </a:prstGeom>
          <a:solidFill>
            <a:srgbClr val="8A5A6D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31" name="Text 26"/>
          <p:cNvSpPr txBox="1"/>
          <p:nvPr/>
        </p:nvSpPr>
        <p:spPr>
          <a:xfrm>
            <a:off x="6592184" y="3068544"/>
            <a:ext cx="24396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2</a:t>
            </a:r>
            <a:endParaRPr lang="en-US" sz="1500" dirty="0"/>
          </a:p>
        </p:txBody>
      </p:sp>
      <p:sp>
        <p:nvSpPr>
          <p:cNvPr id="32" name="Text 27"/>
          <p:cNvSpPr txBox="1"/>
          <p:nvPr/>
        </p:nvSpPr>
        <p:spPr>
          <a:xfrm>
            <a:off x="6905640" y="3068544"/>
            <a:ext cx="1950049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52"/>
              </a:lnSpc>
              <a:buNone/>
            </a:pPr>
            <a:r>
              <a:rPr lang="en-US" sz="1575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按住圓鈕錄 5–10 秒</a:t>
            </a:r>
            <a:endParaRPr lang="en-US" sz="1575" dirty="0"/>
          </a:p>
        </p:txBody>
      </p:sp>
      <p:sp>
        <p:nvSpPr>
          <p:cNvPr id="33" name="Shape 28"/>
          <p:cNvSpPr/>
          <p:nvPr/>
        </p:nvSpPr>
        <p:spPr>
          <a:xfrm>
            <a:off x="6543721" y="3506815"/>
            <a:ext cx="285750" cy="285750"/>
          </a:xfrm>
          <a:prstGeom prst="roundRect">
            <a:avLst>
              <a:gd name="adj" fmla="val 30016"/>
            </a:avLst>
          </a:prstGeom>
          <a:solidFill>
            <a:srgbClr val="8A5A6D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34" name="Text 29"/>
          <p:cNvSpPr txBox="1"/>
          <p:nvPr/>
        </p:nvSpPr>
        <p:spPr>
          <a:xfrm>
            <a:off x="6592184" y="3497306"/>
            <a:ext cx="24396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3</a:t>
            </a:r>
            <a:endParaRPr lang="en-US" sz="1500" dirty="0"/>
          </a:p>
        </p:txBody>
      </p:sp>
      <p:sp>
        <p:nvSpPr>
          <p:cNvPr id="35" name="Text 30"/>
          <p:cNvSpPr txBox="1"/>
          <p:nvPr/>
        </p:nvSpPr>
        <p:spPr>
          <a:xfrm>
            <a:off x="6905640" y="3497306"/>
            <a:ext cx="1999061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52"/>
              </a:lnSpc>
              <a:buNone/>
            </a:pPr>
            <a:r>
              <a:rPr lang="en-US" sz="1575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放開後點「下一步」</a:t>
            </a:r>
            <a:endParaRPr lang="en-US" sz="1575" dirty="0"/>
          </a:p>
        </p:txBody>
      </p:sp>
      <p:sp>
        <p:nvSpPr>
          <p:cNvPr id="36" name="Shape 31"/>
          <p:cNvSpPr/>
          <p:nvPr/>
        </p:nvSpPr>
        <p:spPr>
          <a:xfrm>
            <a:off x="6543721" y="3935578"/>
            <a:ext cx="285750" cy="285750"/>
          </a:xfrm>
          <a:prstGeom prst="roundRect">
            <a:avLst>
              <a:gd name="adj" fmla="val 30016"/>
            </a:avLst>
          </a:prstGeom>
          <a:solidFill>
            <a:srgbClr val="8A5A6D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37" name="Text 32"/>
          <p:cNvSpPr txBox="1"/>
          <p:nvPr/>
        </p:nvSpPr>
        <p:spPr>
          <a:xfrm>
            <a:off x="6592184" y="3926068"/>
            <a:ext cx="24396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4</a:t>
            </a:r>
            <a:endParaRPr lang="en-US" sz="1500" dirty="0"/>
          </a:p>
        </p:txBody>
      </p:sp>
      <p:sp>
        <p:nvSpPr>
          <p:cNvPr id="38" name="Text 33"/>
          <p:cNvSpPr txBox="1"/>
          <p:nvPr/>
        </p:nvSpPr>
        <p:spPr>
          <a:xfrm>
            <a:off x="6905640" y="3926068"/>
            <a:ext cx="1671432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52"/>
              </a:lnSpc>
              <a:buNone/>
            </a:pPr>
            <a:r>
              <a:rPr lang="en-US" sz="1575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寫一句話 → 分享</a:t>
            </a:r>
            <a:endParaRPr lang="en-US" sz="1575" dirty="0"/>
          </a:p>
        </p:txBody>
      </p:sp>
      <p:sp>
        <p:nvSpPr>
          <p:cNvPr id="39" name="Shape 34"/>
          <p:cNvSpPr/>
          <p:nvPr/>
        </p:nvSpPr>
        <p:spPr>
          <a:xfrm>
            <a:off x="6543721" y="4392960"/>
            <a:ext cx="4591020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40" name="Text 35"/>
          <p:cNvSpPr txBox="1"/>
          <p:nvPr/>
        </p:nvSpPr>
        <p:spPr>
          <a:xfrm>
            <a:off x="6505590" y="4545391"/>
            <a:ext cx="4331421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52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不用跳舞、不用露臉。</a:t>
            </a:r>
            <a:pPr algn="l" indent="0" marL="0">
              <a:lnSpc>
                <a:spcPts val="2552"/>
              </a:lnSpc>
              <a:buNone/>
            </a:pPr>
            <a:r>
              <a:rPr lang="en-US" sz="1575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錄你正在做的事就好。</a:t>
            </a:r>
            <a:endParaRPr lang="en-US" sz="1575" dirty="0"/>
          </a:p>
        </p:txBody>
      </p:sp>
      <p:sp>
        <p:nvSpPr>
          <p:cNvPr id="41" name="Shape 36"/>
          <p:cNvSpPr/>
          <p:nvPr/>
        </p:nvSpPr>
        <p:spPr>
          <a:xfrm>
            <a:off x="800100" y="5297942"/>
            <a:ext cx="10591770" cy="691012"/>
          </a:xfrm>
          <a:prstGeom prst="roundRect">
            <a:avLst>
              <a:gd name="adj" fmla="val 24811"/>
            </a:avLst>
          </a:prstGeom>
          <a:solidFill>
            <a:srgbClr val="F8E6C9"/>
          </a:solidFill>
          <a:ln/>
        </p:spPr>
      </p:sp>
      <p:sp>
        <p:nvSpPr>
          <p:cNvPr id="42" name="Shape 37"/>
          <p:cNvSpPr/>
          <p:nvPr/>
        </p:nvSpPr>
        <p:spPr>
          <a:xfrm>
            <a:off x="800100" y="5297942"/>
            <a:ext cx="47640" cy="691012"/>
          </a:xfrm>
          <a:prstGeom prst="rect">
            <a:avLst/>
          </a:prstGeom>
          <a:solidFill>
            <a:srgbClr val="D99A4E"/>
          </a:solidFill>
          <a:ln/>
        </p:spPr>
      </p:sp>
      <p:pic>
        <p:nvPicPr>
          <p:cNvPr id="43" name="Image 3" descr="/home/user/gogoeveryday/social-course/export-pptx/build/img/p26-3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5360" y="5490972"/>
            <a:ext cx="304770" cy="304770"/>
          </a:xfrm>
          <a:prstGeom prst="rect">
            <a:avLst/>
          </a:prstGeom>
        </p:spPr>
      </p:pic>
      <p:sp>
        <p:nvSpPr>
          <p:cNvPr id="44" name="Text 38"/>
          <p:cNvSpPr txBox="1"/>
          <p:nvPr/>
        </p:nvSpPr>
        <p:spPr>
          <a:xfrm>
            <a:off x="1514521" y="5488503"/>
            <a:ext cx="4755520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今天先各做一次就好。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做過一次，回家才敢再做。</a:t>
            </a:r>
            <a:endParaRPr lang="en-US" sz="1575" dirty="0"/>
          </a:p>
        </p:txBody>
      </p:sp>
      <p:sp>
        <p:nvSpPr>
          <p:cNvPr id="45" name="Shape 39"/>
          <p:cNvSpPr/>
          <p:nvPr/>
        </p:nvSpPr>
        <p:spPr>
          <a:xfrm>
            <a:off x="10260208" y="228600"/>
            <a:ext cx="1131661" cy="447690"/>
          </a:xfrm>
          <a:prstGeom prst="roundRect">
            <a:avLst>
              <a:gd name="adj" fmla="val 50000"/>
            </a:avLst>
          </a:prstGeom>
          <a:solidFill>
            <a:srgbClr val="C05F3C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46" name="Text 40"/>
          <p:cNvSpPr txBox="1"/>
          <p:nvPr/>
        </p:nvSpPr>
        <p:spPr>
          <a:xfrm>
            <a:off x="10384018" y="304770"/>
            <a:ext cx="947136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90" kern="0" dirty="0">
                <a:solidFill>
                  <a:srgbClr val="FBF7F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手機實作</a:t>
            </a:r>
            <a:endParaRPr lang="en-US" sz="1500" dirty="0"/>
          </a:p>
        </p:txBody>
      </p:sp>
      <p:sp>
        <p:nvSpPr>
          <p:cNvPr id="47" name="Text 41"/>
          <p:cNvSpPr txBox="1"/>
          <p:nvPr/>
        </p:nvSpPr>
        <p:spPr>
          <a:xfrm>
            <a:off x="761970" y="6343650"/>
            <a:ext cx="2029877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PART 2 · 13:12</a:t>
            </a:r>
            <a:endParaRPr lang="en-US" sz="1500" dirty="0"/>
          </a:p>
        </p:txBody>
      </p:sp>
      <p:sp>
        <p:nvSpPr>
          <p:cNvPr id="48" name="Text 42"/>
          <p:cNvSpPr txBox="1"/>
          <p:nvPr/>
        </p:nvSpPr>
        <p:spPr>
          <a:xfrm>
            <a:off x="10690616" y="6343650"/>
            <a:ext cx="794614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26 / 42</a:t>
            </a:r>
            <a:endParaRPr lang="en-US" sz="15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social-course/export-pptx/build/bg/27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1970" y="781080"/>
            <a:ext cx="1867845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50" kern="0" dirty="0">
                <a:solidFill>
                  <a:srgbClr val="8A5A6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專業帳號才看得到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761970" y="1162020"/>
            <a:ext cx="2940619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94"/>
              </a:lnSpc>
              <a:buNone/>
            </a:pPr>
            <a:r>
              <a:rPr lang="en-US" sz="2700" b="1" spc="-54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洞察報告怎麼進去</a:t>
            </a:r>
            <a:endParaRPr lang="en-US" sz="2700" dirty="0"/>
          </a:p>
        </p:txBody>
      </p:sp>
      <p:sp>
        <p:nvSpPr>
          <p:cNvPr id="5" name="Shape 2"/>
          <p:cNvSpPr/>
          <p:nvPr/>
        </p:nvSpPr>
        <p:spPr>
          <a:xfrm>
            <a:off x="800100" y="1789847"/>
            <a:ext cx="5300685" cy="609630"/>
          </a:xfrm>
          <a:prstGeom prst="roundRect">
            <a:avLst>
              <a:gd name="adj" fmla="val 23444"/>
            </a:avLst>
          </a:prstGeom>
          <a:solidFill>
            <a:srgbClr val="FFFFFF">
              <a:alpha val="62000"/>
            </a:srgbClr>
          </a:solidFill>
          <a:ln w="9525">
            <a:solidFill>
              <a:srgbClr val="241C17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000171" y="1932676"/>
            <a:ext cx="323880" cy="323880"/>
          </a:xfrm>
          <a:prstGeom prst="roundRect">
            <a:avLst>
              <a:gd name="adj" fmla="val 29418"/>
            </a:avLst>
          </a:prstGeom>
          <a:solidFill>
            <a:srgbClr val="E1306C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1067653" y="1942186"/>
            <a:ext cx="24396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1428750" y="1932676"/>
            <a:ext cx="2070019" cy="323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-17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點右下角自己的頭像</a:t>
            </a:r>
            <a:endParaRPr lang="en-US" sz="1650" dirty="0"/>
          </a:p>
        </p:txBody>
      </p:sp>
      <p:sp>
        <p:nvSpPr>
          <p:cNvPr id="9" name="Shape 6"/>
          <p:cNvSpPr/>
          <p:nvPr/>
        </p:nvSpPr>
        <p:spPr>
          <a:xfrm>
            <a:off x="800100" y="2504176"/>
            <a:ext cx="5300685" cy="609630"/>
          </a:xfrm>
          <a:prstGeom prst="roundRect">
            <a:avLst>
              <a:gd name="adj" fmla="val 23444"/>
            </a:avLst>
          </a:prstGeom>
          <a:solidFill>
            <a:srgbClr val="FFFFFF">
              <a:alpha val="62000"/>
            </a:srgbClr>
          </a:solidFill>
          <a:ln w="9525">
            <a:solidFill>
              <a:srgbClr val="241C17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0171" y="2647097"/>
            <a:ext cx="323880" cy="323880"/>
          </a:xfrm>
          <a:prstGeom prst="roundRect">
            <a:avLst>
              <a:gd name="adj" fmla="val 29418"/>
            </a:avLst>
          </a:prstGeom>
          <a:solidFill>
            <a:srgbClr val="E1306C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1067653" y="2656606"/>
            <a:ext cx="24396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1428750" y="2647097"/>
            <a:ext cx="3609320" cy="323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-17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點「專業主頁面板」或「洞察報告」</a:t>
            </a:r>
            <a:endParaRPr lang="en-US" sz="1650" dirty="0"/>
          </a:p>
        </p:txBody>
      </p:sp>
      <p:sp>
        <p:nvSpPr>
          <p:cNvPr id="13" name="Shape 10"/>
          <p:cNvSpPr/>
          <p:nvPr/>
        </p:nvSpPr>
        <p:spPr>
          <a:xfrm>
            <a:off x="800100" y="3218597"/>
            <a:ext cx="5300685" cy="609630"/>
          </a:xfrm>
          <a:prstGeom prst="roundRect">
            <a:avLst>
              <a:gd name="adj" fmla="val 23444"/>
            </a:avLst>
          </a:prstGeom>
          <a:solidFill>
            <a:srgbClr val="FFFFFF">
              <a:alpha val="62000"/>
            </a:srgbClr>
          </a:solidFill>
          <a:ln w="9525">
            <a:solidFill>
              <a:srgbClr val="241C17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1000171" y="3361426"/>
            <a:ext cx="323880" cy="323880"/>
          </a:xfrm>
          <a:prstGeom prst="roundRect">
            <a:avLst>
              <a:gd name="adj" fmla="val 29418"/>
            </a:avLst>
          </a:prstGeom>
          <a:solidFill>
            <a:srgbClr val="E1306C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5" name="Text 12"/>
          <p:cNvSpPr txBox="1"/>
          <p:nvPr/>
        </p:nvSpPr>
        <p:spPr>
          <a:xfrm>
            <a:off x="1067653" y="3370936"/>
            <a:ext cx="24396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3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1428750" y="3361426"/>
            <a:ext cx="2070019" cy="323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-17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進去就看得到數字了</a:t>
            </a:r>
            <a:endParaRPr lang="en-US" sz="1650" dirty="0"/>
          </a:p>
        </p:txBody>
      </p:sp>
      <p:sp>
        <p:nvSpPr>
          <p:cNvPr id="17" name="Shape 14"/>
          <p:cNvSpPr/>
          <p:nvPr/>
        </p:nvSpPr>
        <p:spPr>
          <a:xfrm>
            <a:off x="800100" y="3980566"/>
            <a:ext cx="5300685" cy="1000994"/>
          </a:xfrm>
          <a:prstGeom prst="roundRect">
            <a:avLst>
              <a:gd name="adj" fmla="val 17128"/>
            </a:avLst>
          </a:prstGeom>
          <a:solidFill>
            <a:srgbClr val="FDEEF4"/>
          </a:solidFill>
          <a:ln/>
        </p:spPr>
      </p:sp>
      <p:sp>
        <p:nvSpPr>
          <p:cNvPr id="18" name="Shape 15"/>
          <p:cNvSpPr/>
          <p:nvPr/>
        </p:nvSpPr>
        <p:spPr>
          <a:xfrm>
            <a:off x="800100" y="3980566"/>
            <a:ext cx="47640" cy="1000994"/>
          </a:xfrm>
          <a:prstGeom prst="rect">
            <a:avLst/>
          </a:prstGeom>
          <a:solidFill>
            <a:srgbClr val="E1306C"/>
          </a:solidFill>
          <a:ln/>
        </p:spPr>
      </p:sp>
      <p:pic>
        <p:nvPicPr>
          <p:cNvPr id="19" name="Image 1" descr="/home/user/gogoeveryday/social-course/export-pptx/build/img/p27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360" y="4328678"/>
            <a:ext cx="304770" cy="304770"/>
          </a:xfrm>
          <a:prstGeom prst="rect">
            <a:avLst/>
          </a:prstGeom>
        </p:spPr>
      </p:pic>
      <p:sp>
        <p:nvSpPr>
          <p:cNvPr id="20" name="Text 16"/>
          <p:cNvSpPr txBox="1"/>
          <p:nvPr/>
        </p:nvSpPr>
        <p:spPr>
          <a:xfrm>
            <a:off x="1514521" y="4171036"/>
            <a:ext cx="4331421" cy="6148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看不到「洞察報告」＝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E1306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還沒切換成專業帳號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。</a:t>
            </a:r>
            <a:endParaRPr lang="en-US" sz="1575" dirty="0"/>
          </a:p>
          <a:p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回上一段的六個步驟重做一次。</a:t>
            </a:r>
            <a:endParaRPr lang="en-US" sz="1575" dirty="0"/>
          </a:p>
        </p:txBody>
      </p:sp>
      <p:sp>
        <p:nvSpPr>
          <p:cNvPr id="21" name="Text 17"/>
          <p:cNvSpPr txBox="1"/>
          <p:nvPr/>
        </p:nvSpPr>
        <p:spPr>
          <a:xfrm>
            <a:off x="761970" y="5095860"/>
            <a:ext cx="5707959" cy="590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25"/>
              </a:lnSpc>
              <a:buNone/>
            </a:pPr>
            <a:r>
              <a:rPr lang="en-US" sz="1500" b="1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＊剛建立的帳號數字會很小或是 0，這很正常，重點是知道去哪裡看。</a:t>
            </a:r>
            <a:endParaRPr lang="en-US" sz="1500" dirty="0"/>
          </a:p>
        </p:txBody>
      </p:sp>
      <p:pic>
        <p:nvPicPr>
          <p:cNvPr id="22" name="Image 2" descr="/home/user/gogoeveryday/social-course/export-pptx/build/img/p27-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98608" y="404805"/>
            <a:ext cx="2590770" cy="5257800"/>
          </a:xfrm>
          <a:prstGeom prst="rect">
            <a:avLst/>
          </a:prstGeom>
        </p:spPr>
      </p:pic>
      <p:sp>
        <p:nvSpPr>
          <p:cNvPr id="23" name="Text 18"/>
          <p:cNvSpPr txBox="1"/>
          <p:nvPr/>
        </p:nvSpPr>
        <p:spPr>
          <a:xfrm>
            <a:off x="8151053" y="5786415"/>
            <a:ext cx="1695115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spc="15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最近 7 天的數字</a:t>
            </a:r>
            <a:endParaRPr lang="en-US" sz="1500" dirty="0"/>
          </a:p>
        </p:txBody>
      </p:sp>
      <p:sp>
        <p:nvSpPr>
          <p:cNvPr id="24" name="Shape 19"/>
          <p:cNvSpPr/>
          <p:nvPr/>
        </p:nvSpPr>
        <p:spPr>
          <a:xfrm>
            <a:off x="10260208" y="228600"/>
            <a:ext cx="1131661" cy="447690"/>
          </a:xfrm>
          <a:prstGeom prst="roundRect">
            <a:avLst>
              <a:gd name="adj" fmla="val 50000"/>
            </a:avLst>
          </a:prstGeom>
          <a:solidFill>
            <a:srgbClr val="C05F3C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25" name="Text 20"/>
          <p:cNvSpPr txBox="1"/>
          <p:nvPr/>
        </p:nvSpPr>
        <p:spPr>
          <a:xfrm>
            <a:off x="10384018" y="304770"/>
            <a:ext cx="947136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90" kern="0" dirty="0">
                <a:solidFill>
                  <a:srgbClr val="FBF7F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手機實作</a:t>
            </a:r>
            <a:endParaRPr lang="en-US" sz="1500" dirty="0"/>
          </a:p>
        </p:txBody>
      </p:sp>
      <p:sp>
        <p:nvSpPr>
          <p:cNvPr id="26" name="Text 21"/>
          <p:cNvSpPr txBox="1"/>
          <p:nvPr/>
        </p:nvSpPr>
        <p:spPr>
          <a:xfrm>
            <a:off x="761970" y="6343650"/>
            <a:ext cx="2029877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PART 2 · 13:26</a:t>
            </a:r>
            <a:endParaRPr lang="en-US" sz="1500" dirty="0"/>
          </a:p>
        </p:txBody>
      </p:sp>
      <p:sp>
        <p:nvSpPr>
          <p:cNvPr id="27" name="Text 22"/>
          <p:cNvSpPr txBox="1"/>
          <p:nvPr/>
        </p:nvSpPr>
        <p:spPr>
          <a:xfrm>
            <a:off x="10690616" y="6343650"/>
            <a:ext cx="794614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27 / 42</a:t>
            </a:r>
            <a:endParaRPr lang="en-US" sz="15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social-course/export-pptx/build/bg/28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09630" y="932688"/>
            <a:ext cx="2444283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50" kern="0" dirty="0">
                <a:solidFill>
                  <a:srgbClr val="8A5A6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洞察報告 · 只看這四個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609630" y="1313718"/>
            <a:ext cx="4033236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94"/>
              </a:lnSpc>
              <a:buNone/>
            </a:pPr>
            <a:r>
              <a:rPr lang="en-US" sz="2700" b="1" spc="-54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跟 Facebook 的概念一樣</a:t>
            </a:r>
            <a:endParaRPr lang="en-US" sz="2700" dirty="0"/>
          </a:p>
        </p:txBody>
      </p:sp>
      <p:sp>
        <p:nvSpPr>
          <p:cNvPr id="5" name="Shape 2"/>
          <p:cNvSpPr/>
          <p:nvPr/>
        </p:nvSpPr>
        <p:spPr>
          <a:xfrm>
            <a:off x="647670" y="1989094"/>
            <a:ext cx="2595524" cy="2690531"/>
          </a:xfrm>
          <a:prstGeom prst="roundRect">
            <a:avLst>
              <a:gd name="adj" fmla="val 8807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790590" y="2179564"/>
            <a:ext cx="1181313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20" kern="0" dirty="0">
                <a:solidFill>
                  <a:srgbClr val="E1306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觸及帳號數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790590" y="2503444"/>
            <a:ext cx="750448" cy="5429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spc="-57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342</a:t>
            </a:r>
            <a:endParaRPr lang="en-US" sz="2850" dirty="0"/>
          </a:p>
        </p:txBody>
      </p:sp>
      <p:sp>
        <p:nvSpPr>
          <p:cNvPr id="8" name="Shape 5"/>
          <p:cNvSpPr/>
          <p:nvPr/>
        </p:nvSpPr>
        <p:spPr>
          <a:xfrm>
            <a:off x="828721" y="3122585"/>
            <a:ext cx="2233605" cy="18288"/>
          </a:xfrm>
          <a:prstGeom prst="rect">
            <a:avLst/>
          </a:prstGeom>
          <a:solidFill>
            <a:srgbClr val="FDEEF4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790590" y="3198754"/>
            <a:ext cx="1787103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48"/>
              </a:lnSpc>
              <a:buNone/>
            </a:pPr>
            <a:r>
              <a:rPr lang="en-US" sz="1575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多少「人」看到你</a:t>
            </a:r>
            <a:endParaRPr lang="en-US" sz="1575" dirty="0"/>
          </a:p>
        </p:txBody>
      </p:sp>
      <p:sp>
        <p:nvSpPr>
          <p:cNvPr id="10" name="Text 7"/>
          <p:cNvSpPr txBox="1"/>
          <p:nvPr/>
        </p:nvSpPr>
        <p:spPr>
          <a:xfrm>
            <a:off x="790590" y="3553998"/>
            <a:ext cx="2312060" cy="9122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注意是人數，不是次數。同一個人看兩次只算一個。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3414735" y="1989094"/>
            <a:ext cx="2595524" cy="2690531"/>
          </a:xfrm>
          <a:prstGeom prst="roundRect">
            <a:avLst>
              <a:gd name="adj" fmla="val 8807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2" name="Text 9"/>
          <p:cNvSpPr txBox="1"/>
          <p:nvPr/>
        </p:nvSpPr>
        <p:spPr>
          <a:xfrm>
            <a:off x="3557565" y="2179564"/>
            <a:ext cx="963229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20" kern="0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互動次數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3557565" y="2503444"/>
            <a:ext cx="544159" cy="5429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spc="-57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56</a:t>
            </a:r>
            <a:endParaRPr lang="en-US" sz="2850" dirty="0"/>
          </a:p>
        </p:txBody>
      </p:sp>
      <p:sp>
        <p:nvSpPr>
          <p:cNvPr id="14" name="Shape 11"/>
          <p:cNvSpPr/>
          <p:nvPr/>
        </p:nvSpPr>
        <p:spPr>
          <a:xfrm>
            <a:off x="3595695" y="3122585"/>
            <a:ext cx="2233605" cy="18288"/>
          </a:xfrm>
          <a:prstGeom prst="rect">
            <a:avLst/>
          </a:prstGeom>
          <a:solidFill>
            <a:srgbClr val="FBEEE6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3557565" y="3198754"/>
            <a:ext cx="2423160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48"/>
              </a:lnSpc>
              <a:buNone/>
            </a:pPr>
            <a:r>
              <a:rPr lang="en-US" sz="1575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按讚＋留言＋分享＋儲存</a:t>
            </a:r>
            <a:endParaRPr lang="en-US" sz="1575" dirty="0"/>
          </a:p>
        </p:txBody>
      </p:sp>
      <p:sp>
        <p:nvSpPr>
          <p:cNvPr id="16" name="Text 13"/>
          <p:cNvSpPr txBox="1"/>
          <p:nvPr/>
        </p:nvSpPr>
        <p:spPr>
          <a:xfrm>
            <a:off x="3557565" y="3553998"/>
            <a:ext cx="2454798" cy="9122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IG 多一個「儲存」，代表他想留著以後看，很有價值。</a:t>
            </a:r>
            <a:endParaRPr lang="en-US" sz="1500" dirty="0"/>
          </a:p>
        </p:txBody>
      </p:sp>
      <p:sp>
        <p:nvSpPr>
          <p:cNvPr id="17" name="Shape 14"/>
          <p:cNvSpPr/>
          <p:nvPr/>
        </p:nvSpPr>
        <p:spPr>
          <a:xfrm>
            <a:off x="6181710" y="1989094"/>
            <a:ext cx="2595524" cy="2690531"/>
          </a:xfrm>
          <a:prstGeom prst="roundRect">
            <a:avLst>
              <a:gd name="adj" fmla="val 8807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8" name="Text 15"/>
          <p:cNvSpPr txBox="1"/>
          <p:nvPr/>
        </p:nvSpPr>
        <p:spPr>
          <a:xfrm>
            <a:off x="6324630" y="2179564"/>
            <a:ext cx="1399398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20" kern="0" dirty="0">
                <a:solidFill>
                  <a:srgbClr val="5F7A6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個人檔案造訪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6324630" y="2503444"/>
            <a:ext cx="544159" cy="5429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spc="-57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41</a:t>
            </a:r>
            <a:endParaRPr lang="en-US" sz="2850" dirty="0"/>
          </a:p>
        </p:txBody>
      </p:sp>
      <p:sp>
        <p:nvSpPr>
          <p:cNvPr id="20" name="Shape 17"/>
          <p:cNvSpPr/>
          <p:nvPr/>
        </p:nvSpPr>
        <p:spPr>
          <a:xfrm>
            <a:off x="6362670" y="3122585"/>
            <a:ext cx="2233605" cy="18288"/>
          </a:xfrm>
          <a:prstGeom prst="rect">
            <a:avLst/>
          </a:prstGeom>
          <a:solidFill>
            <a:srgbClr val="DFE8DC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6324630" y="3198754"/>
            <a:ext cx="1999061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48"/>
              </a:lnSpc>
              <a:buNone/>
            </a:pPr>
            <a:r>
              <a:rPr lang="en-US" sz="1575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多少人點進你的頁面</a:t>
            </a:r>
            <a:endParaRPr lang="en-US" sz="1575" dirty="0"/>
          </a:p>
        </p:txBody>
      </p:sp>
      <p:sp>
        <p:nvSpPr>
          <p:cNvPr id="22" name="Text 19"/>
          <p:cNvSpPr txBox="1"/>
          <p:nvPr/>
        </p:nvSpPr>
        <p:spPr>
          <a:xfrm>
            <a:off x="6324630" y="3553998"/>
            <a:ext cx="2312060" cy="6037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看到貼文後想多了解你的人，這些是潛在客人。</a:t>
            </a:r>
            <a:endParaRPr lang="en-US" sz="1500" dirty="0"/>
          </a:p>
        </p:txBody>
      </p:sp>
      <p:sp>
        <p:nvSpPr>
          <p:cNvPr id="23" name="Shape 20"/>
          <p:cNvSpPr/>
          <p:nvPr/>
        </p:nvSpPr>
        <p:spPr>
          <a:xfrm>
            <a:off x="8948776" y="1989094"/>
            <a:ext cx="2595524" cy="2690531"/>
          </a:xfrm>
          <a:prstGeom prst="roundRect">
            <a:avLst>
              <a:gd name="adj" fmla="val 8807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24" name="Text 21"/>
          <p:cNvSpPr txBox="1"/>
          <p:nvPr/>
        </p:nvSpPr>
        <p:spPr>
          <a:xfrm>
            <a:off x="9091605" y="2179564"/>
            <a:ext cx="963229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20" kern="0" dirty="0">
                <a:solidFill>
                  <a:srgbClr val="D99A4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粉絲增減</a:t>
            </a:r>
            <a:endParaRPr lang="en-US" sz="1500" dirty="0"/>
          </a:p>
        </p:txBody>
      </p:sp>
      <p:sp>
        <p:nvSpPr>
          <p:cNvPr id="25" name="Text 22"/>
          <p:cNvSpPr txBox="1"/>
          <p:nvPr/>
        </p:nvSpPr>
        <p:spPr>
          <a:xfrm>
            <a:off x="9091605" y="2503444"/>
            <a:ext cx="692567" cy="5429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spc="-57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＋9</a:t>
            </a:r>
            <a:endParaRPr lang="en-US" sz="2850" dirty="0"/>
          </a:p>
        </p:txBody>
      </p:sp>
      <p:sp>
        <p:nvSpPr>
          <p:cNvPr id="26" name="Shape 23"/>
          <p:cNvSpPr/>
          <p:nvPr/>
        </p:nvSpPr>
        <p:spPr>
          <a:xfrm>
            <a:off x="9129735" y="3122585"/>
            <a:ext cx="2233605" cy="18288"/>
          </a:xfrm>
          <a:prstGeom prst="rect">
            <a:avLst/>
          </a:prstGeom>
          <a:solidFill>
            <a:srgbClr val="F8E6C9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9091605" y="3198754"/>
            <a:ext cx="2211202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48"/>
              </a:lnSpc>
              <a:buNone/>
            </a:pPr>
            <a:r>
              <a:rPr lang="en-US" sz="1575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這段期間多了幾個粉絲</a:t>
            </a:r>
            <a:endParaRPr lang="en-US" sz="1575" dirty="0"/>
          </a:p>
        </p:txBody>
      </p:sp>
      <p:sp>
        <p:nvSpPr>
          <p:cNvPr id="28" name="Text 25"/>
          <p:cNvSpPr txBox="1"/>
          <p:nvPr/>
        </p:nvSpPr>
        <p:spPr>
          <a:xfrm>
            <a:off x="9091605" y="3553998"/>
            <a:ext cx="2312060" cy="6037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如果掉粉，通常是發太多廣告。</a:t>
            </a:r>
            <a:endParaRPr lang="en-US" sz="1500" dirty="0"/>
          </a:p>
        </p:txBody>
      </p:sp>
      <p:sp>
        <p:nvSpPr>
          <p:cNvPr id="29" name="Shape 26"/>
          <p:cNvSpPr/>
          <p:nvPr/>
        </p:nvSpPr>
        <p:spPr>
          <a:xfrm>
            <a:off x="647670" y="4841565"/>
            <a:ext cx="10896630" cy="845637"/>
          </a:xfrm>
          <a:prstGeom prst="roundRect">
            <a:avLst>
              <a:gd name="adj" fmla="val 20275"/>
            </a:avLst>
          </a:prstGeom>
          <a:solidFill>
            <a:srgbClr val="FDEEF4"/>
          </a:solidFill>
          <a:ln/>
        </p:spPr>
      </p:sp>
      <p:sp>
        <p:nvSpPr>
          <p:cNvPr id="30" name="Shape 27"/>
          <p:cNvSpPr/>
          <p:nvPr/>
        </p:nvSpPr>
        <p:spPr>
          <a:xfrm>
            <a:off x="647670" y="4841565"/>
            <a:ext cx="47640" cy="845637"/>
          </a:xfrm>
          <a:prstGeom prst="rect">
            <a:avLst/>
          </a:prstGeom>
          <a:solidFill>
            <a:srgbClr val="E1306C"/>
          </a:solidFill>
          <a:ln/>
        </p:spPr>
      </p:sp>
      <p:pic>
        <p:nvPicPr>
          <p:cNvPr id="31" name="Image 1" descr="/home/user/gogoeveryday/social-course/export-pptx/build/img/p28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910" y="5111953"/>
            <a:ext cx="304770" cy="304770"/>
          </a:xfrm>
          <a:prstGeom prst="rect">
            <a:avLst/>
          </a:prstGeom>
        </p:spPr>
      </p:pic>
      <p:sp>
        <p:nvSpPr>
          <p:cNvPr id="32" name="Text 28"/>
          <p:cNvSpPr txBox="1"/>
          <p:nvPr/>
        </p:nvSpPr>
        <p:spPr>
          <a:xfrm>
            <a:off x="1343071" y="4965375"/>
            <a:ext cx="4543471" cy="5847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5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IG 最值得看的是</a:t>
            </a:r>
            <a:pPr algn="l" indent="0" marL="0">
              <a:lnSpc>
                <a:spcPts val="2205"/>
              </a:lnSpc>
              <a:buNone/>
            </a:pPr>
            <a:r>
              <a:rPr lang="en-US" sz="1575" b="1" dirty="0">
                <a:solidFill>
                  <a:srgbClr val="E1306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「個人檔案造訪」</a:t>
            </a:r>
            <a:pPr algn="l" indent="0" marL="0">
              <a:lnSpc>
                <a:spcPts val="2205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——</a:t>
            </a:r>
            <a:endParaRPr lang="en-US" sz="1575" dirty="0"/>
          </a:p>
          <a:p>
            <a:pPr algn="l" indent="0" marL="0">
              <a:lnSpc>
                <a:spcPts val="2205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會點進來看你是誰的人，才是真的有興趣的人。</a:t>
            </a:r>
            <a:endParaRPr lang="en-US" sz="1575" dirty="0"/>
          </a:p>
        </p:txBody>
      </p:sp>
      <p:sp>
        <p:nvSpPr>
          <p:cNvPr id="33" name="Shape 29"/>
          <p:cNvSpPr/>
          <p:nvPr/>
        </p:nvSpPr>
        <p:spPr>
          <a:xfrm>
            <a:off x="10260208" y="228600"/>
            <a:ext cx="1131661" cy="447690"/>
          </a:xfrm>
          <a:prstGeom prst="roundRect">
            <a:avLst>
              <a:gd name="adj" fmla="val 50000"/>
            </a:avLst>
          </a:prstGeom>
          <a:solidFill>
            <a:srgbClr val="C05F3C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34" name="Text 30"/>
          <p:cNvSpPr txBox="1"/>
          <p:nvPr/>
        </p:nvSpPr>
        <p:spPr>
          <a:xfrm>
            <a:off x="10384018" y="304770"/>
            <a:ext cx="947136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90" kern="0" dirty="0">
                <a:solidFill>
                  <a:srgbClr val="FBF7F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記下數字</a:t>
            </a:r>
            <a:endParaRPr lang="en-US" sz="1500" dirty="0"/>
          </a:p>
        </p:txBody>
      </p:sp>
      <p:sp>
        <p:nvSpPr>
          <p:cNvPr id="35" name="Text 31"/>
          <p:cNvSpPr txBox="1"/>
          <p:nvPr/>
        </p:nvSpPr>
        <p:spPr>
          <a:xfrm>
            <a:off x="761970" y="6343650"/>
            <a:ext cx="2029877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PART 2 · 13:34</a:t>
            </a:r>
            <a:endParaRPr lang="en-US" sz="1500" dirty="0"/>
          </a:p>
        </p:txBody>
      </p:sp>
      <p:sp>
        <p:nvSpPr>
          <p:cNvPr id="36" name="Text 32"/>
          <p:cNvSpPr txBox="1"/>
          <p:nvPr/>
        </p:nvSpPr>
        <p:spPr>
          <a:xfrm>
            <a:off x="10690616" y="6343650"/>
            <a:ext cx="794614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28 / 42</a:t>
            </a:r>
            <a:endParaRPr lang="en-US" sz="15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social-course/export-pptx/build/bg/29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1970" y="504566"/>
            <a:ext cx="1867845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50" kern="0" dirty="0">
                <a:solidFill>
                  <a:srgbClr val="8A5A6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看完之後要做什麼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761970" y="885505"/>
            <a:ext cx="3296869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94"/>
              </a:lnSpc>
              <a:buNone/>
            </a:pPr>
            <a:r>
              <a:rPr lang="en-US" sz="2700" b="1" spc="-54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三種情況，三個動作</a:t>
            </a:r>
            <a:endParaRPr lang="en-US" sz="2700" dirty="0"/>
          </a:p>
        </p:txBody>
      </p:sp>
      <p:sp>
        <p:nvSpPr>
          <p:cNvPr id="5" name="Shape 2"/>
          <p:cNvSpPr/>
          <p:nvPr/>
        </p:nvSpPr>
        <p:spPr>
          <a:xfrm>
            <a:off x="800100" y="1694292"/>
            <a:ext cx="3390870" cy="3296412"/>
          </a:xfrm>
          <a:prstGeom prst="roundRect">
            <a:avLst>
              <a:gd name="adj" fmla="val 6935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1019190" y="1913291"/>
            <a:ext cx="381030" cy="381030"/>
          </a:xfrm>
          <a:prstGeom prst="roundRect">
            <a:avLst>
              <a:gd name="adj" fmla="val 29998"/>
            </a:avLst>
          </a:prstGeom>
          <a:solidFill>
            <a:srgbClr val="FDEEF4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1066648" y="1941911"/>
            <a:ext cx="341163" cy="323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E1306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①</a:t>
            </a:r>
            <a:endParaRPr lang="en-US" sz="1650" dirty="0"/>
          </a:p>
        </p:txBody>
      </p:sp>
      <p:sp>
        <p:nvSpPr>
          <p:cNvPr id="8" name="Text 5"/>
          <p:cNvSpPr txBox="1"/>
          <p:nvPr/>
        </p:nvSpPr>
        <p:spPr>
          <a:xfrm>
            <a:off x="1466880" y="1951421"/>
            <a:ext cx="930585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75" b="1" spc="-16" kern="0" dirty="0">
                <a:solidFill>
                  <a:srgbClr val="E1306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觸及很低</a:t>
            </a:r>
            <a:endParaRPr lang="en-US" sz="1575" dirty="0"/>
          </a:p>
        </p:txBody>
      </p:sp>
      <p:sp>
        <p:nvSpPr>
          <p:cNvPr id="9" name="Text 6"/>
          <p:cNvSpPr txBox="1"/>
          <p:nvPr/>
        </p:nvSpPr>
        <p:spPr>
          <a:xfrm>
            <a:off x="981060" y="2399111"/>
            <a:ext cx="963229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2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代表什麼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981060" y="2732502"/>
            <a:ext cx="3117738" cy="6288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52"/>
              </a:lnSpc>
              <a:buNone/>
            </a:pPr>
            <a:r>
              <a:rPr lang="en-US" sz="1575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幾乎沒有人看到。IG 靠 Hashtag 跟 Reels 帶新的人進來。</a:t>
            </a:r>
            <a:endParaRPr lang="en-US" sz="1575" dirty="0"/>
          </a:p>
        </p:txBody>
      </p:sp>
      <p:sp>
        <p:nvSpPr>
          <p:cNvPr id="11" name="Text 8"/>
          <p:cNvSpPr txBox="1"/>
          <p:nvPr/>
        </p:nvSpPr>
        <p:spPr>
          <a:xfrm>
            <a:off x="981060" y="3475726"/>
            <a:ext cx="1399398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2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下一篇怎麼改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981060" y="3809116"/>
            <a:ext cx="2909987" cy="952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52"/>
              </a:lnSpc>
              <a:buNone/>
            </a:pPr>
            <a:r>
              <a:rPr lang="en-US" sz="1575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下一篇多加幾個</a:t>
            </a:r>
            <a:pPr algn="l" indent="0" marL="0">
              <a:lnSpc>
                <a:spcPts val="2552"/>
              </a:lnSpc>
              <a:buNone/>
            </a:pPr>
            <a:r>
              <a:rPr lang="en-US" sz="1575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地區 Hashtag</a:t>
            </a:r>
            <a:pPr algn="l" indent="0" marL="0">
              <a:lnSpc>
                <a:spcPts val="2552"/>
              </a:lnSpc>
              <a:buNone/>
            </a:pPr>
            <a:r>
              <a:rPr lang="en-US" sz="1575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（#台中甜點），並試著發一支 Reels。</a:t>
            </a:r>
            <a:endParaRPr lang="en-US" sz="1575" dirty="0"/>
          </a:p>
        </p:txBody>
      </p:sp>
      <p:sp>
        <p:nvSpPr>
          <p:cNvPr id="13" name="Shape 10"/>
          <p:cNvSpPr/>
          <p:nvPr/>
        </p:nvSpPr>
        <p:spPr>
          <a:xfrm>
            <a:off x="4400550" y="1694292"/>
            <a:ext cx="3390870" cy="3296412"/>
          </a:xfrm>
          <a:prstGeom prst="roundRect">
            <a:avLst>
              <a:gd name="adj" fmla="val 6935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4619640" y="1913291"/>
            <a:ext cx="381030" cy="381030"/>
          </a:xfrm>
          <a:prstGeom prst="roundRect">
            <a:avLst>
              <a:gd name="adj" fmla="val 29998"/>
            </a:avLst>
          </a:prstGeom>
          <a:solidFill>
            <a:srgbClr val="F8E6C9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4667098" y="1941911"/>
            <a:ext cx="341163" cy="323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D99A4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②</a:t>
            </a:r>
            <a:endParaRPr lang="en-US" sz="1650" dirty="0"/>
          </a:p>
        </p:txBody>
      </p:sp>
      <p:sp>
        <p:nvSpPr>
          <p:cNvPr id="16" name="Text 13"/>
          <p:cNvSpPr txBox="1"/>
          <p:nvPr/>
        </p:nvSpPr>
        <p:spPr>
          <a:xfrm>
            <a:off x="5067330" y="1951421"/>
            <a:ext cx="1980042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75" b="1" spc="-16" kern="0" dirty="0">
                <a:solidFill>
                  <a:srgbClr val="D99A4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有人看、沒人點進來</a:t>
            </a:r>
            <a:endParaRPr lang="en-US" sz="1575" dirty="0"/>
          </a:p>
        </p:txBody>
      </p:sp>
      <p:sp>
        <p:nvSpPr>
          <p:cNvPr id="17" name="Text 14"/>
          <p:cNvSpPr txBox="1"/>
          <p:nvPr/>
        </p:nvSpPr>
        <p:spPr>
          <a:xfrm>
            <a:off x="4581510" y="2399111"/>
            <a:ext cx="963229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2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代表什麼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4581510" y="2732502"/>
            <a:ext cx="3059308" cy="952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52"/>
              </a:lnSpc>
              <a:buNone/>
            </a:pPr>
            <a:r>
              <a:rPr lang="en-US" sz="1575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照片有被看到，但沒人想認識你。多半是</a:t>
            </a:r>
            <a:pPr algn="l" indent="0" marL="0">
              <a:lnSpc>
                <a:spcPts val="2552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第一張照片看不出在賣什麼</a:t>
            </a:r>
            <a:pPr algn="l" indent="0" marL="0">
              <a:lnSpc>
                <a:spcPts val="2552"/>
              </a:lnSpc>
              <a:buNone/>
            </a:pPr>
            <a:r>
              <a:rPr lang="en-US" sz="1575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。</a:t>
            </a:r>
            <a:endParaRPr lang="en-US" sz="1575" dirty="0"/>
          </a:p>
        </p:txBody>
      </p:sp>
      <p:sp>
        <p:nvSpPr>
          <p:cNvPr id="19" name="Text 16"/>
          <p:cNvSpPr txBox="1"/>
          <p:nvPr/>
        </p:nvSpPr>
        <p:spPr>
          <a:xfrm>
            <a:off x="4581510" y="3799698"/>
            <a:ext cx="1399398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2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下一篇怎麼改</a:t>
            </a:r>
            <a:endParaRPr lang="en-US" sz="1500" dirty="0"/>
          </a:p>
        </p:txBody>
      </p:sp>
      <p:sp>
        <p:nvSpPr>
          <p:cNvPr id="20" name="Text 17"/>
          <p:cNvSpPr txBox="1"/>
          <p:nvPr/>
        </p:nvSpPr>
        <p:spPr>
          <a:xfrm>
            <a:off x="4581510" y="4133088"/>
            <a:ext cx="3059308" cy="6288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52"/>
              </a:lnSpc>
              <a:buNone/>
            </a:pPr>
            <a:r>
              <a:rPr lang="en-US" sz="1575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換一張</a:t>
            </a:r>
            <a:pPr algn="l" indent="0" marL="0">
              <a:lnSpc>
                <a:spcPts val="2552"/>
              </a:lnSpc>
              <a:buNone/>
            </a:pPr>
            <a:r>
              <a:rPr lang="en-US" sz="1575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商品清楚的照片</a:t>
            </a:r>
            <a:pPr algn="l" indent="0" marL="0">
              <a:lnSpc>
                <a:spcPts val="2552"/>
              </a:lnSpc>
              <a:buNone/>
            </a:pPr>
            <a:r>
              <a:rPr lang="en-US" sz="1575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當封面，簡介也改成一看就懂。</a:t>
            </a:r>
            <a:endParaRPr lang="en-US" sz="1575" dirty="0"/>
          </a:p>
        </p:txBody>
      </p:sp>
      <p:sp>
        <p:nvSpPr>
          <p:cNvPr id="21" name="Shape 18"/>
          <p:cNvSpPr/>
          <p:nvPr/>
        </p:nvSpPr>
        <p:spPr>
          <a:xfrm>
            <a:off x="8001000" y="1694292"/>
            <a:ext cx="3390870" cy="3296412"/>
          </a:xfrm>
          <a:prstGeom prst="roundRect">
            <a:avLst>
              <a:gd name="adj" fmla="val 6935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8220090" y="1913291"/>
            <a:ext cx="381030" cy="381030"/>
          </a:xfrm>
          <a:prstGeom prst="roundRect">
            <a:avLst>
              <a:gd name="adj" fmla="val 29998"/>
            </a:avLst>
          </a:prstGeom>
          <a:solidFill>
            <a:srgbClr val="DFE8DC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8267548" y="1941911"/>
            <a:ext cx="341163" cy="323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5F7A6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③</a:t>
            </a:r>
            <a:endParaRPr lang="en-US" sz="1650" dirty="0"/>
          </a:p>
        </p:txBody>
      </p:sp>
      <p:sp>
        <p:nvSpPr>
          <p:cNvPr id="24" name="Text 21"/>
          <p:cNvSpPr txBox="1"/>
          <p:nvPr/>
        </p:nvSpPr>
        <p:spPr>
          <a:xfrm>
            <a:off x="8667780" y="1951421"/>
            <a:ext cx="2189988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75" b="1" spc="-16" kern="0" dirty="0">
                <a:solidFill>
                  <a:srgbClr val="5F7A6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有人造訪、但沒人聯絡</a:t>
            </a:r>
            <a:endParaRPr lang="en-US" sz="1575" dirty="0"/>
          </a:p>
        </p:txBody>
      </p:sp>
      <p:sp>
        <p:nvSpPr>
          <p:cNvPr id="25" name="Text 22"/>
          <p:cNvSpPr txBox="1"/>
          <p:nvPr/>
        </p:nvSpPr>
        <p:spPr>
          <a:xfrm>
            <a:off x="8181960" y="2399111"/>
            <a:ext cx="963229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2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代表什麼</a:t>
            </a:r>
            <a:endParaRPr lang="en-US" sz="1500" dirty="0"/>
          </a:p>
        </p:txBody>
      </p:sp>
      <p:sp>
        <p:nvSpPr>
          <p:cNvPr id="26" name="Text 23"/>
          <p:cNvSpPr txBox="1"/>
          <p:nvPr/>
        </p:nvSpPr>
        <p:spPr>
          <a:xfrm>
            <a:off x="8181960" y="2732502"/>
            <a:ext cx="3059308" cy="6288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52"/>
              </a:lnSpc>
              <a:buNone/>
            </a:pPr>
            <a:r>
              <a:rPr lang="en-US" sz="1575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有人點進來了，卻找不到怎麼跟你買。</a:t>
            </a:r>
            <a:endParaRPr lang="en-US" sz="1575" dirty="0"/>
          </a:p>
        </p:txBody>
      </p:sp>
      <p:sp>
        <p:nvSpPr>
          <p:cNvPr id="27" name="Text 24"/>
          <p:cNvSpPr txBox="1"/>
          <p:nvPr/>
        </p:nvSpPr>
        <p:spPr>
          <a:xfrm>
            <a:off x="8181960" y="3475726"/>
            <a:ext cx="1399398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2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下一篇怎麼改</a:t>
            </a:r>
            <a:endParaRPr lang="en-US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8181960" y="3809116"/>
            <a:ext cx="3213384" cy="952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52"/>
              </a:lnSpc>
              <a:buNone/>
            </a:pPr>
            <a:r>
              <a:rPr lang="en-US" sz="1575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把 </a:t>
            </a:r>
            <a:pPr algn="l" indent="0" marL="0">
              <a:lnSpc>
                <a:spcPts val="2552"/>
              </a:lnSpc>
              <a:buNone/>
            </a:pPr>
            <a:r>
              <a:rPr lang="en-US" sz="1575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LINE 連結放到個人簡介</a:t>
            </a:r>
            <a:pPr algn="l" indent="0" marL="0">
              <a:lnSpc>
                <a:spcPts val="2552"/>
              </a:lnSpc>
              <a:buNone/>
            </a:pPr>
            <a:r>
              <a:rPr lang="en-US" sz="1575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，並在貼文最後寫「詳情請看首頁連結」。</a:t>
            </a:r>
            <a:endParaRPr lang="en-US" sz="1575" dirty="0"/>
          </a:p>
        </p:txBody>
      </p:sp>
      <p:sp>
        <p:nvSpPr>
          <p:cNvPr id="29" name="Shape 26"/>
          <p:cNvSpPr/>
          <p:nvPr/>
        </p:nvSpPr>
        <p:spPr>
          <a:xfrm>
            <a:off x="800100" y="5152553"/>
            <a:ext cx="10591770" cy="1000994"/>
          </a:xfrm>
          <a:prstGeom prst="roundRect">
            <a:avLst>
              <a:gd name="adj" fmla="val 17128"/>
            </a:avLst>
          </a:prstGeom>
          <a:solidFill>
            <a:srgbClr val="FBEEE6"/>
          </a:solidFill>
          <a:ln/>
        </p:spPr>
      </p:sp>
      <p:sp>
        <p:nvSpPr>
          <p:cNvPr id="30" name="Shape 27"/>
          <p:cNvSpPr/>
          <p:nvPr/>
        </p:nvSpPr>
        <p:spPr>
          <a:xfrm>
            <a:off x="800100" y="5152553"/>
            <a:ext cx="47640" cy="1000994"/>
          </a:xfrm>
          <a:prstGeom prst="rect">
            <a:avLst/>
          </a:prstGeom>
          <a:solidFill>
            <a:srgbClr val="C05F3C"/>
          </a:solidFill>
          <a:ln/>
        </p:spPr>
      </p:sp>
      <p:pic>
        <p:nvPicPr>
          <p:cNvPr id="31" name="Image 1" descr="/home/user/gogoeveryday/social-course/export-pptx/build/img/p29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360" y="5481645"/>
            <a:ext cx="342900" cy="342900"/>
          </a:xfrm>
          <a:prstGeom prst="rect">
            <a:avLst/>
          </a:prstGeom>
        </p:spPr>
      </p:pic>
      <p:sp>
        <p:nvSpPr>
          <p:cNvPr id="32" name="Text 28"/>
          <p:cNvSpPr txBox="1"/>
          <p:nvPr/>
        </p:nvSpPr>
        <p:spPr>
          <a:xfrm>
            <a:off x="1552560" y="5343114"/>
            <a:ext cx="5815584" cy="6148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第三種最常見，也最可惜——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人來了，卻沒有留下聯絡方式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。</a:t>
            </a:r>
            <a:endParaRPr lang="en-US" sz="1575" dirty="0"/>
          </a:p>
          <a:p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這就是等一下 LINE 官方帳號要解決的事。</a:t>
            </a:r>
            <a:endParaRPr lang="en-US" sz="1575" dirty="0"/>
          </a:p>
        </p:txBody>
      </p:sp>
      <p:sp>
        <p:nvSpPr>
          <p:cNvPr id="33" name="Shape 29"/>
          <p:cNvSpPr/>
          <p:nvPr/>
        </p:nvSpPr>
        <p:spPr>
          <a:xfrm>
            <a:off x="10260208" y="228600"/>
            <a:ext cx="1131661" cy="447690"/>
          </a:xfrm>
          <a:prstGeom prst="roundRect">
            <a:avLst>
              <a:gd name="adj" fmla="val 50000"/>
            </a:avLst>
          </a:prstGeom>
          <a:solidFill>
            <a:srgbClr val="5F7A63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34" name="Text 30"/>
          <p:cNvSpPr txBox="1"/>
          <p:nvPr/>
        </p:nvSpPr>
        <p:spPr>
          <a:xfrm>
            <a:off x="10384018" y="304770"/>
            <a:ext cx="947136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90" kern="0" dirty="0">
                <a:solidFill>
                  <a:srgbClr val="FBF7F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一起判讀</a:t>
            </a:r>
            <a:endParaRPr lang="en-US" sz="1500" dirty="0"/>
          </a:p>
        </p:txBody>
      </p:sp>
      <p:sp>
        <p:nvSpPr>
          <p:cNvPr id="35" name="Text 31"/>
          <p:cNvSpPr txBox="1"/>
          <p:nvPr/>
        </p:nvSpPr>
        <p:spPr>
          <a:xfrm>
            <a:off x="761970" y="6343650"/>
            <a:ext cx="2029877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PART 2 · 13:42</a:t>
            </a:r>
            <a:endParaRPr lang="en-US" sz="1500" dirty="0"/>
          </a:p>
        </p:txBody>
      </p:sp>
      <p:sp>
        <p:nvSpPr>
          <p:cNvPr id="36" name="Text 32"/>
          <p:cNvSpPr txBox="1"/>
          <p:nvPr/>
        </p:nvSpPr>
        <p:spPr>
          <a:xfrm>
            <a:off x="10690616" y="6343650"/>
            <a:ext cx="794614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29 / 42</a:t>
            </a:r>
            <a:endParaRPr lang="en-US" sz="15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social-course/export-pptx/build/bg/3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876270" y="1682039"/>
            <a:ext cx="2703698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20" kern="0" dirty="0">
                <a:solidFill>
                  <a:srgbClr val="D99A4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13:50 – 15:45 ｜ PART 3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876270" y="1882110"/>
            <a:ext cx="1726662" cy="20860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0"/>
              </a:lnSpc>
              <a:buNone/>
            </a:pPr>
            <a:r>
              <a:rPr lang="en-US" sz="11250" b="1" spc="-563" kern="0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03</a:t>
            </a:r>
            <a:endParaRPr lang="en-US" sz="11250" dirty="0"/>
          </a:p>
        </p:txBody>
      </p:sp>
      <p:sp>
        <p:nvSpPr>
          <p:cNvPr id="5" name="Text 2"/>
          <p:cNvSpPr txBox="1"/>
          <p:nvPr/>
        </p:nvSpPr>
        <p:spPr>
          <a:xfrm>
            <a:off x="876270" y="3425160"/>
            <a:ext cx="3612794" cy="790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b="1" spc="-126" kern="0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LINE 官方帳號</a:t>
            </a:r>
            <a:endParaRPr lang="en-US" sz="4200" dirty="0"/>
          </a:p>
        </p:txBody>
      </p:sp>
      <p:sp>
        <p:nvSpPr>
          <p:cNvPr id="6" name="Text 3"/>
          <p:cNvSpPr txBox="1"/>
          <p:nvPr/>
        </p:nvSpPr>
        <p:spPr>
          <a:xfrm>
            <a:off x="876270" y="4596689"/>
            <a:ext cx="5315682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buNone/>
            </a:pPr>
            <a:r>
              <a:rPr lang="en-US" sz="1725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你每天都在用 LINE，但這是另一個不一樣的東西。</a:t>
            </a:r>
            <a:endParaRPr lang="en-US" sz="1725" dirty="0"/>
          </a:p>
        </p:txBody>
      </p:sp>
      <p:pic>
        <p:nvPicPr>
          <p:cNvPr id="7" name="Image 1" descr="/home/user/gogoeveryday/social-course/export-pptx/build/img/p30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86871" y="2803916"/>
            <a:ext cx="1200150" cy="120015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761970" y="6343650"/>
            <a:ext cx="2730307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PART 3 · 13:50–15:45</a:t>
            </a:r>
            <a:endParaRPr lang="en-US" sz="1500" dirty="0"/>
          </a:p>
        </p:txBody>
      </p:sp>
      <p:sp>
        <p:nvSpPr>
          <p:cNvPr id="9" name="Text 5"/>
          <p:cNvSpPr txBox="1"/>
          <p:nvPr/>
        </p:nvSpPr>
        <p:spPr>
          <a:xfrm>
            <a:off x="10690616" y="6343650"/>
            <a:ext cx="794614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30 / 42</a:t>
            </a:r>
            <a:endParaRPr lang="en-US" sz="15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social-course/export-pptx/build/bg/3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1970" y="594909"/>
            <a:ext cx="1645737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50" kern="0" dirty="0">
                <a:solidFill>
                  <a:srgbClr val="5F7A6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先分清楚這兩個</a:t>
            </a:r>
            <a:endParaRPr lang="en-US" sz="1500" dirty="0"/>
          </a:p>
        </p:txBody>
      </p:sp>
      <p:sp>
        <p:nvSpPr>
          <p:cNvPr id="4" name="Shape 1"/>
          <p:cNvSpPr/>
          <p:nvPr/>
        </p:nvSpPr>
        <p:spPr>
          <a:xfrm>
            <a:off x="800100" y="1194938"/>
            <a:ext cx="5086350" cy="3705240"/>
          </a:xfrm>
          <a:prstGeom prst="roundRect">
            <a:avLst>
              <a:gd name="adj" fmla="val 6170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5" name="Text 2"/>
          <p:cNvSpPr txBox="1"/>
          <p:nvPr/>
        </p:nvSpPr>
        <p:spPr>
          <a:xfrm>
            <a:off x="1019190" y="1442557"/>
            <a:ext cx="1399398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2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你每天在用的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1019190" y="1814078"/>
            <a:ext cx="1342979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spc="-21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私人 LINE</a:t>
            </a:r>
            <a:endParaRPr lang="en-US" sz="2100" dirty="0"/>
          </a:p>
        </p:txBody>
      </p:sp>
      <p:sp>
        <p:nvSpPr>
          <p:cNvPr id="7" name="Shape 4"/>
          <p:cNvSpPr/>
          <p:nvPr/>
        </p:nvSpPr>
        <p:spPr>
          <a:xfrm>
            <a:off x="1057321" y="2337938"/>
            <a:ext cx="4572000" cy="1047720"/>
          </a:xfrm>
          <a:prstGeom prst="roundRect">
            <a:avLst>
              <a:gd name="adj" fmla="val 12725"/>
            </a:avLst>
          </a:prstGeom>
          <a:solidFill>
            <a:srgbClr val="F4ECE1"/>
          </a:solidFill>
          <a:ln/>
        </p:spPr>
      </p:sp>
      <p:pic>
        <p:nvPicPr>
          <p:cNvPr id="8" name="Image 1" descr="/home/user/gogoeveryday/social-course/export-pptx/build/img/p31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28900" y="2290298"/>
            <a:ext cx="1428750" cy="114300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181130" y="3509559"/>
            <a:ext cx="170627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家人、朋友、群組</a:t>
            </a:r>
            <a:endParaRPr lang="en-US" sz="1500" dirty="0"/>
          </a:p>
        </p:txBody>
      </p:sp>
      <p:sp>
        <p:nvSpPr>
          <p:cNvPr id="10" name="Text 6"/>
          <p:cNvSpPr txBox="1"/>
          <p:nvPr/>
        </p:nvSpPr>
        <p:spPr>
          <a:xfrm>
            <a:off x="1181130" y="3919118"/>
            <a:ext cx="251405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客人訊息會被家人群組洗掉</a:t>
            </a:r>
            <a:endParaRPr lang="en-US" sz="1500" dirty="0"/>
          </a:p>
        </p:txBody>
      </p:sp>
      <p:sp>
        <p:nvSpPr>
          <p:cNvPr id="11" name="Text 7"/>
          <p:cNvSpPr txBox="1"/>
          <p:nvPr/>
        </p:nvSpPr>
        <p:spPr>
          <a:xfrm>
            <a:off x="1181130" y="4328678"/>
            <a:ext cx="211016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不能一次通知所有客人</a:t>
            </a:r>
            <a:endParaRPr lang="en-US" sz="1500" dirty="0"/>
          </a:p>
        </p:txBody>
      </p:sp>
      <p:sp>
        <p:nvSpPr>
          <p:cNvPr id="12" name="Shape 8"/>
          <p:cNvSpPr/>
          <p:nvPr/>
        </p:nvSpPr>
        <p:spPr>
          <a:xfrm>
            <a:off x="6305520" y="1194938"/>
            <a:ext cx="5086350" cy="3705240"/>
          </a:xfrm>
          <a:prstGeom prst="roundRect">
            <a:avLst>
              <a:gd name="adj" fmla="val 6170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6305520" y="1194938"/>
            <a:ext cx="5067330" cy="38130"/>
          </a:xfrm>
          <a:prstGeom prst="rect">
            <a:avLst/>
          </a:prstGeom>
          <a:solidFill>
            <a:srgbClr val="06C755"/>
          </a:solidFill>
          <a:ln/>
        </p:spPr>
      </p:sp>
      <p:sp>
        <p:nvSpPr>
          <p:cNvPr id="14" name="Text 10"/>
          <p:cNvSpPr txBox="1"/>
          <p:nvPr/>
        </p:nvSpPr>
        <p:spPr>
          <a:xfrm>
            <a:off x="6524610" y="1442557"/>
            <a:ext cx="1399398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20" kern="0" dirty="0">
                <a:solidFill>
                  <a:srgbClr val="03934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今天要建立的</a:t>
            </a:r>
            <a:endParaRPr lang="en-US" sz="1500" dirty="0"/>
          </a:p>
        </p:txBody>
      </p:sp>
      <p:sp>
        <p:nvSpPr>
          <p:cNvPr id="15" name="Text 11"/>
          <p:cNvSpPr txBox="1"/>
          <p:nvPr/>
        </p:nvSpPr>
        <p:spPr>
          <a:xfrm>
            <a:off x="6524610" y="1814078"/>
            <a:ext cx="1902775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spc="-21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LINE 官方帳號</a:t>
            </a:r>
            <a:endParaRPr lang="en-US" sz="2100" dirty="0"/>
          </a:p>
        </p:txBody>
      </p:sp>
      <p:sp>
        <p:nvSpPr>
          <p:cNvPr id="16" name="Shape 12"/>
          <p:cNvSpPr/>
          <p:nvPr/>
        </p:nvSpPr>
        <p:spPr>
          <a:xfrm>
            <a:off x="6562740" y="2337938"/>
            <a:ext cx="4572000" cy="1047720"/>
          </a:xfrm>
          <a:prstGeom prst="roundRect">
            <a:avLst>
              <a:gd name="adj" fmla="val 12725"/>
            </a:avLst>
          </a:prstGeom>
          <a:solidFill>
            <a:srgbClr val="E6F8EE"/>
          </a:solidFill>
          <a:ln/>
        </p:spPr>
      </p:sp>
      <p:pic>
        <p:nvPicPr>
          <p:cNvPr id="17" name="Image 2" descr="/home/user/gogoeveryday/social-course/export-pptx/build/img/p31-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96210" y="2163379"/>
            <a:ext cx="1904970" cy="1396929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686550" y="3509559"/>
            <a:ext cx="291785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客人訊息獨立一個地方，不會漏</a:t>
            </a:r>
            <a:endParaRPr lang="en-US" sz="1500" dirty="0"/>
          </a:p>
        </p:txBody>
      </p:sp>
      <p:sp>
        <p:nvSpPr>
          <p:cNvPr id="19" name="Text 14"/>
          <p:cNvSpPr txBox="1"/>
          <p:nvPr/>
        </p:nvSpPr>
        <p:spPr>
          <a:xfrm>
            <a:off x="6686550" y="3919118"/>
            <a:ext cx="231206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可以一次群發給所有好友</a:t>
            </a:r>
            <a:endParaRPr lang="en-US" sz="1500" dirty="0"/>
          </a:p>
        </p:txBody>
      </p:sp>
      <p:sp>
        <p:nvSpPr>
          <p:cNvPr id="20" name="Text 15"/>
          <p:cNvSpPr txBox="1"/>
          <p:nvPr/>
        </p:nvSpPr>
        <p:spPr>
          <a:xfrm>
            <a:off x="6686550" y="4328678"/>
            <a:ext cx="170627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有後台可以看數據</a:t>
            </a:r>
            <a:endParaRPr lang="en-US" sz="1500" dirty="0"/>
          </a:p>
        </p:txBody>
      </p:sp>
      <p:sp>
        <p:nvSpPr>
          <p:cNvPr id="21" name="Shape 16"/>
          <p:cNvSpPr/>
          <p:nvPr/>
        </p:nvSpPr>
        <p:spPr>
          <a:xfrm>
            <a:off x="800100" y="5062118"/>
            <a:ext cx="10591770" cy="1000994"/>
          </a:xfrm>
          <a:prstGeom prst="roundRect">
            <a:avLst>
              <a:gd name="adj" fmla="val 17128"/>
            </a:avLst>
          </a:prstGeom>
          <a:solidFill>
            <a:srgbClr val="DFE8DC"/>
          </a:solidFill>
          <a:ln/>
        </p:spPr>
      </p:sp>
      <p:sp>
        <p:nvSpPr>
          <p:cNvPr id="22" name="Shape 17"/>
          <p:cNvSpPr/>
          <p:nvPr/>
        </p:nvSpPr>
        <p:spPr>
          <a:xfrm>
            <a:off x="800100" y="5062118"/>
            <a:ext cx="47640" cy="1000994"/>
          </a:xfrm>
          <a:prstGeom prst="rect">
            <a:avLst/>
          </a:prstGeom>
          <a:solidFill>
            <a:srgbClr val="5F7A63"/>
          </a:solidFill>
          <a:ln/>
        </p:spPr>
      </p:sp>
      <p:pic>
        <p:nvPicPr>
          <p:cNvPr id="23" name="Image 3" descr="/home/user/gogoeveryday/social-course/export-pptx/build/img/p31-3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5360" y="5400721"/>
            <a:ext cx="323880" cy="323880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1533540" y="5252588"/>
            <a:ext cx="6318321" cy="6148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官方帳號是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5F7A6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另一個 App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，叫「LINE Official Account Manager」。</a:t>
            </a:r>
            <a:endParaRPr lang="en-US" sz="1575" dirty="0"/>
          </a:p>
          <a:p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用你現在的 LINE 帳號就能登入，不用重新註冊。</a:t>
            </a:r>
            <a:endParaRPr lang="en-US" sz="1575" dirty="0"/>
          </a:p>
        </p:txBody>
      </p:sp>
      <p:sp>
        <p:nvSpPr>
          <p:cNvPr id="25" name="Text 19"/>
          <p:cNvSpPr txBox="1"/>
          <p:nvPr/>
        </p:nvSpPr>
        <p:spPr>
          <a:xfrm>
            <a:off x="761970" y="6343650"/>
            <a:ext cx="2029877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PART 3 · 13:50</a:t>
            </a:r>
            <a:endParaRPr lang="en-US" sz="1500" dirty="0"/>
          </a:p>
        </p:txBody>
      </p:sp>
      <p:sp>
        <p:nvSpPr>
          <p:cNvPr id="26" name="Text 20"/>
          <p:cNvSpPr txBox="1"/>
          <p:nvPr/>
        </p:nvSpPr>
        <p:spPr>
          <a:xfrm>
            <a:off x="10690616" y="6343650"/>
            <a:ext cx="794614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31 / 42</a:t>
            </a:r>
            <a:endParaRPr lang="en-US" sz="15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social-course/export-pptx/build/bg/3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09630" y="452902"/>
            <a:ext cx="76014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50" kern="0" dirty="0">
                <a:solidFill>
                  <a:srgbClr val="5F7A6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跟著做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609630" y="833841"/>
            <a:ext cx="4009278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94"/>
              </a:lnSpc>
              <a:buNone/>
            </a:pPr>
            <a:r>
              <a:rPr lang="en-US" sz="2700" b="1" spc="-54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建立官方帳號，四個步驟</a:t>
            </a:r>
            <a:endParaRPr lang="en-US" sz="2700" dirty="0"/>
          </a:p>
        </p:txBody>
      </p:sp>
      <p:pic>
        <p:nvPicPr>
          <p:cNvPr id="5" name="Image 1" descr="/home/user/gogoeveryday/social-course/export-pptx/build/img/p32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76420" y="1509309"/>
            <a:ext cx="1866930" cy="3733770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1933590" y="1366388"/>
            <a:ext cx="361920" cy="361920"/>
          </a:xfrm>
          <a:prstGeom prst="roundRect">
            <a:avLst>
              <a:gd name="adj" fmla="val 50000"/>
            </a:avLst>
          </a:prstGeom>
          <a:solidFill>
            <a:srgbClr val="C05F3C"/>
          </a:solidFill>
          <a:ln w="28575">
            <a:solidFill>
              <a:srgbClr val="FBF7F1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7" name="Text 3"/>
          <p:cNvSpPr txBox="1"/>
          <p:nvPr/>
        </p:nvSpPr>
        <p:spPr>
          <a:xfrm>
            <a:off x="1997324" y="1399764"/>
            <a:ext cx="24396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</a:t>
            </a:r>
            <a:endParaRPr lang="en-US" sz="1500" dirty="0"/>
          </a:p>
        </p:txBody>
      </p:sp>
      <p:sp>
        <p:nvSpPr>
          <p:cNvPr id="8" name="Text 4"/>
          <p:cNvSpPr txBox="1"/>
          <p:nvPr/>
        </p:nvSpPr>
        <p:spPr>
          <a:xfrm>
            <a:off x="2549622" y="5309738"/>
            <a:ext cx="930128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950"/>
              </a:lnSpc>
              <a:buNone/>
            </a:pPr>
            <a:r>
              <a:rPr lang="en-US" sz="1500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下載 App</a:t>
            </a:r>
            <a:endParaRPr lang="en-US" sz="1500" dirty="0"/>
          </a:p>
        </p:txBody>
      </p:sp>
      <p:sp>
        <p:nvSpPr>
          <p:cNvPr id="9" name="Text 5"/>
          <p:cNvSpPr txBox="1"/>
          <p:nvPr/>
        </p:nvSpPr>
        <p:spPr>
          <a:xfrm>
            <a:off x="2111075" y="5614507"/>
            <a:ext cx="1807129" cy="561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7A6A5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搜尋「LINE 官方帳號」</a:t>
            </a:r>
            <a:endParaRPr lang="en-US" sz="1500" dirty="0"/>
          </a:p>
        </p:txBody>
      </p:sp>
      <p:pic>
        <p:nvPicPr>
          <p:cNvPr id="10" name="Image 2" descr="/home/user/gogoeveryday/social-course/export-pptx/build/img/p32-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33820" y="1509309"/>
            <a:ext cx="1866930" cy="3733770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3990990" y="1366388"/>
            <a:ext cx="361920" cy="361920"/>
          </a:xfrm>
          <a:prstGeom prst="roundRect">
            <a:avLst>
              <a:gd name="adj" fmla="val 50000"/>
            </a:avLst>
          </a:prstGeom>
          <a:solidFill>
            <a:srgbClr val="C05F3C"/>
          </a:solidFill>
          <a:ln w="28575">
            <a:solidFill>
              <a:srgbClr val="FBF7F1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2" name="Text 7"/>
          <p:cNvSpPr txBox="1"/>
          <p:nvPr/>
        </p:nvSpPr>
        <p:spPr>
          <a:xfrm>
            <a:off x="4054724" y="1399764"/>
            <a:ext cx="24396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Text 8"/>
          <p:cNvSpPr txBox="1"/>
          <p:nvPr/>
        </p:nvSpPr>
        <p:spPr>
          <a:xfrm>
            <a:off x="4448465" y="5309738"/>
            <a:ext cx="124724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950"/>
              </a:lnSpc>
              <a:buNone/>
            </a:pPr>
            <a:r>
              <a:rPr lang="en-US" sz="1500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用 LINE 登入</a:t>
            </a:r>
            <a:endParaRPr lang="en-US" sz="1500" dirty="0"/>
          </a:p>
        </p:txBody>
      </p:sp>
      <p:sp>
        <p:nvSpPr>
          <p:cNvPr id="14" name="Text 9"/>
          <p:cNvSpPr txBox="1"/>
          <p:nvPr/>
        </p:nvSpPr>
        <p:spPr>
          <a:xfrm>
            <a:off x="4420850" y="5614507"/>
            <a:ext cx="130247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7A6A5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不用另外註冊</a:t>
            </a:r>
            <a:endParaRPr lang="en-US" sz="1500" dirty="0"/>
          </a:p>
        </p:txBody>
      </p:sp>
      <p:pic>
        <p:nvPicPr>
          <p:cNvPr id="15" name="Image 3" descr="/home/user/gogoeveryday/social-course/export-pptx/build/img/p32-3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91220" y="1509309"/>
            <a:ext cx="1866930" cy="3733770"/>
          </a:xfrm>
          <a:prstGeom prst="rect">
            <a:avLst/>
          </a:prstGeom>
        </p:spPr>
      </p:pic>
      <p:sp>
        <p:nvSpPr>
          <p:cNvPr id="16" name="Shape 10"/>
          <p:cNvSpPr/>
          <p:nvPr/>
        </p:nvSpPr>
        <p:spPr>
          <a:xfrm>
            <a:off x="6048390" y="1366388"/>
            <a:ext cx="361920" cy="361920"/>
          </a:xfrm>
          <a:prstGeom prst="roundRect">
            <a:avLst>
              <a:gd name="adj" fmla="val 50000"/>
            </a:avLst>
          </a:prstGeom>
          <a:solidFill>
            <a:srgbClr val="C05F3C"/>
          </a:solidFill>
          <a:ln w="28575">
            <a:solidFill>
              <a:srgbClr val="FBF7F1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7" name="Text 11"/>
          <p:cNvSpPr txBox="1"/>
          <p:nvPr/>
        </p:nvSpPr>
        <p:spPr>
          <a:xfrm>
            <a:off x="6112124" y="1399764"/>
            <a:ext cx="24396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3</a:t>
            </a:r>
            <a:endParaRPr lang="en-US" sz="1500" dirty="0"/>
          </a:p>
        </p:txBody>
      </p:sp>
      <p:sp>
        <p:nvSpPr>
          <p:cNvPr id="18" name="Text 12"/>
          <p:cNvSpPr txBox="1"/>
          <p:nvPr/>
        </p:nvSpPr>
        <p:spPr>
          <a:xfrm>
            <a:off x="6579199" y="5309738"/>
            <a:ext cx="110048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950"/>
              </a:lnSpc>
              <a:buNone/>
            </a:pPr>
            <a:r>
              <a:rPr lang="en-US" sz="1500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填帳號名稱</a:t>
            </a:r>
            <a:endParaRPr lang="en-US" sz="1500" dirty="0"/>
          </a:p>
        </p:txBody>
      </p:sp>
      <p:sp>
        <p:nvSpPr>
          <p:cNvPr id="19" name="Text 13"/>
          <p:cNvSpPr txBox="1"/>
          <p:nvPr/>
        </p:nvSpPr>
        <p:spPr>
          <a:xfrm>
            <a:off x="6377208" y="5614507"/>
            <a:ext cx="150437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7A6A5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客人看到的名字</a:t>
            </a:r>
            <a:endParaRPr lang="en-US" sz="1500" dirty="0"/>
          </a:p>
        </p:txBody>
      </p:sp>
      <p:pic>
        <p:nvPicPr>
          <p:cNvPr id="20" name="Image 4" descr="/home/user/gogoeveryday/social-course/export-pptx/build/img/p32-4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48620" y="1509309"/>
            <a:ext cx="1866930" cy="3733770"/>
          </a:xfrm>
          <a:prstGeom prst="rect">
            <a:avLst/>
          </a:prstGeom>
        </p:spPr>
      </p:pic>
      <p:sp>
        <p:nvSpPr>
          <p:cNvPr id="21" name="Shape 14"/>
          <p:cNvSpPr/>
          <p:nvPr/>
        </p:nvSpPr>
        <p:spPr>
          <a:xfrm>
            <a:off x="8105790" y="1366388"/>
            <a:ext cx="361920" cy="361920"/>
          </a:xfrm>
          <a:prstGeom prst="roundRect">
            <a:avLst>
              <a:gd name="adj" fmla="val 50000"/>
            </a:avLst>
          </a:prstGeom>
          <a:solidFill>
            <a:srgbClr val="C05F3C"/>
          </a:solidFill>
          <a:ln w="28575">
            <a:solidFill>
              <a:srgbClr val="FBF7F1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22" name="Text 15"/>
          <p:cNvSpPr txBox="1"/>
          <p:nvPr/>
        </p:nvSpPr>
        <p:spPr>
          <a:xfrm>
            <a:off x="8169524" y="1399764"/>
            <a:ext cx="24396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4</a:t>
            </a:r>
            <a:endParaRPr lang="en-US" sz="1500" dirty="0"/>
          </a:p>
        </p:txBody>
      </p:sp>
      <p:sp>
        <p:nvSpPr>
          <p:cNvPr id="23" name="Text 16"/>
          <p:cNvSpPr txBox="1"/>
          <p:nvPr/>
        </p:nvSpPr>
        <p:spPr>
          <a:xfrm>
            <a:off x="8930670" y="5309738"/>
            <a:ext cx="51243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950"/>
              </a:lnSpc>
              <a:buNone/>
            </a:pPr>
            <a:r>
              <a:rPr lang="en-US" sz="1500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完成</a:t>
            </a:r>
            <a:endParaRPr lang="en-US" sz="1500" dirty="0"/>
          </a:p>
        </p:txBody>
      </p:sp>
      <p:sp>
        <p:nvSpPr>
          <p:cNvPr id="24" name="Text 17"/>
          <p:cNvSpPr txBox="1"/>
          <p:nvPr/>
        </p:nvSpPr>
        <p:spPr>
          <a:xfrm>
            <a:off x="8535650" y="5614507"/>
            <a:ext cx="130247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7A6A5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進入管理後台</a:t>
            </a:r>
            <a:endParaRPr lang="en-US" sz="1500" dirty="0"/>
          </a:p>
        </p:txBody>
      </p:sp>
      <p:sp>
        <p:nvSpPr>
          <p:cNvPr id="25" name="Shape 18"/>
          <p:cNvSpPr/>
          <p:nvPr/>
        </p:nvSpPr>
        <p:spPr>
          <a:xfrm>
            <a:off x="10260208" y="228600"/>
            <a:ext cx="1131661" cy="447690"/>
          </a:xfrm>
          <a:prstGeom prst="roundRect">
            <a:avLst>
              <a:gd name="adj" fmla="val 50000"/>
            </a:avLst>
          </a:prstGeom>
          <a:solidFill>
            <a:srgbClr val="C05F3C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26" name="Text 19"/>
          <p:cNvSpPr txBox="1"/>
          <p:nvPr/>
        </p:nvSpPr>
        <p:spPr>
          <a:xfrm>
            <a:off x="10384018" y="304770"/>
            <a:ext cx="947136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90" kern="0" dirty="0">
                <a:solidFill>
                  <a:srgbClr val="FBF7F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手機實作</a:t>
            </a:r>
            <a:endParaRPr lang="en-US" sz="1500" dirty="0"/>
          </a:p>
        </p:txBody>
      </p:sp>
      <p:sp>
        <p:nvSpPr>
          <p:cNvPr id="27" name="Text 20"/>
          <p:cNvSpPr txBox="1"/>
          <p:nvPr/>
        </p:nvSpPr>
        <p:spPr>
          <a:xfrm>
            <a:off x="761970" y="6343650"/>
            <a:ext cx="2029877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PART 3 · 13:58</a:t>
            </a:r>
            <a:endParaRPr lang="en-US" sz="1500" dirty="0"/>
          </a:p>
        </p:txBody>
      </p:sp>
      <p:sp>
        <p:nvSpPr>
          <p:cNvPr id="28" name="Text 21"/>
          <p:cNvSpPr txBox="1"/>
          <p:nvPr/>
        </p:nvSpPr>
        <p:spPr>
          <a:xfrm>
            <a:off x="10690616" y="6343650"/>
            <a:ext cx="794614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32 / 42</a:t>
            </a:r>
            <a:endParaRPr lang="en-US" sz="15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social-course/export-pptx/build/bg/3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1970" y="543336"/>
            <a:ext cx="2090044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50" kern="0" dirty="0">
                <a:solidFill>
                  <a:srgbClr val="5F7A6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建好之後先認識介面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761970" y="924367"/>
            <a:ext cx="2940619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94"/>
              </a:lnSpc>
              <a:buNone/>
            </a:pPr>
            <a:r>
              <a:rPr lang="en-US" sz="2700" b="1" spc="-54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後台有這五個地方</a:t>
            </a:r>
            <a:endParaRPr lang="en-US" sz="2700" dirty="0"/>
          </a:p>
        </p:txBody>
      </p:sp>
      <p:sp>
        <p:nvSpPr>
          <p:cNvPr id="5" name="Shape 2"/>
          <p:cNvSpPr/>
          <p:nvPr/>
        </p:nvSpPr>
        <p:spPr>
          <a:xfrm>
            <a:off x="800100" y="1552103"/>
            <a:ext cx="5300685" cy="828721"/>
          </a:xfrm>
          <a:prstGeom prst="roundRect">
            <a:avLst>
              <a:gd name="adj" fmla="val 17246"/>
            </a:avLst>
          </a:prstGeom>
          <a:solidFill>
            <a:srgbClr val="FFFFFF">
              <a:alpha val="62000"/>
            </a:srgbClr>
          </a:solidFill>
          <a:ln w="9525">
            <a:solidFill>
              <a:srgbClr val="241C17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943021" y="1804568"/>
            <a:ext cx="341163" cy="323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5F7A6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①</a:t>
            </a:r>
            <a:endParaRPr lang="en-US" sz="1650" dirty="0"/>
          </a:p>
        </p:txBody>
      </p:sp>
      <p:sp>
        <p:nvSpPr>
          <p:cNvPr id="7" name="Text 4"/>
          <p:cNvSpPr txBox="1"/>
          <p:nvPr/>
        </p:nvSpPr>
        <p:spPr>
          <a:xfrm>
            <a:off x="1286012" y="1675912"/>
            <a:ext cx="938997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75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好友人數</a:t>
            </a:r>
            <a:endParaRPr lang="en-US" sz="1575" dirty="0"/>
          </a:p>
        </p:txBody>
      </p:sp>
      <p:sp>
        <p:nvSpPr>
          <p:cNvPr id="8" name="Text 5"/>
          <p:cNvSpPr txBox="1"/>
          <p:nvPr/>
        </p:nvSpPr>
        <p:spPr>
          <a:xfrm>
            <a:off x="1286012" y="1961662"/>
            <a:ext cx="170627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7A6A5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有幾個客人加了你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800100" y="2485614"/>
            <a:ext cx="5300685" cy="828721"/>
          </a:xfrm>
          <a:prstGeom prst="roundRect">
            <a:avLst>
              <a:gd name="adj" fmla="val 17246"/>
            </a:avLst>
          </a:prstGeom>
          <a:solidFill>
            <a:srgbClr val="FFFFFF">
              <a:alpha val="62000"/>
            </a:srgbClr>
          </a:solidFill>
          <a:ln w="9525">
            <a:solidFill>
              <a:srgbClr val="241C17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943021" y="2737988"/>
            <a:ext cx="341163" cy="323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5F7A6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②</a:t>
            </a:r>
            <a:endParaRPr lang="en-US" sz="1650" dirty="0"/>
          </a:p>
        </p:txBody>
      </p:sp>
      <p:sp>
        <p:nvSpPr>
          <p:cNvPr id="11" name="Text 8"/>
          <p:cNvSpPr txBox="1"/>
          <p:nvPr/>
        </p:nvSpPr>
        <p:spPr>
          <a:xfrm>
            <a:off x="1286012" y="2609423"/>
            <a:ext cx="938997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75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群發訊息</a:t>
            </a:r>
            <a:endParaRPr lang="en-US" sz="1575" dirty="0"/>
          </a:p>
        </p:txBody>
      </p:sp>
      <p:sp>
        <p:nvSpPr>
          <p:cNvPr id="12" name="Text 9"/>
          <p:cNvSpPr txBox="1"/>
          <p:nvPr/>
        </p:nvSpPr>
        <p:spPr>
          <a:xfrm>
            <a:off x="1286012" y="2895173"/>
            <a:ext cx="170627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7A6A5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一次通知所有好友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800100" y="3419033"/>
            <a:ext cx="5300685" cy="828721"/>
          </a:xfrm>
          <a:prstGeom prst="roundRect">
            <a:avLst>
              <a:gd name="adj" fmla="val 17246"/>
            </a:avLst>
          </a:prstGeom>
          <a:solidFill>
            <a:srgbClr val="FFFFFF">
              <a:alpha val="62000"/>
            </a:srgbClr>
          </a:solidFill>
          <a:ln w="9525">
            <a:solidFill>
              <a:srgbClr val="241C17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943021" y="3671407"/>
            <a:ext cx="341163" cy="323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5F7A6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③</a:t>
            </a:r>
            <a:endParaRPr lang="en-US" sz="1650" dirty="0"/>
          </a:p>
        </p:txBody>
      </p:sp>
      <p:sp>
        <p:nvSpPr>
          <p:cNvPr id="15" name="Text 12"/>
          <p:cNvSpPr txBox="1"/>
          <p:nvPr/>
        </p:nvSpPr>
        <p:spPr>
          <a:xfrm>
            <a:off x="1286012" y="3542843"/>
            <a:ext cx="531541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75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聊天</a:t>
            </a:r>
            <a:endParaRPr lang="en-US" sz="1575" dirty="0"/>
          </a:p>
        </p:txBody>
      </p:sp>
      <p:sp>
        <p:nvSpPr>
          <p:cNvPr id="16" name="Text 13"/>
          <p:cNvSpPr txBox="1"/>
          <p:nvPr/>
        </p:nvSpPr>
        <p:spPr>
          <a:xfrm>
            <a:off x="1286012" y="3828593"/>
            <a:ext cx="170627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7A6A5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客人私訊你的地方</a:t>
            </a:r>
            <a:endParaRPr lang="en-US" sz="1500" dirty="0"/>
          </a:p>
        </p:txBody>
      </p:sp>
      <p:sp>
        <p:nvSpPr>
          <p:cNvPr id="17" name="Shape 14"/>
          <p:cNvSpPr/>
          <p:nvPr/>
        </p:nvSpPr>
        <p:spPr>
          <a:xfrm>
            <a:off x="800100" y="4352453"/>
            <a:ext cx="5300685" cy="828721"/>
          </a:xfrm>
          <a:prstGeom prst="roundRect">
            <a:avLst>
              <a:gd name="adj" fmla="val 17246"/>
            </a:avLst>
          </a:prstGeom>
          <a:solidFill>
            <a:srgbClr val="FFFFFF">
              <a:alpha val="62000"/>
            </a:srgbClr>
          </a:solidFill>
          <a:ln w="9525">
            <a:solidFill>
              <a:srgbClr val="241C17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943021" y="4604918"/>
            <a:ext cx="341163" cy="323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5F7A6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④</a:t>
            </a:r>
            <a:endParaRPr lang="en-US" sz="1650" dirty="0"/>
          </a:p>
        </p:txBody>
      </p:sp>
      <p:sp>
        <p:nvSpPr>
          <p:cNvPr id="19" name="Text 16"/>
          <p:cNvSpPr txBox="1"/>
          <p:nvPr/>
        </p:nvSpPr>
        <p:spPr>
          <a:xfrm>
            <a:off x="1286012" y="4476262"/>
            <a:ext cx="938997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75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圖文選單</a:t>
            </a:r>
            <a:endParaRPr lang="en-US" sz="1575" dirty="0"/>
          </a:p>
        </p:txBody>
      </p:sp>
      <p:sp>
        <p:nvSpPr>
          <p:cNvPr id="20" name="Text 17"/>
          <p:cNvSpPr txBox="1"/>
          <p:nvPr/>
        </p:nvSpPr>
        <p:spPr>
          <a:xfrm>
            <a:off x="1286012" y="4762012"/>
            <a:ext cx="231206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7A6A5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客人一打開就看到的按鈕</a:t>
            </a:r>
            <a:endParaRPr lang="en-US" sz="1500" dirty="0"/>
          </a:p>
        </p:txBody>
      </p:sp>
      <p:sp>
        <p:nvSpPr>
          <p:cNvPr id="21" name="Shape 18"/>
          <p:cNvSpPr/>
          <p:nvPr/>
        </p:nvSpPr>
        <p:spPr>
          <a:xfrm>
            <a:off x="800100" y="5285964"/>
            <a:ext cx="5300685" cy="828721"/>
          </a:xfrm>
          <a:prstGeom prst="roundRect">
            <a:avLst>
              <a:gd name="adj" fmla="val 17246"/>
            </a:avLst>
          </a:prstGeom>
          <a:solidFill>
            <a:srgbClr val="FFFFFF">
              <a:alpha val="62000"/>
            </a:srgbClr>
          </a:solidFill>
          <a:ln w="9525">
            <a:solidFill>
              <a:srgbClr val="241C17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943021" y="5538338"/>
            <a:ext cx="341163" cy="323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5F7A6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⑤</a:t>
            </a:r>
            <a:endParaRPr lang="en-US" sz="1650" dirty="0"/>
          </a:p>
        </p:txBody>
      </p:sp>
      <p:sp>
        <p:nvSpPr>
          <p:cNvPr id="23" name="Text 20"/>
          <p:cNvSpPr txBox="1"/>
          <p:nvPr/>
        </p:nvSpPr>
        <p:spPr>
          <a:xfrm>
            <a:off x="1286012" y="5409773"/>
            <a:ext cx="531541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75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設定</a:t>
            </a:r>
            <a:endParaRPr lang="en-US" sz="1575" dirty="0"/>
          </a:p>
        </p:txBody>
      </p:sp>
      <p:sp>
        <p:nvSpPr>
          <p:cNvPr id="24" name="Text 21"/>
          <p:cNvSpPr txBox="1"/>
          <p:nvPr/>
        </p:nvSpPr>
        <p:spPr>
          <a:xfrm>
            <a:off x="1286012" y="5695523"/>
            <a:ext cx="251405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7A6A5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改名稱、大頭貼、歡迎訊息</a:t>
            </a:r>
            <a:endParaRPr lang="en-US" sz="1500" dirty="0"/>
          </a:p>
        </p:txBody>
      </p:sp>
      <p:pic>
        <p:nvPicPr>
          <p:cNvPr id="25" name="Image 1" descr="/home/user/gogoeveryday/social-course/export-pptx/build/img/p33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98608" y="704820"/>
            <a:ext cx="2590770" cy="5257800"/>
          </a:xfrm>
          <a:prstGeom prst="rect">
            <a:avLst/>
          </a:prstGeom>
        </p:spPr>
      </p:pic>
      <p:sp>
        <p:nvSpPr>
          <p:cNvPr id="26" name="Shape 22"/>
          <p:cNvSpPr/>
          <p:nvPr/>
        </p:nvSpPr>
        <p:spPr>
          <a:xfrm>
            <a:off x="7260427" y="2133570"/>
            <a:ext cx="323880" cy="323880"/>
          </a:xfrm>
          <a:prstGeom prst="roundRect">
            <a:avLst>
              <a:gd name="adj" fmla="val 50000"/>
            </a:avLst>
          </a:prstGeom>
          <a:solidFill>
            <a:srgbClr val="5F7A63"/>
          </a:solidFill>
          <a:ln/>
        </p:spPr>
      </p:sp>
      <p:sp>
        <p:nvSpPr>
          <p:cNvPr id="27" name="Text 23"/>
          <p:cNvSpPr txBox="1"/>
          <p:nvPr/>
        </p:nvSpPr>
        <p:spPr>
          <a:xfrm>
            <a:off x="7266188" y="2143171"/>
            <a:ext cx="32196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①</a:t>
            </a:r>
            <a:endParaRPr lang="en-US" sz="1500" dirty="0"/>
          </a:p>
        </p:txBody>
      </p:sp>
      <p:sp>
        <p:nvSpPr>
          <p:cNvPr id="28" name="Shape 24"/>
          <p:cNvSpPr/>
          <p:nvPr/>
        </p:nvSpPr>
        <p:spPr>
          <a:xfrm>
            <a:off x="10403677" y="2571750"/>
            <a:ext cx="323880" cy="323880"/>
          </a:xfrm>
          <a:prstGeom prst="roundRect">
            <a:avLst>
              <a:gd name="adj" fmla="val 50000"/>
            </a:avLst>
          </a:prstGeom>
          <a:solidFill>
            <a:srgbClr val="5F7A63"/>
          </a:solidFill>
          <a:ln/>
        </p:spPr>
      </p:sp>
      <p:sp>
        <p:nvSpPr>
          <p:cNvPr id="29" name="Text 25"/>
          <p:cNvSpPr txBox="1"/>
          <p:nvPr/>
        </p:nvSpPr>
        <p:spPr>
          <a:xfrm>
            <a:off x="10409438" y="2581260"/>
            <a:ext cx="32196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②</a:t>
            </a:r>
            <a:endParaRPr lang="en-US" sz="1500" dirty="0"/>
          </a:p>
        </p:txBody>
      </p:sp>
      <p:sp>
        <p:nvSpPr>
          <p:cNvPr id="30" name="Shape 26"/>
          <p:cNvSpPr/>
          <p:nvPr/>
        </p:nvSpPr>
        <p:spPr>
          <a:xfrm>
            <a:off x="10403677" y="2971800"/>
            <a:ext cx="323880" cy="323880"/>
          </a:xfrm>
          <a:prstGeom prst="roundRect">
            <a:avLst>
              <a:gd name="adj" fmla="val 50000"/>
            </a:avLst>
          </a:prstGeom>
          <a:solidFill>
            <a:srgbClr val="5F7A63"/>
          </a:solidFill>
          <a:ln/>
        </p:spPr>
      </p:sp>
      <p:sp>
        <p:nvSpPr>
          <p:cNvPr id="31" name="Text 27"/>
          <p:cNvSpPr txBox="1"/>
          <p:nvPr/>
        </p:nvSpPr>
        <p:spPr>
          <a:xfrm>
            <a:off x="10409438" y="2981310"/>
            <a:ext cx="32196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③</a:t>
            </a:r>
            <a:endParaRPr lang="en-US" sz="1500" dirty="0"/>
          </a:p>
        </p:txBody>
      </p:sp>
      <p:sp>
        <p:nvSpPr>
          <p:cNvPr id="32" name="Shape 28"/>
          <p:cNvSpPr/>
          <p:nvPr/>
        </p:nvSpPr>
        <p:spPr>
          <a:xfrm>
            <a:off x="10403677" y="3371850"/>
            <a:ext cx="323880" cy="323880"/>
          </a:xfrm>
          <a:prstGeom prst="roundRect">
            <a:avLst>
              <a:gd name="adj" fmla="val 50000"/>
            </a:avLst>
          </a:prstGeom>
          <a:solidFill>
            <a:srgbClr val="5F7A63"/>
          </a:solidFill>
          <a:ln/>
        </p:spPr>
      </p:sp>
      <p:sp>
        <p:nvSpPr>
          <p:cNvPr id="33" name="Text 29"/>
          <p:cNvSpPr txBox="1"/>
          <p:nvPr/>
        </p:nvSpPr>
        <p:spPr>
          <a:xfrm>
            <a:off x="10409438" y="3381360"/>
            <a:ext cx="32196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④</a:t>
            </a:r>
            <a:endParaRPr lang="en-US" sz="1500" dirty="0"/>
          </a:p>
        </p:txBody>
      </p:sp>
      <p:sp>
        <p:nvSpPr>
          <p:cNvPr id="34" name="Shape 30"/>
          <p:cNvSpPr/>
          <p:nvPr/>
        </p:nvSpPr>
        <p:spPr>
          <a:xfrm>
            <a:off x="10403677" y="4171950"/>
            <a:ext cx="323880" cy="323880"/>
          </a:xfrm>
          <a:prstGeom prst="roundRect">
            <a:avLst>
              <a:gd name="adj" fmla="val 50000"/>
            </a:avLst>
          </a:prstGeom>
          <a:solidFill>
            <a:srgbClr val="5F7A63"/>
          </a:solidFill>
          <a:ln/>
        </p:spPr>
      </p:sp>
      <p:sp>
        <p:nvSpPr>
          <p:cNvPr id="35" name="Text 31"/>
          <p:cNvSpPr txBox="1"/>
          <p:nvPr/>
        </p:nvSpPr>
        <p:spPr>
          <a:xfrm>
            <a:off x="10409438" y="4181460"/>
            <a:ext cx="32196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⑤</a:t>
            </a:r>
            <a:endParaRPr lang="en-US" sz="1500" dirty="0"/>
          </a:p>
        </p:txBody>
      </p:sp>
      <p:sp>
        <p:nvSpPr>
          <p:cNvPr id="36" name="Shape 32"/>
          <p:cNvSpPr/>
          <p:nvPr/>
        </p:nvSpPr>
        <p:spPr>
          <a:xfrm>
            <a:off x="10058400" y="228600"/>
            <a:ext cx="1333470" cy="447690"/>
          </a:xfrm>
          <a:prstGeom prst="roundRect">
            <a:avLst>
              <a:gd name="adj" fmla="val 50000"/>
            </a:avLst>
          </a:prstGeom>
          <a:solidFill>
            <a:srgbClr val="5F7A63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37" name="Text 33"/>
          <p:cNvSpPr txBox="1"/>
          <p:nvPr/>
        </p:nvSpPr>
        <p:spPr>
          <a:xfrm>
            <a:off x="10182210" y="304770"/>
            <a:ext cx="1161105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90" kern="0" dirty="0">
                <a:solidFill>
                  <a:srgbClr val="FBF7F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一起找位置</a:t>
            </a:r>
            <a:endParaRPr lang="en-US" sz="1500" dirty="0"/>
          </a:p>
        </p:txBody>
      </p:sp>
      <p:sp>
        <p:nvSpPr>
          <p:cNvPr id="38" name="Text 34"/>
          <p:cNvSpPr txBox="1"/>
          <p:nvPr/>
        </p:nvSpPr>
        <p:spPr>
          <a:xfrm>
            <a:off x="761970" y="6343650"/>
            <a:ext cx="2029877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PART 3 · 14:14</a:t>
            </a:r>
            <a:endParaRPr lang="en-US" sz="1500" dirty="0"/>
          </a:p>
        </p:txBody>
      </p:sp>
      <p:sp>
        <p:nvSpPr>
          <p:cNvPr id="39" name="Text 35"/>
          <p:cNvSpPr txBox="1"/>
          <p:nvPr/>
        </p:nvSpPr>
        <p:spPr>
          <a:xfrm>
            <a:off x="10690616" y="6343650"/>
            <a:ext cx="794614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33 / 42</a:t>
            </a:r>
            <a:endParaRPr lang="en-US" sz="15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social-course/export-pptx/build/bg/3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1970" y="340340"/>
            <a:ext cx="3332805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50" kern="0" dirty="0">
                <a:solidFill>
                  <a:srgbClr val="5F7A6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休息回來 · 最值得先設定的功能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761970" y="721370"/>
            <a:ext cx="1515709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94"/>
              </a:lnSpc>
              <a:buNone/>
            </a:pPr>
            <a:r>
              <a:rPr lang="en-US" sz="2700" b="1" spc="-54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歡迎訊息</a:t>
            </a:r>
            <a:endParaRPr lang="en-US" sz="2700" dirty="0"/>
          </a:p>
        </p:txBody>
      </p:sp>
      <p:sp>
        <p:nvSpPr>
          <p:cNvPr id="5" name="Text 2"/>
          <p:cNvSpPr txBox="1"/>
          <p:nvPr/>
        </p:nvSpPr>
        <p:spPr>
          <a:xfrm>
            <a:off x="761970" y="1339596"/>
            <a:ext cx="4887194" cy="7477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1875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客人一加你好友，</a:t>
            </a:r>
            <a:pPr algn="l" indent="0" marL="0">
              <a:lnSpc>
                <a:spcPts val="3038"/>
              </a:lnSpc>
              <a:buNone/>
            </a:pPr>
            <a:r>
              <a:rPr lang="en-US" sz="18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自動</a:t>
            </a:r>
            <a:pPr algn="l" indent="0" marL="0">
              <a:lnSpc>
                <a:spcPts val="3038"/>
              </a:lnSpc>
              <a:buNone/>
            </a:pPr>
            <a:r>
              <a:rPr lang="en-US" sz="1875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就會收到這則訊息。</a:t>
            </a:r>
            <a:endParaRPr lang="en-US" sz="1875" dirty="0"/>
          </a:p>
          <a:p>
            <a:pPr algn="l" indent="0" marL="0">
              <a:lnSpc>
                <a:spcPts val="3038"/>
              </a:lnSpc>
              <a:buNone/>
            </a:pPr>
            <a:r>
              <a:rPr lang="en-US" sz="1875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等於 24 小時幫你回話。</a:t>
            </a:r>
            <a:endParaRPr lang="en-US" sz="1875" dirty="0"/>
          </a:p>
        </p:txBody>
      </p:sp>
      <p:sp>
        <p:nvSpPr>
          <p:cNvPr id="6" name="Shape 3"/>
          <p:cNvSpPr/>
          <p:nvPr/>
        </p:nvSpPr>
        <p:spPr>
          <a:xfrm>
            <a:off x="800100" y="2253996"/>
            <a:ext cx="5300685" cy="571500"/>
          </a:xfrm>
          <a:prstGeom prst="roundRect">
            <a:avLst>
              <a:gd name="adj" fmla="val 25008"/>
            </a:avLst>
          </a:prstGeom>
          <a:solidFill>
            <a:srgbClr val="FFFFFF">
              <a:alpha val="62000"/>
            </a:srgbClr>
          </a:solidFill>
          <a:ln w="9525">
            <a:solidFill>
              <a:srgbClr val="241C17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000171" y="2387316"/>
            <a:ext cx="304770" cy="304770"/>
          </a:xfrm>
          <a:prstGeom prst="roundRect">
            <a:avLst>
              <a:gd name="adj" fmla="val 31263"/>
            </a:avLst>
          </a:prstGeom>
          <a:solidFill>
            <a:srgbClr val="5F7A63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1058144" y="2387316"/>
            <a:ext cx="24396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1400221" y="2387316"/>
            <a:ext cx="3075676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75" b="1" spc="-16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設定 →「加入好友的歡迎訊息」</a:t>
            </a:r>
            <a:endParaRPr lang="en-US" sz="1575" dirty="0"/>
          </a:p>
        </p:txBody>
      </p:sp>
      <p:sp>
        <p:nvSpPr>
          <p:cNvPr id="10" name="Shape 7"/>
          <p:cNvSpPr/>
          <p:nvPr/>
        </p:nvSpPr>
        <p:spPr>
          <a:xfrm>
            <a:off x="800100" y="2930286"/>
            <a:ext cx="5300685" cy="571500"/>
          </a:xfrm>
          <a:prstGeom prst="roundRect">
            <a:avLst>
              <a:gd name="adj" fmla="val 25008"/>
            </a:avLst>
          </a:prstGeom>
          <a:solidFill>
            <a:srgbClr val="FFFFFF">
              <a:alpha val="62000"/>
            </a:srgbClr>
          </a:solidFill>
          <a:ln w="9525">
            <a:solidFill>
              <a:srgbClr val="241C17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000171" y="3063606"/>
            <a:ext cx="304770" cy="304770"/>
          </a:xfrm>
          <a:prstGeom prst="roundRect">
            <a:avLst>
              <a:gd name="adj" fmla="val 31263"/>
            </a:avLst>
          </a:prstGeom>
          <a:solidFill>
            <a:srgbClr val="5F7A63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2" name="Text 9"/>
          <p:cNvSpPr txBox="1"/>
          <p:nvPr/>
        </p:nvSpPr>
        <p:spPr>
          <a:xfrm>
            <a:off x="1058144" y="3063606"/>
            <a:ext cx="24396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1400221" y="3063606"/>
            <a:ext cx="1560241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75" b="1" spc="-16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把預設的字刪掉</a:t>
            </a:r>
            <a:endParaRPr lang="en-US" sz="1575" dirty="0"/>
          </a:p>
        </p:txBody>
      </p:sp>
      <p:sp>
        <p:nvSpPr>
          <p:cNvPr id="14" name="Shape 11"/>
          <p:cNvSpPr/>
          <p:nvPr/>
        </p:nvSpPr>
        <p:spPr>
          <a:xfrm>
            <a:off x="800100" y="3606576"/>
            <a:ext cx="5300685" cy="571500"/>
          </a:xfrm>
          <a:prstGeom prst="roundRect">
            <a:avLst>
              <a:gd name="adj" fmla="val 25008"/>
            </a:avLst>
          </a:prstGeom>
          <a:solidFill>
            <a:srgbClr val="FFFFFF">
              <a:alpha val="62000"/>
            </a:srgbClr>
          </a:solidFill>
          <a:ln w="9525">
            <a:solidFill>
              <a:srgbClr val="241C17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1000171" y="3739896"/>
            <a:ext cx="304770" cy="304770"/>
          </a:xfrm>
          <a:prstGeom prst="roundRect">
            <a:avLst>
              <a:gd name="adj" fmla="val 31263"/>
            </a:avLst>
          </a:prstGeom>
          <a:solidFill>
            <a:srgbClr val="5F7A63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1058144" y="3739896"/>
            <a:ext cx="24396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4"/>
          <p:cNvSpPr txBox="1"/>
          <p:nvPr/>
        </p:nvSpPr>
        <p:spPr>
          <a:xfrm>
            <a:off x="1400221" y="3739896"/>
            <a:ext cx="1560241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75" b="1" spc="-16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寫上你自己的話</a:t>
            </a:r>
            <a:endParaRPr lang="en-US" sz="1575" dirty="0"/>
          </a:p>
        </p:txBody>
      </p:sp>
      <p:sp>
        <p:nvSpPr>
          <p:cNvPr id="18" name="Shape 15"/>
          <p:cNvSpPr/>
          <p:nvPr/>
        </p:nvSpPr>
        <p:spPr>
          <a:xfrm>
            <a:off x="800100" y="4282867"/>
            <a:ext cx="5300685" cy="571500"/>
          </a:xfrm>
          <a:prstGeom prst="roundRect">
            <a:avLst>
              <a:gd name="adj" fmla="val 25008"/>
            </a:avLst>
          </a:prstGeom>
          <a:solidFill>
            <a:srgbClr val="FFFFFF">
              <a:alpha val="62000"/>
            </a:srgbClr>
          </a:solidFill>
          <a:ln w="9525">
            <a:solidFill>
              <a:srgbClr val="241C17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1000171" y="4416186"/>
            <a:ext cx="304770" cy="304770"/>
          </a:xfrm>
          <a:prstGeom prst="roundRect">
            <a:avLst>
              <a:gd name="adj" fmla="val 31263"/>
            </a:avLst>
          </a:prstGeom>
          <a:solidFill>
            <a:srgbClr val="5F7A63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20" name="Text 17"/>
          <p:cNvSpPr txBox="1"/>
          <p:nvPr/>
        </p:nvSpPr>
        <p:spPr>
          <a:xfrm>
            <a:off x="1058144" y="4416186"/>
            <a:ext cx="24396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4</a:t>
            </a:r>
            <a:endParaRPr lang="en-US" sz="1500" dirty="0"/>
          </a:p>
        </p:txBody>
      </p:sp>
      <p:sp>
        <p:nvSpPr>
          <p:cNvPr id="21" name="Text 18"/>
          <p:cNvSpPr txBox="1"/>
          <p:nvPr/>
        </p:nvSpPr>
        <p:spPr>
          <a:xfrm>
            <a:off x="1400221" y="4416186"/>
            <a:ext cx="1140440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75" b="1" spc="-16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按「儲存」</a:t>
            </a:r>
            <a:endParaRPr lang="en-US" sz="1575" dirty="0"/>
          </a:p>
        </p:txBody>
      </p:sp>
      <p:sp>
        <p:nvSpPr>
          <p:cNvPr id="22" name="Shape 19"/>
          <p:cNvSpPr/>
          <p:nvPr/>
        </p:nvSpPr>
        <p:spPr>
          <a:xfrm>
            <a:off x="800100" y="5006706"/>
            <a:ext cx="5300685" cy="1311067"/>
          </a:xfrm>
          <a:prstGeom prst="roundRect">
            <a:avLst>
              <a:gd name="adj" fmla="val 13077"/>
            </a:avLst>
          </a:prstGeom>
          <a:solidFill>
            <a:srgbClr val="DFE8DC"/>
          </a:solidFill>
          <a:ln/>
        </p:spPr>
      </p:sp>
      <p:sp>
        <p:nvSpPr>
          <p:cNvPr id="23" name="Shape 20"/>
          <p:cNvSpPr/>
          <p:nvPr/>
        </p:nvSpPr>
        <p:spPr>
          <a:xfrm>
            <a:off x="800100" y="5006706"/>
            <a:ext cx="47640" cy="1311067"/>
          </a:xfrm>
          <a:prstGeom prst="rect">
            <a:avLst/>
          </a:prstGeom>
          <a:solidFill>
            <a:srgbClr val="5F7A63"/>
          </a:solidFill>
          <a:ln/>
        </p:spPr>
      </p:sp>
      <p:pic>
        <p:nvPicPr>
          <p:cNvPr id="24" name="Image 1" descr="/home/user/gogoeveryday/social-course/export-pptx/build/img/p34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360" y="5509809"/>
            <a:ext cx="287213" cy="304770"/>
          </a:xfrm>
          <a:prstGeom prst="rect">
            <a:avLst/>
          </a:prstGeom>
        </p:spPr>
      </p:pic>
      <p:sp>
        <p:nvSpPr>
          <p:cNvPr id="25" name="Text 21"/>
          <p:cNvSpPr txBox="1"/>
          <p:nvPr/>
        </p:nvSpPr>
        <p:spPr>
          <a:xfrm>
            <a:off x="1496873" y="5197267"/>
            <a:ext cx="4524085" cy="924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結構：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謝謝你 → 我是做什麼的 → 想買怎麼跟我說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。</a:t>
            </a:r>
            <a:endParaRPr lang="en-US" sz="1575" dirty="0"/>
          </a:p>
          <a:p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30 字以內就夠。</a:t>
            </a:r>
            <a:endParaRPr lang="en-US" sz="1575" dirty="0"/>
          </a:p>
        </p:txBody>
      </p:sp>
      <p:pic>
        <p:nvPicPr>
          <p:cNvPr id="26" name="Image 2" descr="/home/user/gogoeveryday/social-course/export-pptx/build/img/p34-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98608" y="404805"/>
            <a:ext cx="2590770" cy="5257800"/>
          </a:xfrm>
          <a:prstGeom prst="rect">
            <a:avLst/>
          </a:prstGeom>
        </p:spPr>
      </p:pic>
      <p:sp>
        <p:nvSpPr>
          <p:cNvPr id="27" name="Text 22"/>
          <p:cNvSpPr txBox="1"/>
          <p:nvPr/>
        </p:nvSpPr>
        <p:spPr>
          <a:xfrm>
            <a:off x="7731709" y="5786415"/>
            <a:ext cx="253426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spc="15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客人加好友就會自動收到</a:t>
            </a:r>
            <a:endParaRPr lang="en-US" sz="1500" dirty="0"/>
          </a:p>
        </p:txBody>
      </p:sp>
      <p:sp>
        <p:nvSpPr>
          <p:cNvPr id="28" name="Shape 23"/>
          <p:cNvSpPr/>
          <p:nvPr/>
        </p:nvSpPr>
        <p:spPr>
          <a:xfrm>
            <a:off x="10260208" y="228600"/>
            <a:ext cx="1131661" cy="447690"/>
          </a:xfrm>
          <a:prstGeom prst="roundRect">
            <a:avLst>
              <a:gd name="adj" fmla="val 50000"/>
            </a:avLst>
          </a:prstGeom>
          <a:solidFill>
            <a:srgbClr val="C05F3C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29" name="Text 24"/>
          <p:cNvSpPr txBox="1"/>
          <p:nvPr/>
        </p:nvSpPr>
        <p:spPr>
          <a:xfrm>
            <a:off x="10384018" y="304770"/>
            <a:ext cx="947136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90" kern="0" dirty="0">
                <a:solidFill>
                  <a:srgbClr val="FBF7F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手機實作</a:t>
            </a:r>
            <a:endParaRPr lang="en-US" sz="1500" dirty="0"/>
          </a:p>
        </p:txBody>
      </p:sp>
      <p:sp>
        <p:nvSpPr>
          <p:cNvPr id="30" name="Text 25"/>
          <p:cNvSpPr txBox="1"/>
          <p:nvPr/>
        </p:nvSpPr>
        <p:spPr>
          <a:xfrm>
            <a:off x="761970" y="6343650"/>
            <a:ext cx="2029877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PART 3 · 14:35</a:t>
            </a:r>
            <a:endParaRPr lang="en-US" sz="1500" dirty="0"/>
          </a:p>
        </p:txBody>
      </p:sp>
      <p:sp>
        <p:nvSpPr>
          <p:cNvPr id="31" name="Text 26"/>
          <p:cNvSpPr txBox="1"/>
          <p:nvPr/>
        </p:nvSpPr>
        <p:spPr>
          <a:xfrm>
            <a:off x="10690616" y="6343650"/>
            <a:ext cx="794614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34 / 42</a:t>
            </a:r>
            <a:endParaRPr lang="en-US" sz="15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social-course/export-pptx/build/bg/3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1970" y="456560"/>
            <a:ext cx="1423629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50" kern="0" dirty="0">
                <a:solidFill>
                  <a:srgbClr val="5F7A6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兩個常用功能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761970" y="837590"/>
            <a:ext cx="4009278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94"/>
              </a:lnSpc>
              <a:buNone/>
            </a:pPr>
            <a:r>
              <a:rPr lang="en-US" sz="2700" b="1" spc="-54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通知客人，跟做一個選單</a:t>
            </a:r>
            <a:endParaRPr lang="en-US" sz="2700" dirty="0"/>
          </a:p>
        </p:txBody>
      </p:sp>
      <p:sp>
        <p:nvSpPr>
          <p:cNvPr id="5" name="Shape 2"/>
          <p:cNvSpPr/>
          <p:nvPr/>
        </p:nvSpPr>
        <p:spPr>
          <a:xfrm>
            <a:off x="800100" y="1765981"/>
            <a:ext cx="5105370" cy="3601364"/>
          </a:xfrm>
          <a:prstGeom prst="roundRect">
            <a:avLst>
              <a:gd name="adj" fmla="val 6348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800100" y="1765981"/>
            <a:ext cx="5086350" cy="38130"/>
          </a:xfrm>
          <a:prstGeom prst="rect">
            <a:avLst/>
          </a:prstGeom>
          <a:solidFill>
            <a:srgbClr val="06C755"/>
          </a:solidFill>
          <a:ln/>
        </p:spPr>
      </p:sp>
      <p:pic>
        <p:nvPicPr>
          <p:cNvPr id="7" name="Image 1" descr="/home/user/gogoeveryday/social-course/export-pptx/build/img/p35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7321" y="2023201"/>
            <a:ext cx="381030" cy="38103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514521" y="2037466"/>
            <a:ext cx="1050463" cy="352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-18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群發訊息</a:t>
            </a:r>
            <a:endParaRPr lang="en-US" sz="1800" dirty="0"/>
          </a:p>
        </p:txBody>
      </p:sp>
      <p:sp>
        <p:nvSpPr>
          <p:cNvPr id="9" name="Shape 5"/>
          <p:cNvSpPr/>
          <p:nvPr/>
        </p:nvSpPr>
        <p:spPr>
          <a:xfrm>
            <a:off x="1057321" y="2556571"/>
            <a:ext cx="285750" cy="285750"/>
          </a:xfrm>
          <a:prstGeom prst="roundRect">
            <a:avLst>
              <a:gd name="adj" fmla="val 30016"/>
            </a:avLst>
          </a:prstGeom>
          <a:solidFill>
            <a:srgbClr val="5F7A63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0" name="Text 6"/>
          <p:cNvSpPr txBox="1"/>
          <p:nvPr/>
        </p:nvSpPr>
        <p:spPr>
          <a:xfrm>
            <a:off x="1105784" y="2547061"/>
            <a:ext cx="24396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</a:t>
            </a:r>
            <a:endParaRPr lang="en-US" sz="1500" dirty="0"/>
          </a:p>
        </p:txBody>
      </p:sp>
      <p:sp>
        <p:nvSpPr>
          <p:cNvPr id="11" name="Text 7"/>
          <p:cNvSpPr txBox="1"/>
          <p:nvPr/>
        </p:nvSpPr>
        <p:spPr>
          <a:xfrm>
            <a:off x="1419240" y="2547061"/>
            <a:ext cx="2635209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52"/>
              </a:lnSpc>
              <a:buNone/>
            </a:pPr>
            <a:r>
              <a:rPr lang="en-US" sz="1575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點「群發訊息」→「建立」</a:t>
            </a:r>
            <a:endParaRPr lang="en-US" sz="1575" dirty="0"/>
          </a:p>
        </p:txBody>
      </p:sp>
      <p:sp>
        <p:nvSpPr>
          <p:cNvPr id="12" name="Shape 8"/>
          <p:cNvSpPr/>
          <p:nvPr/>
        </p:nvSpPr>
        <p:spPr>
          <a:xfrm>
            <a:off x="1057321" y="2985333"/>
            <a:ext cx="285750" cy="285750"/>
          </a:xfrm>
          <a:prstGeom prst="roundRect">
            <a:avLst>
              <a:gd name="adj" fmla="val 30016"/>
            </a:avLst>
          </a:prstGeom>
          <a:solidFill>
            <a:srgbClr val="5F7A63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3" name="Text 9"/>
          <p:cNvSpPr txBox="1"/>
          <p:nvPr/>
        </p:nvSpPr>
        <p:spPr>
          <a:xfrm>
            <a:off x="1105784" y="2975823"/>
            <a:ext cx="24396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2</a:t>
            </a:r>
            <a:endParaRPr lang="en-US" sz="1500" dirty="0"/>
          </a:p>
        </p:txBody>
      </p:sp>
      <p:sp>
        <p:nvSpPr>
          <p:cNvPr id="14" name="Text 10"/>
          <p:cNvSpPr txBox="1"/>
          <p:nvPr/>
        </p:nvSpPr>
        <p:spPr>
          <a:xfrm>
            <a:off x="1419240" y="2975823"/>
            <a:ext cx="1815084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52"/>
              </a:lnSpc>
              <a:buNone/>
            </a:pPr>
            <a:r>
              <a:rPr lang="en-US" sz="1575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打字（30–80 字）</a:t>
            </a:r>
            <a:endParaRPr lang="en-US" sz="1575" dirty="0"/>
          </a:p>
        </p:txBody>
      </p:sp>
      <p:sp>
        <p:nvSpPr>
          <p:cNvPr id="15" name="Shape 11"/>
          <p:cNvSpPr/>
          <p:nvPr/>
        </p:nvSpPr>
        <p:spPr>
          <a:xfrm>
            <a:off x="1057321" y="3414095"/>
            <a:ext cx="285750" cy="285750"/>
          </a:xfrm>
          <a:prstGeom prst="roundRect">
            <a:avLst>
              <a:gd name="adj" fmla="val 30016"/>
            </a:avLst>
          </a:prstGeom>
          <a:solidFill>
            <a:srgbClr val="5F7A63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6" name="Text 12"/>
          <p:cNvSpPr txBox="1"/>
          <p:nvPr/>
        </p:nvSpPr>
        <p:spPr>
          <a:xfrm>
            <a:off x="1105784" y="3404586"/>
            <a:ext cx="24396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3"/>
          <p:cNvSpPr txBox="1"/>
          <p:nvPr/>
        </p:nvSpPr>
        <p:spPr>
          <a:xfrm>
            <a:off x="1419240" y="3404586"/>
            <a:ext cx="1151047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52"/>
              </a:lnSpc>
              <a:buNone/>
            </a:pPr>
            <a:r>
              <a:rPr lang="en-US" sz="1575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可以加照片</a:t>
            </a:r>
            <a:endParaRPr lang="en-US" sz="1575" dirty="0"/>
          </a:p>
        </p:txBody>
      </p:sp>
      <p:sp>
        <p:nvSpPr>
          <p:cNvPr id="18" name="Shape 14"/>
          <p:cNvSpPr/>
          <p:nvPr/>
        </p:nvSpPr>
        <p:spPr>
          <a:xfrm>
            <a:off x="1057321" y="3842857"/>
            <a:ext cx="285750" cy="285750"/>
          </a:xfrm>
          <a:prstGeom prst="roundRect">
            <a:avLst>
              <a:gd name="adj" fmla="val 30016"/>
            </a:avLst>
          </a:prstGeom>
          <a:solidFill>
            <a:srgbClr val="5F7A63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9" name="Text 15"/>
          <p:cNvSpPr txBox="1"/>
          <p:nvPr/>
        </p:nvSpPr>
        <p:spPr>
          <a:xfrm>
            <a:off x="1105784" y="3833348"/>
            <a:ext cx="24396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4</a:t>
            </a:r>
            <a:endParaRPr lang="en-US" sz="1500" dirty="0"/>
          </a:p>
        </p:txBody>
      </p:sp>
      <p:sp>
        <p:nvSpPr>
          <p:cNvPr id="20" name="Text 16"/>
          <p:cNvSpPr txBox="1"/>
          <p:nvPr/>
        </p:nvSpPr>
        <p:spPr>
          <a:xfrm>
            <a:off x="1419240" y="3833348"/>
            <a:ext cx="1151047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52"/>
              </a:lnSpc>
              <a:buNone/>
            </a:pPr>
            <a:r>
              <a:rPr lang="en-US" sz="1575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點「傳送」</a:t>
            </a:r>
            <a:endParaRPr lang="en-US" sz="1575" dirty="0"/>
          </a:p>
        </p:txBody>
      </p:sp>
      <p:sp>
        <p:nvSpPr>
          <p:cNvPr id="21" name="Shape 17"/>
          <p:cNvSpPr/>
          <p:nvPr/>
        </p:nvSpPr>
        <p:spPr>
          <a:xfrm>
            <a:off x="1057321" y="4300240"/>
            <a:ext cx="4591020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22" name="Text 18"/>
          <p:cNvSpPr txBox="1"/>
          <p:nvPr/>
        </p:nvSpPr>
        <p:spPr>
          <a:xfrm>
            <a:off x="1019190" y="4452671"/>
            <a:ext cx="4755520" cy="6288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52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一次送給所有好友。</a:t>
            </a:r>
            <a:pPr algn="l" indent="0" marL="0">
              <a:lnSpc>
                <a:spcPts val="2552"/>
              </a:lnSpc>
              <a:buNone/>
            </a:pPr>
            <a:r>
              <a:rPr lang="en-US" sz="1575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免費方案每月有則數上限，所以有事再發。</a:t>
            </a:r>
            <a:endParaRPr lang="en-US" sz="1575" dirty="0"/>
          </a:p>
        </p:txBody>
      </p:sp>
      <p:sp>
        <p:nvSpPr>
          <p:cNvPr id="23" name="Shape 19"/>
          <p:cNvSpPr/>
          <p:nvPr/>
        </p:nvSpPr>
        <p:spPr>
          <a:xfrm>
            <a:off x="6286500" y="1646377"/>
            <a:ext cx="5105370" cy="3840663"/>
          </a:xfrm>
          <a:prstGeom prst="roundRect">
            <a:avLst>
              <a:gd name="adj" fmla="val 5952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24" name="Shape 20"/>
          <p:cNvSpPr/>
          <p:nvPr/>
        </p:nvSpPr>
        <p:spPr>
          <a:xfrm>
            <a:off x="6286500" y="1646377"/>
            <a:ext cx="5086350" cy="38130"/>
          </a:xfrm>
          <a:prstGeom prst="rect">
            <a:avLst/>
          </a:prstGeom>
          <a:solidFill>
            <a:srgbClr val="D99A4E"/>
          </a:solidFill>
          <a:ln/>
        </p:spPr>
      </p:sp>
      <p:pic>
        <p:nvPicPr>
          <p:cNvPr id="25" name="Image 2" descr="/home/user/gogoeveryday/social-course/export-pptx/build/img/p35-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43721" y="1903506"/>
            <a:ext cx="361920" cy="361920"/>
          </a:xfrm>
          <a:prstGeom prst="rect">
            <a:avLst/>
          </a:prstGeom>
        </p:spPr>
      </p:pic>
      <p:sp>
        <p:nvSpPr>
          <p:cNvPr id="26" name="Text 21"/>
          <p:cNvSpPr txBox="1"/>
          <p:nvPr/>
        </p:nvSpPr>
        <p:spPr>
          <a:xfrm>
            <a:off x="6981810" y="1908261"/>
            <a:ext cx="1050463" cy="352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-18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圖文選單</a:t>
            </a:r>
            <a:endParaRPr lang="en-US" sz="1800" dirty="0"/>
          </a:p>
        </p:txBody>
      </p:sp>
      <p:sp>
        <p:nvSpPr>
          <p:cNvPr id="27" name="Shape 22"/>
          <p:cNvSpPr/>
          <p:nvPr/>
        </p:nvSpPr>
        <p:spPr>
          <a:xfrm>
            <a:off x="6543721" y="2398837"/>
            <a:ext cx="4591020" cy="2049628"/>
          </a:xfrm>
          <a:prstGeom prst="roundRect">
            <a:avLst>
              <a:gd name="adj" fmla="val 6505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</p:spPr>
      </p:sp>
      <p:sp>
        <p:nvSpPr>
          <p:cNvPr id="28" name="Shape 23"/>
          <p:cNvSpPr/>
          <p:nvPr/>
        </p:nvSpPr>
        <p:spPr>
          <a:xfrm>
            <a:off x="6629400" y="2484516"/>
            <a:ext cx="1434968" cy="910560"/>
          </a:xfrm>
          <a:prstGeom prst="roundRect">
            <a:avLst>
              <a:gd name="adj" fmla="val 10464"/>
            </a:avLst>
          </a:prstGeom>
          <a:solidFill>
            <a:srgbClr val="F4ECE1"/>
          </a:solidFill>
          <a:ln/>
        </p:spPr>
      </p:sp>
      <p:sp>
        <p:nvSpPr>
          <p:cNvPr id="29" name="Text 24"/>
          <p:cNvSpPr txBox="1"/>
          <p:nvPr/>
        </p:nvSpPr>
        <p:spPr>
          <a:xfrm>
            <a:off x="6927769" y="2617927"/>
            <a:ext cx="898581" cy="6438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🧺</a:t>
            </a:r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商品目錄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8121518" y="2484516"/>
            <a:ext cx="1435151" cy="910560"/>
          </a:xfrm>
          <a:prstGeom prst="roundRect">
            <a:avLst>
              <a:gd name="adj" fmla="val 10464"/>
            </a:avLst>
          </a:prstGeom>
          <a:solidFill>
            <a:srgbClr val="F4ECE1"/>
          </a:solidFill>
          <a:ln/>
        </p:spPr>
      </p:sp>
      <p:sp>
        <p:nvSpPr>
          <p:cNvPr id="31" name="Text 26"/>
          <p:cNvSpPr txBox="1"/>
          <p:nvPr/>
        </p:nvSpPr>
        <p:spPr>
          <a:xfrm>
            <a:off x="8419978" y="2617927"/>
            <a:ext cx="898581" cy="6438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📝</a:t>
            </a:r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我要預訂</a:t>
            </a:r>
            <a:endParaRPr lang="en-US" sz="1500" dirty="0"/>
          </a:p>
        </p:txBody>
      </p:sp>
      <p:sp>
        <p:nvSpPr>
          <p:cNvPr id="32" name="Shape 27"/>
          <p:cNvSpPr/>
          <p:nvPr/>
        </p:nvSpPr>
        <p:spPr>
          <a:xfrm>
            <a:off x="9613819" y="2484516"/>
            <a:ext cx="1435151" cy="910560"/>
          </a:xfrm>
          <a:prstGeom prst="roundRect">
            <a:avLst>
              <a:gd name="adj" fmla="val 10464"/>
            </a:avLst>
          </a:prstGeom>
          <a:solidFill>
            <a:srgbClr val="F4ECE1"/>
          </a:solidFill>
          <a:ln/>
        </p:spPr>
      </p:sp>
      <p:sp>
        <p:nvSpPr>
          <p:cNvPr id="33" name="Text 28"/>
          <p:cNvSpPr txBox="1"/>
          <p:nvPr/>
        </p:nvSpPr>
        <p:spPr>
          <a:xfrm>
            <a:off x="9912279" y="2617927"/>
            <a:ext cx="898581" cy="6438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🕘</a:t>
            </a:r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營業時間</a:t>
            </a:r>
            <a:endParaRPr lang="en-US" sz="1500" dirty="0"/>
          </a:p>
        </p:txBody>
      </p:sp>
      <p:sp>
        <p:nvSpPr>
          <p:cNvPr id="34" name="Shape 29"/>
          <p:cNvSpPr/>
          <p:nvPr/>
        </p:nvSpPr>
        <p:spPr>
          <a:xfrm>
            <a:off x="6629400" y="3452226"/>
            <a:ext cx="1434968" cy="910560"/>
          </a:xfrm>
          <a:prstGeom prst="roundRect">
            <a:avLst>
              <a:gd name="adj" fmla="val 10464"/>
            </a:avLst>
          </a:prstGeom>
          <a:solidFill>
            <a:srgbClr val="F4ECE1"/>
          </a:solidFill>
          <a:ln/>
        </p:spPr>
      </p:sp>
      <p:sp>
        <p:nvSpPr>
          <p:cNvPr id="35" name="Text 30"/>
          <p:cNvSpPr txBox="1"/>
          <p:nvPr/>
        </p:nvSpPr>
        <p:spPr>
          <a:xfrm>
            <a:off x="6927769" y="3585545"/>
            <a:ext cx="898581" cy="6438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📣</a:t>
            </a:r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最新消息</a:t>
            </a:r>
            <a:endParaRPr lang="en-US" sz="1500" dirty="0"/>
          </a:p>
        </p:txBody>
      </p:sp>
      <p:sp>
        <p:nvSpPr>
          <p:cNvPr id="36" name="Shape 31"/>
          <p:cNvSpPr/>
          <p:nvPr/>
        </p:nvSpPr>
        <p:spPr>
          <a:xfrm>
            <a:off x="8121518" y="3452226"/>
            <a:ext cx="1435151" cy="910560"/>
          </a:xfrm>
          <a:prstGeom prst="roundRect">
            <a:avLst>
              <a:gd name="adj" fmla="val 10464"/>
            </a:avLst>
          </a:prstGeom>
          <a:solidFill>
            <a:srgbClr val="F4ECE1"/>
          </a:solidFill>
          <a:ln/>
        </p:spPr>
      </p:sp>
      <p:sp>
        <p:nvSpPr>
          <p:cNvPr id="37" name="Text 32"/>
          <p:cNvSpPr txBox="1"/>
          <p:nvPr/>
        </p:nvSpPr>
        <p:spPr>
          <a:xfrm>
            <a:off x="8419978" y="3585545"/>
            <a:ext cx="898581" cy="6438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📍</a:t>
            </a:r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取貨地點</a:t>
            </a:r>
            <a:endParaRPr lang="en-US" sz="1500" dirty="0"/>
          </a:p>
        </p:txBody>
      </p:sp>
      <p:sp>
        <p:nvSpPr>
          <p:cNvPr id="38" name="Shape 33"/>
          <p:cNvSpPr/>
          <p:nvPr/>
        </p:nvSpPr>
        <p:spPr>
          <a:xfrm>
            <a:off x="9613819" y="3452226"/>
            <a:ext cx="1435151" cy="910560"/>
          </a:xfrm>
          <a:prstGeom prst="roundRect">
            <a:avLst>
              <a:gd name="adj" fmla="val 10464"/>
            </a:avLst>
          </a:prstGeom>
          <a:solidFill>
            <a:srgbClr val="F4ECE1"/>
          </a:solidFill>
          <a:ln/>
        </p:spPr>
      </p:sp>
      <p:sp>
        <p:nvSpPr>
          <p:cNvPr id="39" name="Text 34"/>
          <p:cNvSpPr txBox="1"/>
          <p:nvPr/>
        </p:nvSpPr>
        <p:spPr>
          <a:xfrm>
            <a:off x="9912279" y="3585545"/>
            <a:ext cx="898581" cy="6438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💬</a:t>
            </a:r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聯絡我們</a:t>
            </a:r>
            <a:endParaRPr lang="en-US" sz="1500" dirty="0"/>
          </a:p>
        </p:txBody>
      </p:sp>
      <p:sp>
        <p:nvSpPr>
          <p:cNvPr id="40" name="Text 35"/>
          <p:cNvSpPr txBox="1"/>
          <p:nvPr/>
        </p:nvSpPr>
        <p:spPr>
          <a:xfrm>
            <a:off x="6505590" y="4572274"/>
            <a:ext cx="4733483" cy="6288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52"/>
              </a:lnSpc>
              <a:buNone/>
            </a:pPr>
            <a:r>
              <a:rPr lang="en-US" sz="1575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客人打開聊天室，</a:t>
            </a:r>
            <a:pPr algn="l" indent="0" marL="0">
              <a:lnSpc>
                <a:spcPts val="2552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最下面固定出現的按鈕</a:t>
            </a:r>
            <a:pPr algn="l" indent="0" marL="0">
              <a:lnSpc>
                <a:spcPts val="2552"/>
              </a:lnSpc>
              <a:buNone/>
            </a:pPr>
            <a:r>
              <a:rPr lang="en-US" sz="1575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。</a:t>
            </a:r>
            <a:endParaRPr lang="en-US" sz="1575" dirty="0"/>
          </a:p>
          <a:p>
            <a:pPr algn="l" indent="0" marL="0">
              <a:lnSpc>
                <a:spcPts val="2552"/>
              </a:lnSpc>
              <a:buNone/>
            </a:pPr>
            <a:r>
              <a:rPr lang="en-US" sz="1575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設定：設定 →「圖文選單」→ 選版型 → 填文字。</a:t>
            </a:r>
            <a:endParaRPr lang="en-US" sz="1575" dirty="0"/>
          </a:p>
        </p:txBody>
      </p:sp>
      <p:sp>
        <p:nvSpPr>
          <p:cNvPr id="41" name="Shape 36"/>
          <p:cNvSpPr/>
          <p:nvPr/>
        </p:nvSpPr>
        <p:spPr>
          <a:xfrm>
            <a:off x="800100" y="5648889"/>
            <a:ext cx="10591770" cy="552480"/>
          </a:xfrm>
          <a:prstGeom prst="roundRect">
            <a:avLst>
              <a:gd name="adj" fmla="val 31033"/>
            </a:avLst>
          </a:prstGeom>
          <a:solidFill>
            <a:srgbClr val="F8E6C9"/>
          </a:solidFill>
          <a:ln/>
        </p:spPr>
      </p:sp>
      <p:sp>
        <p:nvSpPr>
          <p:cNvPr id="42" name="Shape 37"/>
          <p:cNvSpPr/>
          <p:nvPr/>
        </p:nvSpPr>
        <p:spPr>
          <a:xfrm>
            <a:off x="800100" y="5648889"/>
            <a:ext cx="47640" cy="552480"/>
          </a:xfrm>
          <a:prstGeom prst="rect">
            <a:avLst/>
          </a:prstGeom>
          <a:solidFill>
            <a:srgbClr val="D99A4E"/>
          </a:solidFill>
          <a:ln/>
        </p:spPr>
      </p:sp>
      <p:pic>
        <p:nvPicPr>
          <p:cNvPr id="43" name="Image 3" descr="/home/user/gogoeveryday/social-course/export-pptx/build/img/p35-3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7321" y="5782300"/>
            <a:ext cx="285750" cy="285750"/>
          </a:xfrm>
          <a:prstGeom prst="rect">
            <a:avLst/>
          </a:prstGeom>
        </p:spPr>
      </p:pic>
      <p:sp>
        <p:nvSpPr>
          <p:cNvPr id="44" name="Text 38"/>
          <p:cNvSpPr txBox="1"/>
          <p:nvPr/>
        </p:nvSpPr>
        <p:spPr>
          <a:xfrm>
            <a:off x="1457371" y="5772790"/>
            <a:ext cx="642311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圖文選單今天</a:t>
            </a:r>
            <a:pPr algn="l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知道有這個功能就好</a:t>
            </a:r>
            <a:pPr algn="l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；等你有 30–50 個好友再回來設定。</a:t>
            </a:r>
            <a:endParaRPr lang="en-US" sz="1500" dirty="0"/>
          </a:p>
        </p:txBody>
      </p:sp>
      <p:sp>
        <p:nvSpPr>
          <p:cNvPr id="45" name="Shape 39"/>
          <p:cNvSpPr/>
          <p:nvPr/>
        </p:nvSpPr>
        <p:spPr>
          <a:xfrm>
            <a:off x="10260208" y="228600"/>
            <a:ext cx="1131661" cy="447690"/>
          </a:xfrm>
          <a:prstGeom prst="roundRect">
            <a:avLst>
              <a:gd name="adj" fmla="val 50000"/>
            </a:avLst>
          </a:prstGeom>
          <a:solidFill>
            <a:srgbClr val="C05F3C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46" name="Text 40"/>
          <p:cNvSpPr txBox="1"/>
          <p:nvPr/>
        </p:nvSpPr>
        <p:spPr>
          <a:xfrm>
            <a:off x="10384018" y="304770"/>
            <a:ext cx="947136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90" kern="0" dirty="0">
                <a:solidFill>
                  <a:srgbClr val="FBF7F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手機實作</a:t>
            </a:r>
            <a:endParaRPr lang="en-US" sz="1500" dirty="0"/>
          </a:p>
        </p:txBody>
      </p:sp>
      <p:sp>
        <p:nvSpPr>
          <p:cNvPr id="47" name="Text 41"/>
          <p:cNvSpPr txBox="1"/>
          <p:nvPr/>
        </p:nvSpPr>
        <p:spPr>
          <a:xfrm>
            <a:off x="761970" y="6343650"/>
            <a:ext cx="2029877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PART 3 · 14:50</a:t>
            </a:r>
            <a:endParaRPr lang="en-US" sz="1500" dirty="0"/>
          </a:p>
        </p:txBody>
      </p:sp>
      <p:sp>
        <p:nvSpPr>
          <p:cNvPr id="48" name="Text 42"/>
          <p:cNvSpPr txBox="1"/>
          <p:nvPr/>
        </p:nvSpPr>
        <p:spPr>
          <a:xfrm>
            <a:off x="10690616" y="6343650"/>
            <a:ext cx="794614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35 / 42</a:t>
            </a:r>
            <a:endParaRPr lang="en-US" sz="15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social-course/export-pptx/build/bg/36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1970" y="947776"/>
            <a:ext cx="1645737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50" kern="0" dirty="0">
                <a:solidFill>
                  <a:srgbClr val="5F7A6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怎麼讓客人加你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761970" y="1328715"/>
            <a:ext cx="3061594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94"/>
              </a:lnSpc>
              <a:buNone/>
            </a:pPr>
            <a:r>
              <a:rPr lang="en-US" sz="2700" b="1" spc="-54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找到你的 QR Code</a:t>
            </a:r>
            <a:endParaRPr lang="en-US" sz="2700" dirty="0"/>
          </a:p>
        </p:txBody>
      </p:sp>
      <p:sp>
        <p:nvSpPr>
          <p:cNvPr id="5" name="Shape 2"/>
          <p:cNvSpPr/>
          <p:nvPr/>
        </p:nvSpPr>
        <p:spPr>
          <a:xfrm>
            <a:off x="800100" y="1956450"/>
            <a:ext cx="5300685" cy="571500"/>
          </a:xfrm>
          <a:prstGeom prst="roundRect">
            <a:avLst>
              <a:gd name="adj" fmla="val 25008"/>
            </a:avLst>
          </a:prstGeom>
          <a:solidFill>
            <a:srgbClr val="FFFFFF">
              <a:alpha val="62000"/>
            </a:srgbClr>
          </a:solidFill>
          <a:ln w="9525">
            <a:solidFill>
              <a:srgbClr val="241C17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000171" y="2089861"/>
            <a:ext cx="304770" cy="304770"/>
          </a:xfrm>
          <a:prstGeom prst="roundRect">
            <a:avLst>
              <a:gd name="adj" fmla="val 31263"/>
            </a:avLst>
          </a:prstGeom>
          <a:solidFill>
            <a:srgbClr val="5F7A63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1058144" y="2089861"/>
            <a:ext cx="24396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1400221" y="2089861"/>
            <a:ext cx="2026036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75" b="1" spc="-16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設定 →「帳號設定」</a:t>
            </a:r>
            <a:endParaRPr lang="en-US" sz="1575" dirty="0"/>
          </a:p>
        </p:txBody>
      </p:sp>
      <p:sp>
        <p:nvSpPr>
          <p:cNvPr id="9" name="Shape 6"/>
          <p:cNvSpPr/>
          <p:nvPr/>
        </p:nvSpPr>
        <p:spPr>
          <a:xfrm>
            <a:off x="800100" y="2632740"/>
            <a:ext cx="5300685" cy="571500"/>
          </a:xfrm>
          <a:prstGeom prst="roundRect">
            <a:avLst>
              <a:gd name="adj" fmla="val 25008"/>
            </a:avLst>
          </a:prstGeom>
          <a:solidFill>
            <a:srgbClr val="FFFFFF">
              <a:alpha val="62000"/>
            </a:srgbClr>
          </a:solidFill>
          <a:ln w="9525">
            <a:solidFill>
              <a:srgbClr val="241C17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0171" y="2766151"/>
            <a:ext cx="304770" cy="304770"/>
          </a:xfrm>
          <a:prstGeom prst="roundRect">
            <a:avLst>
              <a:gd name="adj" fmla="val 31263"/>
            </a:avLst>
          </a:prstGeom>
          <a:solidFill>
            <a:srgbClr val="5F7A63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1058144" y="2766151"/>
            <a:ext cx="24396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1400221" y="2766151"/>
            <a:ext cx="2400026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75" b="1" spc="-16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找到「加入好友的方法」</a:t>
            </a:r>
            <a:endParaRPr lang="en-US" sz="1575" dirty="0"/>
          </a:p>
        </p:txBody>
      </p:sp>
      <p:sp>
        <p:nvSpPr>
          <p:cNvPr id="13" name="Shape 10"/>
          <p:cNvSpPr/>
          <p:nvPr/>
        </p:nvSpPr>
        <p:spPr>
          <a:xfrm>
            <a:off x="800100" y="3309031"/>
            <a:ext cx="5300685" cy="571500"/>
          </a:xfrm>
          <a:prstGeom prst="roundRect">
            <a:avLst>
              <a:gd name="adj" fmla="val 25008"/>
            </a:avLst>
          </a:prstGeom>
          <a:solidFill>
            <a:srgbClr val="FFFFFF">
              <a:alpha val="62000"/>
            </a:srgbClr>
          </a:solidFill>
          <a:ln w="9525">
            <a:solidFill>
              <a:srgbClr val="241C17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1000171" y="3442350"/>
            <a:ext cx="304770" cy="304770"/>
          </a:xfrm>
          <a:prstGeom prst="roundRect">
            <a:avLst>
              <a:gd name="adj" fmla="val 31263"/>
            </a:avLst>
          </a:prstGeom>
          <a:solidFill>
            <a:srgbClr val="5F7A63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5" name="Text 12"/>
          <p:cNvSpPr txBox="1"/>
          <p:nvPr/>
        </p:nvSpPr>
        <p:spPr>
          <a:xfrm>
            <a:off x="1058144" y="3442350"/>
            <a:ext cx="24396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3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1400221" y="3442350"/>
            <a:ext cx="2734879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75" b="1" spc="-16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會看到你的 QR Code 與網址</a:t>
            </a:r>
            <a:endParaRPr lang="en-US" sz="1575" dirty="0"/>
          </a:p>
        </p:txBody>
      </p:sp>
      <p:sp>
        <p:nvSpPr>
          <p:cNvPr id="17" name="Shape 14"/>
          <p:cNvSpPr/>
          <p:nvPr/>
        </p:nvSpPr>
        <p:spPr>
          <a:xfrm>
            <a:off x="800100" y="3985321"/>
            <a:ext cx="5300685" cy="571500"/>
          </a:xfrm>
          <a:prstGeom prst="roundRect">
            <a:avLst>
              <a:gd name="adj" fmla="val 25008"/>
            </a:avLst>
          </a:prstGeom>
          <a:solidFill>
            <a:srgbClr val="FFFFFF">
              <a:alpha val="62000"/>
            </a:srgbClr>
          </a:solidFill>
          <a:ln w="9525">
            <a:solidFill>
              <a:srgbClr val="241C17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1000171" y="4118640"/>
            <a:ext cx="304770" cy="304770"/>
          </a:xfrm>
          <a:prstGeom prst="roundRect">
            <a:avLst>
              <a:gd name="adj" fmla="val 31263"/>
            </a:avLst>
          </a:prstGeom>
          <a:solidFill>
            <a:srgbClr val="5F7A63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9" name="Text 16"/>
          <p:cNvSpPr txBox="1"/>
          <p:nvPr/>
        </p:nvSpPr>
        <p:spPr>
          <a:xfrm>
            <a:off x="1058144" y="4118640"/>
            <a:ext cx="24396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4</a:t>
            </a:r>
            <a:endParaRPr lang="en-US" sz="1500" dirty="0"/>
          </a:p>
        </p:txBody>
      </p:sp>
      <p:sp>
        <p:nvSpPr>
          <p:cNvPr id="20" name="Text 17"/>
          <p:cNvSpPr txBox="1"/>
          <p:nvPr/>
        </p:nvSpPr>
        <p:spPr>
          <a:xfrm>
            <a:off x="1400221" y="4118640"/>
            <a:ext cx="3239536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75" b="1" spc="-16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截圖存起來，或用「分享」傳出去</a:t>
            </a:r>
            <a:endParaRPr lang="en-US" sz="1575" dirty="0"/>
          </a:p>
        </p:txBody>
      </p:sp>
      <p:sp>
        <p:nvSpPr>
          <p:cNvPr id="21" name="Shape 18"/>
          <p:cNvSpPr/>
          <p:nvPr/>
        </p:nvSpPr>
        <p:spPr>
          <a:xfrm>
            <a:off x="800100" y="4709251"/>
            <a:ext cx="5300685" cy="1000994"/>
          </a:xfrm>
          <a:prstGeom prst="roundRect">
            <a:avLst>
              <a:gd name="adj" fmla="val 17128"/>
            </a:avLst>
          </a:prstGeom>
          <a:solidFill>
            <a:srgbClr val="DFE8DC"/>
          </a:solidFill>
          <a:ln/>
        </p:spPr>
      </p:sp>
      <p:sp>
        <p:nvSpPr>
          <p:cNvPr id="22" name="Shape 19"/>
          <p:cNvSpPr/>
          <p:nvPr/>
        </p:nvSpPr>
        <p:spPr>
          <a:xfrm>
            <a:off x="800100" y="4709251"/>
            <a:ext cx="47640" cy="1000994"/>
          </a:xfrm>
          <a:prstGeom prst="rect">
            <a:avLst/>
          </a:prstGeom>
          <a:solidFill>
            <a:srgbClr val="5F7A63"/>
          </a:solidFill>
          <a:ln/>
        </p:spPr>
      </p:sp>
      <p:pic>
        <p:nvPicPr>
          <p:cNvPr id="23" name="Image 1" descr="/home/user/gogoeveryday/social-course/export-pptx/build/img/p36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360" y="5028743"/>
            <a:ext cx="361920" cy="361920"/>
          </a:xfrm>
          <a:prstGeom prst="rect">
            <a:avLst/>
          </a:prstGeom>
        </p:spPr>
      </p:pic>
      <p:sp>
        <p:nvSpPr>
          <p:cNvPr id="24" name="Text 20"/>
          <p:cNvSpPr txBox="1"/>
          <p:nvPr/>
        </p:nvSpPr>
        <p:spPr>
          <a:xfrm>
            <a:off x="1571671" y="4899721"/>
            <a:ext cx="4331421" cy="6148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把 QR Code 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5F7A6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印出來放大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，貼在商品包裝、</a:t>
            </a:r>
            <a:endParaRPr lang="en-US" sz="1575" dirty="0"/>
          </a:p>
          <a:p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市集攤位、名片上。最常見的錯誤是印太小。</a:t>
            </a:r>
            <a:endParaRPr lang="en-US" sz="1575" dirty="0"/>
          </a:p>
        </p:txBody>
      </p:sp>
      <p:pic>
        <p:nvPicPr>
          <p:cNvPr id="25" name="Image 2" descr="/home/user/gogoeveryday/social-course/export-pptx/build/img/p36-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98608" y="404805"/>
            <a:ext cx="2590770" cy="5257800"/>
          </a:xfrm>
          <a:prstGeom prst="rect">
            <a:avLst/>
          </a:prstGeom>
        </p:spPr>
      </p:pic>
      <p:sp>
        <p:nvSpPr>
          <p:cNvPr id="26" name="Text 21"/>
          <p:cNvSpPr txBox="1"/>
          <p:nvPr/>
        </p:nvSpPr>
        <p:spPr>
          <a:xfrm>
            <a:off x="7953726" y="5786415"/>
            <a:ext cx="2090044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spc="15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截圖存到相簿最方便</a:t>
            </a:r>
            <a:endParaRPr lang="en-US" sz="1500" dirty="0"/>
          </a:p>
        </p:txBody>
      </p:sp>
      <p:sp>
        <p:nvSpPr>
          <p:cNvPr id="27" name="Shape 22"/>
          <p:cNvSpPr/>
          <p:nvPr/>
        </p:nvSpPr>
        <p:spPr>
          <a:xfrm>
            <a:off x="10260208" y="228600"/>
            <a:ext cx="1131661" cy="447690"/>
          </a:xfrm>
          <a:prstGeom prst="roundRect">
            <a:avLst>
              <a:gd name="adj" fmla="val 50000"/>
            </a:avLst>
          </a:prstGeom>
          <a:solidFill>
            <a:srgbClr val="C05F3C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28" name="Text 23"/>
          <p:cNvSpPr txBox="1"/>
          <p:nvPr/>
        </p:nvSpPr>
        <p:spPr>
          <a:xfrm>
            <a:off x="10384018" y="304770"/>
            <a:ext cx="947136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90" kern="0" dirty="0">
                <a:solidFill>
                  <a:srgbClr val="FBF7F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手機實作</a:t>
            </a:r>
            <a:endParaRPr lang="en-US" sz="1500" dirty="0"/>
          </a:p>
        </p:txBody>
      </p:sp>
      <p:sp>
        <p:nvSpPr>
          <p:cNvPr id="29" name="Text 24"/>
          <p:cNvSpPr txBox="1"/>
          <p:nvPr/>
        </p:nvSpPr>
        <p:spPr>
          <a:xfrm>
            <a:off x="761970" y="6343650"/>
            <a:ext cx="2029877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PART 3 · 15:05</a:t>
            </a:r>
            <a:endParaRPr lang="en-US" sz="1500" dirty="0"/>
          </a:p>
        </p:txBody>
      </p:sp>
      <p:sp>
        <p:nvSpPr>
          <p:cNvPr id="30" name="Text 25"/>
          <p:cNvSpPr txBox="1"/>
          <p:nvPr/>
        </p:nvSpPr>
        <p:spPr>
          <a:xfrm>
            <a:off x="10690616" y="6343650"/>
            <a:ext cx="794614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36 / 42</a:t>
            </a:r>
            <a:endParaRPr lang="en-US" sz="15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social-course/export-pptx/build/bg/37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1970" y="786841"/>
            <a:ext cx="97932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50" kern="0" dirty="0">
                <a:solidFill>
                  <a:srgbClr val="5F7A6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後台數據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761970" y="1167872"/>
            <a:ext cx="3296869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94"/>
              </a:lnSpc>
              <a:buNone/>
            </a:pPr>
            <a:r>
              <a:rPr lang="en-US" sz="2700" b="1" spc="-54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點「分析」就看得到</a:t>
            </a:r>
            <a:endParaRPr lang="en-US" sz="2700" dirty="0"/>
          </a:p>
        </p:txBody>
      </p:sp>
      <p:sp>
        <p:nvSpPr>
          <p:cNvPr id="5" name="Shape 2"/>
          <p:cNvSpPr/>
          <p:nvPr/>
        </p:nvSpPr>
        <p:spPr>
          <a:xfrm>
            <a:off x="800100" y="1795607"/>
            <a:ext cx="2583637" cy="1394369"/>
          </a:xfrm>
          <a:prstGeom prst="roundRect">
            <a:avLst>
              <a:gd name="adj" fmla="val 10250"/>
            </a:avLst>
          </a:prstGeom>
          <a:solidFill>
            <a:srgbClr val="FFFFFF">
              <a:alpha val="62000"/>
            </a:srgbClr>
          </a:solidFill>
          <a:ln w="9525">
            <a:solidFill>
              <a:srgbClr val="241C17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943021" y="1938528"/>
            <a:ext cx="963229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20" kern="0" dirty="0">
                <a:solidFill>
                  <a:srgbClr val="5F7A6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好友人數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943021" y="2243298"/>
            <a:ext cx="4911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12</a:t>
            </a:r>
            <a:endParaRPr lang="en-US" sz="2400" dirty="0"/>
          </a:p>
        </p:txBody>
      </p:sp>
      <p:sp>
        <p:nvSpPr>
          <p:cNvPr id="8" name="Text 5"/>
          <p:cNvSpPr txBox="1"/>
          <p:nvPr/>
        </p:nvSpPr>
        <p:spPr>
          <a:xfrm>
            <a:off x="943021" y="2729027"/>
            <a:ext cx="170627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總共有幾個人加你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3517148" y="1795607"/>
            <a:ext cx="2583637" cy="1394369"/>
          </a:xfrm>
          <a:prstGeom prst="roundRect">
            <a:avLst>
              <a:gd name="adj" fmla="val 10250"/>
            </a:avLst>
          </a:prstGeom>
          <a:solidFill>
            <a:srgbClr val="FFFFFF">
              <a:alpha val="62000"/>
            </a:srgbClr>
          </a:solidFill>
          <a:ln w="9525">
            <a:solidFill>
              <a:srgbClr val="241C17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3659977" y="1938528"/>
            <a:ext cx="963229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20" kern="0" dirty="0">
                <a:solidFill>
                  <a:srgbClr val="5F7A6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新增好友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3659977" y="2243298"/>
            <a:ext cx="61621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＋4</a:t>
            </a:r>
            <a:endParaRPr lang="en-US" sz="2400" dirty="0"/>
          </a:p>
        </p:txBody>
      </p:sp>
      <p:sp>
        <p:nvSpPr>
          <p:cNvPr id="12" name="Text 9"/>
          <p:cNvSpPr txBox="1"/>
          <p:nvPr/>
        </p:nvSpPr>
        <p:spPr>
          <a:xfrm>
            <a:off x="3659977" y="2729027"/>
            <a:ext cx="130247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這週新加入的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800100" y="3323295"/>
            <a:ext cx="2583637" cy="1394369"/>
          </a:xfrm>
          <a:prstGeom prst="roundRect">
            <a:avLst>
              <a:gd name="adj" fmla="val 10250"/>
            </a:avLst>
          </a:prstGeom>
          <a:solidFill>
            <a:srgbClr val="FFFFFF">
              <a:alpha val="62000"/>
            </a:srgbClr>
          </a:solidFill>
          <a:ln w="9525">
            <a:solidFill>
              <a:srgbClr val="241C17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943021" y="3466216"/>
            <a:ext cx="963229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20" kern="0" dirty="0">
                <a:solidFill>
                  <a:srgbClr val="5F7A6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封鎖人數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943021" y="3770986"/>
            <a:ext cx="31135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</a:t>
            </a:r>
            <a:endParaRPr lang="en-US" sz="2400" dirty="0"/>
          </a:p>
        </p:txBody>
      </p:sp>
      <p:sp>
        <p:nvSpPr>
          <p:cNvPr id="16" name="Text 13"/>
          <p:cNvSpPr txBox="1"/>
          <p:nvPr/>
        </p:nvSpPr>
        <p:spPr>
          <a:xfrm>
            <a:off x="943021" y="4256806"/>
            <a:ext cx="190826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有人不想收你的訊息</a:t>
            </a:r>
            <a:endParaRPr lang="en-US" sz="1500" dirty="0"/>
          </a:p>
        </p:txBody>
      </p:sp>
      <p:sp>
        <p:nvSpPr>
          <p:cNvPr id="17" name="Shape 14"/>
          <p:cNvSpPr/>
          <p:nvPr/>
        </p:nvSpPr>
        <p:spPr>
          <a:xfrm>
            <a:off x="3517148" y="3323295"/>
            <a:ext cx="2583637" cy="1394369"/>
          </a:xfrm>
          <a:prstGeom prst="roundRect">
            <a:avLst>
              <a:gd name="adj" fmla="val 10250"/>
            </a:avLst>
          </a:prstGeom>
          <a:solidFill>
            <a:srgbClr val="FFFFFF">
              <a:alpha val="62000"/>
            </a:srgbClr>
          </a:solidFill>
          <a:ln w="9525">
            <a:solidFill>
              <a:srgbClr val="241C17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3659977" y="3466216"/>
            <a:ext cx="963229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20" kern="0" dirty="0">
                <a:solidFill>
                  <a:srgbClr val="5F7A6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訊息則數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3659977" y="3770986"/>
            <a:ext cx="4911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86</a:t>
            </a:r>
            <a:endParaRPr lang="en-US" sz="2400" dirty="0"/>
          </a:p>
        </p:txBody>
      </p:sp>
      <p:sp>
        <p:nvSpPr>
          <p:cNvPr id="20" name="Text 17"/>
          <p:cNvSpPr txBox="1"/>
          <p:nvPr/>
        </p:nvSpPr>
        <p:spPr>
          <a:xfrm>
            <a:off x="3659977" y="4256806"/>
            <a:ext cx="190826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這個月已用掉的額度</a:t>
            </a:r>
            <a:endParaRPr lang="en-US" sz="1500" dirty="0"/>
          </a:p>
        </p:txBody>
      </p:sp>
      <p:sp>
        <p:nvSpPr>
          <p:cNvPr id="21" name="Shape 18"/>
          <p:cNvSpPr/>
          <p:nvPr/>
        </p:nvSpPr>
        <p:spPr>
          <a:xfrm>
            <a:off x="800100" y="4870094"/>
            <a:ext cx="5300685" cy="1000994"/>
          </a:xfrm>
          <a:prstGeom prst="roundRect">
            <a:avLst>
              <a:gd name="adj" fmla="val 17128"/>
            </a:avLst>
          </a:prstGeom>
          <a:solidFill>
            <a:srgbClr val="DFE8DC"/>
          </a:solidFill>
          <a:ln/>
        </p:spPr>
      </p:sp>
      <p:sp>
        <p:nvSpPr>
          <p:cNvPr id="22" name="Shape 19"/>
          <p:cNvSpPr/>
          <p:nvPr/>
        </p:nvSpPr>
        <p:spPr>
          <a:xfrm>
            <a:off x="800100" y="4870094"/>
            <a:ext cx="47640" cy="1000994"/>
          </a:xfrm>
          <a:prstGeom prst="rect">
            <a:avLst/>
          </a:prstGeom>
          <a:solidFill>
            <a:srgbClr val="5F7A63"/>
          </a:solidFill>
          <a:ln/>
        </p:spPr>
      </p:sp>
      <p:pic>
        <p:nvPicPr>
          <p:cNvPr id="23" name="Image 1" descr="/home/user/gogoeveryday/social-course/export-pptx/build/img/p37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360" y="5218206"/>
            <a:ext cx="304770" cy="304770"/>
          </a:xfrm>
          <a:prstGeom prst="rect">
            <a:avLst/>
          </a:prstGeom>
        </p:spPr>
      </p:pic>
      <p:sp>
        <p:nvSpPr>
          <p:cNvPr id="24" name="Text 20"/>
          <p:cNvSpPr txBox="1"/>
          <p:nvPr/>
        </p:nvSpPr>
        <p:spPr>
          <a:xfrm>
            <a:off x="1514521" y="5060564"/>
            <a:ext cx="4013302" cy="6148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最重要的是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5F7A6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「好友人數」跟「封鎖人數」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。</a:t>
            </a:r>
            <a:endParaRPr lang="en-US" sz="1575" dirty="0"/>
          </a:p>
          <a:p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好友慢慢增加、封鎖很少，就是健康的。</a:t>
            </a:r>
            <a:endParaRPr lang="en-US" sz="1575" dirty="0"/>
          </a:p>
        </p:txBody>
      </p:sp>
      <p:pic>
        <p:nvPicPr>
          <p:cNvPr id="25" name="Image 2" descr="/home/user/gogoeveryday/social-course/export-pptx/build/img/p37-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98608" y="404805"/>
            <a:ext cx="2590770" cy="5257800"/>
          </a:xfrm>
          <a:prstGeom prst="rect">
            <a:avLst/>
          </a:prstGeom>
        </p:spPr>
      </p:pic>
      <p:sp>
        <p:nvSpPr>
          <p:cNvPr id="26" name="Text 21"/>
          <p:cNvSpPr txBox="1"/>
          <p:nvPr/>
        </p:nvSpPr>
        <p:spPr>
          <a:xfrm>
            <a:off x="7620610" y="5786415"/>
            <a:ext cx="2756367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spc="15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好友、封鎖、訊息、開封率</a:t>
            </a:r>
            <a:endParaRPr lang="en-US" sz="1500" dirty="0"/>
          </a:p>
        </p:txBody>
      </p:sp>
      <p:sp>
        <p:nvSpPr>
          <p:cNvPr id="27" name="Shape 22"/>
          <p:cNvSpPr/>
          <p:nvPr/>
        </p:nvSpPr>
        <p:spPr>
          <a:xfrm>
            <a:off x="10260208" y="228600"/>
            <a:ext cx="1131661" cy="447690"/>
          </a:xfrm>
          <a:prstGeom prst="roundRect">
            <a:avLst>
              <a:gd name="adj" fmla="val 50000"/>
            </a:avLst>
          </a:prstGeom>
          <a:solidFill>
            <a:srgbClr val="C05F3C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28" name="Text 23"/>
          <p:cNvSpPr txBox="1"/>
          <p:nvPr/>
        </p:nvSpPr>
        <p:spPr>
          <a:xfrm>
            <a:off x="10384018" y="304770"/>
            <a:ext cx="947136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90" kern="0" dirty="0">
                <a:solidFill>
                  <a:srgbClr val="FBF7F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手機實作</a:t>
            </a:r>
            <a:endParaRPr lang="en-US" sz="1500" dirty="0"/>
          </a:p>
        </p:txBody>
      </p:sp>
      <p:sp>
        <p:nvSpPr>
          <p:cNvPr id="29" name="Text 24"/>
          <p:cNvSpPr txBox="1"/>
          <p:nvPr/>
        </p:nvSpPr>
        <p:spPr>
          <a:xfrm>
            <a:off x="761970" y="6343650"/>
            <a:ext cx="2029877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PART 3 · 15:18</a:t>
            </a:r>
            <a:endParaRPr lang="en-US" sz="1500" dirty="0"/>
          </a:p>
        </p:txBody>
      </p:sp>
      <p:sp>
        <p:nvSpPr>
          <p:cNvPr id="30" name="Text 25"/>
          <p:cNvSpPr txBox="1"/>
          <p:nvPr/>
        </p:nvSpPr>
        <p:spPr>
          <a:xfrm>
            <a:off x="10690616" y="6343650"/>
            <a:ext cx="794614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37 / 42</a:t>
            </a:r>
            <a:endParaRPr lang="en-US" sz="15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social-course/export-pptx/build/bg/38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1970" y="504566"/>
            <a:ext cx="1867845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50" kern="0" dirty="0">
                <a:solidFill>
                  <a:srgbClr val="5F7A6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看完之後要做什麼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761970" y="885505"/>
            <a:ext cx="3296869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94"/>
              </a:lnSpc>
              <a:buNone/>
            </a:pPr>
            <a:r>
              <a:rPr lang="en-US" sz="2700" b="1" spc="-54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三種情況，三個動作</a:t>
            </a:r>
            <a:endParaRPr lang="en-US" sz="2700" dirty="0"/>
          </a:p>
        </p:txBody>
      </p:sp>
      <p:sp>
        <p:nvSpPr>
          <p:cNvPr id="5" name="Shape 2"/>
          <p:cNvSpPr/>
          <p:nvPr/>
        </p:nvSpPr>
        <p:spPr>
          <a:xfrm>
            <a:off x="800100" y="1694292"/>
            <a:ext cx="3390870" cy="3296412"/>
          </a:xfrm>
          <a:prstGeom prst="roundRect">
            <a:avLst>
              <a:gd name="adj" fmla="val 6935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1019190" y="1913291"/>
            <a:ext cx="381030" cy="381030"/>
          </a:xfrm>
          <a:prstGeom prst="roundRect">
            <a:avLst>
              <a:gd name="adj" fmla="val 29998"/>
            </a:avLst>
          </a:prstGeom>
          <a:solidFill>
            <a:srgbClr val="DFE8DC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1066648" y="1941911"/>
            <a:ext cx="341163" cy="323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5F7A6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①</a:t>
            </a:r>
            <a:endParaRPr lang="en-US" sz="1650" dirty="0"/>
          </a:p>
        </p:txBody>
      </p:sp>
      <p:sp>
        <p:nvSpPr>
          <p:cNvPr id="8" name="Text 5"/>
          <p:cNvSpPr txBox="1"/>
          <p:nvPr/>
        </p:nvSpPr>
        <p:spPr>
          <a:xfrm>
            <a:off x="1466880" y="1951421"/>
            <a:ext cx="1560241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75" b="1" spc="-16" kern="0" dirty="0">
                <a:solidFill>
                  <a:srgbClr val="5F7A6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好友一直沒增加</a:t>
            </a:r>
            <a:endParaRPr lang="en-US" sz="1575" dirty="0"/>
          </a:p>
        </p:txBody>
      </p:sp>
      <p:sp>
        <p:nvSpPr>
          <p:cNvPr id="9" name="Text 6"/>
          <p:cNvSpPr txBox="1"/>
          <p:nvPr/>
        </p:nvSpPr>
        <p:spPr>
          <a:xfrm>
            <a:off x="981060" y="2399111"/>
            <a:ext cx="963229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2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代表什麼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981060" y="2732502"/>
            <a:ext cx="3158338" cy="952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52"/>
              </a:lnSpc>
              <a:buNone/>
            </a:pPr>
            <a:r>
              <a:rPr lang="en-US" sz="1575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沒有人知道你有官方帳號。多半是 QR Code 沒有出現在客人看得到的地方。</a:t>
            </a:r>
            <a:endParaRPr lang="en-US" sz="1575" dirty="0"/>
          </a:p>
        </p:txBody>
      </p:sp>
      <p:sp>
        <p:nvSpPr>
          <p:cNvPr id="11" name="Text 8"/>
          <p:cNvSpPr txBox="1"/>
          <p:nvPr/>
        </p:nvSpPr>
        <p:spPr>
          <a:xfrm>
            <a:off x="981060" y="3799698"/>
            <a:ext cx="1399398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2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下一篇怎麼改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981060" y="4133088"/>
            <a:ext cx="3195096" cy="6288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52"/>
              </a:lnSpc>
              <a:buNone/>
            </a:pPr>
            <a:r>
              <a:rPr lang="en-US" sz="1575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把 QR Code </a:t>
            </a:r>
            <a:pPr algn="l" indent="0" marL="0">
              <a:lnSpc>
                <a:spcPts val="2552"/>
              </a:lnSpc>
              <a:buNone/>
            </a:pPr>
            <a:r>
              <a:rPr lang="en-US" sz="1575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印出來貼在包裝與攤位</a:t>
            </a:r>
            <a:pPr algn="l" indent="0" marL="0">
              <a:lnSpc>
                <a:spcPts val="2552"/>
              </a:lnSpc>
              <a:buNone/>
            </a:pPr>
            <a:r>
              <a:rPr lang="en-US" sz="1575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，並放進 FB 粉專與 IG 簡介。</a:t>
            </a:r>
            <a:endParaRPr lang="en-US" sz="1575" dirty="0"/>
          </a:p>
        </p:txBody>
      </p:sp>
      <p:sp>
        <p:nvSpPr>
          <p:cNvPr id="13" name="Shape 10"/>
          <p:cNvSpPr/>
          <p:nvPr/>
        </p:nvSpPr>
        <p:spPr>
          <a:xfrm>
            <a:off x="4400550" y="1694292"/>
            <a:ext cx="3390870" cy="3296412"/>
          </a:xfrm>
          <a:prstGeom prst="roundRect">
            <a:avLst>
              <a:gd name="adj" fmla="val 6935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4619640" y="1913291"/>
            <a:ext cx="381030" cy="381030"/>
          </a:xfrm>
          <a:prstGeom prst="roundRect">
            <a:avLst>
              <a:gd name="adj" fmla="val 29998"/>
            </a:avLst>
          </a:prstGeom>
          <a:solidFill>
            <a:srgbClr val="F8E6C9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4667098" y="1941911"/>
            <a:ext cx="341163" cy="323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D99A4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②</a:t>
            </a:r>
            <a:endParaRPr lang="en-US" sz="1650" dirty="0"/>
          </a:p>
        </p:txBody>
      </p:sp>
      <p:sp>
        <p:nvSpPr>
          <p:cNvPr id="16" name="Text 13"/>
          <p:cNvSpPr txBox="1"/>
          <p:nvPr/>
        </p:nvSpPr>
        <p:spPr>
          <a:xfrm>
            <a:off x="5067330" y="1951421"/>
            <a:ext cx="1560241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75" b="1" spc="-16" kern="0" dirty="0">
                <a:solidFill>
                  <a:srgbClr val="D99A4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群發後有人封鎖</a:t>
            </a:r>
            <a:endParaRPr lang="en-US" sz="1575" dirty="0"/>
          </a:p>
        </p:txBody>
      </p:sp>
      <p:sp>
        <p:nvSpPr>
          <p:cNvPr id="17" name="Text 14"/>
          <p:cNvSpPr txBox="1"/>
          <p:nvPr/>
        </p:nvSpPr>
        <p:spPr>
          <a:xfrm>
            <a:off x="4581510" y="2399111"/>
            <a:ext cx="963229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2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代表什麼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4581510" y="2732502"/>
            <a:ext cx="3059308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52"/>
              </a:lnSpc>
              <a:buNone/>
            </a:pPr>
            <a:r>
              <a:rPr lang="en-US" sz="1575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發太頻繁，或每次都在賣東西。</a:t>
            </a:r>
            <a:endParaRPr lang="en-US" sz="1575" dirty="0"/>
          </a:p>
        </p:txBody>
      </p:sp>
      <p:sp>
        <p:nvSpPr>
          <p:cNvPr id="19" name="Text 16"/>
          <p:cNvSpPr txBox="1"/>
          <p:nvPr/>
        </p:nvSpPr>
        <p:spPr>
          <a:xfrm>
            <a:off x="4581510" y="3151754"/>
            <a:ext cx="1399398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2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下一篇怎麼改</a:t>
            </a:r>
            <a:endParaRPr lang="en-US" sz="1500" dirty="0"/>
          </a:p>
        </p:txBody>
      </p:sp>
      <p:sp>
        <p:nvSpPr>
          <p:cNvPr id="20" name="Text 17"/>
          <p:cNvSpPr txBox="1"/>
          <p:nvPr/>
        </p:nvSpPr>
        <p:spPr>
          <a:xfrm>
            <a:off x="4581510" y="3485144"/>
            <a:ext cx="3097073" cy="952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52"/>
              </a:lnSpc>
              <a:buNone/>
            </a:pPr>
            <a:r>
              <a:rPr lang="en-US" sz="1575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改成</a:t>
            </a:r>
            <a:pPr algn="l" indent="0" marL="0">
              <a:lnSpc>
                <a:spcPts val="2552"/>
              </a:lnSpc>
              <a:buNone/>
            </a:pPr>
            <a:r>
              <a:rPr lang="en-US" sz="1575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一個月 1–2 則</a:t>
            </a:r>
            <a:pPr algn="l" indent="0" marL="0">
              <a:lnSpc>
                <a:spcPts val="2552"/>
              </a:lnSpc>
              <a:buNone/>
            </a:pPr>
            <a:r>
              <a:rPr lang="en-US" sz="1575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，而且要發</a:t>
            </a:r>
            <a:pPr algn="l" indent="0" marL="0">
              <a:lnSpc>
                <a:spcPts val="2552"/>
              </a:lnSpc>
              <a:buNone/>
            </a:pPr>
            <a:r>
              <a:rPr lang="en-US" sz="1575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對客人有用的事</a:t>
            </a:r>
            <a:pPr algn="l" indent="0" marL="0">
              <a:lnSpc>
                <a:spcPts val="2552"/>
              </a:lnSpc>
              <a:buNone/>
            </a:pPr>
            <a:r>
              <a:rPr lang="en-US" sz="1575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（到貨、休假、優惠）。</a:t>
            </a:r>
            <a:endParaRPr lang="en-US" sz="1575" dirty="0"/>
          </a:p>
        </p:txBody>
      </p:sp>
      <p:sp>
        <p:nvSpPr>
          <p:cNvPr id="21" name="Shape 18"/>
          <p:cNvSpPr/>
          <p:nvPr/>
        </p:nvSpPr>
        <p:spPr>
          <a:xfrm>
            <a:off x="8001000" y="1694292"/>
            <a:ext cx="3390870" cy="3296412"/>
          </a:xfrm>
          <a:prstGeom prst="roundRect">
            <a:avLst>
              <a:gd name="adj" fmla="val 6935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8220090" y="1913291"/>
            <a:ext cx="381030" cy="381030"/>
          </a:xfrm>
          <a:prstGeom prst="roundRect">
            <a:avLst>
              <a:gd name="adj" fmla="val 29998"/>
            </a:avLst>
          </a:prstGeom>
          <a:solidFill>
            <a:srgbClr val="FBEEE6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8267548" y="1941911"/>
            <a:ext cx="341163" cy="323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③</a:t>
            </a:r>
            <a:endParaRPr lang="en-US" sz="1650" dirty="0"/>
          </a:p>
        </p:txBody>
      </p:sp>
      <p:sp>
        <p:nvSpPr>
          <p:cNvPr id="24" name="Text 21"/>
          <p:cNvSpPr txBox="1"/>
          <p:nvPr/>
        </p:nvSpPr>
        <p:spPr>
          <a:xfrm>
            <a:off x="8667780" y="1951421"/>
            <a:ext cx="1140440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75" b="1" spc="-16" kern="0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開封率很低</a:t>
            </a:r>
            <a:endParaRPr lang="en-US" sz="1575" dirty="0"/>
          </a:p>
        </p:txBody>
      </p:sp>
      <p:sp>
        <p:nvSpPr>
          <p:cNvPr id="25" name="Text 22"/>
          <p:cNvSpPr txBox="1"/>
          <p:nvPr/>
        </p:nvSpPr>
        <p:spPr>
          <a:xfrm>
            <a:off x="8181960" y="2399111"/>
            <a:ext cx="963229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2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代表什麼</a:t>
            </a:r>
            <a:endParaRPr lang="en-US" sz="1500" dirty="0"/>
          </a:p>
        </p:txBody>
      </p:sp>
      <p:sp>
        <p:nvSpPr>
          <p:cNvPr id="26" name="Text 23"/>
          <p:cNvSpPr txBox="1"/>
          <p:nvPr/>
        </p:nvSpPr>
        <p:spPr>
          <a:xfrm>
            <a:off x="8181960" y="2732502"/>
            <a:ext cx="3059308" cy="6288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52"/>
              </a:lnSpc>
              <a:buNone/>
            </a:pPr>
            <a:r>
              <a:rPr lang="en-US" sz="1575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訊息有送到，但沒人點開。通常是第一句話看不出重點。</a:t>
            </a:r>
            <a:endParaRPr lang="en-US" sz="1575" dirty="0"/>
          </a:p>
        </p:txBody>
      </p:sp>
      <p:sp>
        <p:nvSpPr>
          <p:cNvPr id="27" name="Text 24"/>
          <p:cNvSpPr txBox="1"/>
          <p:nvPr/>
        </p:nvSpPr>
        <p:spPr>
          <a:xfrm>
            <a:off x="8181960" y="3475726"/>
            <a:ext cx="1399398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2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下一篇怎麼改</a:t>
            </a:r>
            <a:endParaRPr lang="en-US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8181960" y="3809116"/>
            <a:ext cx="3165196" cy="6288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52"/>
              </a:lnSpc>
              <a:buNone/>
            </a:pPr>
            <a:r>
              <a:rPr lang="en-US" sz="1575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第一句直接講重點：</a:t>
            </a:r>
            <a:pPr algn="l" indent="0" marL="0">
              <a:lnSpc>
                <a:spcPts val="2552"/>
              </a:lnSpc>
              <a:buNone/>
            </a:pPr>
            <a:r>
              <a:rPr lang="en-US" sz="1575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「本週開放預訂」</a:t>
            </a:r>
            <a:pPr algn="l" indent="0" marL="0">
              <a:lnSpc>
                <a:spcPts val="2552"/>
              </a:lnSpc>
              <a:buNone/>
            </a:pPr>
            <a:r>
              <a:rPr lang="en-US" sz="1575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，不要用「大家好」開頭。</a:t>
            </a:r>
            <a:endParaRPr lang="en-US" sz="1575" dirty="0"/>
          </a:p>
        </p:txBody>
      </p:sp>
      <p:sp>
        <p:nvSpPr>
          <p:cNvPr id="29" name="Shape 26"/>
          <p:cNvSpPr/>
          <p:nvPr/>
        </p:nvSpPr>
        <p:spPr>
          <a:xfrm>
            <a:off x="800100" y="5152553"/>
            <a:ext cx="10591770" cy="1000994"/>
          </a:xfrm>
          <a:prstGeom prst="roundRect">
            <a:avLst>
              <a:gd name="adj" fmla="val 17128"/>
            </a:avLst>
          </a:prstGeom>
          <a:solidFill>
            <a:srgbClr val="FBEEE6"/>
          </a:solidFill>
          <a:ln/>
        </p:spPr>
      </p:sp>
      <p:sp>
        <p:nvSpPr>
          <p:cNvPr id="30" name="Shape 27"/>
          <p:cNvSpPr/>
          <p:nvPr/>
        </p:nvSpPr>
        <p:spPr>
          <a:xfrm>
            <a:off x="800100" y="5152553"/>
            <a:ext cx="47640" cy="1000994"/>
          </a:xfrm>
          <a:prstGeom prst="rect">
            <a:avLst/>
          </a:prstGeom>
          <a:solidFill>
            <a:srgbClr val="C05F3C"/>
          </a:solidFill>
          <a:ln/>
        </p:spPr>
      </p:sp>
      <p:pic>
        <p:nvPicPr>
          <p:cNvPr id="31" name="Image 1" descr="/home/user/gogoeveryday/social-course/export-pptx/build/img/p38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360" y="5481645"/>
            <a:ext cx="342900" cy="342900"/>
          </a:xfrm>
          <a:prstGeom prst="rect">
            <a:avLst/>
          </a:prstGeom>
        </p:spPr>
      </p:pic>
      <p:sp>
        <p:nvSpPr>
          <p:cNvPr id="32" name="Text 28"/>
          <p:cNvSpPr txBox="1"/>
          <p:nvPr/>
        </p:nvSpPr>
        <p:spPr>
          <a:xfrm>
            <a:off x="1552560" y="5343114"/>
            <a:ext cx="5187848" cy="6148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LINE 的好友是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最珍貴的名單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——</a:t>
            </a:r>
            <a:endParaRPr lang="en-US" sz="1575" dirty="0"/>
          </a:p>
          <a:p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FB、IG 的粉絲你聯絡不到，LINE 好友你隨時找得到。</a:t>
            </a:r>
            <a:endParaRPr lang="en-US" sz="1575" dirty="0"/>
          </a:p>
        </p:txBody>
      </p:sp>
      <p:sp>
        <p:nvSpPr>
          <p:cNvPr id="33" name="Shape 29"/>
          <p:cNvSpPr/>
          <p:nvPr/>
        </p:nvSpPr>
        <p:spPr>
          <a:xfrm>
            <a:off x="10260208" y="228600"/>
            <a:ext cx="1131661" cy="447690"/>
          </a:xfrm>
          <a:prstGeom prst="roundRect">
            <a:avLst>
              <a:gd name="adj" fmla="val 50000"/>
            </a:avLst>
          </a:prstGeom>
          <a:solidFill>
            <a:srgbClr val="5F7A63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34" name="Text 30"/>
          <p:cNvSpPr txBox="1"/>
          <p:nvPr/>
        </p:nvSpPr>
        <p:spPr>
          <a:xfrm>
            <a:off x="10384018" y="304770"/>
            <a:ext cx="947136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90" kern="0" dirty="0">
                <a:solidFill>
                  <a:srgbClr val="FBF7F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一起判讀</a:t>
            </a:r>
            <a:endParaRPr lang="en-US" sz="1500" dirty="0"/>
          </a:p>
        </p:txBody>
      </p:sp>
      <p:sp>
        <p:nvSpPr>
          <p:cNvPr id="35" name="Text 31"/>
          <p:cNvSpPr txBox="1"/>
          <p:nvPr/>
        </p:nvSpPr>
        <p:spPr>
          <a:xfrm>
            <a:off x="761970" y="6343650"/>
            <a:ext cx="2029877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PART 3 · 15:30</a:t>
            </a:r>
            <a:endParaRPr lang="en-US" sz="1500" dirty="0"/>
          </a:p>
        </p:txBody>
      </p:sp>
      <p:sp>
        <p:nvSpPr>
          <p:cNvPr id="36" name="Text 32"/>
          <p:cNvSpPr txBox="1"/>
          <p:nvPr/>
        </p:nvSpPr>
        <p:spPr>
          <a:xfrm>
            <a:off x="10690616" y="6343650"/>
            <a:ext cx="794614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38 / 42</a:t>
            </a:r>
            <a:endParaRPr lang="en-US" sz="15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social-course/export-pptx/build/bg/39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1970" y="652882"/>
            <a:ext cx="120152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50" kern="0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今天的成果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761970" y="1033912"/>
            <a:ext cx="4009278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94"/>
              </a:lnSpc>
              <a:buNone/>
            </a:pPr>
            <a:r>
              <a:rPr lang="en-US" sz="2700" b="1" spc="-54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三個帳號，全部確認一次</a:t>
            </a:r>
            <a:endParaRPr lang="en-US" sz="2700" dirty="0"/>
          </a:p>
        </p:txBody>
      </p:sp>
      <p:sp>
        <p:nvSpPr>
          <p:cNvPr id="5" name="Shape 2"/>
          <p:cNvSpPr/>
          <p:nvPr/>
        </p:nvSpPr>
        <p:spPr>
          <a:xfrm>
            <a:off x="800100" y="1842607"/>
            <a:ext cx="3390870" cy="3295680"/>
          </a:xfrm>
          <a:prstGeom prst="roundRect">
            <a:avLst>
              <a:gd name="adj" fmla="val 6936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809610" y="1852209"/>
            <a:ext cx="3371850" cy="685800"/>
          </a:xfrm>
          <a:prstGeom prst="rect">
            <a:avLst/>
          </a:prstGeom>
          <a:solidFill>
            <a:srgbClr val="EEF4FF"/>
          </a:solidFill>
          <a:ln/>
        </p:spPr>
      </p:sp>
      <p:pic>
        <p:nvPicPr>
          <p:cNvPr id="7" name="Image 1" descr="/home/user/gogoeveryday/social-course/export-pptx/build/img/p39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0171" y="2004548"/>
            <a:ext cx="381030" cy="38103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447770" y="2042678"/>
            <a:ext cx="1958645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75" b="1" spc="-16" kern="0" dirty="0">
                <a:solidFill>
                  <a:srgbClr val="1877F2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Facebook 粉絲專頁</a:t>
            </a:r>
            <a:endParaRPr lang="en-US" sz="1575" dirty="0"/>
          </a:p>
        </p:txBody>
      </p:sp>
      <p:sp>
        <p:nvSpPr>
          <p:cNvPr id="9" name="Shape 5"/>
          <p:cNvSpPr/>
          <p:nvPr/>
        </p:nvSpPr>
        <p:spPr>
          <a:xfrm>
            <a:off x="1000171" y="2690348"/>
            <a:ext cx="2990820" cy="485821"/>
          </a:xfrm>
          <a:prstGeom prst="roundRect">
            <a:avLst>
              <a:gd name="adj" fmla="val 27442"/>
            </a:avLst>
          </a:prstGeom>
          <a:solidFill>
            <a:srgbClr val="FBF7F1"/>
          </a:solidFill>
          <a:ln w="9525">
            <a:solidFill>
              <a:srgbClr val="241C17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1419240" y="2785628"/>
            <a:ext cx="110048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粉專已建立</a:t>
            </a:r>
            <a:endParaRPr lang="en-US" sz="1500" dirty="0"/>
          </a:p>
        </p:txBody>
      </p:sp>
      <p:sp>
        <p:nvSpPr>
          <p:cNvPr id="11" name="Shape 7"/>
          <p:cNvSpPr/>
          <p:nvPr/>
        </p:nvSpPr>
        <p:spPr>
          <a:xfrm>
            <a:off x="1000171" y="3252338"/>
            <a:ext cx="2990820" cy="485821"/>
          </a:xfrm>
          <a:prstGeom prst="roundRect">
            <a:avLst>
              <a:gd name="adj" fmla="val 27442"/>
            </a:avLst>
          </a:prstGeom>
          <a:solidFill>
            <a:srgbClr val="FBF7F1"/>
          </a:solidFill>
          <a:ln w="9525">
            <a:solidFill>
              <a:srgbClr val="241C17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1419240" y="3347618"/>
            <a:ext cx="231206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大頭貼、封面、簡介完成</a:t>
            </a:r>
            <a:endParaRPr lang="en-US" sz="1500" dirty="0"/>
          </a:p>
        </p:txBody>
      </p:sp>
      <p:sp>
        <p:nvSpPr>
          <p:cNvPr id="13" name="Shape 9"/>
          <p:cNvSpPr/>
          <p:nvPr/>
        </p:nvSpPr>
        <p:spPr>
          <a:xfrm>
            <a:off x="1000171" y="3814328"/>
            <a:ext cx="2990820" cy="485821"/>
          </a:xfrm>
          <a:prstGeom prst="roundRect">
            <a:avLst>
              <a:gd name="adj" fmla="val 27442"/>
            </a:avLst>
          </a:prstGeom>
          <a:solidFill>
            <a:srgbClr val="FBF7F1"/>
          </a:solidFill>
          <a:ln w="9525">
            <a:solidFill>
              <a:srgbClr val="241C17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1419240" y="3909609"/>
            <a:ext cx="130247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發過一篇貼文</a:t>
            </a:r>
            <a:endParaRPr lang="en-US" sz="1500" dirty="0"/>
          </a:p>
        </p:txBody>
      </p:sp>
      <p:sp>
        <p:nvSpPr>
          <p:cNvPr id="15" name="Shape 11"/>
          <p:cNvSpPr/>
          <p:nvPr/>
        </p:nvSpPr>
        <p:spPr>
          <a:xfrm>
            <a:off x="1000171" y="4376318"/>
            <a:ext cx="2990820" cy="485821"/>
          </a:xfrm>
          <a:prstGeom prst="roundRect">
            <a:avLst>
              <a:gd name="adj" fmla="val 27442"/>
            </a:avLst>
          </a:prstGeom>
          <a:solidFill>
            <a:srgbClr val="FBF7F1"/>
          </a:solidFill>
          <a:ln w="9525">
            <a:solidFill>
              <a:srgbClr val="241C17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1419240" y="4471507"/>
            <a:ext cx="190826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找得到專業主頁面板</a:t>
            </a:r>
            <a:endParaRPr lang="en-US" sz="1500" dirty="0"/>
          </a:p>
        </p:txBody>
      </p:sp>
      <p:sp>
        <p:nvSpPr>
          <p:cNvPr id="17" name="Shape 13"/>
          <p:cNvSpPr/>
          <p:nvPr/>
        </p:nvSpPr>
        <p:spPr>
          <a:xfrm>
            <a:off x="4400550" y="1842607"/>
            <a:ext cx="3390870" cy="3295680"/>
          </a:xfrm>
          <a:prstGeom prst="roundRect">
            <a:avLst>
              <a:gd name="adj" fmla="val 6936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4410060" y="1852209"/>
            <a:ext cx="3371850" cy="685800"/>
          </a:xfrm>
          <a:prstGeom prst="rect">
            <a:avLst/>
          </a:prstGeom>
          <a:solidFill>
            <a:srgbClr val="FDEEF4"/>
          </a:solidFill>
          <a:ln/>
        </p:spPr>
      </p:sp>
      <p:pic>
        <p:nvPicPr>
          <p:cNvPr id="19" name="Image 2" descr="/home/user/gogoeveryday/social-course/export-pptx/build/img/p39-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00621" y="2004548"/>
            <a:ext cx="381030" cy="381030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5048220" y="2042678"/>
            <a:ext cx="1129650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75" b="1" spc="-16" kern="0" dirty="0">
                <a:solidFill>
                  <a:srgbClr val="E1306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Instagram</a:t>
            </a:r>
            <a:endParaRPr lang="en-US" sz="1575" dirty="0"/>
          </a:p>
        </p:txBody>
      </p:sp>
      <p:sp>
        <p:nvSpPr>
          <p:cNvPr id="21" name="Shape 16"/>
          <p:cNvSpPr/>
          <p:nvPr/>
        </p:nvSpPr>
        <p:spPr>
          <a:xfrm>
            <a:off x="4600621" y="2690348"/>
            <a:ext cx="2990820" cy="485821"/>
          </a:xfrm>
          <a:prstGeom prst="roundRect">
            <a:avLst>
              <a:gd name="adj" fmla="val 27442"/>
            </a:avLst>
          </a:prstGeom>
          <a:solidFill>
            <a:srgbClr val="FBF7F1"/>
          </a:solidFill>
          <a:ln w="9525">
            <a:solidFill>
              <a:srgbClr val="241C17"/>
            </a:solidFill>
            <a:prstDash val="solid"/>
          </a:ln>
        </p:spPr>
      </p:sp>
      <p:sp>
        <p:nvSpPr>
          <p:cNvPr id="22" name="Text 17"/>
          <p:cNvSpPr txBox="1"/>
          <p:nvPr/>
        </p:nvSpPr>
        <p:spPr>
          <a:xfrm>
            <a:off x="5019690" y="2785628"/>
            <a:ext cx="110048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帳號已建立</a:t>
            </a:r>
            <a:endParaRPr lang="en-US" sz="1500" dirty="0"/>
          </a:p>
        </p:txBody>
      </p:sp>
      <p:sp>
        <p:nvSpPr>
          <p:cNvPr id="23" name="Shape 18"/>
          <p:cNvSpPr/>
          <p:nvPr/>
        </p:nvSpPr>
        <p:spPr>
          <a:xfrm>
            <a:off x="4600621" y="3252338"/>
            <a:ext cx="2990820" cy="485821"/>
          </a:xfrm>
          <a:prstGeom prst="roundRect">
            <a:avLst>
              <a:gd name="adj" fmla="val 27442"/>
            </a:avLst>
          </a:prstGeom>
          <a:solidFill>
            <a:srgbClr val="FBF7F1"/>
          </a:solidFill>
          <a:ln w="9525">
            <a:solidFill>
              <a:srgbClr val="241C17"/>
            </a:solidFill>
            <a:prstDash val="solid"/>
          </a:ln>
        </p:spPr>
      </p:sp>
      <p:sp>
        <p:nvSpPr>
          <p:cNvPr id="24" name="Text 19"/>
          <p:cNvSpPr txBox="1"/>
          <p:nvPr/>
        </p:nvSpPr>
        <p:spPr>
          <a:xfrm>
            <a:off x="5019690" y="3347618"/>
            <a:ext cx="170627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已切換成專業帳號</a:t>
            </a:r>
            <a:endParaRPr lang="en-US" sz="1500" dirty="0"/>
          </a:p>
        </p:txBody>
      </p:sp>
      <p:sp>
        <p:nvSpPr>
          <p:cNvPr id="25" name="Shape 20"/>
          <p:cNvSpPr/>
          <p:nvPr/>
        </p:nvSpPr>
        <p:spPr>
          <a:xfrm>
            <a:off x="4600621" y="3814328"/>
            <a:ext cx="2990820" cy="485821"/>
          </a:xfrm>
          <a:prstGeom prst="roundRect">
            <a:avLst>
              <a:gd name="adj" fmla="val 27442"/>
            </a:avLst>
          </a:prstGeom>
          <a:solidFill>
            <a:srgbClr val="FBF7F1"/>
          </a:solidFill>
          <a:ln w="9525">
            <a:solidFill>
              <a:srgbClr val="241C17"/>
            </a:solidFill>
            <a:prstDash val="solid"/>
          </a:ln>
        </p:spPr>
      </p:sp>
      <p:sp>
        <p:nvSpPr>
          <p:cNvPr id="26" name="Text 21"/>
          <p:cNvSpPr txBox="1"/>
          <p:nvPr/>
        </p:nvSpPr>
        <p:spPr>
          <a:xfrm>
            <a:off x="5019690" y="3909609"/>
            <a:ext cx="150437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發過貼文與限動</a:t>
            </a:r>
            <a:endParaRPr lang="en-US" sz="1500" dirty="0"/>
          </a:p>
        </p:txBody>
      </p:sp>
      <p:sp>
        <p:nvSpPr>
          <p:cNvPr id="27" name="Shape 22"/>
          <p:cNvSpPr/>
          <p:nvPr/>
        </p:nvSpPr>
        <p:spPr>
          <a:xfrm>
            <a:off x="4600621" y="4376318"/>
            <a:ext cx="2990820" cy="485821"/>
          </a:xfrm>
          <a:prstGeom prst="roundRect">
            <a:avLst>
              <a:gd name="adj" fmla="val 27442"/>
            </a:avLst>
          </a:prstGeom>
          <a:solidFill>
            <a:srgbClr val="FBF7F1"/>
          </a:solidFill>
          <a:ln w="9525">
            <a:solidFill>
              <a:srgbClr val="241C17"/>
            </a:solidFill>
            <a:prstDash val="solid"/>
          </a:ln>
        </p:spPr>
      </p:sp>
      <p:sp>
        <p:nvSpPr>
          <p:cNvPr id="28" name="Text 23"/>
          <p:cNvSpPr txBox="1"/>
          <p:nvPr/>
        </p:nvSpPr>
        <p:spPr>
          <a:xfrm>
            <a:off x="5019690" y="4471507"/>
            <a:ext cx="150437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找得到洞察報告</a:t>
            </a:r>
            <a:endParaRPr lang="en-US" sz="1500" dirty="0"/>
          </a:p>
        </p:txBody>
      </p:sp>
      <p:sp>
        <p:nvSpPr>
          <p:cNvPr id="29" name="Shape 24"/>
          <p:cNvSpPr/>
          <p:nvPr/>
        </p:nvSpPr>
        <p:spPr>
          <a:xfrm>
            <a:off x="8001000" y="1842607"/>
            <a:ext cx="3390870" cy="3295680"/>
          </a:xfrm>
          <a:prstGeom prst="roundRect">
            <a:avLst>
              <a:gd name="adj" fmla="val 6936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30" name="Shape 25"/>
          <p:cNvSpPr/>
          <p:nvPr/>
        </p:nvSpPr>
        <p:spPr>
          <a:xfrm>
            <a:off x="8010510" y="1852209"/>
            <a:ext cx="3371850" cy="685800"/>
          </a:xfrm>
          <a:prstGeom prst="rect">
            <a:avLst/>
          </a:prstGeom>
          <a:solidFill>
            <a:srgbClr val="E6F8EE"/>
          </a:solidFill>
          <a:ln/>
        </p:spPr>
      </p:sp>
      <p:pic>
        <p:nvPicPr>
          <p:cNvPr id="31" name="Image 3" descr="/home/user/gogoeveryday/social-course/export-pptx/build/img/p39-3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01071" y="2004548"/>
            <a:ext cx="381030" cy="381030"/>
          </a:xfrm>
          <a:prstGeom prst="rect">
            <a:avLst/>
          </a:prstGeom>
        </p:spPr>
      </p:pic>
      <p:sp>
        <p:nvSpPr>
          <p:cNvPr id="32" name="Text 26"/>
          <p:cNvSpPr txBox="1"/>
          <p:nvPr/>
        </p:nvSpPr>
        <p:spPr>
          <a:xfrm>
            <a:off x="8648670" y="2042678"/>
            <a:ext cx="1449781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75" b="1" spc="-16" kern="0" dirty="0">
                <a:solidFill>
                  <a:srgbClr val="03934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LINE 官方帳號</a:t>
            </a:r>
            <a:endParaRPr lang="en-US" sz="1575" dirty="0"/>
          </a:p>
        </p:txBody>
      </p:sp>
      <p:sp>
        <p:nvSpPr>
          <p:cNvPr id="33" name="Shape 27"/>
          <p:cNvSpPr/>
          <p:nvPr/>
        </p:nvSpPr>
        <p:spPr>
          <a:xfrm>
            <a:off x="8201071" y="2690348"/>
            <a:ext cx="2990820" cy="485821"/>
          </a:xfrm>
          <a:prstGeom prst="roundRect">
            <a:avLst>
              <a:gd name="adj" fmla="val 27442"/>
            </a:avLst>
          </a:prstGeom>
          <a:solidFill>
            <a:srgbClr val="FBF7F1"/>
          </a:solidFill>
          <a:ln w="9525">
            <a:solidFill>
              <a:srgbClr val="241C17"/>
            </a:solidFill>
            <a:prstDash val="solid"/>
          </a:ln>
        </p:spPr>
      </p:sp>
      <p:sp>
        <p:nvSpPr>
          <p:cNvPr id="34" name="Text 28"/>
          <p:cNvSpPr txBox="1"/>
          <p:nvPr/>
        </p:nvSpPr>
        <p:spPr>
          <a:xfrm>
            <a:off x="8620140" y="2785628"/>
            <a:ext cx="150437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官方帳號已建立</a:t>
            </a:r>
            <a:endParaRPr lang="en-US" sz="1500" dirty="0"/>
          </a:p>
        </p:txBody>
      </p:sp>
      <p:sp>
        <p:nvSpPr>
          <p:cNvPr id="35" name="Shape 29"/>
          <p:cNvSpPr/>
          <p:nvPr/>
        </p:nvSpPr>
        <p:spPr>
          <a:xfrm>
            <a:off x="8201071" y="3252338"/>
            <a:ext cx="2990820" cy="485821"/>
          </a:xfrm>
          <a:prstGeom prst="roundRect">
            <a:avLst>
              <a:gd name="adj" fmla="val 27442"/>
            </a:avLst>
          </a:prstGeom>
          <a:solidFill>
            <a:srgbClr val="FBF7F1"/>
          </a:solidFill>
          <a:ln w="9525">
            <a:solidFill>
              <a:srgbClr val="241C17"/>
            </a:solidFill>
            <a:prstDash val="solid"/>
          </a:ln>
        </p:spPr>
      </p:sp>
      <p:sp>
        <p:nvSpPr>
          <p:cNvPr id="36" name="Text 30"/>
          <p:cNvSpPr txBox="1"/>
          <p:nvPr/>
        </p:nvSpPr>
        <p:spPr>
          <a:xfrm>
            <a:off x="8620140" y="3347618"/>
            <a:ext cx="150437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歡迎訊息已設定</a:t>
            </a:r>
            <a:endParaRPr lang="en-US" sz="1500" dirty="0"/>
          </a:p>
        </p:txBody>
      </p:sp>
      <p:sp>
        <p:nvSpPr>
          <p:cNvPr id="37" name="Shape 31"/>
          <p:cNvSpPr/>
          <p:nvPr/>
        </p:nvSpPr>
        <p:spPr>
          <a:xfrm>
            <a:off x="8201071" y="3814328"/>
            <a:ext cx="2990820" cy="485821"/>
          </a:xfrm>
          <a:prstGeom prst="roundRect">
            <a:avLst>
              <a:gd name="adj" fmla="val 27442"/>
            </a:avLst>
          </a:prstGeom>
          <a:solidFill>
            <a:srgbClr val="FBF7F1"/>
          </a:solidFill>
          <a:ln w="9525">
            <a:solidFill>
              <a:srgbClr val="241C17"/>
            </a:solidFill>
            <a:prstDash val="solid"/>
          </a:ln>
        </p:spPr>
      </p:sp>
      <p:sp>
        <p:nvSpPr>
          <p:cNvPr id="38" name="Text 32"/>
          <p:cNvSpPr txBox="1"/>
          <p:nvPr/>
        </p:nvSpPr>
        <p:spPr>
          <a:xfrm>
            <a:off x="8620140" y="3909609"/>
            <a:ext cx="150437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群發過一則訊息</a:t>
            </a:r>
            <a:endParaRPr lang="en-US" sz="1500" dirty="0"/>
          </a:p>
        </p:txBody>
      </p:sp>
      <p:sp>
        <p:nvSpPr>
          <p:cNvPr id="39" name="Shape 33"/>
          <p:cNvSpPr/>
          <p:nvPr/>
        </p:nvSpPr>
        <p:spPr>
          <a:xfrm>
            <a:off x="8201071" y="4376318"/>
            <a:ext cx="2990820" cy="485821"/>
          </a:xfrm>
          <a:prstGeom prst="roundRect">
            <a:avLst>
              <a:gd name="adj" fmla="val 27442"/>
            </a:avLst>
          </a:prstGeom>
          <a:solidFill>
            <a:srgbClr val="FBF7F1"/>
          </a:solidFill>
          <a:ln w="9525">
            <a:solidFill>
              <a:srgbClr val="241C17"/>
            </a:solidFill>
            <a:prstDash val="solid"/>
          </a:ln>
        </p:spPr>
      </p:sp>
      <p:sp>
        <p:nvSpPr>
          <p:cNvPr id="40" name="Text 34"/>
          <p:cNvSpPr txBox="1"/>
          <p:nvPr/>
        </p:nvSpPr>
        <p:spPr>
          <a:xfrm>
            <a:off x="8620140" y="4471507"/>
            <a:ext cx="1991746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QR Code 已存到相簿</a:t>
            </a:r>
            <a:endParaRPr lang="en-US" sz="1500" dirty="0"/>
          </a:p>
        </p:txBody>
      </p:sp>
      <p:sp>
        <p:nvSpPr>
          <p:cNvPr id="41" name="Shape 35"/>
          <p:cNvSpPr/>
          <p:nvPr/>
        </p:nvSpPr>
        <p:spPr>
          <a:xfrm>
            <a:off x="800100" y="5300228"/>
            <a:ext cx="10591770" cy="704820"/>
          </a:xfrm>
          <a:prstGeom prst="roundRect">
            <a:avLst>
              <a:gd name="adj" fmla="val 24325"/>
            </a:avLst>
          </a:prstGeom>
          <a:solidFill>
            <a:srgbClr val="FBEEE6"/>
          </a:solidFill>
          <a:ln/>
        </p:spPr>
      </p:sp>
      <p:sp>
        <p:nvSpPr>
          <p:cNvPr id="42" name="Shape 36"/>
          <p:cNvSpPr/>
          <p:nvPr/>
        </p:nvSpPr>
        <p:spPr>
          <a:xfrm>
            <a:off x="800100" y="5300228"/>
            <a:ext cx="47640" cy="704820"/>
          </a:xfrm>
          <a:prstGeom prst="rect">
            <a:avLst/>
          </a:prstGeom>
          <a:solidFill>
            <a:srgbClr val="C05F3C"/>
          </a:solidFill>
          <a:ln/>
        </p:spPr>
      </p:sp>
      <p:pic>
        <p:nvPicPr>
          <p:cNvPr id="43" name="Image 4" descr="/home/user/gogoeveryday/social-course/export-pptx/build/img/p39-4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95360" y="5490698"/>
            <a:ext cx="323880" cy="323880"/>
          </a:xfrm>
          <a:prstGeom prst="rect">
            <a:avLst/>
          </a:prstGeom>
        </p:spPr>
      </p:pic>
      <p:sp>
        <p:nvSpPr>
          <p:cNvPr id="44" name="Text 37"/>
          <p:cNvSpPr txBox="1"/>
          <p:nvPr/>
        </p:nvSpPr>
        <p:spPr>
          <a:xfrm>
            <a:off x="1533540" y="5497556"/>
            <a:ext cx="6027633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有任何一項沒完成的，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現在舉手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，我們留下來一起處理完再走。</a:t>
            </a:r>
            <a:endParaRPr lang="en-US" sz="1575" dirty="0"/>
          </a:p>
        </p:txBody>
      </p:sp>
      <p:sp>
        <p:nvSpPr>
          <p:cNvPr id="45" name="Shape 38"/>
          <p:cNvSpPr/>
          <p:nvPr/>
        </p:nvSpPr>
        <p:spPr>
          <a:xfrm>
            <a:off x="10260208" y="228600"/>
            <a:ext cx="1131661" cy="447690"/>
          </a:xfrm>
          <a:prstGeom prst="roundRect">
            <a:avLst>
              <a:gd name="adj" fmla="val 50000"/>
            </a:avLst>
          </a:prstGeom>
          <a:solidFill>
            <a:srgbClr val="C05F3C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46" name="Text 39"/>
          <p:cNvSpPr txBox="1"/>
          <p:nvPr/>
        </p:nvSpPr>
        <p:spPr>
          <a:xfrm>
            <a:off x="10384018" y="304770"/>
            <a:ext cx="947136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90" kern="0" dirty="0">
                <a:solidFill>
                  <a:srgbClr val="FBF7F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成果確認</a:t>
            </a:r>
            <a:endParaRPr lang="en-US" sz="1500" dirty="0"/>
          </a:p>
        </p:txBody>
      </p:sp>
      <p:sp>
        <p:nvSpPr>
          <p:cNvPr id="47" name="Text 40"/>
          <p:cNvSpPr txBox="1"/>
          <p:nvPr/>
        </p:nvSpPr>
        <p:spPr>
          <a:xfrm>
            <a:off x="761970" y="6343650"/>
            <a:ext cx="1723553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收尾 · 15:45</a:t>
            </a:r>
            <a:endParaRPr lang="en-US" sz="1500" dirty="0"/>
          </a:p>
        </p:txBody>
      </p:sp>
      <p:sp>
        <p:nvSpPr>
          <p:cNvPr id="48" name="Text 41"/>
          <p:cNvSpPr txBox="1"/>
          <p:nvPr/>
        </p:nvSpPr>
        <p:spPr>
          <a:xfrm>
            <a:off x="10690616" y="6343650"/>
            <a:ext cx="794614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39 / 42</a:t>
            </a:r>
            <a:endParaRPr lang="en-US" sz="15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social-course/export-pptx/build/bg/4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34263" y="766633"/>
            <a:ext cx="97932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spc="150" kern="0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回家之後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4452396" y="1147572"/>
            <a:ext cx="3296869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3294"/>
              </a:lnSpc>
              <a:buNone/>
            </a:pPr>
            <a:r>
              <a:rPr lang="en-US" sz="2700" b="1" spc="-54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每週只要做這三件事</a:t>
            </a:r>
            <a:endParaRPr lang="en-US" sz="2700" dirty="0"/>
          </a:p>
        </p:txBody>
      </p:sp>
      <p:sp>
        <p:nvSpPr>
          <p:cNvPr id="5" name="Shape 2"/>
          <p:cNvSpPr/>
          <p:nvPr/>
        </p:nvSpPr>
        <p:spPr>
          <a:xfrm>
            <a:off x="800100" y="1956359"/>
            <a:ext cx="3378068" cy="2772095"/>
          </a:xfrm>
          <a:prstGeom prst="roundRect">
            <a:avLst>
              <a:gd name="adj" fmla="val 8246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pic>
        <p:nvPicPr>
          <p:cNvPr id="6" name="Image 1" descr="/home/user/gogoeveryday/social-course/export-pptx/build/img/p40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41469" y="2251619"/>
            <a:ext cx="495330" cy="49533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2308220" y="2880269"/>
            <a:ext cx="361920" cy="361920"/>
          </a:xfrm>
          <a:prstGeom prst="roundRect">
            <a:avLst>
              <a:gd name="adj" fmla="val 31582"/>
            </a:avLst>
          </a:prstGeom>
          <a:solidFill>
            <a:srgbClr val="C05F3C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8" name="Text 4"/>
          <p:cNvSpPr txBox="1"/>
          <p:nvPr/>
        </p:nvSpPr>
        <p:spPr>
          <a:xfrm>
            <a:off x="2371954" y="2908889"/>
            <a:ext cx="24396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</a:t>
            </a:r>
            <a:endParaRPr lang="en-US" sz="1500" dirty="0"/>
          </a:p>
        </p:txBody>
      </p:sp>
      <p:sp>
        <p:nvSpPr>
          <p:cNvPr id="9" name="Text 5"/>
          <p:cNvSpPr txBox="1"/>
          <p:nvPr/>
        </p:nvSpPr>
        <p:spPr>
          <a:xfrm>
            <a:off x="2055388" y="3346978"/>
            <a:ext cx="877001" cy="3715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50" b="1" spc="-20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發 2 篇</a:t>
            </a:r>
            <a:endParaRPr lang="en-US" sz="1950" dirty="0"/>
          </a:p>
        </p:txBody>
      </p:sp>
      <p:sp>
        <p:nvSpPr>
          <p:cNvPr id="10" name="Text 6"/>
          <p:cNvSpPr txBox="1"/>
          <p:nvPr/>
        </p:nvSpPr>
        <p:spPr>
          <a:xfrm>
            <a:off x="1282355" y="3794669"/>
            <a:ext cx="2423160" cy="6288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552"/>
              </a:lnSpc>
              <a:buNone/>
            </a:pPr>
            <a:r>
              <a:rPr lang="en-US" sz="1575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拍你正在做的東西就好。</a:t>
            </a:r>
            <a:endParaRPr lang="en-US" sz="1575" dirty="0"/>
          </a:p>
          <a:p>
            <a:pPr algn="ctr" indent="0" marL="0">
              <a:lnSpc>
                <a:spcPts val="2552"/>
              </a:lnSpc>
              <a:buNone/>
            </a:pPr>
            <a:r>
              <a:rPr lang="en-US" sz="1575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不用寫很多字。</a:t>
            </a:r>
            <a:endParaRPr lang="en-US" sz="1575" dirty="0"/>
          </a:p>
        </p:txBody>
      </p:sp>
      <p:sp>
        <p:nvSpPr>
          <p:cNvPr id="11" name="Shape 7"/>
          <p:cNvSpPr/>
          <p:nvPr/>
        </p:nvSpPr>
        <p:spPr>
          <a:xfrm>
            <a:off x="4406768" y="1956359"/>
            <a:ext cx="3378251" cy="2772095"/>
          </a:xfrm>
          <a:prstGeom prst="roundRect">
            <a:avLst>
              <a:gd name="adj" fmla="val 8246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pic>
        <p:nvPicPr>
          <p:cNvPr id="12" name="Image 2" descr="/home/user/gogoeveryday/social-course/export-pptx/build/img/p40-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48228" y="2251619"/>
            <a:ext cx="495330" cy="495330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5914888" y="2880269"/>
            <a:ext cx="361920" cy="361920"/>
          </a:xfrm>
          <a:prstGeom prst="roundRect">
            <a:avLst>
              <a:gd name="adj" fmla="val 31582"/>
            </a:avLst>
          </a:prstGeom>
          <a:solidFill>
            <a:srgbClr val="5F7A63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4" name="Text 9"/>
          <p:cNvSpPr txBox="1"/>
          <p:nvPr/>
        </p:nvSpPr>
        <p:spPr>
          <a:xfrm>
            <a:off x="5978622" y="2908889"/>
            <a:ext cx="24396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2</a:t>
            </a:r>
            <a:endParaRPr lang="en-US" sz="1500" dirty="0"/>
          </a:p>
        </p:txBody>
      </p:sp>
      <p:sp>
        <p:nvSpPr>
          <p:cNvPr id="15" name="Text 10"/>
          <p:cNvSpPr txBox="1"/>
          <p:nvPr/>
        </p:nvSpPr>
        <p:spPr>
          <a:xfrm>
            <a:off x="5275539" y="3346978"/>
            <a:ext cx="1650309" cy="3715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50" b="1" spc="-20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回留言與訊息</a:t>
            </a:r>
            <a:endParaRPr lang="en-US" sz="1950" dirty="0"/>
          </a:p>
        </p:txBody>
      </p:sp>
      <p:sp>
        <p:nvSpPr>
          <p:cNvPr id="16" name="Text 11"/>
          <p:cNvSpPr txBox="1"/>
          <p:nvPr/>
        </p:nvSpPr>
        <p:spPr>
          <a:xfrm>
            <a:off x="4570994" y="3794669"/>
            <a:ext cx="3059308" cy="6288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552"/>
              </a:lnSpc>
              <a:buNone/>
            </a:pPr>
            <a:r>
              <a:rPr lang="en-US" sz="1575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有人留言就回，回一句「謝謝」都好。</a:t>
            </a:r>
            <a:endParaRPr lang="en-US" sz="1575" dirty="0"/>
          </a:p>
        </p:txBody>
      </p:sp>
      <p:sp>
        <p:nvSpPr>
          <p:cNvPr id="17" name="Shape 12"/>
          <p:cNvSpPr/>
          <p:nvPr/>
        </p:nvSpPr>
        <p:spPr>
          <a:xfrm>
            <a:off x="8013619" y="1956359"/>
            <a:ext cx="3378068" cy="2772095"/>
          </a:xfrm>
          <a:prstGeom prst="roundRect">
            <a:avLst>
              <a:gd name="adj" fmla="val 8246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pic>
        <p:nvPicPr>
          <p:cNvPr id="18" name="Image 3" descr="/home/user/gogoeveryday/social-course/export-pptx/build/img/p40-3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26458" y="2251619"/>
            <a:ext cx="552480" cy="490941"/>
          </a:xfrm>
          <a:prstGeom prst="rect">
            <a:avLst/>
          </a:prstGeom>
        </p:spPr>
      </p:pic>
      <p:sp>
        <p:nvSpPr>
          <p:cNvPr id="19" name="Shape 13"/>
          <p:cNvSpPr/>
          <p:nvPr/>
        </p:nvSpPr>
        <p:spPr>
          <a:xfrm>
            <a:off x="9521739" y="2875971"/>
            <a:ext cx="361920" cy="361920"/>
          </a:xfrm>
          <a:prstGeom prst="roundRect">
            <a:avLst>
              <a:gd name="adj" fmla="val 31582"/>
            </a:avLst>
          </a:prstGeom>
          <a:solidFill>
            <a:srgbClr val="D99A4E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20" name="Text 14"/>
          <p:cNvSpPr txBox="1"/>
          <p:nvPr/>
        </p:nvSpPr>
        <p:spPr>
          <a:xfrm>
            <a:off x="9585472" y="2904500"/>
            <a:ext cx="24396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3</a:t>
            </a:r>
            <a:endParaRPr lang="en-US" sz="1500" dirty="0"/>
          </a:p>
        </p:txBody>
      </p:sp>
      <p:sp>
        <p:nvSpPr>
          <p:cNvPr id="21" name="Text 15"/>
          <p:cNvSpPr txBox="1"/>
          <p:nvPr/>
        </p:nvSpPr>
        <p:spPr>
          <a:xfrm>
            <a:off x="8752454" y="3342681"/>
            <a:ext cx="1910090" cy="3715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50" b="1" spc="-20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月底看一次數據</a:t>
            </a:r>
            <a:endParaRPr lang="en-US" sz="1950" dirty="0"/>
          </a:p>
        </p:txBody>
      </p:sp>
      <p:sp>
        <p:nvSpPr>
          <p:cNvPr id="22" name="Text 16"/>
          <p:cNvSpPr txBox="1"/>
          <p:nvPr/>
        </p:nvSpPr>
        <p:spPr>
          <a:xfrm>
            <a:off x="8601944" y="3790371"/>
            <a:ext cx="2211202" cy="6288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552"/>
              </a:lnSpc>
              <a:buNone/>
            </a:pPr>
            <a:r>
              <a:rPr lang="en-US" sz="1575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找出最好的那一篇，</a:t>
            </a:r>
            <a:endParaRPr lang="en-US" sz="1575" dirty="0"/>
          </a:p>
          <a:p>
            <a:pPr algn="ctr" indent="0" marL="0">
              <a:lnSpc>
                <a:spcPts val="2552"/>
              </a:lnSpc>
              <a:buNone/>
            </a:pPr>
            <a:r>
              <a:rPr lang="en-US" sz="1575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下個月照著再做一次。</a:t>
            </a:r>
            <a:endParaRPr lang="en-US" sz="1575" dirty="0"/>
          </a:p>
        </p:txBody>
      </p:sp>
      <p:sp>
        <p:nvSpPr>
          <p:cNvPr id="23" name="Shape 17"/>
          <p:cNvSpPr/>
          <p:nvPr/>
        </p:nvSpPr>
        <p:spPr>
          <a:xfrm>
            <a:off x="800100" y="4890303"/>
            <a:ext cx="10591770" cy="1000994"/>
          </a:xfrm>
          <a:prstGeom prst="roundRect">
            <a:avLst>
              <a:gd name="adj" fmla="val 17128"/>
            </a:avLst>
          </a:prstGeom>
          <a:solidFill>
            <a:srgbClr val="F8E6C9"/>
          </a:solidFill>
          <a:ln/>
        </p:spPr>
      </p:sp>
      <p:sp>
        <p:nvSpPr>
          <p:cNvPr id="24" name="Shape 18"/>
          <p:cNvSpPr/>
          <p:nvPr/>
        </p:nvSpPr>
        <p:spPr>
          <a:xfrm>
            <a:off x="800100" y="4890303"/>
            <a:ext cx="47640" cy="1000994"/>
          </a:xfrm>
          <a:prstGeom prst="rect">
            <a:avLst/>
          </a:prstGeom>
          <a:solidFill>
            <a:srgbClr val="D99A4E"/>
          </a:solidFill>
          <a:ln/>
        </p:spPr>
      </p:sp>
      <p:pic>
        <p:nvPicPr>
          <p:cNvPr id="25" name="Image 4" descr="/home/user/gogoeveryday/social-course/export-pptx/build/img/p40-4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95360" y="5228905"/>
            <a:ext cx="323880" cy="323880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1533540" y="5080864"/>
            <a:ext cx="3059308" cy="6148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一週大約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30 分鐘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就夠。</a:t>
            </a:r>
            <a:endParaRPr lang="en-US" sz="1575" dirty="0"/>
          </a:p>
          <a:p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做得少沒關係，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固定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比較重要。</a:t>
            </a:r>
            <a:endParaRPr lang="en-US" sz="1575" dirty="0"/>
          </a:p>
        </p:txBody>
      </p:sp>
      <p:sp>
        <p:nvSpPr>
          <p:cNvPr id="27" name="Text 20"/>
          <p:cNvSpPr txBox="1"/>
          <p:nvPr/>
        </p:nvSpPr>
        <p:spPr>
          <a:xfrm>
            <a:off x="761970" y="6343650"/>
            <a:ext cx="1723553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收尾 · 15:52</a:t>
            </a:r>
            <a:endParaRPr lang="en-US" sz="1500" dirty="0"/>
          </a:p>
        </p:txBody>
      </p:sp>
      <p:sp>
        <p:nvSpPr>
          <p:cNvPr id="28" name="Text 21"/>
          <p:cNvSpPr txBox="1"/>
          <p:nvPr/>
        </p:nvSpPr>
        <p:spPr>
          <a:xfrm>
            <a:off x="10690616" y="6343650"/>
            <a:ext cx="794614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40 / 42</a:t>
            </a:r>
            <a:endParaRPr lang="en-US" sz="15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social-course/export-pptx/build/bg/4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/home/user/gogoeveryday/social-course/export-pptx/build/img/p41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2050" y="1176376"/>
            <a:ext cx="609630" cy="609630"/>
          </a:xfrm>
          <a:prstGeom prst="rect">
            <a:avLst/>
          </a:prstGeom>
        </p:spPr>
      </p:pic>
      <p:pic>
        <p:nvPicPr>
          <p:cNvPr id="4" name="Image 2" descr="/home/user/gogoeveryday/social-course/export-pptx/build/img/p41-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91170" y="1176376"/>
            <a:ext cx="609630" cy="609630"/>
          </a:xfrm>
          <a:prstGeom prst="rect">
            <a:avLst/>
          </a:prstGeom>
        </p:spPr>
      </p:pic>
      <p:pic>
        <p:nvPicPr>
          <p:cNvPr id="5" name="Image 3" descr="/home/user/gogoeveryday/social-course/export-pptx/build/img/p41-3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10380" y="1176376"/>
            <a:ext cx="609630" cy="609630"/>
          </a:xfrm>
          <a:prstGeom prst="rect">
            <a:avLst/>
          </a:prstGeom>
        </p:spPr>
      </p:pic>
      <p:sp>
        <p:nvSpPr>
          <p:cNvPr id="6" name="Text 0"/>
          <p:cNvSpPr txBox="1"/>
          <p:nvPr/>
        </p:nvSpPr>
        <p:spPr>
          <a:xfrm>
            <a:off x="3509010" y="2052645"/>
            <a:ext cx="5183642" cy="27050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4200"/>
              </a:lnSpc>
              <a:buNone/>
            </a:pPr>
            <a:r>
              <a:rPr lang="en-US" sz="3000" b="1" spc="-90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今天你不是「聽過」怎麼做，</a:t>
            </a:r>
            <a:endParaRPr lang="en-US" sz="3000" dirty="0"/>
          </a:p>
          <a:p>
            <a:pPr algn="ctr" indent="0" marL="0">
              <a:lnSpc>
                <a:spcPts val="4200"/>
              </a:lnSpc>
              <a:buNone/>
            </a:pPr>
            <a:r>
              <a:rPr lang="en-US" sz="3000" b="1" spc="-90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是</a:t>
            </a:r>
            <a:pPr algn="ctr" indent="0" marL="0">
              <a:lnSpc>
                <a:spcPts val="4200"/>
              </a:lnSpc>
              <a:buNone/>
            </a:pPr>
            <a:r>
              <a:rPr lang="en-US" sz="3000" b="1" spc="-90" kern="0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已經做出來了</a:t>
            </a:r>
            <a:pPr algn="ctr" indent="0" marL="0">
              <a:lnSpc>
                <a:spcPts val="4200"/>
              </a:lnSpc>
              <a:buNone/>
            </a:pPr>
            <a:r>
              <a:rPr lang="en-US" sz="3000" b="1" spc="-90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。</a:t>
            </a:r>
            <a:endParaRPr lang="en-US" sz="3000" dirty="0"/>
          </a:p>
          <a:p>
            <a:pPr algn="ctr" indent="0" marL="0">
              <a:lnSpc>
                <a:spcPts val="4200"/>
              </a:lnSpc>
              <a:buNone/>
            </a:pPr>
            <a:r>
              <a:rPr lang="en-US" sz="3000" b="1" spc="-90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回家打開手機，</a:t>
            </a:r>
            <a:endParaRPr lang="en-US" sz="3000" dirty="0"/>
          </a:p>
          <a:p>
            <a:pPr algn="ctr" indent="0" marL="0">
              <a:lnSpc>
                <a:spcPts val="4200"/>
              </a:lnSpc>
              <a:buNone/>
            </a:pPr>
            <a:r>
              <a:rPr lang="en-US" sz="3000" b="1" spc="-90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三個帳號都在那裡等你。</a:t>
            </a:r>
            <a:endParaRPr lang="en-US" sz="3000" dirty="0"/>
          </a:p>
        </p:txBody>
      </p:sp>
      <p:sp>
        <p:nvSpPr>
          <p:cNvPr id="7" name="Shape 1"/>
          <p:cNvSpPr/>
          <p:nvPr/>
        </p:nvSpPr>
        <p:spPr>
          <a:xfrm>
            <a:off x="4069537" y="5043465"/>
            <a:ext cx="2448855" cy="4476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8" name="Text 2"/>
          <p:cNvSpPr txBox="1"/>
          <p:nvPr/>
        </p:nvSpPr>
        <p:spPr>
          <a:xfrm>
            <a:off x="4116903" y="5119726"/>
            <a:ext cx="236354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spc="30" kern="0" dirty="0">
                <a:solidFill>
                  <a:srgbClr val="7A6A5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08/16 社群平台操作入門</a:t>
            </a:r>
            <a:endParaRPr lang="en-US" sz="1500" dirty="0"/>
          </a:p>
        </p:txBody>
      </p:sp>
      <p:sp>
        <p:nvSpPr>
          <p:cNvPr id="9" name="Shape 3"/>
          <p:cNvSpPr/>
          <p:nvPr/>
        </p:nvSpPr>
        <p:spPr>
          <a:xfrm>
            <a:off x="6651711" y="5043465"/>
            <a:ext cx="1470721" cy="4476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0" name="Text 4"/>
          <p:cNvSpPr txBox="1"/>
          <p:nvPr/>
        </p:nvSpPr>
        <p:spPr>
          <a:xfrm>
            <a:off x="6728430" y="5119726"/>
            <a:ext cx="1326703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spc="30" kern="0" dirty="0">
                <a:solidFill>
                  <a:srgbClr val="7A6A5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西屯婦女培力</a:t>
            </a:r>
            <a:endParaRPr lang="en-US" sz="1500" dirty="0"/>
          </a:p>
        </p:txBody>
      </p:sp>
      <p:sp>
        <p:nvSpPr>
          <p:cNvPr id="11" name="Text 5"/>
          <p:cNvSpPr txBox="1"/>
          <p:nvPr/>
        </p:nvSpPr>
        <p:spPr>
          <a:xfrm>
            <a:off x="761970" y="6343650"/>
            <a:ext cx="1723553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收尾 · 15:58</a:t>
            </a:r>
            <a:endParaRPr lang="en-US" sz="1500" dirty="0"/>
          </a:p>
        </p:txBody>
      </p:sp>
      <p:sp>
        <p:nvSpPr>
          <p:cNvPr id="12" name="Text 6"/>
          <p:cNvSpPr txBox="1"/>
          <p:nvPr/>
        </p:nvSpPr>
        <p:spPr>
          <a:xfrm>
            <a:off x="10690616" y="6343650"/>
            <a:ext cx="794614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41 / 42</a:t>
            </a:r>
            <a:endParaRPr lang="en-US" sz="15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social-course/export-pptx/build/bg/4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1970" y="747705"/>
            <a:ext cx="231206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50" kern="0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課前請印好，每人一份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761970" y="1128735"/>
            <a:ext cx="2811506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94"/>
              </a:lnSpc>
              <a:buNone/>
            </a:pPr>
            <a:r>
              <a:rPr lang="en-US" sz="2700" b="1" spc="-54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三張 A4 操作講義</a:t>
            </a:r>
            <a:endParaRPr lang="en-US" sz="2700" dirty="0"/>
          </a:p>
        </p:txBody>
      </p:sp>
      <p:sp>
        <p:nvSpPr>
          <p:cNvPr id="5" name="Shape 2"/>
          <p:cNvSpPr/>
          <p:nvPr/>
        </p:nvSpPr>
        <p:spPr>
          <a:xfrm>
            <a:off x="800100" y="1937431"/>
            <a:ext cx="3390870" cy="2809860"/>
          </a:xfrm>
          <a:prstGeom prst="roundRect">
            <a:avLst>
              <a:gd name="adj" fmla="val 8136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809610" y="1946940"/>
            <a:ext cx="3371850" cy="981060"/>
          </a:xfrm>
          <a:prstGeom prst="rect">
            <a:avLst/>
          </a:prstGeom>
          <a:solidFill>
            <a:srgbClr val="EEF4FF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981060" y="2108881"/>
            <a:ext cx="729143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20" kern="0" dirty="0">
                <a:solidFill>
                  <a:srgbClr val="1877F2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講義 1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981060" y="2423251"/>
            <a:ext cx="2136587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25" b="1" spc="-17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Facebook 粉絲專頁</a:t>
            </a:r>
            <a:endParaRPr lang="en-US" sz="1725" dirty="0"/>
          </a:p>
        </p:txBody>
      </p:sp>
      <p:sp>
        <p:nvSpPr>
          <p:cNvPr id="9" name="Text 6"/>
          <p:cNvSpPr txBox="1"/>
          <p:nvPr/>
        </p:nvSpPr>
        <p:spPr>
          <a:xfrm>
            <a:off x="1143000" y="3089940"/>
            <a:ext cx="110048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建立四步驟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1143000" y="3470971"/>
            <a:ext cx="130247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設定檢查清單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1143000" y="3852001"/>
            <a:ext cx="89858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發文步驟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1143000" y="4232940"/>
            <a:ext cx="150437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四個數字記錄欄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4400550" y="1937431"/>
            <a:ext cx="3390870" cy="2809860"/>
          </a:xfrm>
          <a:prstGeom prst="roundRect">
            <a:avLst>
              <a:gd name="adj" fmla="val 8136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4410060" y="1946940"/>
            <a:ext cx="3371850" cy="981060"/>
          </a:xfrm>
          <a:prstGeom prst="rect">
            <a:avLst/>
          </a:prstGeom>
          <a:solidFill>
            <a:srgbClr val="FDEEF4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4581510" y="2108881"/>
            <a:ext cx="729143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20" kern="0" dirty="0">
                <a:solidFill>
                  <a:srgbClr val="E1306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講義 2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4581510" y="2423251"/>
            <a:ext cx="1228679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25" b="1" spc="-17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Instagram</a:t>
            </a:r>
            <a:endParaRPr lang="en-US" sz="1725" dirty="0"/>
          </a:p>
        </p:txBody>
      </p:sp>
      <p:sp>
        <p:nvSpPr>
          <p:cNvPr id="17" name="Text 14"/>
          <p:cNvSpPr txBox="1"/>
          <p:nvPr/>
        </p:nvSpPr>
        <p:spPr>
          <a:xfrm>
            <a:off x="4743450" y="3089940"/>
            <a:ext cx="110048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建立四步驟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4743450" y="3470971"/>
            <a:ext cx="190826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切換專業帳號六步驟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4743450" y="3852001"/>
            <a:ext cx="130247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個人檔案五欄</a:t>
            </a:r>
            <a:endParaRPr lang="en-US" sz="1500" dirty="0"/>
          </a:p>
        </p:txBody>
      </p:sp>
      <p:sp>
        <p:nvSpPr>
          <p:cNvPr id="20" name="Text 17"/>
          <p:cNvSpPr txBox="1"/>
          <p:nvPr/>
        </p:nvSpPr>
        <p:spPr>
          <a:xfrm>
            <a:off x="4743450" y="4232940"/>
            <a:ext cx="150437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四個數字記錄欄</a:t>
            </a:r>
            <a:endParaRPr lang="en-US" sz="1500" dirty="0"/>
          </a:p>
        </p:txBody>
      </p:sp>
      <p:sp>
        <p:nvSpPr>
          <p:cNvPr id="21" name="Shape 18"/>
          <p:cNvSpPr/>
          <p:nvPr/>
        </p:nvSpPr>
        <p:spPr>
          <a:xfrm>
            <a:off x="8001000" y="1937431"/>
            <a:ext cx="3390870" cy="2809860"/>
          </a:xfrm>
          <a:prstGeom prst="roundRect">
            <a:avLst>
              <a:gd name="adj" fmla="val 8136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8010510" y="1946940"/>
            <a:ext cx="3371850" cy="981060"/>
          </a:xfrm>
          <a:prstGeom prst="rect">
            <a:avLst/>
          </a:prstGeom>
          <a:solidFill>
            <a:srgbClr val="E6F8EE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8181960" y="2108881"/>
            <a:ext cx="729143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20" kern="0" dirty="0">
                <a:solidFill>
                  <a:srgbClr val="03934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講義 3</a:t>
            </a:r>
            <a:endParaRPr lang="en-US" sz="1500" dirty="0"/>
          </a:p>
        </p:txBody>
      </p:sp>
      <p:sp>
        <p:nvSpPr>
          <p:cNvPr id="24" name="Text 21"/>
          <p:cNvSpPr txBox="1"/>
          <p:nvPr/>
        </p:nvSpPr>
        <p:spPr>
          <a:xfrm>
            <a:off x="8181960" y="2423251"/>
            <a:ext cx="1579352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25" b="1" spc="-17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LINE 官方帳號</a:t>
            </a:r>
            <a:endParaRPr lang="en-US" sz="1725" dirty="0"/>
          </a:p>
        </p:txBody>
      </p:sp>
      <p:sp>
        <p:nvSpPr>
          <p:cNvPr id="25" name="Text 22"/>
          <p:cNvSpPr txBox="1"/>
          <p:nvPr/>
        </p:nvSpPr>
        <p:spPr>
          <a:xfrm>
            <a:off x="8343900" y="3089940"/>
            <a:ext cx="110048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建立四步驟</a:t>
            </a:r>
            <a:endParaRPr lang="en-US" sz="1500" dirty="0"/>
          </a:p>
        </p:txBody>
      </p:sp>
      <p:sp>
        <p:nvSpPr>
          <p:cNvPr id="26" name="Text 23"/>
          <p:cNvSpPr txBox="1"/>
          <p:nvPr/>
        </p:nvSpPr>
        <p:spPr>
          <a:xfrm>
            <a:off x="8343900" y="3470971"/>
            <a:ext cx="150437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歡迎訊息草稿欄</a:t>
            </a:r>
            <a:endParaRPr lang="en-US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8343900" y="3852001"/>
            <a:ext cx="1789755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QR Code 放置清單</a:t>
            </a:r>
            <a:endParaRPr lang="en-US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8343900" y="4232940"/>
            <a:ext cx="150437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四個數字記錄欄</a:t>
            </a:r>
            <a:endParaRPr lang="en-US" sz="1500" dirty="0"/>
          </a:p>
        </p:txBody>
      </p:sp>
      <p:sp>
        <p:nvSpPr>
          <p:cNvPr id="29" name="Shape 26"/>
          <p:cNvSpPr/>
          <p:nvPr/>
        </p:nvSpPr>
        <p:spPr>
          <a:xfrm>
            <a:off x="800100" y="4909231"/>
            <a:ext cx="10591770" cy="1000994"/>
          </a:xfrm>
          <a:prstGeom prst="roundRect">
            <a:avLst>
              <a:gd name="adj" fmla="val 17128"/>
            </a:avLst>
          </a:prstGeom>
          <a:solidFill>
            <a:srgbClr val="FBEEE6"/>
          </a:solidFill>
          <a:ln/>
        </p:spPr>
      </p:sp>
      <p:sp>
        <p:nvSpPr>
          <p:cNvPr id="30" name="Shape 27"/>
          <p:cNvSpPr/>
          <p:nvPr/>
        </p:nvSpPr>
        <p:spPr>
          <a:xfrm>
            <a:off x="800100" y="4909231"/>
            <a:ext cx="47640" cy="1000994"/>
          </a:xfrm>
          <a:prstGeom prst="rect">
            <a:avLst/>
          </a:prstGeom>
          <a:solidFill>
            <a:srgbClr val="C05F3C"/>
          </a:solidFill>
          <a:ln/>
        </p:spPr>
      </p:sp>
      <p:pic>
        <p:nvPicPr>
          <p:cNvPr id="31" name="Image 1" descr="/home/user/gogoeveryday/social-course/export-pptx/build/img/p42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360" y="5247833"/>
            <a:ext cx="323880" cy="323880"/>
          </a:xfrm>
          <a:prstGeom prst="rect">
            <a:avLst/>
          </a:prstGeom>
        </p:spPr>
      </p:pic>
      <p:sp>
        <p:nvSpPr>
          <p:cNvPr id="32" name="Text 28"/>
          <p:cNvSpPr txBox="1"/>
          <p:nvPr/>
        </p:nvSpPr>
        <p:spPr>
          <a:xfrm>
            <a:off x="1533540" y="5099700"/>
            <a:ext cx="5603626" cy="6148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每張講義都留了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數字記錄欄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，</a:t>
            </a:r>
            <a:endParaRPr lang="en-US" sz="1575" dirty="0"/>
          </a:p>
          <a:p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請學員寫下今天的數字，一個月後回來對照，最有成就感。</a:t>
            </a:r>
            <a:endParaRPr lang="en-US" sz="1575" dirty="0"/>
          </a:p>
        </p:txBody>
      </p:sp>
      <p:sp>
        <p:nvSpPr>
          <p:cNvPr id="33" name="Text 29"/>
          <p:cNvSpPr txBox="1"/>
          <p:nvPr/>
        </p:nvSpPr>
        <p:spPr>
          <a:xfrm>
            <a:off x="761970" y="6343650"/>
            <a:ext cx="1351026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附錄 · —</a:t>
            </a:r>
            <a:endParaRPr lang="en-US" sz="1500" dirty="0"/>
          </a:p>
        </p:txBody>
      </p:sp>
      <p:sp>
        <p:nvSpPr>
          <p:cNvPr id="34" name="Text 30"/>
          <p:cNvSpPr txBox="1"/>
          <p:nvPr/>
        </p:nvSpPr>
        <p:spPr>
          <a:xfrm>
            <a:off x="10690616" y="6343650"/>
            <a:ext cx="794614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42 / 42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42</Slides>
  <Notes>42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42</vt:i4>
      </vt:variant>
    </vt:vector>
  </HeadingPairs>
  <TitlesOfParts>
    <vt:vector size="4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社群平台操作入門｜西屯婦女培力 08/16</dc:title>
  <dc:subject>PptxGenJS Presentation</dc:subject>
  <dc:creator>PptxGenJS</dc:creator>
  <cp:lastModifiedBy>PptxGenJS</cp:lastModifiedBy>
  <cp:revision>1</cp:revision>
  <dcterms:created xsi:type="dcterms:W3CDTF">2026-08-12T19:17:34Z</dcterms:created>
  <dcterms:modified xsi:type="dcterms:W3CDTF">2026-08-12T19:17:34Z</dcterms:modified>
</cp:coreProperties>
</file>