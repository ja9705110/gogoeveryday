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</p:sldIdLst>
  <p:notesMasterIdLst>
    <p:notesMasterId r:id="rId7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notesMaster" Target="notesMasters/notesMaster1.xml"/><Relationship Id="rId79" Type="http://schemas.openxmlformats.org/officeDocument/2006/relationships/presProps" Target="presProps.xml"/><Relationship Id="rId80" Type="http://schemas.openxmlformats.org/officeDocument/2006/relationships/viewProps" Target="viewProps.xml"/><Relationship Id="rId81" Type="http://schemas.openxmlformats.org/officeDocument/2006/relationships/theme" Target="theme/theme1.xml"/><Relationship Id="rId8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開場先自我介紹，並說明「這堂課不是要把大家變成網紅」，而是讓每個人手上的東西——手作、烘焙、農產、課程、服務——有辦法被別人看見。
· 請大家把手機拿出來放桌上，今天會一直用到；如果沒有安裝 FB／IG，先協助安裝或兩人一組共用一支。
【互動提問】
· 請大家用一句話介紹「我做的東西」或「我想做的東西」，一人 30 秒。
【學員實作】
· 確認每位學員的手機可以上網、能登入 Facebook 或 Instagram。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先讓學員知道整天的節奏，降低焦慮：上午聽觀念、下午做東西，中間有三次休息。
· 特別強調 15:35 之後是「把今天學的做出一篇真的內容」，請大家上午就開始想自己要發什麼。
【互動提問】
· 問：今天結束時，你最想解決哪一件事？（舉手統計，寫在白板上，最後一節回來對照）
【學員實作】
· 發下四張講義，請先寫講義 1 上半部「我的商品／技能」。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這一段完全不碰按鈕，只談觀念。讓學員先安心：不會馬上考操作。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把整天的內容收斂成三個問題，讓學員知道「今天不會學到爆炸」。
· 強調：社群平台的按鈕每年都在改，但這三個問題永遠不會變。
【互動提問】
· 問：這三件事裡，哪一件是你現在最卡住的？（舉手，快速掃過現場狀況）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這是本班 30 人的真實課前調查，不是示意數據。念出第一名「不懂如何進行社群經營 24 人、80%」，讓學員知道大家都一樣。
· 第 2、4、5 名（拍照、文案、AI）是後面幾堂課的內容，這裡先預告，讓學員安心：不是今天學不完，是本來就分開教。
· 今天要解決的就是第一名那一項。
【互動提問】
· 問：這六項裡，你自己勾了哪幾個？（舉手統計，跟調查結果對照）
· 問：還有沒有沒被列到的困擾？（記在白板，最後一節回來確認有沒有解決）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這頁是整天觀念的核心之一。左邊是大部分人的直覺做法，右邊才是有效的做法。
· 重點不是「不能賣」，而是「不能每篇都在賣」。比例大約是：四篇裡一篇賣東西。
【互動提問】
· 問：如果你是客人，左邊那種帳號你會追蹤嗎？為什麼？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這個漏斗是今天所有內容的骨架，後面每一段都會回來對照：現在我們在講哪一層。
· 提醒學員：很多人只做最上面一層（一直發文求曝光），或只做最下面一層（一直叫人買），中間沒有東西。
【互動提問】
· 問：你覺得自己現在卡在哪一層？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用「開店」的比喻，把抽象的社群變成生活經驗。中高齡學員對實體店的經驗遠比對演算法熟。
· 結論：把人帶來只是第一步，人來了之後看到什麼，才決定會不會買。
【互動提問】
· 問：大家逛市集的時候，什麼樣的攤位你會停下來？什麼樣的會直接走過？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請全班一起念一次這三句話。這是整天最重要的一句，最後一節還會回來。
· 把這句寫在白板上，整天留著。
【學員實作】
· 請學員把這句話抄在講義的空白處。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這一段的目標很單純：讓學員離開時知道自己要做哪一個，不要三個都開然後三個都荒廢。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這個比喻整天都會用，請學員記住三個名詞：廣場、櫥窗、櫃台。
· 很多學員的問題是「我都在櫥窗喊話，但沒有櫃台」——東西被看到了，卻沒地方成交。
【互動提問】
· 問：你現在有哪一個？哪一個完全沒有？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台灣中高齡族群仍大量使用 Facebook，而且「社團」是免費曝光的主要來源，後面第九段會再談。
· 強調 Facebook 的長處是：可以寫比較多字、可以講故事、可以被分享出去。
【互動提問】
· 問：你有加入哪些在地社團？（例如西屯二手、台中媽媽社團、社區公布欄）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IG 最大的價值是「陌生人會找到你」——透過 Hashtag、搜尋、Reels。FB 比較難做到這件事。
· 提醒：IG 上文字沒有連結功能（貼文內文無法點），所以聯絡方式一定要放在自我介紹。
【互動提問】
· 問：現場有多少人有 IG？（舉手）有在用的又有多少？
【學員實作】
· 請有 IG 的學員現在打開自己的個人檔案，等一下 PART 4 會用到。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很多學員以為 LINE 官方帳號是「大公司才用的」。要破除這個誤解：一個人也能開，免費方案每月有一定則數的訊息額度。
· 重點觀念：FB／IG 上的人「不是你的」，演算法一改就看不到；LINE 好友才是真正留得住的名單。
【互動提問】
· 問：現場有誰用私人 LINE 在接單？遇過什麼困擾？（訊息被家人洗掉、分不清誰是客人）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這頁是用學員自己的數據替下一頁的建議鋪路：不是我叫你們做 Facebook，是因為你們本來就都在用。
· LINE 30 人全部都有、Facebook 28 人——這兩個是最省力的起點；Instagram 只有 13 人用過，對多數人是全新工具。
· Canva 只有 4 人用過，所以今天完全不碰 Canva 操作；那是後面「商品視覺設計」課程的內容。
【互動提問】
· 問：有用過 Instagram 的請舉手？（對照 43% 這個數字，讓現場自己確認）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這頁要講得很肯定：三個都開但都不更新，比只做好一個還糟。
· 公式：曝光平台（FB 或 IG）＋ 聯絡平台（LINE）＝ 兩個就夠。
【學員實作】
· 請學員在講義 1 勾選：主要曝光平台是 FB 還是 IG。現在就決定，不要拖到下課。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先蓋住答案，讓學員自己講，再一個一個掀開。這裡是上午互動的重點。
· 講完後把邏輯講白：選平台不是看「哪個比較紅」，是看「我的客人在哪裡」。
【互動提問】
· 問：A 阿姨如果想賣到全台灣，答案會不會改變？（會，就要加上 IG 或宅配社團）
· 問：現場有沒有人的情況跟這三個很像？
【學員實作】
· 兩人一組，互相說出對方適合哪個平台，並說明理由。3 分鐘。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休息回來先確認全班手機都在手上。這一段是今天第一次大量操作，速度要放慢，寧可少做兩項也不要有人掉隊。
· 建議安排 1–2 位志工或助教在教室走動協助。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很多學員會說「我用個人帳號賣就好」。可以，但要說明三個限制：好友上限、沒有數據、朋友會被洗版。
· 折衷做法：粉專發文 → 分享到個人帳號。兩邊都顧到，下一頁會教。
【互動提問】
· 問：現場有誰已經有粉絲專頁？（請他們等一下當小老師）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一項一項對照右邊的手機示意圖講。學員可以邊聽邊看自己的粉專缺哪一項。
· 最常缺的是第 5 項聯絡方式——很多粉專找不到怎麼買。
【互動提問】
· 問：你的粉專缺哪幾項？
【學員實作】
· 請學員打開自己的粉專，六項逐一對照，缺的先記下來。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刻意不要講「品牌感」「調性」這種詞，中高齡學員只要記住公式：做什麼＋在哪裡。
· 如果學員已經取了很文青的名字，不用逼他改，建議在名稱後面加上說明即可。
【互動提問】
· 問：如果你是客人，在搜尋列會打什麼字找這種東西？
【學員實作】
· 請每位學員在講義空白處，用「你做什麼＋你在哪裡」寫一個名稱。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這頁停留最久，預計 12–15 分鐘。講師先示範一次，再讓學員自己做一次。
· 沒有粉專的人：現場建立。有粉專但很久沒用的人：先更新大頭貼與簡介。
【互動提問】
· 問：卡在哪一步？（請卡住的人舉手，助教過去協助）
【學員實作】
· 六項全部操作一次。完成的人請協助隔壁的學員。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一項一項在投影的手機上點給大家看，不要只念名稱。
· 「編輯」與「刪除」一定要教——學員最怕發錯，知道可以改就敢發了。
【互動提問】
· 問：有沒有人發過文之後想改卻不知道怎麼改？
【學員實作】
· 請每個人現在發一則「測試貼文」（可以只給自己看），再把它編輯一次、然後刪除。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這頁是「免費曝光」與「被討厭」的分界線，講清楚可以省掉學員很多麻煩。
· 建議提供實際做法：進到社團先看置頂規則，很多社團規定只能週幾發廣告。
【互動提問】
· 問：有沒有人被社團退過文或踢出來過？發生什麼事？
【學員實作】
· 請學員找出 1–2 個跟自己商品有關的在地社團，記在講義上。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這一段有大量觀察活動，請先分好組（3–4 人一組），並確認每組至少有一支能上網的手機。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請學員現在就打開自己的 IG（沒有的人看隔壁的），五個地方一個一個對。
· 強調第 5 項：IG 貼文內文的網址不能點，所以聯絡方式只能放在自我介紹欄。這是最多人踩的坑。
【互動提問】
· 問：你的自我介紹現在寫什麼？願意念出來給大家聽嗎？
【學員實作】
· 打開自己的 IG，五個地方逐一檢查。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不要批評「分享生活中的幸福」不好，而是說：它適合個人帳號，不適合要接單的帳號。
· 示範方法：請一位學員念自己的自介，其他人聽完舉手回答「他在賣什麼」，馬上見真章。
【互動提問】
· 隨機找 2–3 位學員念自介，全班猜他在做什麼。猜不出來就代表要改。
【學員實作】
· 把自我介紹改成「做什麼 ＋ 給誰 ＋ 在哪裡／怎麼買」。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先給全貌，讓學員知道 IG 不是只有「發照片」。細節下午 PART 7 會再展開。
· 順序很重要：叫初學者一開始就拍 Reels，多半會放棄。
【互動提問】
· 問：這四個裡面，你用過哪幾個？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這是上一頁的濃縮版，請全班一起念一次。
· 可以做個小活動：講師說「今天在做餅乾的影片」，學員回答該用哪一種。
【互動提問】
· 快問快答：① 客人回饋的截圖 → 精選限動；② 今天出爐的餅乾 → 限動；③ 完成的作品照 → 貼文；④ 揉麵到出爐 → Reels。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上課前務必先挑好 3–5 個真實帳號，並確認當天網路可連。最好是台中在地的，學員會更有感。
· 如果現場網路穩定，直接開手機投影比放截圖更好——可以即時滑給大家看。
· 挑選原則：追蹤數 1,000–20,000、一個人在經營、照片是手機拍的。太專業的會讓學員覺得「我做不到」。
【互動提問】
· 問：你們覺得這三個帳號，哪一個你最有可能做到？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這八個問題就是講義 2。請學員拿出講義，等一下觀察時直接勾。
· 重點是把「感覺」變成「可檢查的項目」，學員回家才知道自己該補什麼。
【學員實作】
· 發下／確認每人手上有講義 2。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活動節奏：分組 2 分鐘 → 觀察討論 10 分鐘 → 每組分享 1 分鐘 × 3–5 組。
· 講師在各組間走動，把學員說的「做得到的事」記在白板，下午實作時會用到。
· 如果時間不夠，把分享縮短成「每組講一句：我們決定回去要做的一件事」。
【互動提問】
· 收尾時問：有沒有哪一組發現「原來他們也只是用手機拍」？
【學員實作】
· 小組完成講義 2 的觀察表，並在最下方寫下「我也做得到的一件事」。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午休前先埋伏筆：下午第一件事就是「你要發什麼」，讓學員吃飯時腦袋有東西在轉。
· 提醒 13:00 準時開始，下午操作很密集。
【學員實作】
· 請學員午休時先想好一個要發的主題，並拍一張照片。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下午第一段。先問午休的作業：你想好要發什麼了嗎？點兩三位學員說說看。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用「使用情境」解釋，比講演算法容易懂。FB＝坐著看、IG＝滑著看、LINE＝忙著看。
· 不用叫學員寫三份完全不同的文，只要「同一件事，換三種長度」。
【互動提問】
· 問：你自己在滑 IG 的時候，會把長長的文字看完嗎？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一定要強調：80–200 字是「教學建議」，不是 Facebook 的規定。平台沒有限制字數。
· 給初學者一個數字，是為了讓他們不會卡在「到底要寫多少」。熟了以後可長可短。
· 這篇範例的重點是最後兩段：講「為什麼一鍋只做 20 瓶」——這就是信任感的來源。
【互動提問】
· 問：這篇裡面，哪一句話會讓你想買？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同樣強調：50–150 字是建議值，不是規定。
· 請學員比較上一頁跟這一頁——同一件事，IG 版只留下最有畫面的那兩句。
· Hashtag 下一段（PART 6）會完整教，這裡先讓他們看到長什麼樣子。
【互動提問】
· 問：如果只能留一句話，你會留哪一句？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LINE 是「打擾度最高」的平台——訊息會跳出通知。所以最忌諱長篇大論。
· 最關鍵的一句是最後一行：「請回覆草莓＋數量」。一定要告訴客人下一步做什麼，否則他看完就關掉了。
· 補充：官方帳號免費方案每月有訊息則數上限，所以更要每則都有用。
【互動提問】
· 問：你收過最討厭的商家 LINE 訊息長什麼樣子？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 PART 5 的核心頁，建議停留 5–6 分鐘，三欄逐一念出來讓學員感受差異。
· 教一個實用技巧：先寫 FB 版（最長）→ 刪成 IG 版 → 再刪成 LINE 版。只要寫一次。
· 注意三欄講的都是同一個賣點「一鍋只煮 20 瓶」，不要每個平台講不同故事。
【互動提問】
· 問：如果你的商品是 ⟨學員的商品⟩，這三段你會怎麼寫？（現場改編一位學員的商品當範例）
【學員實作】
· 請學員拿出午休想好的主題，先寫 FB 版本（80–200 字），寫在講義 4。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這是今天第二句要記住的話。跟早上那句「引流／內容／互動」並列。
· 延伸：所以糊掉的、光線很暗的、看不出主角的照片，第一關就輸了。
· ＊不要深入教攝影，後面有「手機商品攝影與影像編修」課程。這裡只講分工觀念。
【互動提問】
· 問：你滑手機的時候，是先看圖還是先看字？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右邊刻意做成「塞爆的傳單」，並在下面示範它縮小成九宮格一格時的樣子——完全看不到。
· 這一頁很有說服力，讓學員自己看到問題，不用講太多道理。
【互動提問】
· 問：你看得清楚右邊那張圖在寫什麼嗎？（大部分人會說看不清楚——這就是重點）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跟上一頁對照著看，差別非常明顯。同樣縮成一格，這張還看得懂。
· ＊不教 Canva 操作與排版技巧（那是「商品視覺設計」課程）。這裡只講「留多少字」。
【互動提問】
· 問：如果只能在圖上留一句話，你的商品要留哪一句？
【學員實作】
· 請學員在講義 4「我要搭配哪張照片」旁邊，寫下要放在圖上的那一句話。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這一段是今天「被陌生人找到」的關鍵。提醒學員：這段的產出（十大關鍵字）要帶回家長期使用。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用「標籤／分類」來解釋最好懂：像去圖書館，書上要貼分類標籤，別人才找得到。
· 示範：現場在 IG 搜尋列打 #台中伴手禮，把結果投影出來。
【互動提問】
· 問：有沒有人曾經用 Hashtag 找過東西？
【學員實作】
· 請學員現在在 IG 搜尋一個跟自己商品有關的標籤，看看跳出什麼。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左邊那些「#愛 #幸福」是很多人真的在用的，不要嘲笑，只要說明「來的人不會買」。
· 給一個具體數字：5–10 個。初學者最需要的是數字，不是原則。
【互動提問】
· 問：如果有人用 #美食 搜尋，跳出幾百萬篇，你的貼文排第幾？（答：看不到。所以要用更精準的字）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這是整段最關鍵的觀念轉換：從「我」變成「客人」。
· 可以現場示範：講師說「我想買伴手禮送人」，然後打開手機打字給大家看。
【互動提問】
· 問：如果你要買一個伴手禮送給外縣市的朋友，你會打什麼字去搜尋？（收集 3–5 個答案寫在白板）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三個分類是重點：商品／地區／情境。很多人只想得到「商品」，漏掉後面兩類。
· 「地區」對在地微型創業特別重要——競爭少、找到的人是真的買得到的人。
· 「情境」是最容易被忽略、但轉換率最高的：#送禮 #彌月禮盒 #伴手禮，都是有明確需求的人在搜。
【互動提問】
· 問：你的商品在什麼「情境」下最容易被買走？
【學員實作】
· 發下講義 3，開始填寫。這頁停留 3 分鐘，講完下一頁範例再讓他們寫完。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用完整範例把上一頁的三分類具體化。
· 請學員注意：一篇貼文不用把 10 個都放上去，挑最相關的 5–8 個。
【互動提問】
· 問：如果今天發的是「包裝過程」的照片，這 10 個字裡你會挑哪幾個？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這三個工具都免費，而且不用註冊。建議現場用講師手機／電腦各示範一次。
· Google Trends 示範「手工餅乾 vs 手作餅乾」，比較結果會讓學員很有感——一個字差很多。
· 如果現場網路不穩，先準備好截圖備用。
【互動提問】
· 問：你的商品有沒有兩種以上的叫法？（例如 手工／手作、餅乾／曲奇）
【學員實作】
· 三個工具至少實際操作一個，把找到的新關鍵字補進講義 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 8 分鐘講師要在教室走動，個別協助。最常卡住的是「情境」類。
· 協助技巧：直接問學員「上一個買你東西的人，是買來做什麼的？」答案通常就是情境關鍵字。
· 一定要請他們存進手機備忘錄——寫在紙上回家就找不到了。
【互動提問】
· 請 2–3 位學員念出自己的 10 個字，全班一起看有沒有可以再加的。
【學員實作】
· 完成講義 3，並存一份到手機備忘錄。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這一段最容易讓中高齡學員退縮。開場第一句就要先破除「我不會跳舞、我不敢露臉」的恐懼。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這頁請放慢，讓學員真的放下心理負擔。可以直接問：「有誰一聽到短影音就想跳過？」
· 關鍵句：Reels 只是會動的照片。中高齡學員聽到這句通常表情就鬆了。
· 補充：Reels 是目前最容易被「還沒追蹤你的人」看到的形式，所以值得試。
【互動提問】
· 問：有誰拍過短影片？有誰完全沒拍過？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六種裡面，②製作過程 跟 ③幕後花絮 是中高齡學員最容易做、效果也最好的。建議直接推薦這兩種。
· ④前後對比 很好用而且不用露臉：一開始是麵粉，最後是餅乾，中間不用剪。
【互動提問】
· 問：這六種裡，哪一種你明天就可以拍？
【學員實作】
· 請每個人選定一種，寫在講義 4 旁邊。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這頁是把「Reels」變成「五張會動的照片」，是這一段最有力的一頁。
· 強調順序就是自然的工作順序，學員本來就在做這些事，只是把手機架著錄下來。
· 實用建議：買一個 100–200 元的手機夾／小腳架，架在旁邊錄，雙手可以繼續工作。
【互動提問】
· 問：你的工作流程有哪五個步驟？（請兩位學員說說看，講師幫忙拆成五格）
【學員實作】
· 在講義 4 背面，把自己的工作流程畫成五格。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這頁的目的是「降低門檻」。請具體說：不用下載任何 App，IG 內建就能接片段。
· 再次強調：這堂課不教剪輯與攝影技巧，後面有專門的課程。今天只要他們敢按下錄影鍵。
【互動提問】
· 問：有誰因為「覺得拍得不夠好」所以一直沒發？
【學員實作】
· 現場練習：請學員拿手機，對著桌上任何東西錄 5 秒。就這樣，沒有別的要求。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限時動態是「養熟客」的工具，看的人多半是已經追蹤你的人。
· 很實用的一招：「商品剩最後 3 個」——製造即時感，常常真的會有人來問。
· 提醒：限動可以加「問答貼紙」「投票貼紙」，是最簡單的互動方式，可現場示範一次。
【互動提問】
· 問：你今天做了什麼事，其實就可以直接發限動？
【學員實作】
· 請學員現在發一則限動（可設定成只有自己看得到），內容就是現在的教室或桌上的東西。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這頁是給完美主義者的解藥。很多學員因為「拍不好」而完全不發。
· 重點：兩種照片沒有好壞，只是放的位置不同。貼文要精選，限動可以隨便。
【互動提問】
· 問：你比較喜歡看哪一種？（通常會有不少人選右邊——這就是答案）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用表格收尾這一段。重點是最後一列「要求」：Reels 要想一下，限動隨手拍。
· 建議給學員一個可執行的頻率：Reels 一週 1 支，限時動態一週 2–3 則。不要多。
【互動提問】
· 問：如果一週只能做一件事，你會選 Reels 還是限動？（沒有標準答案，看他的客人是新的還是舊的）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這一段是「成交」的關鍵，但常被忽略。先問：現場有多少人已經有官方帳號？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用「訊息被家人洗掉」這個例子最有共鳴，幾乎每個用私人 LINE 接單的人都遇過。
· 要說明：官方帳號是免費開的，不需要公司行號，個人也可以申請。這點很多人不知道。
【互動提問】
· 問：有誰漏接過客人的訊息？發生什麼事？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把功能明確切成兩層：今天要會的 8 個、今天只要知道的 3 個。避免資訊過載。
· 「歡迎訊息」最值得優先設定——客人一加好友就自動收到，等於 24 小時自動回覆。
· ＊不要現場教圖文選單設定，會吃掉太多時間。
【互動提問】
· 問：如果客人加了你的 LINE，第一句話你想跟他說什麼？（這就是歡迎訊息）
【學員實作】
· 請學員在講義背面寫下自己的「歡迎訊息」草稿，30 字以內。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這頁把「導流」具體化成五個入口。請學員檢查：這五個地方你放了幾個？
· 市集攤位的做法：把 QR Code 印成 A4 立牌放在桌上，比口頭說「加我 LINE」有效十倍。
· 商品包裝上貼一張小貼紙，是回購率最高的做法。
【互動提問】
· 問：你目前有在哪幾個地方放 QR Code？
【學員實作】
· 請學員現在打開自己的 LINE，找到自己的 QR Code（下一頁清單會再確認一次）。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講一個對比：IG 粉絲 1,000 人，一則貼文可能只有 80 人看到；LINE 好友 100 人，群發時 100 人都會收到通知。
· 結論：粉絲數不是資產，能聯絡到的名單才是。
· 這也回到早上的漏斗——LINE 負責的是「詢問→購買→回購」。
【互動提問】
· 問：你有沒有想過，去年買過你東西的客人，你現在還聯絡得到嗎？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右邊那個「👉 回覆我要預訂」是整頁的重點。沒有下一步，客人就算有興趣也不會動。
· 把四段結構寫在白板上：做什麼→有什麼選擇→到什麼時候→怎麼回我。學員照著填就能寫。
【互動提問】
· 問：左邊那則，如果是你收到，你會看完嗎？
【學員實作】
· 請學員用右邊的四段結構，寫一則自己的 LINE 訊息，30–80 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先示範一次自己的官方帳號後台，再讓學員操作。
· 如果現場多數人沒有官方帳號，建議至少完成到「建立帳號＋設定大頭貼＋找到 QR Code」三步。
· 請已經完成的學員互相加好友，馬上就能看到效果，也順便測試 QR Code 有沒有用。
【互動提問】
· 問：有誰找到 QR Code 了？（請他舉起手機給大家看）
【學員實作】
· 七項逐一操作。完成的人請互相掃描加好友。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最後一段。先講 10 分鐘觀念，剩下 15 分鐘全部給學員做東西。時間一定要守住。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十個裡面，對中高齡在地創業者最有效的通常是：Facebook 社團、顧客分享、市集 QR Code。
· 「顧客主動分享」是最被低估的——做法很簡單：出貨時附一張小卡，寫「拍照標註我，下次折 20 元」。
【互動提問】
· 問：你上次被朋友介紹去買東西，是什麼情況？
【學員實作】
· 請學員圈出兩個「我三個月內會認真做」的方法。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這頁要講得誠實，不要給不切實際的期待。社群不是魔法。
· 對這群學員特別重要：她們的商品品質通常很好，真正缺的是「被看見」跟「被信任」，而不是行銷技巧。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第五點「發了之後就消失」是最常見的失敗原因，請多花時間講。
· 給一個具體的期待值：前 3 個月、大約 20–30 篇，才會開始有比較穩定的互動。先講清楚，學員才不會三週就放棄。
· 「有人留言不回覆」也要強調：留言一定要回，回一句「謝謝」都好。
【互動提問】
· 問：有誰發過幾篇之後就放棄了？（多數人會舉手，讓大家知道這很普遍）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這是解決「不知道要發什麼」最實用的一頁。請學員拍照存起來。
· 大部分人只會發第一類（商品），所以帳號看起來像廣告傳單。第二、三類才是讓人喜歡你的關鍵。
· 第四類「有用的內容」對建立專業感特別有效：果醬怎麼保存、開封後放多久。
【互動提問】
· 問：你最近三篇貼文，分別是哪一類？（多數人會發現三篇都是第一類）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一週四篇是建議值，做不到就一週兩篇，但要「固定」。固定比多重要。
· 比例原則：賣東西的貼文不要超過四分之一。
· 如果學員說沒時間，教他們：週日花一小時，把四篇的照片一次拍完，之後每天發一篇。
【互動提問】
· 問：你一週可以固定發幾篇？（請他們誠實一點，寧可少也不要做不到）
【學員實作】
· 在講義背面寫下：我的一週發文計畫（星期幾、發哪一類）。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這是今天最重要的 12 分鐘。講師與助教要全場走動，一個一個看。
· 目標不是寫得好，是「真的按下發布」。有按下去的人，回家才會繼續做。
· 對於真的不敢發的人：讓他存草稿，或設定成只有自己看得到，也算完成。
【互動提問】
· 最後請 2–3 位願意的學員，把自己剛剛發的內容投影出來給大家看，全班給掌聲。
【學員實作】
· 完成講義 4，並實際發布一則內容或存成草稿。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把今天的產出收斂成三張紙，讓學員很清楚「我帶走了什麼」。
· 建議請學員互相檢查隔壁同學有沒有三項都完成。
· 如果有後續課程，這裡預告下一堂（品牌故事撰寫／商品文案設計），並說明會用到今天的成果。
【互動提問】
· 問：三項都完成的人請舉手。（沒完成的協助他當場補完）
【學員實作】
· 三項逐一確認。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回到早上白板上寫的那句話，請全班再念一次。首尾呼應。
· 五件事裡，第 5 點「持續出現」最重要也最難。可以邀請學員互相加 LINE 或組成小群組互相督促。
【互動提問】
· 問：今天最開始你說最想解決的問題，解決了嗎？（回到 Slide 2 的白板紀錄）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慢慢念完這段，停三秒再說「今天辛苦了」。
· 如果有後續課程，這裡再預告一次時間。
· 提醒學員填回饋單，並鼓勵大家把今天發的那則內容互相追蹤、互相按讚。
【學員實作】
· 發回饋單。鼓勵學員互相追蹤帳號。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講義檔案：handouts.html，用 Chrome 開啟後按 Ctrl/Cmd + P，選 A4 直式即可列印。
· 建議每人多印一份講義 3（十大關鍵字），一份留在教室、一份帶回家。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image" Target="../media/image-3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image" Target="../media/image-3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image" Target="../media/image-4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image" Target="../media/image-49-4.png"/><Relationship Id="rId5" Type="http://schemas.openxmlformats.org/officeDocument/2006/relationships/image" Target="../media/image-49-5.png"/><Relationship Id="rId6" Type="http://schemas.openxmlformats.org/officeDocument/2006/relationships/image" Target="../media/image-4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image" Target="../media/image-52-4.png"/><Relationship Id="rId5" Type="http://schemas.openxmlformats.org/officeDocument/2006/relationships/image" Target="../media/image-5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image" Target="../media/image-53-4.png"/><Relationship Id="rId5" Type="http://schemas.openxmlformats.org/officeDocument/2006/relationships/image" Target="../media/image-53-5.png"/><Relationship Id="rId6" Type="http://schemas.openxmlformats.org/officeDocument/2006/relationships/image" Target="../media/image-53-6.png"/><Relationship Id="rId7" Type="http://schemas.openxmlformats.org/officeDocument/2006/relationships/image" Target="../media/image-5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g"/><Relationship Id="rId2" Type="http://schemas.openxmlformats.org/officeDocument/2006/relationships/image" Target="../media/image-54-2.png"/><Relationship Id="rId3" Type="http://schemas.openxmlformats.org/officeDocument/2006/relationships/image" Target="../media/image-54-3.png"/><Relationship Id="rId4" Type="http://schemas.openxmlformats.org/officeDocument/2006/relationships/image" Target="../media/image-54-4.png"/><Relationship Id="rId5" Type="http://schemas.openxmlformats.org/officeDocument/2006/relationships/image" Target="../media/image-54-5.png"/><Relationship Id="rId6" Type="http://schemas.openxmlformats.org/officeDocument/2006/relationships/image" Target="../media/image-54-6.png"/><Relationship Id="rId7" Type="http://schemas.openxmlformats.org/officeDocument/2006/relationships/image" Target="../media/image-5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g"/><Relationship Id="rId2" Type="http://schemas.openxmlformats.org/officeDocument/2006/relationships/image" Target="../media/image-55-2.png"/><Relationship Id="rId3" Type="http://schemas.openxmlformats.org/officeDocument/2006/relationships/image" Target="../media/image-5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g"/><Relationship Id="rId2" Type="http://schemas.openxmlformats.org/officeDocument/2006/relationships/image" Target="../media/image-57-2.png"/><Relationship Id="rId3" Type="http://schemas.openxmlformats.org/officeDocument/2006/relationships/image" Target="../media/image-57-3.png"/><Relationship Id="rId4" Type="http://schemas.openxmlformats.org/officeDocument/2006/relationships/image" Target="../media/image-5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jpg"/><Relationship Id="rId2" Type="http://schemas.openxmlformats.org/officeDocument/2006/relationships/image" Target="../media/image-58-2.png"/><Relationship Id="rId3" Type="http://schemas.openxmlformats.org/officeDocument/2006/relationships/image" Target="../media/image-5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jpg"/><Relationship Id="rId2" Type="http://schemas.openxmlformats.org/officeDocument/2006/relationships/image" Target="../media/image-60-2.png"/><Relationship Id="rId3" Type="http://schemas.openxmlformats.org/officeDocument/2006/relationships/image" Target="../media/image-6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jp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g"/><Relationship Id="rId2" Type="http://schemas.openxmlformats.org/officeDocument/2006/relationships/image" Target="../media/image-62-2.png"/><Relationship Id="rId3" Type="http://schemas.openxmlformats.org/officeDocument/2006/relationships/image" Target="../media/image-62-3.png"/><Relationship Id="rId4" Type="http://schemas.openxmlformats.org/officeDocument/2006/relationships/image" Target="../media/image-62-4.png"/><Relationship Id="rId5" Type="http://schemas.openxmlformats.org/officeDocument/2006/relationships/image" Target="../media/image-62-5.png"/><Relationship Id="rId6" Type="http://schemas.openxmlformats.org/officeDocument/2006/relationships/image" Target="../media/image-62-6.png"/><Relationship Id="rId7" Type="http://schemas.openxmlformats.org/officeDocument/2006/relationships/image" Target="../media/image-62-7.png"/><Relationship Id="rId8" Type="http://schemas.openxmlformats.org/officeDocument/2006/relationships/image" Target="../media/image-6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jpg"/><Relationship Id="rId2" Type="http://schemas.openxmlformats.org/officeDocument/2006/relationships/image" Target="../media/image-63-2.png"/><Relationship Id="rId3" Type="http://schemas.openxmlformats.org/officeDocument/2006/relationships/image" Target="../media/image-6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jpg"/><Relationship Id="rId2" Type="http://schemas.openxmlformats.org/officeDocument/2006/relationships/image" Target="../media/image-65-2.png"/><Relationship Id="rId3" Type="http://schemas.openxmlformats.org/officeDocument/2006/relationships/image" Target="../media/image-6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jp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jpg"/><Relationship Id="rId2" Type="http://schemas.openxmlformats.org/officeDocument/2006/relationships/image" Target="../media/image-67-2.png"/><Relationship Id="rId3" Type="http://schemas.openxmlformats.org/officeDocument/2006/relationships/image" Target="../media/image-67-3.png"/><Relationship Id="rId4" Type="http://schemas.openxmlformats.org/officeDocument/2006/relationships/image" Target="../media/image-67-4.png"/><Relationship Id="rId5" Type="http://schemas.openxmlformats.org/officeDocument/2006/relationships/image" Target="../media/image-67-5.png"/><Relationship Id="rId6" Type="http://schemas.openxmlformats.org/officeDocument/2006/relationships/image" Target="../media/image-67-6.png"/><Relationship Id="rId7" Type="http://schemas.openxmlformats.org/officeDocument/2006/relationships/image" Target="../media/image-67-7.png"/><Relationship Id="rId8" Type="http://schemas.openxmlformats.org/officeDocument/2006/relationships/image" Target="../media/image-67-8.png"/><Relationship Id="rId9" Type="http://schemas.openxmlformats.org/officeDocument/2006/relationships/image" Target="../media/image-67-9.png"/><Relationship Id="rId10" Type="http://schemas.openxmlformats.org/officeDocument/2006/relationships/image" Target="../media/image-67-10.png"/><Relationship Id="rId11" Type="http://schemas.openxmlformats.org/officeDocument/2006/relationships/image" Target="../media/image-67-11.png"/><Relationship Id="rId12" Type="http://schemas.openxmlformats.org/officeDocument/2006/relationships/image" Target="../media/image-67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jpg"/><Relationship Id="rId2" Type="http://schemas.openxmlformats.org/officeDocument/2006/relationships/image" Target="../media/image-68-2.png"/><Relationship Id="rId3" Type="http://schemas.openxmlformats.org/officeDocument/2006/relationships/image" Target="../media/image-68-3.png"/><Relationship Id="rId4" Type="http://schemas.openxmlformats.org/officeDocument/2006/relationships/image" Target="../media/image-68-4.png"/><Relationship Id="rId5" Type="http://schemas.openxmlformats.org/officeDocument/2006/relationships/image" Target="../media/image-6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jp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jpg"/><Relationship Id="rId2" Type="http://schemas.openxmlformats.org/officeDocument/2006/relationships/image" Target="../media/image-70-2.png"/><Relationship Id="rId3" Type="http://schemas.openxmlformats.org/officeDocument/2006/relationships/image" Target="../media/image-70-3.png"/><Relationship Id="rId4" Type="http://schemas.openxmlformats.org/officeDocument/2006/relationships/image" Target="../media/image-70-4.png"/><Relationship Id="rId5" Type="http://schemas.openxmlformats.org/officeDocument/2006/relationships/image" Target="../media/image-70-5.png"/><Relationship Id="rId6" Type="http://schemas.openxmlformats.org/officeDocument/2006/relationships/image" Target="../media/image-7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jpg"/><Relationship Id="rId2" Type="http://schemas.openxmlformats.org/officeDocument/2006/relationships/image" Target="../media/image-71-2.png"/><Relationship Id="rId3" Type="http://schemas.openxmlformats.org/officeDocument/2006/relationships/image" Target="../media/image-7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jp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jp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jpg"/><Relationship Id="rId2" Type="http://schemas.openxmlformats.org/officeDocument/2006/relationships/image" Target="../media/image-74-2.png"/><Relationship Id="rId3" Type="http://schemas.openxmlformats.org/officeDocument/2006/relationships/image" Target="../media/image-74-3.png"/><Relationship Id="rId4" Type="http://schemas.openxmlformats.org/officeDocument/2006/relationships/image" Target="../media/image-7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jp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jp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38230" y="1431768"/>
            <a:ext cx="2772644" cy="447690"/>
          </a:xfrm>
          <a:prstGeom prst="roundRect">
            <a:avLst>
              <a:gd name="adj" fmla="val 50000"/>
            </a:avLst>
          </a:prstGeom>
          <a:solidFill>
            <a:srgbClr val="FBEEE6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971550" y="1507937"/>
            <a:ext cx="26664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西屯婦女培力 · 一日課程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993666"/>
            <a:ext cx="2960004" cy="1813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105"/>
              </a:lnSpc>
              <a:buNone/>
            </a:pPr>
            <a:r>
              <a:rPr lang="en-US" sz="5550" b="1" spc="-222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社群平台</a:t>
            </a:r>
            <a:endParaRPr lang="en-US" sz="5550" dirty="0"/>
          </a:p>
          <a:p>
            <a:pPr algn="l" indent="0" marL="0">
              <a:lnSpc>
                <a:spcPts val="6105"/>
              </a:lnSpc>
              <a:buNone/>
            </a:pPr>
            <a:r>
              <a:rPr lang="en-US" sz="5550" b="1" spc="-222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操作入門</a:t>
            </a:r>
            <a:endParaRPr lang="en-US" sz="5550" dirty="0"/>
          </a:p>
        </p:txBody>
      </p:sp>
      <p:sp>
        <p:nvSpPr>
          <p:cNvPr id="6" name="Text 3"/>
          <p:cNvSpPr txBox="1"/>
          <p:nvPr/>
        </p:nvSpPr>
        <p:spPr>
          <a:xfrm>
            <a:off x="800100" y="3887114"/>
            <a:ext cx="3241091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22"/>
              </a:lnSpc>
              <a:buNone/>
            </a:pPr>
            <a:r>
              <a:rPr lang="en-US" sz="19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不用當網紅，</a:t>
            </a:r>
            <a:endParaRPr lang="en-US" sz="1950" dirty="0"/>
          </a:p>
          <a:p>
            <a:pPr algn="l" indent="0" marL="0">
              <a:lnSpc>
                <a:spcPts val="3022"/>
              </a:lnSpc>
              <a:buNone/>
            </a:pPr>
            <a:r>
              <a:rPr lang="en-US" sz="19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也能讓別人看見你的作品。</a:t>
            </a:r>
            <a:endParaRPr lang="en-US" sz="1950" dirty="0"/>
          </a:p>
        </p:txBody>
      </p:sp>
      <p:sp>
        <p:nvSpPr>
          <p:cNvPr id="7" name="Shape 4"/>
          <p:cNvSpPr/>
          <p:nvPr/>
        </p:nvSpPr>
        <p:spPr>
          <a:xfrm>
            <a:off x="838230" y="4978634"/>
            <a:ext cx="2598725" cy="4476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52530" y="5054803"/>
            <a:ext cx="252237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30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08/16（六）09:00–16:00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570275" y="4978634"/>
            <a:ext cx="1681033" cy="4476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684575" y="5054803"/>
            <a:ext cx="15496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30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實際授課 6 小時</a:t>
            </a:r>
            <a:endParaRPr lang="en-US" sz="1500" dirty="0"/>
          </a:p>
        </p:txBody>
      </p:sp>
      <p:pic>
        <p:nvPicPr>
          <p:cNvPr id="11" name="Image 1" descr="/home/user/gogoeveryday/social-course/export-pptx/build/img/p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469" y="800100"/>
            <a:ext cx="2590770" cy="5257800"/>
          </a:xfrm>
          <a:prstGeom prst="rect">
            <a:avLst/>
          </a:prstGeom>
        </p:spPr>
      </p:pic>
      <p:pic>
        <p:nvPicPr>
          <p:cNvPr id="12" name="Image 2" descr="/home/user/gogoeveryday/social-course/export-pptx/build/img/p1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669" y="1409730"/>
            <a:ext cx="533370" cy="533370"/>
          </a:xfrm>
          <a:prstGeom prst="rect">
            <a:avLst/>
          </a:prstGeom>
        </p:spPr>
      </p:pic>
      <p:pic>
        <p:nvPicPr>
          <p:cNvPr id="13" name="Image 3" descr="/home/user/gogoeveryday/social-course/export-pptx/build/img/p1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3199" y="2933670"/>
            <a:ext cx="533370" cy="533370"/>
          </a:xfrm>
          <a:prstGeom prst="rect">
            <a:avLst/>
          </a:prstGeom>
        </p:spPr>
      </p:pic>
      <p:pic>
        <p:nvPicPr>
          <p:cNvPr id="14" name="Image 4" descr="/home/user/gogoeveryday/social-course/export-pptx/build/img/p1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0819" y="4457700"/>
            <a:ext cx="533370" cy="533370"/>
          </a:xfrm>
          <a:prstGeom prst="rect">
            <a:avLst/>
          </a:prstGeom>
        </p:spPr>
      </p:pic>
      <p:pic>
        <p:nvPicPr>
          <p:cNvPr id="15" name="Image 5" descr="/home/user/gogoeveryday/social-course/export-pptx/build/img/p1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4069" y="2228850"/>
            <a:ext cx="514350" cy="514350"/>
          </a:xfrm>
          <a:prstGeom prst="rect">
            <a:avLst/>
          </a:prstGeom>
        </p:spPr>
      </p:pic>
      <p:pic>
        <p:nvPicPr>
          <p:cNvPr id="16" name="Image 6" descr="/home/user/gogoeveryday/social-course/export-pptx/build/img/p1-6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28788" y="4638660"/>
            <a:ext cx="457200" cy="45720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761970" y="6343650"/>
            <a:ext cx="172355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開場 · 09:00</a:t>
            </a:r>
            <a:endParaRPr lang="en-US" sz="1500" dirty="0"/>
          </a:p>
        </p:txBody>
      </p:sp>
      <p:sp>
        <p:nvSpPr>
          <p:cNvPr id="18" name="Text 9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 / 76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319857"/>
            <a:ext cx="233418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TODAY 09:00–16:00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609630" y="700796"/>
            <a:ext cx="272290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今天會走過的路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609630" y="1266261"/>
            <a:ext cx="5765841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上午把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觀念與平台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搞清楚，下午全部都是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動手做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875" dirty="0"/>
          </a:p>
        </p:txBody>
      </p:sp>
      <p:sp>
        <p:nvSpPr>
          <p:cNvPr id="6" name="Shape 3"/>
          <p:cNvSpPr/>
          <p:nvPr/>
        </p:nvSpPr>
        <p:spPr>
          <a:xfrm>
            <a:off x="6415705" y="1194755"/>
            <a:ext cx="1499707" cy="447690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796644" y="1271016"/>
            <a:ext cx="107478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30" kern="0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Facebook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029712" y="1194755"/>
            <a:ext cx="1556309" cy="447690"/>
          </a:xfrm>
          <a:prstGeom prst="roundRect">
            <a:avLst>
              <a:gd name="adj" fmla="val 50000"/>
            </a:avLst>
          </a:prstGeom>
          <a:solidFill>
            <a:srgbClr val="FDEEF4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410743" y="1271016"/>
            <a:ext cx="113467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30" kern="0" dirty="0">
                <a:solidFill>
                  <a:srgbClr val="E1306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Instagram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9700321" y="1194755"/>
            <a:ext cx="1843979" cy="447690"/>
          </a:xfrm>
          <a:prstGeom prst="roundRect">
            <a:avLst>
              <a:gd name="adj" fmla="val 50000"/>
            </a:avLst>
          </a:prstGeom>
          <a:solidFill>
            <a:srgbClr val="E6F8E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10081351" y="1271016"/>
            <a:ext cx="143972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30" kern="0" dirty="0">
                <a:solidFill>
                  <a:srgbClr val="0393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LINE 官方帳號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23930" y="1861536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09:00–09:30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847820" y="1994855"/>
            <a:ext cx="33217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社群不是只有發文：先搞懂經營邏輯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362670" y="1861536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09:30–10:10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486650" y="1994855"/>
            <a:ext cx="288008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FB、IG、LINE 官方帳號怎麼選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47670" y="2566355"/>
            <a:ext cx="5257800" cy="685800"/>
          </a:xfrm>
          <a:prstGeom prst="roundRect">
            <a:avLst>
              <a:gd name="adj" fmla="val 15280"/>
            </a:avLst>
          </a:prstGeom>
          <a:solidFill>
            <a:srgbClr val="F4ECE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23930" y="2623505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10:10–10:20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847820" y="2756916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休息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362670" y="2623505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10:20–11:05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7486650" y="2756916"/>
            <a:ext cx="229980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 粉絲專頁操作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23930" y="3385566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11:05–12:00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847820" y="3518886"/>
            <a:ext cx="296155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 操作＋品牌案例觀察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286500" y="3328416"/>
            <a:ext cx="5257800" cy="685800"/>
          </a:xfrm>
          <a:prstGeom prst="roundRect">
            <a:avLst>
              <a:gd name="adj" fmla="val 15280"/>
            </a:avLst>
          </a:prstGeom>
          <a:solidFill>
            <a:srgbClr val="F4ECE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62670" y="3385566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12:00–13:00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7486650" y="3518886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午休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723930" y="4147536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13:00–13:45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847820" y="4280855"/>
            <a:ext cx="27159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不同平台怎麼發：字數與圖文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6362670" y="4147536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13:45–14:25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7486650" y="4280855"/>
            <a:ext cx="273003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Hashtag、搜尋與十大關鍵字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47670" y="4852355"/>
            <a:ext cx="5257800" cy="685800"/>
          </a:xfrm>
          <a:prstGeom prst="roundRect">
            <a:avLst>
              <a:gd name="adj" fmla="val 15280"/>
            </a:avLst>
          </a:prstGeom>
          <a:solidFill>
            <a:srgbClr val="F4ECE1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23930" y="4909505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14:25–14:35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1847820" y="5042916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休息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6362670" y="4909505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14:35–15:05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7486650" y="5042916"/>
            <a:ext cx="264371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Reels、限時動態與內容形式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723930" y="5671566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15:05–15:35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1847820" y="5804886"/>
            <a:ext cx="24129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 官方帳號與顧客承接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6362670" y="5671566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15:35–16:00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7486650" y="5804886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免費曝光＋綜合實作</a:t>
            </a: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761970" y="6343650"/>
            <a:ext cx="172355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開場 · 09:00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 / 76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682039"/>
            <a:ext cx="27036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09:00 – 09:30 ｜ PART 1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1882110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01</a:t>
            </a:r>
            <a:endParaRPr lang="en-US" sz="1125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3425160"/>
            <a:ext cx="5575280" cy="790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社群到底在經營什麼？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876270" y="4596689"/>
            <a:ext cx="58963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先把「為什麼要發」想清楚，後面所有按鈕才會有意義。</a:t>
            </a:r>
            <a:endParaRPr lang="en-US" sz="1725" dirty="0"/>
          </a:p>
        </p:txBody>
      </p:sp>
      <p:pic>
        <p:nvPicPr>
          <p:cNvPr id="7" name="Image 1" descr="/home/user/gogoeveryday/social-course/export-pptx/build/img/p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1930" y="2031980"/>
            <a:ext cx="3810030" cy="2793949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61970" y="6343650"/>
            <a:ext cx="273030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 · 09:00–09:30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 / 76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39511"/>
            <a:ext cx="20900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今天不是教你當網紅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211031"/>
            <a:ext cx="487997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26"/>
              </a:lnSpc>
              <a:buNone/>
            </a:pPr>
            <a:r>
              <a:rPr lang="en-US" sz="3300" b="1" spc="-6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今天我們只解決三件事。</a:t>
            </a:r>
            <a:endParaRPr lang="en-US" sz="3300" dirty="0"/>
          </a:p>
        </p:txBody>
      </p:sp>
      <p:sp>
        <p:nvSpPr>
          <p:cNvPr id="5" name="Shape 2"/>
          <p:cNvSpPr/>
          <p:nvPr/>
        </p:nvSpPr>
        <p:spPr>
          <a:xfrm>
            <a:off x="800100" y="2350922"/>
            <a:ext cx="3403580" cy="2429286"/>
          </a:xfrm>
          <a:prstGeom prst="roundRect">
            <a:avLst>
              <a:gd name="adj" fmla="val 941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0100" y="2350922"/>
            <a:ext cx="3384469" cy="3813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7" name="Shape 4"/>
          <p:cNvSpPr/>
          <p:nvPr/>
        </p:nvSpPr>
        <p:spPr>
          <a:xfrm>
            <a:off x="1057321" y="2608052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143914" y="2636672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19190" y="3112892"/>
            <a:ext cx="1770187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我要去哪裡發？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019190" y="3541471"/>
            <a:ext cx="2916479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Facebook、Instagram、LINE 官方帳號，</a:t>
            </a:r>
            <a:endParaRPr lang="en-US" sz="1575" dirty="0"/>
          </a:p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哪一個適合我？</a:t>
            </a:r>
            <a:endParaRPr lang="en-US" sz="1575" dirty="0"/>
          </a:p>
        </p:txBody>
      </p:sp>
      <p:sp>
        <p:nvSpPr>
          <p:cNvPr id="11" name="Shape 8"/>
          <p:cNvSpPr/>
          <p:nvPr/>
        </p:nvSpPr>
        <p:spPr>
          <a:xfrm>
            <a:off x="4394149" y="2350922"/>
            <a:ext cx="3403580" cy="2429286"/>
          </a:xfrm>
          <a:prstGeom prst="roundRect">
            <a:avLst>
              <a:gd name="adj" fmla="val 941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94149" y="2350922"/>
            <a:ext cx="3384469" cy="3813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13" name="Shape 10"/>
          <p:cNvSpPr/>
          <p:nvPr/>
        </p:nvSpPr>
        <p:spPr>
          <a:xfrm>
            <a:off x="4651370" y="2608052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4737964" y="2636672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613239" y="3112892"/>
            <a:ext cx="1530248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我要怎麼發？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4613239" y="3541471"/>
            <a:ext cx="2635209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字要寫多少、照片怎麼配、</a:t>
            </a:r>
            <a:endParaRPr lang="en-US" sz="1575" dirty="0"/>
          </a:p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三個平台差在哪？</a:t>
            </a:r>
            <a:endParaRPr lang="en-US" sz="1575" dirty="0"/>
          </a:p>
        </p:txBody>
      </p:sp>
      <p:sp>
        <p:nvSpPr>
          <p:cNvPr id="17" name="Shape 14"/>
          <p:cNvSpPr/>
          <p:nvPr/>
        </p:nvSpPr>
        <p:spPr>
          <a:xfrm>
            <a:off x="7988198" y="2350922"/>
            <a:ext cx="3403671" cy="2429286"/>
          </a:xfrm>
          <a:prstGeom prst="roundRect">
            <a:avLst>
              <a:gd name="adj" fmla="val 941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988198" y="2350922"/>
            <a:ext cx="3384652" cy="3813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9" name="Shape 16"/>
          <p:cNvSpPr/>
          <p:nvPr/>
        </p:nvSpPr>
        <p:spPr>
          <a:xfrm>
            <a:off x="8245419" y="2608052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D99A4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8332013" y="2636672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207289" y="3112892"/>
            <a:ext cx="224997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發了怎麼讓人看到？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8207289" y="3541471"/>
            <a:ext cx="2917302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Hashtag、Reels、限時動態，</a:t>
            </a:r>
            <a:endParaRPr lang="en-US" sz="1575" dirty="0"/>
          </a:p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還有不用花錢的曝光方式。</a:t>
            </a:r>
            <a:endParaRPr lang="en-US" sz="1575" dirty="0"/>
          </a:p>
        </p:txBody>
      </p:sp>
      <p:sp>
        <p:nvSpPr>
          <p:cNvPr id="23" name="Shape 20"/>
          <p:cNvSpPr/>
          <p:nvPr/>
        </p:nvSpPr>
        <p:spPr>
          <a:xfrm>
            <a:off x="800100" y="5075469"/>
            <a:ext cx="10591770" cy="742950"/>
          </a:xfrm>
          <a:prstGeom prst="roundRect">
            <a:avLst>
              <a:gd name="adj" fmla="val 23077"/>
            </a:avLst>
          </a:prstGeom>
          <a:solidFill>
            <a:srgbClr val="FBEEE6"/>
          </a:solidFill>
          <a:ln/>
        </p:spPr>
      </p:sp>
      <p:sp>
        <p:nvSpPr>
          <p:cNvPr id="24" name="Shape 21"/>
          <p:cNvSpPr/>
          <p:nvPr/>
        </p:nvSpPr>
        <p:spPr>
          <a:xfrm>
            <a:off x="800100" y="5075469"/>
            <a:ext cx="47640" cy="742950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5" name="Image 1" descr="/home/user/gogoeveryday/social-course/export-pptx/build/img/p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266030"/>
            <a:ext cx="361920" cy="36192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571671" y="5291907"/>
            <a:ext cx="517952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不用學會全部功能。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會用得到的那幾個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，就足以開始。</a:t>
            </a:r>
            <a:endParaRPr lang="en-US" sz="1575" dirty="0"/>
          </a:p>
        </p:txBody>
      </p:sp>
      <p:sp>
        <p:nvSpPr>
          <p:cNvPr id="27" name="Shape 23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舉手調查</a:t>
            </a:r>
            <a:endParaRPr lang="en-US" sz="1500" dirty="0"/>
          </a:p>
        </p:txBody>
      </p:sp>
      <p:sp>
        <p:nvSpPr>
          <p:cNvPr id="29" name="Text 25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 · 09:00</a:t>
            </a:r>
            <a:endParaRPr lang="en-US" sz="1500" dirty="0"/>
          </a:p>
        </p:txBody>
      </p:sp>
      <p:sp>
        <p:nvSpPr>
          <p:cNvPr id="30" name="Text 26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 / 76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411651"/>
            <a:ext cx="329915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課前需求調查 · 有效樣本 30 人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792590"/>
            <a:ext cx="2861340" cy="1036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這些困擾，</a:t>
            </a:r>
            <a:endParaRPr lang="en-US" sz="3000" dirty="0"/>
          </a:p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是不是你也有？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2998409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不懂如何進行社群經營</a:t>
            </a:r>
            <a:endParaRPr lang="en-US" sz="1575" dirty="0"/>
          </a:p>
        </p:txBody>
      </p:sp>
      <p:sp>
        <p:nvSpPr>
          <p:cNvPr id="6" name="Shape 3"/>
          <p:cNvSpPr/>
          <p:nvPr/>
        </p:nvSpPr>
        <p:spPr>
          <a:xfrm>
            <a:off x="3333720" y="3084180"/>
            <a:ext cx="2624328" cy="133320"/>
          </a:xfrm>
          <a:prstGeom prst="roundRect">
            <a:avLst>
              <a:gd name="adj" fmla="val 50000"/>
            </a:avLst>
          </a:prstGeom>
          <a:solidFill>
            <a:srgbClr val="ECE0D1"/>
          </a:solidFill>
          <a:ln/>
        </p:spPr>
      </p:sp>
      <p:pic>
        <p:nvPicPr>
          <p:cNvPr id="7" name="Image 1" descr="/home/user/gogoeveryday/social-course/export-pptx/build/img/p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720" y="3084180"/>
            <a:ext cx="2099371" cy="133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190397" y="3003164"/>
            <a:ext cx="139647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24 人｜80.0%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61970" y="3388949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不會拍攝商品照片與影音</a:t>
            </a:r>
            <a:endParaRPr lang="en-US" sz="1575" dirty="0"/>
          </a:p>
        </p:txBody>
      </p:sp>
      <p:sp>
        <p:nvSpPr>
          <p:cNvPr id="10" name="Shape 6"/>
          <p:cNvSpPr/>
          <p:nvPr/>
        </p:nvSpPr>
        <p:spPr>
          <a:xfrm>
            <a:off x="3333720" y="3474720"/>
            <a:ext cx="2624328" cy="133320"/>
          </a:xfrm>
          <a:prstGeom prst="roundRect">
            <a:avLst>
              <a:gd name="adj" fmla="val 50000"/>
            </a:avLst>
          </a:prstGeom>
          <a:solidFill>
            <a:srgbClr val="ECE0D1"/>
          </a:solidFill>
          <a:ln/>
        </p:spPr>
      </p:sp>
      <p:sp>
        <p:nvSpPr>
          <p:cNvPr id="11" name="Shape 7"/>
          <p:cNvSpPr/>
          <p:nvPr/>
        </p:nvSpPr>
        <p:spPr>
          <a:xfrm>
            <a:off x="3333720" y="3474720"/>
            <a:ext cx="1923440" cy="13332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190397" y="3393704"/>
            <a:ext cx="139647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22 人｜73.3%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1970" y="3779490"/>
            <a:ext cx="263520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不知道該怎麼賣、怎麼行銷</a:t>
            </a:r>
            <a:endParaRPr lang="en-US" sz="1575" dirty="0"/>
          </a:p>
        </p:txBody>
      </p:sp>
      <p:sp>
        <p:nvSpPr>
          <p:cNvPr id="14" name="Shape 10"/>
          <p:cNvSpPr/>
          <p:nvPr/>
        </p:nvSpPr>
        <p:spPr>
          <a:xfrm>
            <a:off x="3333720" y="3865260"/>
            <a:ext cx="2624328" cy="133320"/>
          </a:xfrm>
          <a:prstGeom prst="roundRect">
            <a:avLst>
              <a:gd name="adj" fmla="val 50000"/>
            </a:avLst>
          </a:prstGeom>
          <a:solidFill>
            <a:srgbClr val="ECE0D1"/>
          </a:solidFill>
          <a:ln/>
        </p:spPr>
      </p:sp>
      <p:sp>
        <p:nvSpPr>
          <p:cNvPr id="15" name="Shape 11"/>
          <p:cNvSpPr/>
          <p:nvPr/>
        </p:nvSpPr>
        <p:spPr>
          <a:xfrm>
            <a:off x="3333720" y="3865260"/>
            <a:ext cx="1923440" cy="13332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190397" y="3784244"/>
            <a:ext cx="139647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22 人｜73.3%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761970" y="4170030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不會寫介紹文案與內容</a:t>
            </a:r>
            <a:endParaRPr lang="en-US" sz="1575" dirty="0"/>
          </a:p>
        </p:txBody>
      </p:sp>
      <p:sp>
        <p:nvSpPr>
          <p:cNvPr id="18" name="Shape 14"/>
          <p:cNvSpPr/>
          <p:nvPr/>
        </p:nvSpPr>
        <p:spPr>
          <a:xfrm>
            <a:off x="3333720" y="4255709"/>
            <a:ext cx="2624328" cy="133320"/>
          </a:xfrm>
          <a:prstGeom prst="roundRect">
            <a:avLst>
              <a:gd name="adj" fmla="val 50000"/>
            </a:avLst>
          </a:prstGeom>
          <a:solidFill>
            <a:srgbClr val="ECE0D1"/>
          </a:solidFill>
          <a:ln/>
        </p:spPr>
      </p:sp>
      <p:sp>
        <p:nvSpPr>
          <p:cNvPr id="19" name="Shape 15"/>
          <p:cNvSpPr/>
          <p:nvPr/>
        </p:nvSpPr>
        <p:spPr>
          <a:xfrm>
            <a:off x="3333720" y="4255709"/>
            <a:ext cx="1574414" cy="13332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6190397" y="4174785"/>
            <a:ext cx="139647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18 人｜60.0%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761970" y="4560570"/>
            <a:ext cx="166530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不會使用 AI 工具</a:t>
            </a:r>
            <a:endParaRPr lang="en-US" sz="1575" dirty="0"/>
          </a:p>
        </p:txBody>
      </p:sp>
      <p:sp>
        <p:nvSpPr>
          <p:cNvPr id="22" name="Shape 18"/>
          <p:cNvSpPr/>
          <p:nvPr/>
        </p:nvSpPr>
        <p:spPr>
          <a:xfrm>
            <a:off x="3333720" y="4646249"/>
            <a:ext cx="2624328" cy="133320"/>
          </a:xfrm>
          <a:prstGeom prst="roundRect">
            <a:avLst>
              <a:gd name="adj" fmla="val 50000"/>
            </a:avLst>
          </a:prstGeom>
          <a:solidFill>
            <a:srgbClr val="ECE0D1"/>
          </a:solidFill>
          <a:ln/>
        </p:spPr>
      </p:sp>
      <p:sp>
        <p:nvSpPr>
          <p:cNvPr id="23" name="Shape 19"/>
          <p:cNvSpPr/>
          <p:nvPr/>
        </p:nvSpPr>
        <p:spPr>
          <a:xfrm>
            <a:off x="3333720" y="4646249"/>
            <a:ext cx="1398666" cy="13332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6190397" y="4565325"/>
            <a:ext cx="139647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16 人｜53.3%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761970" y="4951110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完全不知道怎麼開始</a:t>
            </a:r>
            <a:endParaRPr lang="en-US" sz="1575" dirty="0"/>
          </a:p>
        </p:txBody>
      </p:sp>
      <p:sp>
        <p:nvSpPr>
          <p:cNvPr id="26" name="Shape 22"/>
          <p:cNvSpPr/>
          <p:nvPr/>
        </p:nvSpPr>
        <p:spPr>
          <a:xfrm>
            <a:off x="3333720" y="5036790"/>
            <a:ext cx="2624328" cy="133320"/>
          </a:xfrm>
          <a:prstGeom prst="roundRect">
            <a:avLst>
              <a:gd name="adj" fmla="val 50000"/>
            </a:avLst>
          </a:prstGeom>
          <a:solidFill>
            <a:srgbClr val="ECE0D1"/>
          </a:solidFill>
          <a:ln/>
        </p:spPr>
      </p:sp>
      <p:sp>
        <p:nvSpPr>
          <p:cNvPr id="27" name="Shape 23"/>
          <p:cNvSpPr/>
          <p:nvPr/>
        </p:nvSpPr>
        <p:spPr>
          <a:xfrm>
            <a:off x="3333720" y="5036790"/>
            <a:ext cx="1225479" cy="13332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6190397" y="4955865"/>
            <a:ext cx="139647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 人｜46.7%</a:t>
            </a:r>
            <a:endParaRPr lang="en-US" sz="1500" dirty="0"/>
          </a:p>
        </p:txBody>
      </p:sp>
      <p:pic>
        <p:nvPicPr>
          <p:cNvPr id="29" name="Image 2" descr="/home/user/gogoeveryday/social-course/export-pptx/build/img/p5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1082" y="1213866"/>
            <a:ext cx="1809780" cy="1447770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8084302" y="2709276"/>
            <a:ext cx="3143250" cy="1181405"/>
          </a:xfrm>
          <a:prstGeom prst="roundRect">
            <a:avLst>
              <a:gd name="adj" fmla="val 16122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1" name="Text 26"/>
          <p:cNvSpPr txBox="1"/>
          <p:nvPr/>
        </p:nvSpPr>
        <p:spPr>
          <a:xfrm>
            <a:off x="8555218" y="2976006"/>
            <a:ext cx="2211202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「把手作品分享出去、</a:t>
            </a:r>
            <a:endParaRPr lang="en-US" sz="1575" dirty="0"/>
          </a:p>
          <a:p>
            <a:pPr algn="ctr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增加一份收入。」</a:t>
            </a:r>
            <a:endParaRPr lang="en-US" sz="1575" dirty="0"/>
          </a:p>
        </p:txBody>
      </p:sp>
      <p:sp>
        <p:nvSpPr>
          <p:cNvPr id="32" name="Text 27"/>
          <p:cNvSpPr txBox="1"/>
          <p:nvPr/>
        </p:nvSpPr>
        <p:spPr>
          <a:xfrm>
            <a:off x="9171066" y="4014490"/>
            <a:ext cx="9793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學員原話</a:t>
            </a:r>
            <a:endParaRPr lang="en-US" sz="1500" dirty="0"/>
          </a:p>
        </p:txBody>
      </p:sp>
      <p:sp>
        <p:nvSpPr>
          <p:cNvPr id="33" name="Shape 28"/>
          <p:cNvSpPr/>
          <p:nvPr/>
        </p:nvSpPr>
        <p:spPr>
          <a:xfrm>
            <a:off x="8084302" y="4490710"/>
            <a:ext cx="3143250" cy="962955"/>
          </a:xfrm>
          <a:prstGeom prst="roundRect">
            <a:avLst>
              <a:gd name="adj" fmla="val 17805"/>
            </a:avLst>
          </a:prstGeom>
          <a:solidFill>
            <a:srgbClr val="FBEEE6"/>
          </a:solidFill>
          <a:ln/>
        </p:spPr>
      </p:sp>
      <p:sp>
        <p:nvSpPr>
          <p:cNvPr id="34" name="Shape 29"/>
          <p:cNvSpPr/>
          <p:nvPr/>
        </p:nvSpPr>
        <p:spPr>
          <a:xfrm>
            <a:off x="8084302" y="4490710"/>
            <a:ext cx="47640" cy="962955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8303392" y="4662160"/>
            <a:ext cx="1787103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排第一名的困難，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就是今天這堂課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  <p:sp>
        <p:nvSpPr>
          <p:cNvPr id="36" name="Shape 31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7" name="Text 32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舉手對照</a:t>
            </a:r>
            <a:endParaRPr lang="en-US" sz="1500" dirty="0"/>
          </a:p>
        </p:txBody>
      </p:sp>
      <p:sp>
        <p:nvSpPr>
          <p:cNvPr id="38" name="Text 33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 · 09:05</a:t>
            </a:r>
            <a:endParaRPr lang="en-US" sz="1500" dirty="0"/>
          </a:p>
        </p:txBody>
      </p:sp>
      <p:sp>
        <p:nvSpPr>
          <p:cNvPr id="39" name="Text 34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 / 76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289956"/>
            <a:ext cx="14236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最常見的錯誤</a:t>
            </a:r>
            <a:endParaRPr lang="en-US" sz="1500" dirty="0"/>
          </a:p>
        </p:txBody>
      </p:sp>
      <p:sp>
        <p:nvSpPr>
          <p:cNvPr id="4" name="Shape 1"/>
          <p:cNvSpPr/>
          <p:nvPr/>
        </p:nvSpPr>
        <p:spPr>
          <a:xfrm>
            <a:off x="800100" y="889986"/>
            <a:ext cx="5086350" cy="4315145"/>
          </a:xfrm>
          <a:prstGeom prst="roundRect">
            <a:avLst>
              <a:gd name="adj" fmla="val 5298"/>
            </a:avLst>
          </a:prstGeom>
          <a:solidFill>
            <a:srgbClr val="F4ECE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019190" y="1137605"/>
            <a:ext cx="14312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 常見的做法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019190" y="1509126"/>
            <a:ext cx="321960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533540" y="1547256"/>
            <a:ext cx="4095780" cy="51435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47840" y="1651955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有商品，歡迎購買！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19190" y="2185416"/>
            <a:ext cx="321960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明天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1533540" y="2223455"/>
            <a:ext cx="4095780" cy="51435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647840" y="2328245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有商品，歡迎購買！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19190" y="2861706"/>
            <a:ext cx="321960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後天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533540" y="2899745"/>
            <a:ext cx="4095780" cy="51435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647840" y="3004536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有商品，歡迎購買！</a:t>
            </a:r>
            <a:endParaRPr lang="en-US" sz="1500" dirty="0"/>
          </a:p>
        </p:txBody>
      </p:sp>
      <p:pic>
        <p:nvPicPr>
          <p:cNvPr id="15" name="Image 1" descr="/home/user/gogoeveryday/social-course/export-pptx/build/img/p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8950" y="3614166"/>
            <a:ext cx="628650" cy="62865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560594" y="4290456"/>
            <a:ext cx="1575054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只有你在說話，</a:t>
            </a:r>
            <a:endParaRPr lang="en-US" sz="1575" dirty="0"/>
          </a:p>
          <a:p>
            <a:pPr algn="ctr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沒有人想回應。</a:t>
            </a:r>
            <a:endParaRPr lang="en-US" sz="1575" dirty="0"/>
          </a:p>
        </p:txBody>
      </p:sp>
      <p:sp>
        <p:nvSpPr>
          <p:cNvPr id="17" name="Shape 13"/>
          <p:cNvSpPr/>
          <p:nvPr/>
        </p:nvSpPr>
        <p:spPr>
          <a:xfrm>
            <a:off x="6305520" y="889986"/>
            <a:ext cx="5086350" cy="4315145"/>
          </a:xfrm>
          <a:prstGeom prst="roundRect">
            <a:avLst>
              <a:gd name="adj" fmla="val 5298"/>
            </a:avLst>
          </a:prstGeom>
          <a:solidFill>
            <a:srgbClr val="FBEEE6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524610" y="1137605"/>
            <a:ext cx="140543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 正確的觀念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6524610" y="1509126"/>
            <a:ext cx="321960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7038960" y="1556766"/>
            <a:ext cx="4095780" cy="49533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143750" y="1651955"/>
            <a:ext cx="24085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今年的草莓終於進來了 🍓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6524610" y="2185416"/>
            <a:ext cx="321960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明天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7038960" y="2233056"/>
            <a:ext cx="4095780" cy="49533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7143750" y="2328245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煮果醬時廚房的樣子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6524610" y="2861706"/>
            <a:ext cx="321960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後天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7038960" y="2909255"/>
            <a:ext cx="4095780" cy="49533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143750" y="3004536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客人回購的一句話</a:t>
            </a:r>
            <a:endParaRPr lang="en-US" sz="1500" dirty="0"/>
          </a:p>
        </p:txBody>
      </p:sp>
      <p:pic>
        <p:nvPicPr>
          <p:cNvPr id="28" name="Image 2" descr="/home/user/gogoeveryday/social-course/export-pptx/build/img/p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370" y="3614166"/>
            <a:ext cx="628650" cy="62865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7853873" y="4290456"/>
            <a:ext cx="1999061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先讓別人願意看你，</a:t>
            </a:r>
            <a:endParaRPr lang="en-US" sz="1575" dirty="0"/>
          </a:p>
          <a:p>
            <a:pPr algn="ctr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再談購買。</a:t>
            </a:r>
            <a:endParaRPr lang="en-US" sz="1575" dirty="0"/>
          </a:p>
        </p:txBody>
      </p:sp>
      <p:sp>
        <p:nvSpPr>
          <p:cNvPr id="30" name="Shape 25"/>
          <p:cNvSpPr/>
          <p:nvPr/>
        </p:nvSpPr>
        <p:spPr>
          <a:xfrm>
            <a:off x="800100" y="5367071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DFE8DC"/>
          </a:solidFill>
          <a:ln/>
        </p:spPr>
      </p:sp>
      <p:sp>
        <p:nvSpPr>
          <p:cNvPr id="31" name="Shape 26"/>
          <p:cNvSpPr/>
          <p:nvPr/>
        </p:nvSpPr>
        <p:spPr>
          <a:xfrm>
            <a:off x="800100" y="5367071"/>
            <a:ext cx="47640" cy="1000994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32" name="Image 3" descr="/home/user/gogoeveryday/social-course/export-pptx/build/img/p6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360" y="5705582"/>
            <a:ext cx="323880" cy="323880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1533540" y="5557540"/>
            <a:ext cx="4225442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沒有人喜歡天天被推銷，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但大家都喜歡看「有人正在認真做一件事」。</a:t>
            </a:r>
            <a:endParaRPr lang="en-US" sz="1575" dirty="0"/>
          </a:p>
        </p:txBody>
      </p:sp>
      <p:sp>
        <p:nvSpPr>
          <p:cNvPr id="34" name="Text 28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 · 09:10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 / 76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75848"/>
            <a:ext cx="12015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整天的主軸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356878"/>
            <a:ext cx="3653028" cy="1036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一個陌生人，</a:t>
            </a:r>
            <a:endParaRPr lang="en-US" sz="3000" dirty="0"/>
          </a:p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怎麼變成你的客人？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2524567"/>
            <a:ext cx="3685764" cy="1904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中間每一層都會流失一些人，</a:t>
            </a:r>
            <a:endParaRPr lang="en-US" sz="1875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這很正常。</a:t>
            </a:r>
            <a:endParaRPr lang="en-US" sz="1875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我們要做的不是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逼人買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endParaRPr lang="en-US" sz="1875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而是讓願意留下的人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走得下去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875" dirty="0"/>
          </a:p>
        </p:txBody>
      </p:sp>
      <p:sp>
        <p:nvSpPr>
          <p:cNvPr id="6" name="Shape 3"/>
          <p:cNvSpPr/>
          <p:nvPr/>
        </p:nvSpPr>
        <p:spPr>
          <a:xfrm>
            <a:off x="800100" y="4691512"/>
            <a:ext cx="2262043" cy="447690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14400" y="4767682"/>
            <a:ext cx="216557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30" kern="0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FB · IG 負責前面三層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00100" y="5234391"/>
            <a:ext cx="1965869" cy="447690"/>
          </a:xfrm>
          <a:prstGeom prst="roundRect">
            <a:avLst>
              <a:gd name="adj" fmla="val 50000"/>
            </a:avLst>
          </a:prstGeom>
          <a:solidFill>
            <a:srgbClr val="E6F8E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914400" y="5310652"/>
            <a:ext cx="185156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30" kern="0" dirty="0">
                <a:solidFill>
                  <a:srgbClr val="0393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 負責後面三層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586435" y="976305"/>
            <a:ext cx="5805526" cy="514350"/>
          </a:xfrm>
          <a:prstGeom prst="roundRect">
            <a:avLst>
              <a:gd name="adj" fmla="val 24071"/>
            </a:avLst>
          </a:prstGeom>
          <a:solidFill>
            <a:srgbClr val="D99A4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130296" y="1071585"/>
            <a:ext cx="772759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3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被看見</a:t>
            </a:r>
            <a:endParaRPr lang="en-US" sz="1650" dirty="0"/>
          </a:p>
        </p:txBody>
      </p:sp>
      <p:sp>
        <p:nvSpPr>
          <p:cNvPr id="12" name="Shape 9"/>
          <p:cNvSpPr/>
          <p:nvPr/>
        </p:nvSpPr>
        <p:spPr>
          <a:xfrm>
            <a:off x="5934639" y="1576426"/>
            <a:ext cx="5108844" cy="514350"/>
          </a:xfrm>
          <a:prstGeom prst="roundRect">
            <a:avLst>
              <a:gd name="adj" fmla="val 24071"/>
            </a:avLst>
          </a:prstGeom>
          <a:solidFill>
            <a:srgbClr val="D78F4D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130296" y="1671615"/>
            <a:ext cx="772759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3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被認識</a:t>
            </a:r>
            <a:endParaRPr lang="en-US" sz="1650" dirty="0"/>
          </a:p>
        </p:txBody>
      </p:sp>
      <p:sp>
        <p:nvSpPr>
          <p:cNvPr id="14" name="Shape 11"/>
          <p:cNvSpPr/>
          <p:nvPr/>
        </p:nvSpPr>
        <p:spPr>
          <a:xfrm>
            <a:off x="6254039" y="2176455"/>
            <a:ext cx="4470227" cy="514350"/>
          </a:xfrm>
          <a:prstGeom prst="roundRect">
            <a:avLst>
              <a:gd name="adj" fmla="val 24071"/>
            </a:avLst>
          </a:prstGeom>
          <a:solidFill>
            <a:srgbClr val="CD7A46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130296" y="2271735"/>
            <a:ext cx="772759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3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被喜歡</a:t>
            </a:r>
            <a:endParaRPr lang="en-US" sz="1650" dirty="0"/>
          </a:p>
        </p:txBody>
      </p:sp>
      <p:sp>
        <p:nvSpPr>
          <p:cNvPr id="16" name="Shape 13"/>
          <p:cNvSpPr/>
          <p:nvPr/>
        </p:nvSpPr>
        <p:spPr>
          <a:xfrm>
            <a:off x="6573256" y="2776576"/>
            <a:ext cx="3831610" cy="514350"/>
          </a:xfrm>
          <a:prstGeom prst="roundRect">
            <a:avLst>
              <a:gd name="adj" fmla="val 24071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8130296" y="2871765"/>
            <a:ext cx="772759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3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被信任</a:t>
            </a:r>
            <a:endParaRPr lang="en-US" sz="1650" dirty="0"/>
          </a:p>
        </p:txBody>
      </p:sp>
      <p:sp>
        <p:nvSpPr>
          <p:cNvPr id="18" name="Shape 15"/>
          <p:cNvSpPr/>
          <p:nvPr/>
        </p:nvSpPr>
        <p:spPr>
          <a:xfrm>
            <a:off x="6892656" y="3376605"/>
            <a:ext cx="3192993" cy="514350"/>
          </a:xfrm>
          <a:prstGeom prst="roundRect">
            <a:avLst>
              <a:gd name="adj" fmla="val 24071"/>
            </a:avLst>
          </a:prstGeom>
          <a:solidFill>
            <a:srgbClr val="B05231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37190" y="3471885"/>
            <a:ext cx="559064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3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詢問</a:t>
            </a:r>
            <a:endParaRPr lang="en-US" sz="1650" dirty="0"/>
          </a:p>
        </p:txBody>
      </p:sp>
      <p:sp>
        <p:nvSpPr>
          <p:cNvPr id="20" name="Shape 17"/>
          <p:cNvSpPr/>
          <p:nvPr/>
        </p:nvSpPr>
        <p:spPr>
          <a:xfrm>
            <a:off x="7182886" y="3976726"/>
            <a:ext cx="2612349" cy="514350"/>
          </a:xfrm>
          <a:prstGeom prst="roundRect">
            <a:avLst>
              <a:gd name="adj" fmla="val 24071"/>
            </a:avLst>
          </a:prstGeom>
          <a:solidFill>
            <a:srgbClr val="A94E2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237190" y="4071915"/>
            <a:ext cx="559064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3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購買</a:t>
            </a:r>
            <a:endParaRPr lang="en-US" sz="1650" dirty="0"/>
          </a:p>
        </p:txBody>
      </p:sp>
      <p:sp>
        <p:nvSpPr>
          <p:cNvPr id="22" name="Shape 19"/>
          <p:cNvSpPr/>
          <p:nvPr/>
        </p:nvSpPr>
        <p:spPr>
          <a:xfrm>
            <a:off x="7444222" y="4576755"/>
            <a:ext cx="2089861" cy="514350"/>
          </a:xfrm>
          <a:prstGeom prst="roundRect">
            <a:avLst>
              <a:gd name="adj" fmla="val 24071"/>
            </a:avLst>
          </a:prstGeom>
          <a:solidFill>
            <a:srgbClr val="8A5A6D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864846" y="4672035"/>
            <a:ext cx="1333470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3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回購 · 推薦</a:t>
            </a:r>
            <a:endParaRPr lang="en-US" sz="1650" dirty="0"/>
          </a:p>
        </p:txBody>
      </p:sp>
      <p:sp>
        <p:nvSpPr>
          <p:cNvPr id="24" name="Text 21"/>
          <p:cNvSpPr txBox="1"/>
          <p:nvPr/>
        </p:nvSpPr>
        <p:spPr>
          <a:xfrm>
            <a:off x="5786049" y="5214915"/>
            <a:ext cx="541590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被看見 → 被認識 → 被喜歡 → 被信任 → 詢問 → 購買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 · 09:15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 / 76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27954" y="994776"/>
            <a:ext cx="12015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換個方式想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2647097" y="1356695"/>
            <a:ext cx="6907286" cy="81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394"/>
              </a:lnSpc>
              <a:buNone/>
            </a:pPr>
            <a:r>
              <a:rPr lang="en-US" sz="4350" b="1" spc="-13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引流，只是把人帶到門口。</a:t>
            </a:r>
            <a:endParaRPr lang="en-US" sz="4350" dirty="0"/>
          </a:p>
        </p:txBody>
      </p:sp>
      <p:pic>
        <p:nvPicPr>
          <p:cNvPr id="5" name="Image 1" descr="/home/user/gogoeveryday/social-course/export-pptx/build/img/p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121" y="2355952"/>
            <a:ext cx="3143250" cy="265953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052371" y="5186934"/>
            <a:ext cx="25342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一家店，每天很多人經過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6324630" y="2577511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但是……</a:t>
            </a:r>
            <a:endParaRPr lang="en-US" sz="1575" dirty="0"/>
          </a:p>
        </p:txBody>
      </p:sp>
      <p:sp>
        <p:nvSpPr>
          <p:cNvPr id="8" name="Text 4"/>
          <p:cNvSpPr txBox="1"/>
          <p:nvPr/>
        </p:nvSpPr>
        <p:spPr>
          <a:xfrm>
            <a:off x="6324630" y="3049890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9" name="Text 5"/>
          <p:cNvSpPr txBox="1"/>
          <p:nvPr/>
        </p:nvSpPr>
        <p:spPr>
          <a:xfrm>
            <a:off x="6610380" y="3049890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東西看不懂</a:t>
            </a:r>
            <a:endParaRPr lang="en-US" sz="1575" dirty="0"/>
          </a:p>
        </p:txBody>
      </p:sp>
      <p:sp>
        <p:nvSpPr>
          <p:cNvPr id="10" name="Text 6"/>
          <p:cNvSpPr txBox="1"/>
          <p:nvPr/>
        </p:nvSpPr>
        <p:spPr>
          <a:xfrm>
            <a:off x="6324630" y="3454786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1" name="Text 7"/>
          <p:cNvSpPr txBox="1"/>
          <p:nvPr/>
        </p:nvSpPr>
        <p:spPr>
          <a:xfrm>
            <a:off x="6610380" y="3454786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內容很亂</a:t>
            </a:r>
            <a:endParaRPr lang="en-US" sz="1575" dirty="0"/>
          </a:p>
        </p:txBody>
      </p:sp>
      <p:sp>
        <p:nvSpPr>
          <p:cNvPr id="12" name="Text 8"/>
          <p:cNvSpPr txBox="1"/>
          <p:nvPr/>
        </p:nvSpPr>
        <p:spPr>
          <a:xfrm>
            <a:off x="6324630" y="3859591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3" name="Text 9"/>
          <p:cNvSpPr txBox="1"/>
          <p:nvPr/>
        </p:nvSpPr>
        <p:spPr>
          <a:xfrm>
            <a:off x="6610380" y="3859591"/>
            <a:ext cx="157505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不知道在賣什麼</a:t>
            </a:r>
            <a:endParaRPr lang="en-US" sz="1575" dirty="0"/>
          </a:p>
        </p:txBody>
      </p:sp>
      <p:sp>
        <p:nvSpPr>
          <p:cNvPr id="14" name="Text 10"/>
          <p:cNvSpPr txBox="1"/>
          <p:nvPr/>
        </p:nvSpPr>
        <p:spPr>
          <a:xfrm>
            <a:off x="6324630" y="4264396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5" name="Text 11"/>
          <p:cNvSpPr txBox="1"/>
          <p:nvPr/>
        </p:nvSpPr>
        <p:spPr>
          <a:xfrm>
            <a:off x="6610380" y="4264396"/>
            <a:ext cx="157505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找不到聯絡方式</a:t>
            </a:r>
            <a:endParaRPr lang="en-US" sz="1575" dirty="0"/>
          </a:p>
        </p:txBody>
      </p:sp>
      <p:sp>
        <p:nvSpPr>
          <p:cNvPr id="16" name="Shape 12"/>
          <p:cNvSpPr/>
          <p:nvPr/>
        </p:nvSpPr>
        <p:spPr>
          <a:xfrm>
            <a:off x="6362670" y="4812030"/>
            <a:ext cx="5029200" cy="629564"/>
          </a:xfrm>
          <a:prstGeom prst="roundRect">
            <a:avLst>
              <a:gd name="adj" fmla="val 27233"/>
            </a:avLst>
          </a:prstGeom>
          <a:solidFill>
            <a:srgbClr val="FBEEE6"/>
          </a:solidFill>
          <a:ln/>
        </p:spPr>
      </p:sp>
      <p:sp>
        <p:nvSpPr>
          <p:cNvPr id="17" name="Shape 13"/>
          <p:cNvSpPr/>
          <p:nvPr/>
        </p:nvSpPr>
        <p:spPr>
          <a:xfrm>
            <a:off x="6362670" y="4812030"/>
            <a:ext cx="47640" cy="629564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581760" y="4964460"/>
            <a:ext cx="979505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8"/>
              </a:lnSpc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會買嗎？</a:t>
            </a:r>
            <a:endParaRPr lang="en-US" sz="1650" dirty="0"/>
          </a:p>
        </p:txBody>
      </p:sp>
      <p:sp>
        <p:nvSpPr>
          <p:cNvPr id="19" name="Shape 15"/>
          <p:cNvSpPr/>
          <p:nvPr/>
        </p:nvSpPr>
        <p:spPr>
          <a:xfrm>
            <a:off x="9856409" y="228600"/>
            <a:ext cx="1535460" cy="44769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9980310" y="304770"/>
            <a:ext cx="13751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生活經驗連結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 · 09:20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 / 76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331775" y="1371600"/>
            <a:ext cx="14236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請記住這句話</a:t>
            </a:r>
            <a:endParaRPr lang="en-US" sz="1500" dirty="0"/>
          </a:p>
        </p:txBody>
      </p:sp>
      <p:sp>
        <p:nvSpPr>
          <p:cNvPr id="4" name="Shape 1"/>
          <p:cNvSpPr/>
          <p:nvPr/>
        </p:nvSpPr>
        <p:spPr>
          <a:xfrm>
            <a:off x="800100" y="2047890"/>
            <a:ext cx="3365449" cy="2228850"/>
          </a:xfrm>
          <a:prstGeom prst="roundRect">
            <a:avLst>
              <a:gd name="adj" fmla="val 10256"/>
            </a:avLst>
          </a:prstGeom>
          <a:solidFill>
            <a:srgbClr val="F8E6C9"/>
          </a:solidFill>
          <a:ln/>
        </p:spPr>
      </p:sp>
      <p:pic>
        <p:nvPicPr>
          <p:cNvPr id="5" name="Image 1" descr="/home/user/gogoeveryday/social-course/export-pptx/build/img/p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0768" y="2381280"/>
            <a:ext cx="723930" cy="72393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216140" y="3248040"/>
            <a:ext cx="5429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引流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1810878" y="3590940"/>
            <a:ext cx="1353403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18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讓人</a:t>
            </a:r>
            <a:pPr algn="ctr" indent="0" marL="0">
              <a:lnSpc>
                <a:spcPts val="2625"/>
              </a:lnSpc>
              <a:buNone/>
            </a:pPr>
            <a:r>
              <a:rPr lang="en-US" sz="18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看見</a:t>
            </a:r>
            <a:pPr algn="ctr" indent="0" marL="0">
              <a:lnSpc>
                <a:spcPts val="2625"/>
              </a:lnSpc>
              <a:buNone/>
            </a:pPr>
            <a:r>
              <a:rPr lang="en-US" sz="18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</a:t>
            </a:r>
            <a:endParaRPr lang="en-US" sz="1875" dirty="0"/>
          </a:p>
        </p:txBody>
      </p:sp>
      <p:sp>
        <p:nvSpPr>
          <p:cNvPr id="8" name="Shape 4"/>
          <p:cNvSpPr/>
          <p:nvPr/>
        </p:nvSpPr>
        <p:spPr>
          <a:xfrm>
            <a:off x="4413169" y="2047890"/>
            <a:ext cx="3365449" cy="2228850"/>
          </a:xfrm>
          <a:prstGeom prst="roundRect">
            <a:avLst>
              <a:gd name="adj" fmla="val 10256"/>
            </a:avLst>
          </a:prstGeom>
          <a:solidFill>
            <a:srgbClr val="FBEEE6"/>
          </a:solidFill>
          <a:ln/>
        </p:spPr>
      </p:sp>
      <p:pic>
        <p:nvPicPr>
          <p:cNvPr id="9" name="Image 2" descr="/home/user/gogoeveryday/social-course/export-pptx/build/img/p9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3928" y="2381280"/>
            <a:ext cx="723930" cy="72393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618988" y="3248040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好的內容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5423946" y="3590940"/>
            <a:ext cx="1353403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18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讓人</a:t>
            </a:r>
            <a:pPr algn="ctr" indent="0" marL="0">
              <a:lnSpc>
                <a:spcPts val="2625"/>
              </a:lnSpc>
              <a:buNone/>
            </a:pPr>
            <a:r>
              <a:rPr lang="en-US" sz="18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喜歡</a:t>
            </a:r>
            <a:pPr algn="ctr" indent="0" marL="0">
              <a:lnSpc>
                <a:spcPts val="2625"/>
              </a:lnSpc>
              <a:buNone/>
            </a:pPr>
            <a:r>
              <a:rPr lang="en-US" sz="18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</a:t>
            </a:r>
            <a:endParaRPr lang="en-US" sz="1875" dirty="0"/>
          </a:p>
        </p:txBody>
      </p:sp>
      <p:sp>
        <p:nvSpPr>
          <p:cNvPr id="12" name="Shape 7"/>
          <p:cNvSpPr/>
          <p:nvPr/>
        </p:nvSpPr>
        <p:spPr>
          <a:xfrm>
            <a:off x="8026329" y="2047890"/>
            <a:ext cx="3365632" cy="2228850"/>
          </a:xfrm>
          <a:prstGeom prst="roundRect">
            <a:avLst>
              <a:gd name="adj" fmla="val 10256"/>
            </a:avLst>
          </a:prstGeom>
          <a:solidFill>
            <a:srgbClr val="DFE8DC"/>
          </a:solidFill>
          <a:ln/>
        </p:spPr>
      </p:sp>
      <p:pic>
        <p:nvPicPr>
          <p:cNvPr id="13" name="Image 3" descr="/home/user/gogoeveryday/social-course/export-pptx/build/img/p9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7180" y="2381280"/>
            <a:ext cx="723930" cy="72393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9232240" y="3248040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持續互動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9037107" y="3590940"/>
            <a:ext cx="1353403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18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讓人</a:t>
            </a:r>
            <a:pPr algn="ctr" indent="0" marL="0">
              <a:lnSpc>
                <a:spcPts val="2625"/>
              </a:lnSpc>
              <a:buNone/>
            </a:pPr>
            <a:r>
              <a:rPr lang="en-US" sz="18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信任</a:t>
            </a:r>
            <a:pPr algn="ctr" indent="0" marL="0">
              <a:lnSpc>
                <a:spcPts val="2625"/>
              </a:lnSpc>
              <a:buNone/>
            </a:pPr>
            <a:r>
              <a:rPr lang="en-US" sz="18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</a:t>
            </a:r>
            <a:endParaRPr lang="en-US" sz="1875" dirty="0"/>
          </a:p>
        </p:txBody>
      </p:sp>
      <p:sp>
        <p:nvSpPr>
          <p:cNvPr id="16" name="Text 10"/>
          <p:cNvSpPr txBox="1"/>
          <p:nvPr/>
        </p:nvSpPr>
        <p:spPr>
          <a:xfrm>
            <a:off x="3615629" y="4524360"/>
            <a:ext cx="4970221" cy="747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今天所有的操作、字數、Hashtag、Reels，</a:t>
            </a:r>
            <a:endParaRPr lang="en-US" sz="1875" dirty="0"/>
          </a:p>
          <a:p>
            <a:pPr algn="ctr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都只是為了完成上面這三件事。</a:t>
            </a:r>
            <a:endParaRPr lang="en-US" sz="1875" dirty="0"/>
          </a:p>
        </p:txBody>
      </p:sp>
      <p:sp>
        <p:nvSpPr>
          <p:cNvPr id="17" name="Text 11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 · 09:25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9 / 76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296253"/>
            <a:ext cx="27036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09:30 – 10:10 ｜ PART 2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1496324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02</a:t>
            </a:r>
            <a:endParaRPr lang="en-US" sz="1125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3039374"/>
            <a:ext cx="3644524" cy="1562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FB、IG、LINE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到底差在哪？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876270" y="4982474"/>
            <a:ext cx="519973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不是三個都要做。先知道它們各自負責什麼工作。</a:t>
            </a:r>
            <a:endParaRPr lang="en-US" sz="1725" dirty="0"/>
          </a:p>
        </p:txBody>
      </p:sp>
      <p:pic>
        <p:nvPicPr>
          <p:cNvPr id="7" name="Image 1" descr="/home/user/gogoeveryday/social-course/export-pptx/build/img/p1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5471" y="2105040"/>
            <a:ext cx="742950" cy="742950"/>
          </a:xfrm>
          <a:prstGeom prst="rect">
            <a:avLst/>
          </a:prstGeom>
        </p:spPr>
      </p:pic>
      <p:pic>
        <p:nvPicPr>
          <p:cNvPr id="8" name="Image 2" descr="/home/user/gogoeveryday/social-course/export-pptx/build/img/p10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5471" y="3057571"/>
            <a:ext cx="742950" cy="742950"/>
          </a:xfrm>
          <a:prstGeom prst="rect">
            <a:avLst/>
          </a:prstGeom>
        </p:spPr>
      </p:pic>
      <p:pic>
        <p:nvPicPr>
          <p:cNvPr id="9" name="Image 3" descr="/home/user/gogoeveryday/social-course/export-pptx/build/img/p10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5471" y="4010010"/>
            <a:ext cx="742950" cy="74295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61970" y="6343650"/>
            <a:ext cx="273030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 · 09:30–10:10</a:t>
            </a:r>
            <a:endParaRPr lang="en-US" sz="1500" dirty="0"/>
          </a:p>
        </p:txBody>
      </p:sp>
      <p:sp>
        <p:nvSpPr>
          <p:cNvPr id="11" name="Text 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 / 76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664403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用開店來想就懂了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045342"/>
            <a:ext cx="484028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三個平台，三種不同的店面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800100" y="1805391"/>
            <a:ext cx="3378068" cy="4188135"/>
          </a:xfrm>
          <a:prstGeom prst="roundRect">
            <a:avLst>
              <a:gd name="adj" fmla="val 676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0100" y="1805391"/>
            <a:ext cx="3359048" cy="38130"/>
          </a:xfrm>
          <a:prstGeom prst="rect">
            <a:avLst/>
          </a:prstGeom>
          <a:solidFill>
            <a:srgbClr val="1877F2"/>
          </a:solidFill>
          <a:ln/>
        </p:spPr>
      </p:sp>
      <p:pic>
        <p:nvPicPr>
          <p:cNvPr id="7" name="Image 1" descr="/home/user/gogoeveryday/social-course/export-pptx/build/img/p1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210" y="2043593"/>
            <a:ext cx="2476470" cy="181599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19190" y="3954780"/>
            <a:ext cx="130009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019190" y="4326301"/>
            <a:ext cx="105046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社區廣場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019190" y="4754880"/>
            <a:ext cx="3059308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大家會在這裡聊天、分享、看見鄰居在做什麼。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建立關係</a:t>
            </a:r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的地方。</a:t>
            </a:r>
            <a:endParaRPr lang="en-US" sz="1575" dirty="0"/>
          </a:p>
        </p:txBody>
      </p:sp>
      <p:sp>
        <p:nvSpPr>
          <p:cNvPr id="11" name="Shape 7"/>
          <p:cNvSpPr/>
          <p:nvPr/>
        </p:nvSpPr>
        <p:spPr>
          <a:xfrm>
            <a:off x="4406768" y="1805391"/>
            <a:ext cx="3378251" cy="4188135"/>
          </a:xfrm>
          <a:prstGeom prst="roundRect">
            <a:avLst>
              <a:gd name="adj" fmla="val 676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pic>
        <p:nvPicPr>
          <p:cNvPr id="12" name="Image 2" descr="/home/user/gogoeveryday/social-course/export-pptx/build/img/p11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4969" y="2043593"/>
            <a:ext cx="2476470" cy="181599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625858" y="3954780"/>
            <a:ext cx="140232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E1306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625858" y="4326301"/>
            <a:ext cx="105046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展示櫥窗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4625858" y="4754880"/>
            <a:ext cx="305930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路過的人被作品吸引而停下來。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吸引新的人</a:t>
            </a:r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的地方。</a:t>
            </a:r>
            <a:endParaRPr lang="en-US" sz="1575" dirty="0"/>
          </a:p>
        </p:txBody>
      </p:sp>
      <p:sp>
        <p:nvSpPr>
          <p:cNvPr id="16" name="Shape 11"/>
          <p:cNvSpPr/>
          <p:nvPr/>
        </p:nvSpPr>
        <p:spPr>
          <a:xfrm>
            <a:off x="8013619" y="1805391"/>
            <a:ext cx="3378068" cy="4188135"/>
          </a:xfrm>
          <a:prstGeom prst="roundRect">
            <a:avLst>
              <a:gd name="adj" fmla="val 676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013619" y="1805391"/>
            <a:ext cx="3359048" cy="38130"/>
          </a:xfrm>
          <a:prstGeom prst="rect">
            <a:avLst/>
          </a:prstGeom>
          <a:solidFill>
            <a:srgbClr val="06C755"/>
          </a:solidFill>
          <a:ln/>
        </p:spPr>
      </p:sp>
      <p:pic>
        <p:nvPicPr>
          <p:cNvPr id="18" name="Image 3" descr="/home/user/gogoeveryday/social-course/export-pptx/build/img/p11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1820" y="2043593"/>
            <a:ext cx="2476470" cy="181599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232709" y="3954780"/>
            <a:ext cx="15487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0393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 官方帳號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8232709" y="4326301"/>
            <a:ext cx="1770187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會員／客服櫃台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8232709" y="4754880"/>
            <a:ext cx="2847259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有興趣的人來問、來訂、來回購。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留下顧客</a:t>
            </a:r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的地方。</a:t>
            </a:r>
            <a:endParaRPr lang="en-US" sz="1575" dirty="0"/>
          </a:p>
        </p:txBody>
      </p:sp>
      <p:sp>
        <p:nvSpPr>
          <p:cNvPr id="22" name="Text 16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 · 09:30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 / 76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88065"/>
            <a:ext cx="9793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社區廣場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1295430" y="1269096"/>
            <a:ext cx="359606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Facebook 粉絲專頁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1971995"/>
            <a:ext cx="2166762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適合這些情況 ——</a:t>
            </a:r>
            <a:endParaRPr lang="en-US" sz="1875" dirty="0"/>
          </a:p>
        </p:txBody>
      </p:sp>
      <p:sp>
        <p:nvSpPr>
          <p:cNvPr id="6" name="Shape 3"/>
          <p:cNvSpPr/>
          <p:nvPr/>
        </p:nvSpPr>
        <p:spPr>
          <a:xfrm>
            <a:off x="800100" y="2576779"/>
            <a:ext cx="2593147" cy="594451"/>
          </a:xfrm>
          <a:prstGeom prst="roundRect">
            <a:avLst>
              <a:gd name="adj" fmla="val 2242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43021" y="2719700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在地客群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507547" y="2576779"/>
            <a:ext cx="2593147" cy="594451"/>
          </a:xfrm>
          <a:prstGeom prst="roundRect">
            <a:avLst>
              <a:gd name="adj" fmla="val 2242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0468" y="2719700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中高齡族群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00100" y="3285531"/>
            <a:ext cx="2593147" cy="594451"/>
          </a:xfrm>
          <a:prstGeom prst="roundRect">
            <a:avLst>
              <a:gd name="adj" fmla="val 2242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3021" y="3428360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社團與社區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3507547" y="3285531"/>
            <a:ext cx="2593147" cy="594451"/>
          </a:xfrm>
          <a:prstGeom prst="roundRect">
            <a:avLst>
              <a:gd name="adj" fmla="val 2242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50468" y="3428360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活動資訊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00100" y="3994282"/>
            <a:ext cx="2593147" cy="594451"/>
          </a:xfrm>
          <a:prstGeom prst="roundRect">
            <a:avLst>
              <a:gd name="adj" fmla="val 2242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43021" y="4137111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完整內容分享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507547" y="3994282"/>
            <a:ext cx="2593147" cy="594451"/>
          </a:xfrm>
          <a:prstGeom prst="roundRect">
            <a:avLst>
              <a:gd name="adj" fmla="val 2242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650468" y="4137111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建立熟悉感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00100" y="4798223"/>
            <a:ext cx="5300685" cy="971550"/>
          </a:xfrm>
          <a:prstGeom prst="roundRect">
            <a:avLst>
              <a:gd name="adj" fmla="val 17647"/>
            </a:avLst>
          </a:prstGeom>
          <a:solidFill>
            <a:srgbClr val="EEF4FF"/>
          </a:solidFill>
          <a:ln/>
        </p:spPr>
      </p:sp>
      <p:sp>
        <p:nvSpPr>
          <p:cNvPr id="19" name="Shape 16"/>
          <p:cNvSpPr/>
          <p:nvPr/>
        </p:nvSpPr>
        <p:spPr>
          <a:xfrm>
            <a:off x="800100" y="4798223"/>
            <a:ext cx="47640" cy="971550"/>
          </a:xfrm>
          <a:prstGeom prst="rect">
            <a:avLst/>
          </a:prstGeom>
          <a:solidFill>
            <a:srgbClr val="1877F2"/>
          </a:solidFill>
          <a:ln/>
        </p:spPr>
      </p:sp>
      <p:pic>
        <p:nvPicPr>
          <p:cNvPr id="20" name="Image 1" descr="/home/user/gogoeveryday/social-course/export-pptx/build/img/p1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085893"/>
            <a:ext cx="495330" cy="39621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704990" y="4988692"/>
            <a:ext cx="4117177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手作品 · 市集 · 農產品 · 社區活動 · 課程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客人年紀偏長、住在附近，就用 Facebook。</a:t>
            </a:r>
            <a:endParaRPr lang="en-US" sz="1500" dirty="0"/>
          </a:p>
        </p:txBody>
      </p:sp>
      <p:pic>
        <p:nvPicPr>
          <p:cNvPr id="22" name="Image 2" descr="/home/user/gogoeveryday/social-course/export-pptx/build/img/p1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8608" y="404805"/>
            <a:ext cx="2590770" cy="525780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364212" y="5786415"/>
            <a:ext cx="32690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 可以講比較完整的事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 · 09:38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 / 76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88065"/>
            <a:ext cx="9793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展示櫥窗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1295430" y="1269096"/>
            <a:ext cx="203326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Instagram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1971995"/>
            <a:ext cx="2166762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適合這些情況 ——</a:t>
            </a:r>
            <a:endParaRPr lang="en-US" sz="1875" dirty="0"/>
          </a:p>
        </p:txBody>
      </p:sp>
      <p:sp>
        <p:nvSpPr>
          <p:cNvPr id="6" name="Shape 3"/>
          <p:cNvSpPr/>
          <p:nvPr/>
        </p:nvSpPr>
        <p:spPr>
          <a:xfrm>
            <a:off x="800100" y="2576779"/>
            <a:ext cx="2593147" cy="594451"/>
          </a:xfrm>
          <a:prstGeom prst="roundRect">
            <a:avLst>
              <a:gd name="adj" fmla="val 2242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43021" y="2719700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商品作品展示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507547" y="2576779"/>
            <a:ext cx="2593147" cy="594451"/>
          </a:xfrm>
          <a:prstGeom prst="roundRect">
            <a:avLst>
              <a:gd name="adj" fmla="val 2242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0468" y="2719700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個人風格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00100" y="3285531"/>
            <a:ext cx="2593147" cy="594451"/>
          </a:xfrm>
          <a:prstGeom prst="roundRect">
            <a:avLst>
              <a:gd name="adj" fmla="val 2242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3021" y="3428360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照片為主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3507547" y="3285531"/>
            <a:ext cx="2593147" cy="594451"/>
          </a:xfrm>
          <a:prstGeom prst="roundRect">
            <a:avLst>
              <a:gd name="adj" fmla="val 2242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50468" y="3428360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短影片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00100" y="3994282"/>
            <a:ext cx="2593147" cy="594451"/>
          </a:xfrm>
          <a:prstGeom prst="roundRect">
            <a:avLst>
              <a:gd name="adj" fmla="val 2242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43021" y="4137111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製作過程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507547" y="3994282"/>
            <a:ext cx="2593147" cy="594451"/>
          </a:xfrm>
          <a:prstGeom prst="roundRect">
            <a:avLst>
              <a:gd name="adj" fmla="val 2242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650468" y="4137111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開發新客群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00100" y="4798223"/>
            <a:ext cx="5300685" cy="971550"/>
          </a:xfrm>
          <a:prstGeom prst="roundRect">
            <a:avLst>
              <a:gd name="adj" fmla="val 17647"/>
            </a:avLst>
          </a:prstGeom>
          <a:solidFill>
            <a:srgbClr val="FDEEF4"/>
          </a:solidFill>
          <a:ln/>
        </p:spPr>
      </p:sp>
      <p:sp>
        <p:nvSpPr>
          <p:cNvPr id="19" name="Shape 16"/>
          <p:cNvSpPr/>
          <p:nvPr/>
        </p:nvSpPr>
        <p:spPr>
          <a:xfrm>
            <a:off x="800100" y="4798223"/>
            <a:ext cx="47640" cy="971550"/>
          </a:xfrm>
          <a:prstGeom prst="rect">
            <a:avLst/>
          </a:prstGeom>
          <a:solidFill>
            <a:srgbClr val="E1306C"/>
          </a:solidFill>
          <a:ln/>
        </p:spPr>
      </p:sp>
      <p:pic>
        <p:nvPicPr>
          <p:cNvPr id="20" name="Image 1" descr="/home/user/gogoeveryday/social-course/export-pptx/build/img/p1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036332"/>
            <a:ext cx="495330" cy="49533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704990" y="4988692"/>
            <a:ext cx="2569464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一句話：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E1306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IG 就像你的作品展示櫥窗。</a:t>
            </a:r>
            <a:endParaRPr lang="en-US" sz="1500" dirty="0"/>
          </a:p>
        </p:txBody>
      </p:sp>
      <p:pic>
        <p:nvPicPr>
          <p:cNvPr id="22" name="Image 2" descr="/home/user/gogoeveryday/social-course/export-pptx/build/img/p13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8608" y="404805"/>
            <a:ext cx="2590770" cy="525780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509510" y="5786415"/>
            <a:ext cx="2978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九宮格＝別人對你的第一印象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5" name="Text 20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舉手調查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 · 09:45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 / 76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571774"/>
            <a:ext cx="16457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會員／客服櫃台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1295430" y="952805"/>
            <a:ext cx="264289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LINE 官方帳號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1655704"/>
            <a:ext cx="2166762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適合這些情況 ——</a:t>
            </a:r>
            <a:endParaRPr lang="en-US" sz="1875" dirty="0"/>
          </a:p>
        </p:txBody>
      </p:sp>
      <p:sp>
        <p:nvSpPr>
          <p:cNvPr id="6" name="Shape 3"/>
          <p:cNvSpPr/>
          <p:nvPr/>
        </p:nvSpPr>
        <p:spPr>
          <a:xfrm>
            <a:off x="800100" y="2260580"/>
            <a:ext cx="2593147" cy="575340"/>
          </a:xfrm>
          <a:prstGeom prst="roundRect">
            <a:avLst>
              <a:gd name="adj" fmla="val 23172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43021" y="2393899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顧客詢問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507547" y="2260580"/>
            <a:ext cx="2593147" cy="575340"/>
          </a:xfrm>
          <a:prstGeom prst="roundRect">
            <a:avLst>
              <a:gd name="adj" fmla="val 23172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0468" y="239389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預約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00100" y="2950220"/>
            <a:ext cx="2593147" cy="575340"/>
          </a:xfrm>
          <a:prstGeom prst="roundRect">
            <a:avLst>
              <a:gd name="adj" fmla="val 23172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3021" y="3083540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接單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3507547" y="2950220"/>
            <a:ext cx="2593147" cy="575340"/>
          </a:xfrm>
          <a:prstGeom prst="roundRect">
            <a:avLst>
              <a:gd name="adj" fmla="val 23172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50468" y="3083540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活動通知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00100" y="3639861"/>
            <a:ext cx="2593147" cy="575340"/>
          </a:xfrm>
          <a:prstGeom prst="roundRect">
            <a:avLst>
              <a:gd name="adj" fmla="val 23172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43021" y="3773272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新品通知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507547" y="3639861"/>
            <a:ext cx="2593147" cy="575340"/>
          </a:xfrm>
          <a:prstGeom prst="roundRect">
            <a:avLst>
              <a:gd name="adj" fmla="val 23172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650468" y="3773272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熟客維繫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00100" y="4329593"/>
            <a:ext cx="2593147" cy="575340"/>
          </a:xfrm>
          <a:prstGeom prst="roundRect">
            <a:avLst>
              <a:gd name="adj" fmla="val 23172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43021" y="4462912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回購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3507547" y="4329593"/>
            <a:ext cx="2593147" cy="575340"/>
          </a:xfrm>
          <a:prstGeom prst="roundRect">
            <a:avLst>
              <a:gd name="adj" fmla="val 23172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650468" y="4462912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出貨通知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800100" y="5114514"/>
            <a:ext cx="5300685" cy="971550"/>
          </a:xfrm>
          <a:prstGeom prst="roundRect">
            <a:avLst>
              <a:gd name="adj" fmla="val 17647"/>
            </a:avLst>
          </a:prstGeom>
          <a:solidFill>
            <a:srgbClr val="DFE8DC"/>
          </a:solidFill>
          <a:ln/>
        </p:spPr>
      </p:sp>
      <p:sp>
        <p:nvSpPr>
          <p:cNvPr id="23" name="Shape 20"/>
          <p:cNvSpPr/>
          <p:nvPr/>
        </p:nvSpPr>
        <p:spPr>
          <a:xfrm>
            <a:off x="800100" y="5114514"/>
            <a:ext cx="47640" cy="971550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24" name="Image 1" descr="/home/user/gogoeveryday/social-course/export-pptx/build/img/p1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352623"/>
            <a:ext cx="495330" cy="49533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1704990" y="5304983"/>
            <a:ext cx="2614910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FB、IG 把人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帶來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 把有興趣的人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留下來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</p:txBody>
      </p:sp>
      <p:pic>
        <p:nvPicPr>
          <p:cNvPr id="26" name="Image 2" descr="/home/user/gogoeveryday/social-course/export-pptx/build/img/p14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8608" y="404805"/>
            <a:ext cx="2590770" cy="525780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7620610" y="5786415"/>
            <a:ext cx="27563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真正成交，多半發生在這裡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 · 09:52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 / 76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559875"/>
            <a:ext cx="425378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課前調查 · 曾使用過的數位工具 · 30 人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940905"/>
            <a:ext cx="4978999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好消息：</a:t>
            </a:r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你們已經天天在用了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2763408"/>
            <a:ext cx="607527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2076420" y="2849179"/>
            <a:ext cx="2247870" cy="152430"/>
          </a:xfrm>
          <a:prstGeom prst="roundRect">
            <a:avLst>
              <a:gd name="adj" fmla="val 49970"/>
            </a:avLst>
          </a:prstGeom>
          <a:solidFill>
            <a:srgbClr val="ECE0D1"/>
          </a:solidFill>
          <a:ln/>
        </p:spPr>
      </p:sp>
      <p:sp>
        <p:nvSpPr>
          <p:cNvPr id="7" name="Shape 4"/>
          <p:cNvSpPr/>
          <p:nvPr/>
        </p:nvSpPr>
        <p:spPr>
          <a:xfrm>
            <a:off x="2076420" y="2849179"/>
            <a:ext cx="2247870" cy="152430"/>
          </a:xfrm>
          <a:prstGeom prst="roundRect">
            <a:avLst>
              <a:gd name="adj" fmla="val 49970"/>
            </a:avLst>
          </a:prstGeom>
          <a:solidFill>
            <a:srgbClr val="06C75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418472" y="2777764"/>
            <a:ext cx="151552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30 人｜100.0%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1970" y="3173059"/>
            <a:ext cx="1137605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2076420" y="3258739"/>
            <a:ext cx="2247870" cy="152430"/>
          </a:xfrm>
          <a:prstGeom prst="roundRect">
            <a:avLst>
              <a:gd name="adj" fmla="val 49970"/>
            </a:avLst>
          </a:prstGeom>
          <a:solidFill>
            <a:srgbClr val="ECE0D1"/>
          </a:solidFill>
          <a:ln/>
        </p:spPr>
      </p:sp>
      <p:sp>
        <p:nvSpPr>
          <p:cNvPr id="11" name="Shape 8"/>
          <p:cNvSpPr/>
          <p:nvPr/>
        </p:nvSpPr>
        <p:spPr>
          <a:xfrm>
            <a:off x="2076420" y="3258739"/>
            <a:ext cx="2097268" cy="152430"/>
          </a:xfrm>
          <a:prstGeom prst="roundRect">
            <a:avLst>
              <a:gd name="adj" fmla="val 49970"/>
            </a:avLst>
          </a:prstGeom>
          <a:solidFill>
            <a:srgbClr val="1877F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37619" y="3187324"/>
            <a:ext cx="139647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28 人｜93.3%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61970" y="3582619"/>
            <a:ext cx="1041410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ChatGPT</a:t>
            </a:r>
            <a:endParaRPr lang="en-US" sz="1650" dirty="0"/>
          </a:p>
        </p:txBody>
      </p:sp>
      <p:sp>
        <p:nvSpPr>
          <p:cNvPr id="14" name="Shape 11"/>
          <p:cNvSpPr/>
          <p:nvPr/>
        </p:nvSpPr>
        <p:spPr>
          <a:xfrm>
            <a:off x="2076420" y="3668298"/>
            <a:ext cx="2247870" cy="152430"/>
          </a:xfrm>
          <a:prstGeom prst="roundRect">
            <a:avLst>
              <a:gd name="adj" fmla="val 49970"/>
            </a:avLst>
          </a:prstGeom>
          <a:solidFill>
            <a:srgbClr val="ECE0D1"/>
          </a:solidFill>
          <a:ln/>
        </p:spPr>
      </p:sp>
      <p:sp>
        <p:nvSpPr>
          <p:cNvPr id="15" name="Shape 12"/>
          <p:cNvSpPr/>
          <p:nvPr/>
        </p:nvSpPr>
        <p:spPr>
          <a:xfrm>
            <a:off x="2076420" y="3668298"/>
            <a:ext cx="1274399" cy="152430"/>
          </a:xfrm>
          <a:prstGeom prst="roundRect">
            <a:avLst>
              <a:gd name="adj" fmla="val 49970"/>
            </a:avLst>
          </a:prstGeom>
          <a:solidFill>
            <a:srgbClr val="7A6A5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537619" y="3596884"/>
            <a:ext cx="139647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17 人｜56.7%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7480" y="2763408"/>
            <a:ext cx="119905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</a:t>
            </a:r>
            <a:endParaRPr lang="en-US" sz="1650" dirty="0"/>
          </a:p>
        </p:txBody>
      </p:sp>
      <p:sp>
        <p:nvSpPr>
          <p:cNvPr id="18" name="Shape 15"/>
          <p:cNvSpPr/>
          <p:nvPr/>
        </p:nvSpPr>
        <p:spPr>
          <a:xfrm>
            <a:off x="7581930" y="2849179"/>
            <a:ext cx="2247870" cy="152430"/>
          </a:xfrm>
          <a:prstGeom prst="roundRect">
            <a:avLst>
              <a:gd name="adj" fmla="val 49970"/>
            </a:avLst>
          </a:prstGeom>
          <a:solidFill>
            <a:srgbClr val="ECE0D1"/>
          </a:solidFill>
          <a:ln/>
        </p:spPr>
      </p:sp>
      <p:sp>
        <p:nvSpPr>
          <p:cNvPr id="19" name="Shape 16"/>
          <p:cNvSpPr/>
          <p:nvPr/>
        </p:nvSpPr>
        <p:spPr>
          <a:xfrm>
            <a:off x="7581930" y="2849179"/>
            <a:ext cx="973379" cy="152430"/>
          </a:xfrm>
          <a:prstGeom prst="roundRect">
            <a:avLst>
              <a:gd name="adj" fmla="val 49970"/>
            </a:avLst>
          </a:prstGeom>
          <a:solidFill>
            <a:srgbClr val="8A5A6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0043130" y="2777764"/>
            <a:ext cx="139647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 人｜43.3%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6267480" y="3173059"/>
            <a:ext cx="87078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Gemini</a:t>
            </a:r>
            <a:endParaRPr lang="en-US" sz="1650" dirty="0"/>
          </a:p>
        </p:txBody>
      </p:sp>
      <p:sp>
        <p:nvSpPr>
          <p:cNvPr id="22" name="Shape 19"/>
          <p:cNvSpPr/>
          <p:nvPr/>
        </p:nvSpPr>
        <p:spPr>
          <a:xfrm>
            <a:off x="7581930" y="3258739"/>
            <a:ext cx="2247870" cy="152430"/>
          </a:xfrm>
          <a:prstGeom prst="roundRect">
            <a:avLst>
              <a:gd name="adj" fmla="val 49970"/>
            </a:avLst>
          </a:prstGeom>
          <a:solidFill>
            <a:srgbClr val="ECE0D1"/>
          </a:solidFill>
          <a:ln/>
        </p:spPr>
      </p:sp>
      <p:sp>
        <p:nvSpPr>
          <p:cNvPr id="23" name="Shape 20"/>
          <p:cNvSpPr/>
          <p:nvPr/>
        </p:nvSpPr>
        <p:spPr>
          <a:xfrm>
            <a:off x="7581930" y="3258739"/>
            <a:ext cx="674370" cy="152430"/>
          </a:xfrm>
          <a:prstGeom prst="roundRect">
            <a:avLst>
              <a:gd name="adj" fmla="val 49970"/>
            </a:avLst>
          </a:prstGeom>
          <a:solidFill>
            <a:srgbClr val="7A6A5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0162276" y="3187324"/>
            <a:ext cx="12772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9 人｜30.0%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6267480" y="3582619"/>
            <a:ext cx="766907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Canva</a:t>
            </a:r>
            <a:endParaRPr lang="en-US" sz="1650" dirty="0"/>
          </a:p>
        </p:txBody>
      </p:sp>
      <p:sp>
        <p:nvSpPr>
          <p:cNvPr id="26" name="Shape 23"/>
          <p:cNvSpPr/>
          <p:nvPr/>
        </p:nvSpPr>
        <p:spPr>
          <a:xfrm>
            <a:off x="7581930" y="3668298"/>
            <a:ext cx="2247870" cy="152430"/>
          </a:xfrm>
          <a:prstGeom prst="roundRect">
            <a:avLst>
              <a:gd name="adj" fmla="val 49970"/>
            </a:avLst>
          </a:prstGeom>
          <a:solidFill>
            <a:srgbClr val="ECE0D1"/>
          </a:solidFill>
          <a:ln/>
        </p:spPr>
      </p:sp>
      <p:sp>
        <p:nvSpPr>
          <p:cNvPr id="27" name="Shape 24"/>
          <p:cNvSpPr/>
          <p:nvPr/>
        </p:nvSpPr>
        <p:spPr>
          <a:xfrm>
            <a:off x="7581930" y="3668298"/>
            <a:ext cx="298826" cy="152430"/>
          </a:xfrm>
          <a:prstGeom prst="roundRect">
            <a:avLst>
              <a:gd name="adj" fmla="val 49970"/>
            </a:avLst>
          </a:prstGeom>
          <a:solidFill>
            <a:srgbClr val="9C8B7C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0162276" y="3596884"/>
            <a:ext cx="12772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 人｜13.3%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800100" y="4096969"/>
            <a:ext cx="5181630" cy="1000994"/>
          </a:xfrm>
          <a:prstGeom prst="roundRect">
            <a:avLst>
              <a:gd name="adj" fmla="val 17128"/>
            </a:avLst>
          </a:prstGeom>
          <a:solidFill>
            <a:srgbClr val="DFE8DC"/>
          </a:solidFill>
          <a:ln/>
        </p:spPr>
      </p:sp>
      <p:sp>
        <p:nvSpPr>
          <p:cNvPr id="30" name="Shape 27"/>
          <p:cNvSpPr/>
          <p:nvPr/>
        </p:nvSpPr>
        <p:spPr>
          <a:xfrm>
            <a:off x="800100" y="4096969"/>
            <a:ext cx="47640" cy="1000994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31" name="Image 1" descr="/home/user/gogoeveryday/social-course/export-pptx/build/img/p1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40" y="4406951"/>
            <a:ext cx="381030" cy="38103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571671" y="4287439"/>
            <a:ext cx="3483315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 100%、Facebook 93%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你要用的工具，早就在你手機裡了。</a:t>
            </a:r>
            <a:endParaRPr lang="en-US" sz="1575" dirty="0"/>
          </a:p>
        </p:txBody>
      </p:sp>
      <p:sp>
        <p:nvSpPr>
          <p:cNvPr id="33" name="Shape 29"/>
          <p:cNvSpPr/>
          <p:nvPr/>
        </p:nvSpPr>
        <p:spPr>
          <a:xfrm>
            <a:off x="6210330" y="4096969"/>
            <a:ext cx="518163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34" name="Shape 30"/>
          <p:cNvSpPr/>
          <p:nvPr/>
        </p:nvSpPr>
        <p:spPr>
          <a:xfrm>
            <a:off x="6210330" y="4096969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5" name="Image 2" descr="/home/user/gogoeveryday/social-course/export-pptx/build/img/p15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6571" y="4406951"/>
            <a:ext cx="381030" cy="381030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6981810" y="4287439"/>
            <a:ext cx="3963833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 只有 43%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所以先把 FB＋LINE 練熟，IG 之後再說。</a:t>
            </a:r>
            <a:endParaRPr lang="en-US" sz="1575" dirty="0"/>
          </a:p>
        </p:txBody>
      </p:sp>
      <p:sp>
        <p:nvSpPr>
          <p:cNvPr id="37" name="Shape 32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8" name="Text 33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舉手對照</a:t>
            </a:r>
            <a:endParaRPr lang="en-US" sz="1500" dirty="0"/>
          </a:p>
        </p:txBody>
      </p:sp>
      <p:sp>
        <p:nvSpPr>
          <p:cNvPr id="39" name="Text 34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 · 09:58</a:t>
            </a:r>
            <a:endParaRPr lang="en-US" sz="1500" dirty="0"/>
          </a:p>
        </p:txBody>
      </p:sp>
      <p:sp>
        <p:nvSpPr>
          <p:cNvPr id="40" name="Text 3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 / 76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237787" y="526146"/>
            <a:ext cx="16457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最常被問的問題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4175333" y="907085"/>
            <a:ext cx="3850904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所以我三個都要做嗎？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4850709" y="1482060"/>
            <a:ext cx="2500152" cy="1152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626"/>
              </a:lnSpc>
              <a:buNone/>
            </a:pPr>
            <a:r>
              <a:rPr lang="en-US" sz="6150" b="1" spc="-18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不用。</a:t>
            </a:r>
            <a:endParaRPr lang="en-US" sz="6150" dirty="0"/>
          </a:p>
        </p:txBody>
      </p:sp>
      <p:sp>
        <p:nvSpPr>
          <p:cNvPr id="6" name="Shape 3"/>
          <p:cNvSpPr/>
          <p:nvPr/>
        </p:nvSpPr>
        <p:spPr>
          <a:xfrm>
            <a:off x="1809780" y="2860060"/>
            <a:ext cx="4124310" cy="2648102"/>
          </a:xfrm>
          <a:prstGeom prst="roundRect">
            <a:avLst>
              <a:gd name="adj" fmla="val 863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809780" y="2860060"/>
            <a:ext cx="4105290" cy="3813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028871" y="3107680"/>
            <a:ext cx="16174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初學者先想這個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2028871" y="3479201"/>
            <a:ext cx="1650309" cy="723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-2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我要在哪裡</a:t>
            </a:r>
            <a:endParaRPr lang="en-US" sz="1950" dirty="0"/>
          </a:p>
          <a:p>
            <a:pPr algn="l" indent="0" marL="0">
              <a:buNone/>
            </a:pPr>
            <a:r>
              <a:rPr lang="en-US" sz="1950" b="1" spc="-2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「被看到」？</a:t>
            </a:r>
            <a:endParaRPr lang="en-US" sz="1950" dirty="0"/>
          </a:p>
        </p:txBody>
      </p:sp>
      <p:sp>
        <p:nvSpPr>
          <p:cNvPr id="10" name="Shape 7"/>
          <p:cNvSpPr/>
          <p:nvPr/>
        </p:nvSpPr>
        <p:spPr>
          <a:xfrm>
            <a:off x="2066910" y="4326849"/>
            <a:ext cx="1499707" cy="447690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447940" y="4403110"/>
            <a:ext cx="107478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30" kern="0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Facebook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3661898" y="4326849"/>
            <a:ext cx="1556309" cy="447690"/>
          </a:xfrm>
          <a:prstGeom prst="roundRect">
            <a:avLst>
              <a:gd name="adj" fmla="val 50000"/>
            </a:avLst>
          </a:prstGeom>
          <a:solidFill>
            <a:srgbClr val="FDEEF4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042928" y="4403110"/>
            <a:ext cx="113467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30" kern="0" dirty="0">
                <a:solidFill>
                  <a:srgbClr val="E1306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Instagram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2028871" y="4917460"/>
            <a:ext cx="263520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二選一就好，先做熟一個。</a:t>
            </a:r>
            <a:endParaRPr lang="en-US" sz="1575" dirty="0"/>
          </a:p>
        </p:txBody>
      </p:sp>
      <p:sp>
        <p:nvSpPr>
          <p:cNvPr id="15" name="Shape 12"/>
          <p:cNvSpPr/>
          <p:nvPr/>
        </p:nvSpPr>
        <p:spPr>
          <a:xfrm>
            <a:off x="6257971" y="2860060"/>
            <a:ext cx="4124310" cy="2648102"/>
          </a:xfrm>
          <a:prstGeom prst="roundRect">
            <a:avLst>
              <a:gd name="adj" fmla="val 863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57971" y="2860060"/>
            <a:ext cx="4105290" cy="38130"/>
          </a:xfrm>
          <a:prstGeom prst="rect">
            <a:avLst/>
          </a:prstGeom>
          <a:solidFill>
            <a:srgbClr val="06C75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76970" y="3107680"/>
            <a:ext cx="118131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然後想這個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476970" y="3479201"/>
            <a:ext cx="1910090" cy="723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-2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我要在哪裡</a:t>
            </a:r>
            <a:endParaRPr lang="en-US" sz="1950" dirty="0"/>
          </a:p>
          <a:p>
            <a:pPr algn="l" indent="0" marL="0">
              <a:buNone/>
            </a:pPr>
            <a:r>
              <a:rPr lang="en-US" sz="1950" b="1" spc="-2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「留下顧客」？</a:t>
            </a:r>
            <a:endParaRPr lang="en-US" sz="1950" dirty="0"/>
          </a:p>
        </p:txBody>
      </p:sp>
      <p:sp>
        <p:nvSpPr>
          <p:cNvPr id="19" name="Shape 16"/>
          <p:cNvSpPr/>
          <p:nvPr/>
        </p:nvSpPr>
        <p:spPr>
          <a:xfrm>
            <a:off x="6515100" y="4326849"/>
            <a:ext cx="1843979" cy="447690"/>
          </a:xfrm>
          <a:prstGeom prst="roundRect">
            <a:avLst>
              <a:gd name="adj" fmla="val 50000"/>
            </a:avLst>
          </a:prstGeom>
          <a:solidFill>
            <a:srgbClr val="E6F8E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896130" y="4403110"/>
            <a:ext cx="143972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30" kern="0" dirty="0">
                <a:solidFill>
                  <a:srgbClr val="0393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LINE 官方帳號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6476970" y="4917460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這個幾乎每個人都需要。</a:t>
            </a:r>
            <a:endParaRPr lang="en-US" sz="1575" dirty="0"/>
          </a:p>
        </p:txBody>
      </p:sp>
      <p:sp>
        <p:nvSpPr>
          <p:cNvPr id="22" name="Text 19"/>
          <p:cNvSpPr txBox="1"/>
          <p:nvPr/>
        </p:nvSpPr>
        <p:spPr>
          <a:xfrm>
            <a:off x="3221431" y="5755782"/>
            <a:ext cx="5758800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一個曝光平台 ＋ 一個聯絡平台</a:t>
            </a:r>
            <a:pPr algn="ctr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，就是最好的起點。</a:t>
            </a:r>
            <a:endParaRPr lang="en-US" sz="1875" dirty="0"/>
          </a:p>
        </p:txBody>
      </p:sp>
      <p:sp>
        <p:nvSpPr>
          <p:cNvPr id="23" name="Shape 20"/>
          <p:cNvSpPr/>
          <p:nvPr/>
        </p:nvSpPr>
        <p:spPr>
          <a:xfrm>
            <a:off x="10485699" y="228600"/>
            <a:ext cx="906170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10609509" y="304770"/>
            <a:ext cx="7137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講義 1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 · 10:00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16 / 76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331561"/>
            <a:ext cx="12015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換你們回答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712592"/>
            <a:ext cx="610682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如果是他們，你會建議做哪個平台？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1544696"/>
            <a:ext cx="3403580" cy="3895984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pic>
        <p:nvPicPr>
          <p:cNvPr id="6" name="Image 1" descr="/home/user/gogoeveryday/social-course/export-pptx/build/img/p1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08" y="1801825"/>
            <a:ext cx="1123980" cy="11239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37227" y="3011576"/>
            <a:ext cx="73883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 阿姨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1911370" y="3383006"/>
            <a:ext cx="1190457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做手工泡菜</a:t>
            </a:r>
            <a:endParaRPr lang="en-US" sz="1650" dirty="0"/>
          </a:p>
        </p:txBody>
      </p:sp>
      <p:sp>
        <p:nvSpPr>
          <p:cNvPr id="9" name="Text 5"/>
          <p:cNvSpPr txBox="1"/>
          <p:nvPr/>
        </p:nvSpPr>
        <p:spPr>
          <a:xfrm>
            <a:off x="1401044" y="3783056"/>
            <a:ext cx="2211202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客人大多 40–60 歲，</a:t>
            </a:r>
            <a:endParaRPr lang="en-US" sz="1575" dirty="0"/>
          </a:p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都住在台中西屯附近。</a:t>
            </a:r>
            <a:endParaRPr lang="en-US" sz="1575" dirty="0"/>
          </a:p>
        </p:txBody>
      </p:sp>
      <p:sp>
        <p:nvSpPr>
          <p:cNvPr id="10" name="Shape 6"/>
          <p:cNvSpPr/>
          <p:nvPr/>
        </p:nvSpPr>
        <p:spPr>
          <a:xfrm>
            <a:off x="1057321" y="4573920"/>
            <a:ext cx="288923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1" name="Shape 7"/>
          <p:cNvSpPr/>
          <p:nvPr/>
        </p:nvSpPr>
        <p:spPr>
          <a:xfrm>
            <a:off x="1470721" y="4716841"/>
            <a:ext cx="1233068" cy="447690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1554571" y="4793010"/>
            <a:ext cx="107478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30" kern="0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2779959" y="4716841"/>
            <a:ext cx="752917" cy="447690"/>
          </a:xfrm>
          <a:prstGeom prst="roundRect">
            <a:avLst>
              <a:gd name="adj" fmla="val 50000"/>
            </a:avLst>
          </a:prstGeom>
          <a:solidFill>
            <a:srgbClr val="E6F8E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2871399" y="4793010"/>
            <a:ext cx="57954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30" kern="0" dirty="0">
                <a:solidFill>
                  <a:srgbClr val="0393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4394149" y="1544696"/>
            <a:ext cx="3403580" cy="3895984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pic>
        <p:nvPicPr>
          <p:cNvPr id="16" name="Image 2" descr="/home/user/gogoeveryday/social-course/export-pptx/build/img/p1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3857" y="1801825"/>
            <a:ext cx="1123980" cy="11239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727436" y="3011576"/>
            <a:ext cx="74642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 學員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505420" y="3383006"/>
            <a:ext cx="1190457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做手工耳環</a:t>
            </a:r>
            <a:endParaRPr lang="en-US" sz="1650" dirty="0"/>
          </a:p>
        </p:txBody>
      </p:sp>
      <p:sp>
        <p:nvSpPr>
          <p:cNvPr id="19" name="Text 14"/>
          <p:cNvSpPr txBox="1"/>
          <p:nvPr/>
        </p:nvSpPr>
        <p:spPr>
          <a:xfrm>
            <a:off x="4973422" y="3783056"/>
            <a:ext cx="2254545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想接觸 20–40 歲女性，</a:t>
            </a:r>
            <a:endParaRPr lang="en-US" sz="1575" dirty="0"/>
          </a:p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目前沒什麼在地客。</a:t>
            </a:r>
            <a:endParaRPr lang="en-US" sz="1575" dirty="0"/>
          </a:p>
        </p:txBody>
      </p:sp>
      <p:sp>
        <p:nvSpPr>
          <p:cNvPr id="20" name="Shape 15"/>
          <p:cNvSpPr/>
          <p:nvPr/>
        </p:nvSpPr>
        <p:spPr>
          <a:xfrm>
            <a:off x="4651370" y="4573920"/>
            <a:ext cx="288923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6"/>
          <p:cNvSpPr/>
          <p:nvPr/>
        </p:nvSpPr>
        <p:spPr>
          <a:xfrm>
            <a:off x="5036515" y="4716841"/>
            <a:ext cx="1289578" cy="447690"/>
          </a:xfrm>
          <a:prstGeom prst="roundRect">
            <a:avLst>
              <a:gd name="adj" fmla="val 50000"/>
            </a:avLst>
          </a:prstGeom>
          <a:solidFill>
            <a:srgbClr val="FDEEF4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>
            <a:off x="5118720" y="4793010"/>
            <a:ext cx="113467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30" kern="0" dirty="0">
                <a:solidFill>
                  <a:srgbClr val="E1306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6402263" y="4716841"/>
            <a:ext cx="752917" cy="447690"/>
          </a:xfrm>
          <a:prstGeom prst="roundRect">
            <a:avLst>
              <a:gd name="adj" fmla="val 50000"/>
            </a:avLst>
          </a:prstGeom>
          <a:solidFill>
            <a:srgbClr val="E6F8E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6493703" y="4793010"/>
            <a:ext cx="57954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30" kern="0" dirty="0">
                <a:solidFill>
                  <a:srgbClr val="0393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</a:t>
            </a:r>
            <a:endParaRPr lang="en-US" sz="1500" dirty="0"/>
          </a:p>
        </p:txBody>
      </p:sp>
      <p:sp>
        <p:nvSpPr>
          <p:cNvPr id="25" name="Shape 20"/>
          <p:cNvSpPr/>
          <p:nvPr/>
        </p:nvSpPr>
        <p:spPr>
          <a:xfrm>
            <a:off x="7988198" y="1544696"/>
            <a:ext cx="3403671" cy="3895984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pic>
        <p:nvPicPr>
          <p:cNvPr id="26" name="Image 3" descr="/home/user/gogoeveryday/social-course/export-pptx/build/img/p17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8089" y="1801825"/>
            <a:ext cx="1123980" cy="112398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323954" y="3011576"/>
            <a:ext cx="7416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 學員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9317919" y="3383006"/>
            <a:ext cx="753831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教瑜珈</a:t>
            </a:r>
            <a:endParaRPr lang="en-US" sz="1650" dirty="0"/>
          </a:p>
        </p:txBody>
      </p:sp>
      <p:sp>
        <p:nvSpPr>
          <p:cNvPr id="29" name="Text 23"/>
          <p:cNvSpPr txBox="1"/>
          <p:nvPr/>
        </p:nvSpPr>
        <p:spPr>
          <a:xfrm>
            <a:off x="8801283" y="3783056"/>
            <a:ext cx="1787103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主要想招募</a:t>
            </a:r>
            <a:endParaRPr lang="en-US" sz="1575" dirty="0"/>
          </a:p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附近社區的居民。</a:t>
            </a:r>
            <a:endParaRPr lang="en-US" sz="1575" dirty="0"/>
          </a:p>
        </p:txBody>
      </p:sp>
      <p:sp>
        <p:nvSpPr>
          <p:cNvPr id="30" name="Shape 24"/>
          <p:cNvSpPr/>
          <p:nvPr/>
        </p:nvSpPr>
        <p:spPr>
          <a:xfrm>
            <a:off x="8245419" y="4573920"/>
            <a:ext cx="28893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1" name="Shape 25"/>
          <p:cNvSpPr/>
          <p:nvPr/>
        </p:nvSpPr>
        <p:spPr>
          <a:xfrm>
            <a:off x="8659002" y="4716841"/>
            <a:ext cx="1233068" cy="447690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8742853" y="4793010"/>
            <a:ext cx="107478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30" kern="0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</a:t>
            </a:r>
            <a:endParaRPr lang="en-US" sz="1500" dirty="0"/>
          </a:p>
        </p:txBody>
      </p:sp>
      <p:sp>
        <p:nvSpPr>
          <p:cNvPr id="33" name="Shape 27"/>
          <p:cNvSpPr/>
          <p:nvPr/>
        </p:nvSpPr>
        <p:spPr>
          <a:xfrm>
            <a:off x="9968240" y="4716841"/>
            <a:ext cx="752917" cy="447690"/>
          </a:xfrm>
          <a:prstGeom prst="roundRect">
            <a:avLst>
              <a:gd name="adj" fmla="val 50000"/>
            </a:avLst>
          </a:prstGeom>
          <a:solidFill>
            <a:srgbClr val="E6F8E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4" name="Text 28"/>
          <p:cNvSpPr txBox="1"/>
          <p:nvPr/>
        </p:nvSpPr>
        <p:spPr>
          <a:xfrm>
            <a:off x="10059680" y="4793010"/>
            <a:ext cx="57954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30" kern="0" dirty="0">
                <a:solidFill>
                  <a:srgbClr val="0393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</a:t>
            </a:r>
            <a:endParaRPr lang="en-US" sz="1500" dirty="0"/>
          </a:p>
        </p:txBody>
      </p:sp>
      <p:sp>
        <p:nvSpPr>
          <p:cNvPr id="35" name="Shape 29"/>
          <p:cNvSpPr/>
          <p:nvPr/>
        </p:nvSpPr>
        <p:spPr>
          <a:xfrm>
            <a:off x="800100" y="5602620"/>
            <a:ext cx="10591770" cy="723930"/>
          </a:xfrm>
          <a:prstGeom prst="roundRect">
            <a:avLst>
              <a:gd name="adj" fmla="val 23683"/>
            </a:avLst>
          </a:prstGeom>
          <a:solidFill>
            <a:srgbClr val="F8E6C9"/>
          </a:solidFill>
          <a:ln/>
        </p:spPr>
      </p:sp>
      <p:sp>
        <p:nvSpPr>
          <p:cNvPr id="36" name="Shape 30"/>
          <p:cNvSpPr/>
          <p:nvPr/>
        </p:nvSpPr>
        <p:spPr>
          <a:xfrm>
            <a:off x="800100" y="5602620"/>
            <a:ext cx="47640" cy="723930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7" name="Image 4" descr="/home/user/gogoeveryday/social-course/export-pptx/build/img/p17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360" y="5793090"/>
            <a:ext cx="342900" cy="342900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1552560" y="5809549"/>
            <a:ext cx="645173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判斷方式只有一個：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我的客人年紀多大、住在哪裡、平常在滑什麼？</a:t>
            </a:r>
            <a:endParaRPr lang="en-US" sz="1575" dirty="0"/>
          </a:p>
        </p:txBody>
      </p:sp>
      <p:sp>
        <p:nvSpPr>
          <p:cNvPr id="39" name="Shape 32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40" name="Text 33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全班討論</a:t>
            </a:r>
            <a:endParaRPr lang="en-US" sz="1500" dirty="0"/>
          </a:p>
        </p:txBody>
      </p:sp>
      <p:sp>
        <p:nvSpPr>
          <p:cNvPr id="41" name="Text 34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 · 10:04</a:t>
            </a:r>
            <a:endParaRPr lang="en-US" sz="1500" dirty="0"/>
          </a:p>
        </p:txBody>
      </p:sp>
      <p:sp>
        <p:nvSpPr>
          <p:cNvPr id="42" name="Text 3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17 / 76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296253"/>
            <a:ext cx="50398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10:10 – 10:20 休息 ｜ 10:20 – 11:05 ｜ PART 3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1496324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03</a:t>
            </a:r>
            <a:endParaRPr lang="en-US" sz="1125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3039374"/>
            <a:ext cx="3381543" cy="1562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粉絲專頁操作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876270" y="4982474"/>
            <a:ext cx="65930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拿起手機，跟著一起做。這一段講師手機投影，全班同步操作。</a:t>
            </a:r>
            <a:endParaRPr lang="en-US" sz="1725" dirty="0"/>
          </a:p>
        </p:txBody>
      </p:sp>
      <p:pic>
        <p:nvPicPr>
          <p:cNvPr id="7" name="Image 1" descr="/home/user/gogoeveryday/social-course/export-pptx/build/img/p1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6871" y="2803916"/>
            <a:ext cx="1200150" cy="12001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61970" y="6343650"/>
            <a:ext cx="273030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3 · 10:20–11:05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18 / 76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657271"/>
            <a:ext cx="16457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先分清楚這兩個</a:t>
            </a:r>
            <a:endParaRPr lang="en-US" sz="1500" dirty="0"/>
          </a:p>
        </p:txBody>
      </p:sp>
      <p:sp>
        <p:nvSpPr>
          <p:cNvPr id="4" name="Shape 1"/>
          <p:cNvSpPr/>
          <p:nvPr/>
        </p:nvSpPr>
        <p:spPr>
          <a:xfrm>
            <a:off x="800100" y="1257300"/>
            <a:ext cx="5086350" cy="3857671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1019190" y="1504920"/>
            <a:ext cx="216804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個人 Facebook 帳號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019190" y="1876440"/>
            <a:ext cx="1590142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-22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「我是誰」</a:t>
            </a:r>
            <a:endParaRPr lang="en-US" sz="2250" dirty="0"/>
          </a:p>
        </p:txBody>
      </p:sp>
      <p:sp>
        <p:nvSpPr>
          <p:cNvPr id="7" name="Shape 4"/>
          <p:cNvSpPr/>
          <p:nvPr/>
        </p:nvSpPr>
        <p:spPr>
          <a:xfrm>
            <a:off x="1057321" y="2457450"/>
            <a:ext cx="4572000" cy="1123980"/>
          </a:xfrm>
          <a:prstGeom prst="roundRect">
            <a:avLst>
              <a:gd name="adj" fmla="val 11861"/>
            </a:avLst>
          </a:prstGeom>
          <a:solidFill>
            <a:srgbClr val="F4ECE1"/>
          </a:solidFill>
          <a:ln/>
        </p:spPr>
      </p:sp>
      <p:pic>
        <p:nvPicPr>
          <p:cNvPr id="8" name="Image 1" descr="/home/user/gogoeveryday/social-course/export-pptx/build/img/p1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1260" y="2409810"/>
            <a:ext cx="1524030" cy="121917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81130" y="3724260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朋友、家人、同學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181130" y="4133820"/>
            <a:ext cx="245050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有好友人數上限（5,000）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181130" y="4543471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用來維持關係，不是做生意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305520" y="1257300"/>
            <a:ext cx="5086350" cy="3857671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305520" y="1257300"/>
            <a:ext cx="5067330" cy="38130"/>
          </a:xfrm>
          <a:prstGeom prst="rect">
            <a:avLst/>
          </a:prstGeom>
          <a:solidFill>
            <a:srgbClr val="1877F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524610" y="1504920"/>
            <a:ext cx="210613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 粉絲專頁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524610" y="1876440"/>
            <a:ext cx="2189988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-22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「我提供什麼」</a:t>
            </a:r>
            <a:endParaRPr lang="en-US" sz="2250" dirty="0"/>
          </a:p>
        </p:txBody>
      </p:sp>
      <p:sp>
        <p:nvSpPr>
          <p:cNvPr id="16" name="Shape 12"/>
          <p:cNvSpPr/>
          <p:nvPr/>
        </p:nvSpPr>
        <p:spPr>
          <a:xfrm>
            <a:off x="6562740" y="2457450"/>
            <a:ext cx="4572000" cy="1123980"/>
          </a:xfrm>
          <a:prstGeom prst="roundRect">
            <a:avLst>
              <a:gd name="adj" fmla="val 11861"/>
            </a:avLst>
          </a:prstGeom>
          <a:solidFill>
            <a:srgbClr val="EEF4FF"/>
          </a:solidFill>
          <a:ln/>
        </p:spPr>
      </p:sp>
      <p:pic>
        <p:nvPicPr>
          <p:cNvPr id="17" name="Image 2" descr="/home/user/gogoeveryday/social-course/export-pptx/build/img/p19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3850" y="2253813"/>
            <a:ext cx="1809780" cy="153125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686550" y="3724260"/>
            <a:ext cx="31198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顧客、陌生人都能追蹤，沒有上限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6686550" y="4133820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可以看到成效數據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686550" y="4543471"/>
            <a:ext cx="31198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可以放營業時間、地址、聯絡方式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800100" y="5276820"/>
            <a:ext cx="10591770" cy="723930"/>
          </a:xfrm>
          <a:prstGeom prst="roundRect">
            <a:avLst>
              <a:gd name="adj" fmla="val 23683"/>
            </a:avLst>
          </a:prstGeom>
          <a:solidFill>
            <a:srgbClr val="FBEEE6"/>
          </a:solidFill>
          <a:ln/>
        </p:spPr>
      </p:sp>
      <p:sp>
        <p:nvSpPr>
          <p:cNvPr id="22" name="Shape 17"/>
          <p:cNvSpPr/>
          <p:nvPr/>
        </p:nvSpPr>
        <p:spPr>
          <a:xfrm>
            <a:off x="800100" y="5276820"/>
            <a:ext cx="47640" cy="723930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3" name="Image 3" descr="/home/user/gogoeveryday/social-course/export-pptx/build/img/p19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360" y="5467380"/>
            <a:ext cx="342900" cy="34290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552560" y="5483748"/>
            <a:ext cx="798408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如果未來要做商品、服務、課程，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建議另外建立粉絲專頁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不要全部擠在個人帳號。</a:t>
            </a:r>
            <a:endParaRPr lang="en-US" sz="1575" dirty="0"/>
          </a:p>
        </p:txBody>
      </p:sp>
      <p:sp>
        <p:nvSpPr>
          <p:cNvPr id="25" name="Text 19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3 · 10:20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19 / 76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350764"/>
            <a:ext cx="14236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檢查你的粉專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731794"/>
            <a:ext cx="309881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至少要有這六件事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1459108"/>
            <a:ext cx="2836103" cy="1209660"/>
          </a:xfrm>
          <a:prstGeom prst="roundRect">
            <a:avLst>
              <a:gd name="adj" fmla="val 12601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81060" y="1621048"/>
            <a:ext cx="285750" cy="285750"/>
          </a:xfrm>
          <a:prstGeom prst="roundRect">
            <a:avLst>
              <a:gd name="adj" fmla="val 30016"/>
            </a:avLst>
          </a:prstGeom>
          <a:solidFill>
            <a:srgbClr val="FBEEE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29614" y="1611539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352580" y="1611539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看得懂的名稱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352580" y="1925818"/>
            <a:ext cx="2110161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別人一看就知道你做什麼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769523" y="1459108"/>
            <a:ext cx="2836103" cy="1209660"/>
          </a:xfrm>
          <a:prstGeom prst="roundRect">
            <a:avLst>
              <a:gd name="adj" fmla="val 12601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950482" y="1621048"/>
            <a:ext cx="285750" cy="285750"/>
          </a:xfrm>
          <a:prstGeom prst="roundRect">
            <a:avLst>
              <a:gd name="adj" fmla="val 30016"/>
            </a:avLst>
          </a:prstGeom>
          <a:solidFill>
            <a:srgbClr val="FBEE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999037" y="1611539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322003" y="1611539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清楚的大頭貼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4322003" y="1925818"/>
            <a:ext cx="2110161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商品或本人，不要用風景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0100" y="2802179"/>
            <a:ext cx="2836103" cy="1209660"/>
          </a:xfrm>
          <a:prstGeom prst="roundRect">
            <a:avLst>
              <a:gd name="adj" fmla="val 12601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81060" y="2964028"/>
            <a:ext cx="285750" cy="285750"/>
          </a:xfrm>
          <a:prstGeom prst="roundRect">
            <a:avLst>
              <a:gd name="adj" fmla="val 30016"/>
            </a:avLst>
          </a:prstGeom>
          <a:solidFill>
            <a:srgbClr val="FBEEE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029614" y="2954518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352580" y="295451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封面照片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352580" y="3268889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放最有代表性的作品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3769523" y="2802179"/>
            <a:ext cx="2836103" cy="1209660"/>
          </a:xfrm>
          <a:prstGeom prst="roundRect">
            <a:avLst>
              <a:gd name="adj" fmla="val 12601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950482" y="2964028"/>
            <a:ext cx="285750" cy="285750"/>
          </a:xfrm>
          <a:prstGeom prst="roundRect">
            <a:avLst>
              <a:gd name="adj" fmla="val 30016"/>
            </a:avLst>
          </a:prstGeom>
          <a:solidFill>
            <a:srgbClr val="FBEEE6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999037" y="2954518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4322003" y="2954518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一句話介紹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4322003" y="3268889"/>
            <a:ext cx="2110161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你是誰、你做什麼、在哪裡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800100" y="4145158"/>
            <a:ext cx="2836103" cy="1209660"/>
          </a:xfrm>
          <a:prstGeom prst="roundRect">
            <a:avLst>
              <a:gd name="adj" fmla="val 12601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81060" y="4307098"/>
            <a:ext cx="285750" cy="285750"/>
          </a:xfrm>
          <a:prstGeom prst="roundRect">
            <a:avLst>
              <a:gd name="adj" fmla="val 30016"/>
            </a:avLst>
          </a:prstGeom>
          <a:solidFill>
            <a:srgbClr val="FBEEE6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29614" y="4297589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352580" y="4297589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聯絡方式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352580" y="4611868"/>
            <a:ext cx="22110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電話或 LINE，一定要放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769523" y="4145158"/>
            <a:ext cx="2836103" cy="1209660"/>
          </a:xfrm>
          <a:prstGeom prst="roundRect">
            <a:avLst>
              <a:gd name="adj" fmla="val 12601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950482" y="4307098"/>
            <a:ext cx="285750" cy="285750"/>
          </a:xfrm>
          <a:prstGeom prst="roundRect">
            <a:avLst>
              <a:gd name="adj" fmla="val 30016"/>
            </a:avLst>
          </a:prstGeom>
          <a:solidFill>
            <a:srgbClr val="FBEEE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3999037" y="4297589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4322003" y="4297589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可以找到你的方式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4322003" y="4611868"/>
            <a:ext cx="2110161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地址、市集時間、或連結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761970" y="5526268"/>
            <a:ext cx="6148791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＊今天不教設計與排版，那是後面「商品視覺設計」課程的內容。今天只確認「有沒有」。</a:t>
            </a:r>
            <a:endParaRPr lang="en-US" sz="1500" dirty="0"/>
          </a:p>
        </p:txBody>
      </p:sp>
      <p:pic>
        <p:nvPicPr>
          <p:cNvPr id="36" name="Image 1" descr="/home/user/gogoeveryday/social-course/export-pptx/build/img/p2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0982" y="704820"/>
            <a:ext cx="2590770" cy="525780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7112752" y="1647840"/>
            <a:ext cx="843443" cy="400050"/>
          </a:xfrm>
          <a:prstGeom prst="roundRect">
            <a:avLst>
              <a:gd name="adj" fmla="val 50000"/>
            </a:avLst>
          </a:prstGeom>
          <a:solidFill>
            <a:srgbClr val="241C17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7166153" y="1695480"/>
            <a:ext cx="74624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封面</a:t>
            </a:r>
            <a:endParaRPr lang="en-US" sz="1500" dirty="0"/>
          </a:p>
        </p:txBody>
      </p:sp>
      <p:sp>
        <p:nvSpPr>
          <p:cNvPr id="39" name="Shape 35"/>
          <p:cNvSpPr/>
          <p:nvPr/>
        </p:nvSpPr>
        <p:spPr>
          <a:xfrm>
            <a:off x="6960413" y="2114550"/>
            <a:ext cx="1033912" cy="400050"/>
          </a:xfrm>
          <a:prstGeom prst="roundRect">
            <a:avLst>
              <a:gd name="adj" fmla="val 50000"/>
            </a:avLst>
          </a:prstGeom>
          <a:solidFill>
            <a:srgbClr val="241C17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7009882" y="2162190"/>
            <a:ext cx="94448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大頭貼</a:t>
            </a:r>
            <a:endParaRPr lang="en-US" sz="1500" dirty="0"/>
          </a:p>
        </p:txBody>
      </p:sp>
      <p:sp>
        <p:nvSpPr>
          <p:cNvPr id="41" name="Shape 37"/>
          <p:cNvSpPr/>
          <p:nvPr/>
        </p:nvSpPr>
        <p:spPr>
          <a:xfrm>
            <a:off x="10536540" y="2428921"/>
            <a:ext cx="843443" cy="400050"/>
          </a:xfrm>
          <a:prstGeom prst="roundRect">
            <a:avLst>
              <a:gd name="adj" fmla="val 50000"/>
            </a:avLst>
          </a:prstGeom>
          <a:solidFill>
            <a:srgbClr val="241C17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10589941" y="2476470"/>
            <a:ext cx="74624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名稱</a:t>
            </a:r>
            <a:endParaRPr lang="en-US" sz="1500" dirty="0"/>
          </a:p>
        </p:txBody>
      </p:sp>
      <p:sp>
        <p:nvSpPr>
          <p:cNvPr id="43" name="Shape 39"/>
          <p:cNvSpPr/>
          <p:nvPr/>
        </p:nvSpPr>
        <p:spPr>
          <a:xfrm>
            <a:off x="10498501" y="3028950"/>
            <a:ext cx="1033912" cy="400050"/>
          </a:xfrm>
          <a:prstGeom prst="roundRect">
            <a:avLst>
              <a:gd name="adj" fmla="val 50000"/>
            </a:avLst>
          </a:prstGeom>
          <a:solidFill>
            <a:srgbClr val="241C17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10547970" y="3076590"/>
            <a:ext cx="94448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 一句話</a:t>
            </a:r>
            <a:endParaRPr lang="en-US" sz="1500" dirty="0"/>
          </a:p>
        </p:txBody>
      </p:sp>
      <p:sp>
        <p:nvSpPr>
          <p:cNvPr id="45" name="Shape 41"/>
          <p:cNvSpPr/>
          <p:nvPr/>
        </p:nvSpPr>
        <p:spPr>
          <a:xfrm>
            <a:off x="10422240" y="3533790"/>
            <a:ext cx="1224382" cy="400050"/>
          </a:xfrm>
          <a:prstGeom prst="roundRect">
            <a:avLst>
              <a:gd name="adj" fmla="val 50000"/>
            </a:avLst>
          </a:prstGeom>
          <a:solidFill>
            <a:srgbClr val="241C17"/>
          </a:solidFill>
          <a:ln/>
        </p:spPr>
      </p:sp>
      <p:sp>
        <p:nvSpPr>
          <p:cNvPr id="46" name="Text 42"/>
          <p:cNvSpPr txBox="1"/>
          <p:nvPr/>
        </p:nvSpPr>
        <p:spPr>
          <a:xfrm>
            <a:off x="10466040" y="3581430"/>
            <a:ext cx="1146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⑤ 聯絡方式</a:t>
            </a:r>
            <a:endParaRPr lang="en-US" sz="1500" dirty="0"/>
          </a:p>
        </p:txBody>
      </p:sp>
      <p:sp>
        <p:nvSpPr>
          <p:cNvPr id="47" name="Shape 43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48" name="Text 44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對照檢查</a:t>
            </a:r>
            <a:endParaRPr lang="en-US" sz="1500" dirty="0"/>
          </a:p>
        </p:txBody>
      </p:sp>
      <p:sp>
        <p:nvSpPr>
          <p:cNvPr id="49" name="Text 45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3 · 10:26</a:t>
            </a:r>
            <a:endParaRPr lang="en-US" sz="1500" dirty="0"/>
          </a:p>
        </p:txBody>
      </p:sp>
      <p:sp>
        <p:nvSpPr>
          <p:cNvPr id="50" name="Text 46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 / 76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261061"/>
            <a:ext cx="16879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Before / After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642000"/>
            <a:ext cx="3653028" cy="1036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讓陌生人看名稱，</a:t>
            </a:r>
            <a:endParaRPr lang="en-US" sz="3000" dirty="0"/>
          </a:p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就知道你在做什麼。</a:t>
            </a:r>
            <a:endParaRPr lang="en-US" sz="3000" dirty="0"/>
          </a:p>
        </p:txBody>
      </p:sp>
      <p:pic>
        <p:nvPicPr>
          <p:cNvPr id="5" name="Image 1" descr="/home/user/gogoeveryday/social-course/export-pptx/build/img/p2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2190" y="2038380"/>
            <a:ext cx="2324130" cy="174312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20290" y="3933840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7" name="Text 3"/>
          <p:cNvSpPr txBox="1"/>
          <p:nvPr/>
        </p:nvSpPr>
        <p:spPr>
          <a:xfrm>
            <a:off x="2578334" y="3933840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看不出來在賣什麼</a:t>
            </a:r>
            <a:endParaRPr lang="en-US" sz="1575" dirty="0"/>
          </a:p>
        </p:txBody>
      </p:sp>
      <p:pic>
        <p:nvPicPr>
          <p:cNvPr id="8" name="Image 2" descr="/home/user/gogoeveryday/social-course/export-pptx/build/img/p21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5740" y="2038380"/>
            <a:ext cx="2324130" cy="1743121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631674" y="3933840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0" name="Text 5"/>
          <p:cNvSpPr txBox="1"/>
          <p:nvPr/>
        </p:nvSpPr>
        <p:spPr>
          <a:xfrm>
            <a:off x="7848204" y="3933840"/>
            <a:ext cx="230748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 ＋ 地區，一眼就懂</a:t>
            </a:r>
            <a:endParaRPr lang="en-US" sz="1575" dirty="0"/>
          </a:p>
        </p:txBody>
      </p:sp>
      <p:sp>
        <p:nvSpPr>
          <p:cNvPr id="11" name="Shape 6"/>
          <p:cNvSpPr/>
          <p:nvPr/>
        </p:nvSpPr>
        <p:spPr>
          <a:xfrm>
            <a:off x="800100" y="4481474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12" name="Shape 7"/>
          <p:cNvSpPr/>
          <p:nvPr/>
        </p:nvSpPr>
        <p:spPr>
          <a:xfrm>
            <a:off x="800100" y="4481474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3" name="Image 3" descr="/home/user/gogoeveryday/social-course/export-pptx/build/img/p21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360" y="4810567"/>
            <a:ext cx="342900" cy="3429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552560" y="4672035"/>
            <a:ext cx="4591477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公式：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你做什麼 ＋ 你在哪裡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這樣別人搜尋「台中 果醬」時，才可能找到你。</a:t>
            </a:r>
            <a:endParaRPr lang="en-US" sz="1575" dirty="0"/>
          </a:p>
        </p:txBody>
      </p:sp>
      <p:sp>
        <p:nvSpPr>
          <p:cNvPr id="15" name="Text 9"/>
          <p:cNvSpPr txBox="1"/>
          <p:nvPr/>
        </p:nvSpPr>
        <p:spPr>
          <a:xfrm>
            <a:off x="761970" y="5911139"/>
            <a:ext cx="847100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＊今天不教品牌命名與故事，那是「品牌故事撰寫」課程的內容。這裡只處理「看不看得懂」。</a:t>
            </a:r>
            <a:endParaRPr lang="en-US" sz="1500" dirty="0"/>
          </a:p>
        </p:txBody>
      </p:sp>
      <p:sp>
        <p:nvSpPr>
          <p:cNvPr id="16" name="Shape 10"/>
          <p:cNvSpPr/>
          <p:nvPr/>
        </p:nvSpPr>
        <p:spPr>
          <a:xfrm>
            <a:off x="10058400" y="228600"/>
            <a:ext cx="1333470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10182210" y="304770"/>
            <a:ext cx="116110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寫一個名稱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3 · 10:32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21 / 76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407822"/>
            <a:ext cx="16457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跟著講師一起做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788761"/>
            <a:ext cx="234699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現在拿出手機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1373246"/>
            <a:ext cx="3624773" cy="747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做完一項就打一個勾。</a:t>
            </a:r>
            <a:endParaRPr lang="en-US" sz="1875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做不完沒關係，記下來回家做。</a:t>
            </a:r>
            <a:endParaRPr lang="en-US" sz="1875" dirty="0"/>
          </a:p>
        </p:txBody>
      </p:sp>
      <p:sp>
        <p:nvSpPr>
          <p:cNvPr id="6" name="Shape 3"/>
          <p:cNvSpPr/>
          <p:nvPr/>
        </p:nvSpPr>
        <p:spPr>
          <a:xfrm>
            <a:off x="800100" y="2363815"/>
            <a:ext cx="58055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304940" y="2487625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找到／建立粉絲專頁</a:t>
            </a:r>
            <a:endParaRPr lang="en-US" sz="1575" dirty="0"/>
          </a:p>
        </p:txBody>
      </p:sp>
      <p:sp>
        <p:nvSpPr>
          <p:cNvPr id="8" name="Shape 5"/>
          <p:cNvSpPr/>
          <p:nvPr/>
        </p:nvSpPr>
        <p:spPr>
          <a:xfrm>
            <a:off x="800100" y="3030596"/>
            <a:ext cx="58055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1304940" y="3154406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修改大頭貼</a:t>
            </a:r>
            <a:endParaRPr lang="en-US" sz="1575" dirty="0"/>
          </a:p>
        </p:txBody>
      </p:sp>
      <p:sp>
        <p:nvSpPr>
          <p:cNvPr id="10" name="Shape 7"/>
          <p:cNvSpPr/>
          <p:nvPr/>
        </p:nvSpPr>
        <p:spPr>
          <a:xfrm>
            <a:off x="800100" y="3697376"/>
            <a:ext cx="58055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1304940" y="3821186"/>
            <a:ext cx="136309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修改封面照片</a:t>
            </a:r>
            <a:endParaRPr lang="en-US" sz="1575" dirty="0"/>
          </a:p>
        </p:txBody>
      </p:sp>
      <p:sp>
        <p:nvSpPr>
          <p:cNvPr id="12" name="Shape 9"/>
          <p:cNvSpPr/>
          <p:nvPr/>
        </p:nvSpPr>
        <p:spPr>
          <a:xfrm>
            <a:off x="800100" y="4364065"/>
            <a:ext cx="58055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1304940" y="4487875"/>
            <a:ext cx="136309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檢查簡介文字</a:t>
            </a:r>
            <a:endParaRPr lang="en-US" sz="1575" dirty="0"/>
          </a:p>
        </p:txBody>
      </p:sp>
      <p:sp>
        <p:nvSpPr>
          <p:cNvPr id="14" name="Shape 11"/>
          <p:cNvSpPr/>
          <p:nvPr/>
        </p:nvSpPr>
        <p:spPr>
          <a:xfrm>
            <a:off x="800100" y="5030846"/>
            <a:ext cx="58055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1304940" y="5154656"/>
            <a:ext cx="295305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檢查聯絡方式（電話或 LINE）</a:t>
            </a:r>
            <a:endParaRPr lang="en-US" sz="1575" dirty="0"/>
          </a:p>
        </p:txBody>
      </p:sp>
      <p:sp>
        <p:nvSpPr>
          <p:cNvPr id="16" name="Shape 13"/>
          <p:cNvSpPr/>
          <p:nvPr/>
        </p:nvSpPr>
        <p:spPr>
          <a:xfrm>
            <a:off x="800100" y="5697626"/>
            <a:ext cx="58055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1304940" y="5821436"/>
            <a:ext cx="157505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找到發文的位置</a:t>
            </a:r>
            <a:endParaRPr lang="en-US" sz="1575" dirty="0"/>
          </a:p>
        </p:txBody>
      </p:sp>
      <p:pic>
        <p:nvPicPr>
          <p:cNvPr id="18" name="Image 1" descr="/home/user/gogoeveryday/social-course/export-pptx/build/img/p2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0982" y="404805"/>
            <a:ext cx="2590770" cy="5257800"/>
          </a:xfrm>
          <a:prstGeom prst="rect">
            <a:avLst/>
          </a:prstGeom>
        </p:spPr>
      </p:pic>
      <p:pic>
        <p:nvPicPr>
          <p:cNvPr id="19" name="Image 2" descr="/home/user/gogoeveryday/social-course/export-pptx/build/img/p2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813" y="1604955"/>
            <a:ext cx="800100" cy="8001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206191" y="5786415"/>
            <a:ext cx="20900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講師手機請同步投影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手機實作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3 · 10:38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22 / 76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625815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發文的時候可以做什麼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006846"/>
            <a:ext cx="3474903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一則貼文的九個功能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1715140"/>
            <a:ext cx="1690726" cy="975390"/>
          </a:xfrm>
          <a:prstGeom prst="roundRect">
            <a:avLst>
              <a:gd name="adj" fmla="val 13668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455908" y="1857969"/>
            <a:ext cx="388620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✏️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1394003" y="2229490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文字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605126" y="1715140"/>
            <a:ext cx="1690726" cy="975390"/>
          </a:xfrm>
          <a:prstGeom prst="roundRect">
            <a:avLst>
              <a:gd name="adj" fmla="val 13668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84708" y="1857969"/>
            <a:ext cx="340980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🖼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3103748" y="2229490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加照片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410060" y="1715140"/>
            <a:ext cx="1690726" cy="975390"/>
          </a:xfrm>
          <a:prstGeom prst="roundRect">
            <a:avLst>
              <a:gd name="adj" fmla="val 13668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89642" y="1857969"/>
            <a:ext cx="340980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🗂</a:t>
            </a:r>
            <a:endParaRPr lang="en-US" sz="1650" dirty="0"/>
          </a:p>
        </p:txBody>
      </p:sp>
      <p:sp>
        <p:nvSpPr>
          <p:cNvPr id="13" name="Text 10"/>
          <p:cNvSpPr txBox="1"/>
          <p:nvPr/>
        </p:nvSpPr>
        <p:spPr>
          <a:xfrm>
            <a:off x="4810933" y="2229490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多張照片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00100" y="2804831"/>
            <a:ext cx="1690726" cy="975390"/>
          </a:xfrm>
          <a:prstGeom prst="roundRect">
            <a:avLst>
              <a:gd name="adj" fmla="val 13668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479591" y="2947660"/>
            <a:ext cx="34116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＠</a:t>
            </a:r>
            <a:endParaRPr lang="en-US" sz="1650" dirty="0"/>
          </a:p>
        </p:txBody>
      </p:sp>
      <p:sp>
        <p:nvSpPr>
          <p:cNvPr id="16" name="Text 13"/>
          <p:cNvSpPr txBox="1"/>
          <p:nvPr/>
        </p:nvSpPr>
        <p:spPr>
          <a:xfrm>
            <a:off x="1200882" y="3319181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標註朋友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2605126" y="2804831"/>
            <a:ext cx="1690726" cy="975390"/>
          </a:xfrm>
          <a:prstGeom prst="roundRect">
            <a:avLst>
              <a:gd name="adj" fmla="val 13668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260842" y="2947660"/>
            <a:ext cx="388620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📍</a:t>
            </a:r>
            <a:endParaRPr lang="en-US" sz="1650" dirty="0"/>
          </a:p>
        </p:txBody>
      </p:sp>
      <p:sp>
        <p:nvSpPr>
          <p:cNvPr id="19" name="Text 16"/>
          <p:cNvSpPr txBox="1"/>
          <p:nvPr/>
        </p:nvSpPr>
        <p:spPr>
          <a:xfrm>
            <a:off x="3005907" y="3319181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打卡地點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410060" y="2804831"/>
            <a:ext cx="1690726" cy="975390"/>
          </a:xfrm>
          <a:prstGeom prst="roundRect">
            <a:avLst>
              <a:gd name="adj" fmla="val 13668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65867" y="2947660"/>
            <a:ext cx="388620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💬</a:t>
            </a:r>
            <a:endParaRPr lang="en-US" sz="1650" dirty="0"/>
          </a:p>
        </p:txBody>
      </p:sp>
      <p:sp>
        <p:nvSpPr>
          <p:cNvPr id="22" name="Text 19"/>
          <p:cNvSpPr txBox="1"/>
          <p:nvPr/>
        </p:nvSpPr>
        <p:spPr>
          <a:xfrm>
            <a:off x="4810933" y="3319181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留言回覆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800100" y="3894521"/>
            <a:ext cx="1690726" cy="975390"/>
          </a:xfrm>
          <a:prstGeom prst="roundRect">
            <a:avLst>
              <a:gd name="adj" fmla="val 13668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479591" y="4037442"/>
            <a:ext cx="34116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↗</a:t>
            </a:r>
            <a:endParaRPr lang="en-US" sz="1650" dirty="0"/>
          </a:p>
        </p:txBody>
      </p:sp>
      <p:sp>
        <p:nvSpPr>
          <p:cNvPr id="25" name="Text 22"/>
          <p:cNvSpPr txBox="1"/>
          <p:nvPr/>
        </p:nvSpPr>
        <p:spPr>
          <a:xfrm>
            <a:off x="1200882" y="4408871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分享出去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2605126" y="3894521"/>
            <a:ext cx="1690726" cy="975390"/>
          </a:xfrm>
          <a:prstGeom prst="roundRect">
            <a:avLst>
              <a:gd name="adj" fmla="val 13668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260842" y="4037442"/>
            <a:ext cx="388620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🔧</a:t>
            </a:r>
            <a:endParaRPr lang="en-US" sz="1650" dirty="0"/>
          </a:p>
        </p:txBody>
      </p:sp>
      <p:sp>
        <p:nvSpPr>
          <p:cNvPr id="28" name="Text 25"/>
          <p:cNvSpPr txBox="1"/>
          <p:nvPr/>
        </p:nvSpPr>
        <p:spPr>
          <a:xfrm>
            <a:off x="3005907" y="4408871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編輯貼文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4410060" y="3894521"/>
            <a:ext cx="1690726" cy="975390"/>
          </a:xfrm>
          <a:prstGeom prst="roundRect">
            <a:avLst>
              <a:gd name="adj" fmla="val 13668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089642" y="4037442"/>
            <a:ext cx="340980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🗑</a:t>
            </a:r>
            <a:endParaRPr lang="en-US" sz="1650" dirty="0"/>
          </a:p>
        </p:txBody>
      </p:sp>
      <p:sp>
        <p:nvSpPr>
          <p:cNvPr id="31" name="Text 28"/>
          <p:cNvSpPr txBox="1"/>
          <p:nvPr/>
        </p:nvSpPr>
        <p:spPr>
          <a:xfrm>
            <a:off x="4810933" y="4408871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刪除貼文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800100" y="5060472"/>
            <a:ext cx="5300685" cy="971550"/>
          </a:xfrm>
          <a:prstGeom prst="roundRect">
            <a:avLst>
              <a:gd name="adj" fmla="val 17647"/>
            </a:avLst>
          </a:prstGeom>
          <a:solidFill>
            <a:srgbClr val="DFE8DC"/>
          </a:solidFill>
          <a:ln/>
        </p:spPr>
      </p:sp>
      <p:sp>
        <p:nvSpPr>
          <p:cNvPr id="33" name="Shape 30"/>
          <p:cNvSpPr/>
          <p:nvPr/>
        </p:nvSpPr>
        <p:spPr>
          <a:xfrm>
            <a:off x="800100" y="5060472"/>
            <a:ext cx="47640" cy="971550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34" name="Image 1" descr="/home/user/gogoeveryday/social-course/export-pptx/build/img/p2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384262"/>
            <a:ext cx="323880" cy="323880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1533540" y="5250942"/>
            <a:ext cx="3119841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最常被忘記的是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「打卡地點」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在地客人常常是從地點找到你的。</a:t>
            </a:r>
            <a:endParaRPr lang="en-US" sz="1500" dirty="0"/>
          </a:p>
        </p:txBody>
      </p:sp>
      <p:pic>
        <p:nvPicPr>
          <p:cNvPr id="36" name="Image 2" descr="/home/user/gogoeveryday/social-course/export-pptx/build/img/p23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8608" y="404805"/>
            <a:ext cx="2590770" cy="5257800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8064825" y="5786415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發文畫面（示意）</a:t>
            </a:r>
            <a:endParaRPr lang="en-US" sz="1500" dirty="0"/>
          </a:p>
        </p:txBody>
      </p:sp>
      <p:sp>
        <p:nvSpPr>
          <p:cNvPr id="38" name="Shape 33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9" name="Text 34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手機實作</a:t>
            </a:r>
            <a:endParaRPr lang="en-US" sz="1500" dirty="0"/>
          </a:p>
        </p:txBody>
      </p:sp>
      <p:sp>
        <p:nvSpPr>
          <p:cNvPr id="40" name="Text 35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3 · 10:50</a:t>
            </a:r>
            <a:endParaRPr lang="en-US" sz="1500" dirty="0"/>
          </a:p>
        </p:txBody>
      </p:sp>
      <p:sp>
        <p:nvSpPr>
          <p:cNvPr id="41" name="Text 36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23 / 76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450251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免費曝光的第一課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831190"/>
            <a:ext cx="5354909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同一則貼文，可以分享到哪裡？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1663294"/>
            <a:ext cx="5086350" cy="3381634"/>
          </a:xfrm>
          <a:prstGeom prst="roundRect">
            <a:avLst>
              <a:gd name="adj" fmla="val 6760"/>
            </a:avLst>
          </a:prstGeom>
          <a:solidFill>
            <a:srgbClr val="DFE8DC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19190" y="1910913"/>
            <a:ext cx="11874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 可以分享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19190" y="2301453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1278148" y="2301453"/>
            <a:ext cx="219821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自己的個人 Facebook</a:t>
            </a:r>
            <a:endParaRPr lang="en-US" sz="1575" dirty="0"/>
          </a:p>
        </p:txBody>
      </p:sp>
      <p:sp>
        <p:nvSpPr>
          <p:cNvPr id="9" name="Text 6"/>
          <p:cNvSpPr txBox="1"/>
          <p:nvPr/>
        </p:nvSpPr>
        <p:spPr>
          <a:xfrm>
            <a:off x="1019190" y="2706258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0" name="Text 7"/>
          <p:cNvSpPr txBox="1"/>
          <p:nvPr/>
        </p:nvSpPr>
        <p:spPr>
          <a:xfrm>
            <a:off x="1278148" y="2706258"/>
            <a:ext cx="157505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適合的主題社團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1019190" y="3111063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1278148" y="3111063"/>
            <a:ext cx="157505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相關的地方社團</a:t>
            </a:r>
            <a:endParaRPr lang="en-US" sz="1575" dirty="0"/>
          </a:p>
        </p:txBody>
      </p:sp>
      <p:sp>
        <p:nvSpPr>
          <p:cNvPr id="13" name="Text 10"/>
          <p:cNvSpPr txBox="1"/>
          <p:nvPr/>
        </p:nvSpPr>
        <p:spPr>
          <a:xfrm>
            <a:off x="1019190" y="3515959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4" name="Text 11"/>
          <p:cNvSpPr txBox="1"/>
          <p:nvPr/>
        </p:nvSpPr>
        <p:spPr>
          <a:xfrm>
            <a:off x="1278148" y="3515959"/>
            <a:ext cx="157505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合作夥伴的頁面</a:t>
            </a:r>
            <a:endParaRPr lang="en-US" sz="1575" dirty="0"/>
          </a:p>
        </p:txBody>
      </p:sp>
      <p:sp>
        <p:nvSpPr>
          <p:cNvPr id="15" name="Shape 12"/>
          <p:cNvSpPr/>
          <p:nvPr/>
        </p:nvSpPr>
        <p:spPr>
          <a:xfrm>
            <a:off x="1057321" y="3977914"/>
            <a:ext cx="4572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019190" y="4130253"/>
            <a:ext cx="4543471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分享前先想一句：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這則貼文對這個社團的人有用嗎？</a:t>
            </a:r>
            <a:endParaRPr lang="en-US" sz="1575" dirty="0"/>
          </a:p>
        </p:txBody>
      </p:sp>
      <p:sp>
        <p:nvSpPr>
          <p:cNvPr id="17" name="Shape 14"/>
          <p:cNvSpPr/>
          <p:nvPr/>
        </p:nvSpPr>
        <p:spPr>
          <a:xfrm>
            <a:off x="6305520" y="1663294"/>
            <a:ext cx="5086350" cy="3381634"/>
          </a:xfrm>
          <a:prstGeom prst="roundRect">
            <a:avLst>
              <a:gd name="adj" fmla="val 6760"/>
            </a:avLst>
          </a:prstGeom>
          <a:solidFill>
            <a:srgbClr val="F4ECE1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524610" y="1910913"/>
            <a:ext cx="14312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 不要這樣做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524610" y="2301453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0" name="Text 17"/>
          <p:cNvSpPr txBox="1"/>
          <p:nvPr/>
        </p:nvSpPr>
        <p:spPr>
          <a:xfrm>
            <a:off x="6810360" y="2301453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到處貼一模一樣的廣告</a:t>
            </a:r>
            <a:endParaRPr lang="en-US" sz="1575" dirty="0"/>
          </a:p>
        </p:txBody>
      </p:sp>
      <p:sp>
        <p:nvSpPr>
          <p:cNvPr id="21" name="Text 18"/>
          <p:cNvSpPr txBox="1"/>
          <p:nvPr/>
        </p:nvSpPr>
        <p:spPr>
          <a:xfrm>
            <a:off x="6524610" y="2706258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2" name="Text 19"/>
          <p:cNvSpPr txBox="1"/>
          <p:nvPr/>
        </p:nvSpPr>
        <p:spPr>
          <a:xfrm>
            <a:off x="6810360" y="2706258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沒看社團規則就貼</a:t>
            </a:r>
            <a:endParaRPr lang="en-US" sz="1575" dirty="0"/>
          </a:p>
        </p:txBody>
      </p:sp>
      <p:sp>
        <p:nvSpPr>
          <p:cNvPr id="23" name="Text 20"/>
          <p:cNvSpPr txBox="1"/>
          <p:nvPr/>
        </p:nvSpPr>
        <p:spPr>
          <a:xfrm>
            <a:off x="6524610" y="3111063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4" name="Text 21"/>
          <p:cNvSpPr txBox="1"/>
          <p:nvPr/>
        </p:nvSpPr>
        <p:spPr>
          <a:xfrm>
            <a:off x="6810360" y="3111063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跟社團主題完全無關</a:t>
            </a:r>
            <a:endParaRPr lang="en-US" sz="1575" dirty="0"/>
          </a:p>
        </p:txBody>
      </p:sp>
      <p:sp>
        <p:nvSpPr>
          <p:cNvPr id="25" name="Text 22"/>
          <p:cNvSpPr txBox="1"/>
          <p:nvPr/>
        </p:nvSpPr>
        <p:spPr>
          <a:xfrm>
            <a:off x="6524610" y="3515959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6" name="Text 23"/>
          <p:cNvSpPr txBox="1"/>
          <p:nvPr/>
        </p:nvSpPr>
        <p:spPr>
          <a:xfrm>
            <a:off x="6810360" y="3515959"/>
            <a:ext cx="157505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一天洗好幾次版</a:t>
            </a:r>
            <a:endParaRPr lang="en-US" sz="1575" dirty="0"/>
          </a:p>
        </p:txBody>
      </p:sp>
      <p:sp>
        <p:nvSpPr>
          <p:cNvPr id="27" name="Shape 24"/>
          <p:cNvSpPr/>
          <p:nvPr/>
        </p:nvSpPr>
        <p:spPr>
          <a:xfrm>
            <a:off x="6562740" y="3977914"/>
            <a:ext cx="4572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524610" y="4130253"/>
            <a:ext cx="411937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後果：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被檢舉、被踢出社團、帳號被限制。</a:t>
            </a:r>
            <a:endParaRPr lang="en-US" sz="1575" dirty="0"/>
          </a:p>
        </p:txBody>
      </p:sp>
      <p:sp>
        <p:nvSpPr>
          <p:cNvPr id="29" name="Shape 26"/>
          <p:cNvSpPr/>
          <p:nvPr/>
        </p:nvSpPr>
        <p:spPr>
          <a:xfrm>
            <a:off x="800100" y="5206868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30" name="Shape 27"/>
          <p:cNvSpPr/>
          <p:nvPr/>
        </p:nvSpPr>
        <p:spPr>
          <a:xfrm>
            <a:off x="800100" y="5206868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1" name="Image 1" descr="/home/user/gogoeveryday/social-course/export-pptx/build/img/p2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535960"/>
            <a:ext cx="342900" cy="34290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552560" y="5397429"/>
            <a:ext cx="4331421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在社團裡，你是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，不是老闆。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先參與、先幫忙回答問題，再談自己的東西。</a:t>
            </a:r>
            <a:endParaRPr lang="en-US" sz="1575" dirty="0"/>
          </a:p>
        </p:txBody>
      </p:sp>
      <p:sp>
        <p:nvSpPr>
          <p:cNvPr id="33" name="Text 29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3 · 10:58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24 / 76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296253"/>
            <a:ext cx="27036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11:05 – 12:00 ｜ PART 4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1496324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04</a:t>
            </a:r>
            <a:endParaRPr lang="en-US" sz="1125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3039374"/>
            <a:ext cx="3967307" cy="1562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 操作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＋品牌案例觀察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876270" y="4982474"/>
            <a:ext cx="450296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先看懂別人怎麼做，再回頭看自己的帳號。</a:t>
            </a:r>
            <a:endParaRPr lang="en-US" sz="1725" dirty="0"/>
          </a:p>
        </p:txBody>
      </p:sp>
      <p:pic>
        <p:nvPicPr>
          <p:cNvPr id="7" name="Image 1" descr="/home/user/gogoeveryday/social-course/export-pptx/build/img/p2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6871" y="2803916"/>
            <a:ext cx="1200150" cy="12001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61970" y="6343650"/>
            <a:ext cx="273030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4 · 11:05–12:00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25 / 76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374630"/>
            <a:ext cx="12015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先看，再改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755569"/>
            <a:ext cx="431670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打開 IG，先看這五個地方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1482882"/>
            <a:ext cx="5300685" cy="876270"/>
          </a:xfrm>
          <a:prstGeom prst="roundRect">
            <a:avLst>
              <a:gd name="adj" fmla="val 17395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62040" y="1768632"/>
            <a:ext cx="33147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</a:t>
            </a:r>
            <a:endParaRPr lang="en-US" sz="1575" dirty="0"/>
          </a:p>
        </p:txBody>
      </p:sp>
      <p:sp>
        <p:nvSpPr>
          <p:cNvPr id="7" name="Text 4"/>
          <p:cNvSpPr txBox="1"/>
          <p:nvPr/>
        </p:nvSpPr>
        <p:spPr>
          <a:xfrm>
            <a:off x="1304940" y="1625803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大頭貼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304940" y="1911553"/>
            <a:ext cx="27159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用商品或本人，不要用風景照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00100" y="2464034"/>
            <a:ext cx="5300685" cy="876270"/>
          </a:xfrm>
          <a:prstGeom prst="roundRect">
            <a:avLst>
              <a:gd name="adj" fmla="val 17395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62040" y="2749784"/>
            <a:ext cx="33147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1304940" y="260686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名稱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304940" y="2892613"/>
            <a:ext cx="35236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含「做什麼」的關鍵字，別人才搜得到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0100" y="3445093"/>
            <a:ext cx="5300685" cy="876270"/>
          </a:xfrm>
          <a:prstGeom prst="roundRect">
            <a:avLst>
              <a:gd name="adj" fmla="val 17395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62040" y="3730843"/>
            <a:ext cx="33147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</a:t>
            </a:r>
            <a:endParaRPr lang="en-US" sz="1575" dirty="0"/>
          </a:p>
        </p:txBody>
      </p:sp>
      <p:sp>
        <p:nvSpPr>
          <p:cNvPr id="15" name="Text 12"/>
          <p:cNvSpPr txBox="1"/>
          <p:nvPr/>
        </p:nvSpPr>
        <p:spPr>
          <a:xfrm>
            <a:off x="1304940" y="3587923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自我介紹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304940" y="3873673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你做什麼、賣給誰、在哪裡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00100" y="4426153"/>
            <a:ext cx="5300685" cy="876270"/>
          </a:xfrm>
          <a:prstGeom prst="roundRect">
            <a:avLst>
              <a:gd name="adj" fmla="val 17395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62040" y="4711903"/>
            <a:ext cx="33147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</a:t>
            </a:r>
            <a:endParaRPr lang="en-US" sz="1575" dirty="0"/>
          </a:p>
        </p:txBody>
      </p:sp>
      <p:sp>
        <p:nvSpPr>
          <p:cNvPr id="19" name="Text 16"/>
          <p:cNvSpPr txBox="1"/>
          <p:nvPr/>
        </p:nvSpPr>
        <p:spPr>
          <a:xfrm>
            <a:off x="1304940" y="4568982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貼文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304940" y="4854732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前九張決定第一印象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800100" y="5407213"/>
            <a:ext cx="5300685" cy="876270"/>
          </a:xfrm>
          <a:prstGeom prst="roundRect">
            <a:avLst>
              <a:gd name="adj" fmla="val 17395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62040" y="5692963"/>
            <a:ext cx="33147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⑤</a:t>
            </a:r>
            <a:endParaRPr lang="en-US" sz="1575" dirty="0"/>
          </a:p>
        </p:txBody>
      </p:sp>
      <p:sp>
        <p:nvSpPr>
          <p:cNvPr id="23" name="Text 20"/>
          <p:cNvSpPr txBox="1"/>
          <p:nvPr/>
        </p:nvSpPr>
        <p:spPr>
          <a:xfrm>
            <a:off x="1304940" y="5550134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連結／聯絡方式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304940" y="5835884"/>
            <a:ext cx="27709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LINE、電話、訂購表單放這裡</a:t>
            </a:r>
            <a:endParaRPr lang="en-US" sz="1500" dirty="0"/>
          </a:p>
        </p:txBody>
      </p:sp>
      <p:pic>
        <p:nvPicPr>
          <p:cNvPr id="25" name="Image 1" descr="/home/user/gogoeveryday/social-course/export-pptx/build/img/p2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8608" y="704820"/>
            <a:ext cx="2590770" cy="525780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222297" y="1057321"/>
            <a:ext cx="323880" cy="323880"/>
          </a:xfrm>
          <a:prstGeom prst="roundRect">
            <a:avLst>
              <a:gd name="adj" fmla="val 50000"/>
            </a:avLst>
          </a:prstGeom>
          <a:solidFill>
            <a:srgbClr val="8A5A6D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228058" y="1066830"/>
            <a:ext cx="3219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</a:t>
            </a:r>
            <a:endParaRPr lang="en-US" sz="1500" dirty="0"/>
          </a:p>
        </p:txBody>
      </p:sp>
      <p:sp>
        <p:nvSpPr>
          <p:cNvPr id="28" name="Shape 24"/>
          <p:cNvSpPr/>
          <p:nvPr/>
        </p:nvSpPr>
        <p:spPr>
          <a:xfrm>
            <a:off x="7222297" y="1638330"/>
            <a:ext cx="323880" cy="323880"/>
          </a:xfrm>
          <a:prstGeom prst="roundRect">
            <a:avLst>
              <a:gd name="adj" fmla="val 50000"/>
            </a:avLst>
          </a:prstGeom>
          <a:solidFill>
            <a:srgbClr val="8A5A6D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7228058" y="1647840"/>
            <a:ext cx="3219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7222297" y="2371771"/>
            <a:ext cx="323880" cy="323880"/>
          </a:xfrm>
          <a:prstGeom prst="roundRect">
            <a:avLst>
              <a:gd name="adj" fmla="val 50000"/>
            </a:avLst>
          </a:prstGeom>
          <a:solidFill>
            <a:srgbClr val="8A5A6D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228058" y="2381280"/>
            <a:ext cx="3219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</a:t>
            </a:r>
            <a:endParaRPr lang="en-US" sz="1500" dirty="0"/>
          </a:p>
        </p:txBody>
      </p:sp>
      <p:sp>
        <p:nvSpPr>
          <p:cNvPr id="32" name="Shape 28"/>
          <p:cNvSpPr/>
          <p:nvPr/>
        </p:nvSpPr>
        <p:spPr>
          <a:xfrm>
            <a:off x="7222297" y="3943350"/>
            <a:ext cx="323880" cy="323880"/>
          </a:xfrm>
          <a:prstGeom prst="roundRect">
            <a:avLst>
              <a:gd name="adj" fmla="val 50000"/>
            </a:avLst>
          </a:prstGeom>
          <a:solidFill>
            <a:srgbClr val="8A5A6D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7228058" y="3952860"/>
            <a:ext cx="3219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10441808" y="2647920"/>
            <a:ext cx="323880" cy="323880"/>
          </a:xfrm>
          <a:prstGeom prst="roundRect">
            <a:avLst>
              <a:gd name="adj" fmla="val 50000"/>
            </a:avLst>
          </a:prstGeom>
          <a:solidFill>
            <a:srgbClr val="8A5A6D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10447477" y="2657521"/>
            <a:ext cx="3219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⑤</a:t>
            </a:r>
            <a:endParaRPr lang="en-US" sz="1500" dirty="0"/>
          </a:p>
        </p:txBody>
      </p:sp>
      <p:sp>
        <p:nvSpPr>
          <p:cNvPr id="36" name="Shape 32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7" name="Text 33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手機實作</a:t>
            </a:r>
            <a:endParaRPr lang="en-US" sz="1500" dirty="0"/>
          </a:p>
        </p:txBody>
      </p:sp>
      <p:sp>
        <p:nvSpPr>
          <p:cNvPr id="38" name="Text 34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4 · 11:05</a:t>
            </a:r>
            <a:endParaRPr lang="en-US" sz="1500" dirty="0"/>
          </a:p>
        </p:txBody>
      </p:sp>
      <p:sp>
        <p:nvSpPr>
          <p:cNvPr id="39" name="Text 3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26 / 76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gogoeveryday/social-course/export-pptx/build/img/p2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7268" y="574792"/>
            <a:ext cx="857250" cy="85725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15122" y="1451061"/>
            <a:ext cx="5771327" cy="1504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394"/>
              </a:lnSpc>
              <a:buNone/>
            </a:pPr>
            <a:r>
              <a:rPr lang="en-US" sz="4350" b="1" spc="-13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三秒鐘內，</a:t>
            </a:r>
            <a:endParaRPr lang="en-US" sz="4350" dirty="0"/>
          </a:p>
          <a:p>
            <a:pPr algn="ctr" indent="0" marL="0">
              <a:lnSpc>
                <a:spcPts val="5394"/>
              </a:lnSpc>
              <a:buNone/>
            </a:pPr>
            <a:r>
              <a:rPr lang="en-US" sz="4350" b="1" spc="-13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我知道你在做什麼嗎？</a:t>
            </a:r>
            <a:endParaRPr lang="en-US" sz="4350" dirty="0"/>
          </a:p>
        </p:txBody>
      </p:sp>
      <p:sp>
        <p:nvSpPr>
          <p:cNvPr id="5" name="Shape 1"/>
          <p:cNvSpPr/>
          <p:nvPr/>
        </p:nvSpPr>
        <p:spPr>
          <a:xfrm>
            <a:off x="1619220" y="3173334"/>
            <a:ext cx="4286250" cy="1709745"/>
          </a:xfrm>
          <a:prstGeom prst="roundRect">
            <a:avLst>
              <a:gd name="adj" fmla="val 13370"/>
            </a:avLst>
          </a:prstGeom>
          <a:solidFill>
            <a:srgbClr val="F4ECE1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3285531" y="3420953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比較模糊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2358695" y="3792474"/>
            <a:ext cx="2816992" cy="39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25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「分享生活中的幸福」</a:t>
            </a:r>
            <a:endParaRPr lang="en-US" sz="2025" dirty="0"/>
          </a:p>
        </p:txBody>
      </p:sp>
      <p:sp>
        <p:nvSpPr>
          <p:cNvPr id="8" name="Text 4"/>
          <p:cNvSpPr txBox="1"/>
          <p:nvPr/>
        </p:nvSpPr>
        <p:spPr>
          <a:xfrm>
            <a:off x="2558400" y="4297223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9" name="Text 5"/>
          <p:cNvSpPr txBox="1"/>
          <p:nvPr/>
        </p:nvSpPr>
        <p:spPr>
          <a:xfrm>
            <a:off x="2804465" y="4297223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看完不知道你在做什麼</a:t>
            </a:r>
            <a:endParaRPr lang="en-US" sz="1575" dirty="0"/>
          </a:p>
        </p:txBody>
      </p:sp>
      <p:sp>
        <p:nvSpPr>
          <p:cNvPr id="10" name="Shape 6"/>
          <p:cNvSpPr/>
          <p:nvPr/>
        </p:nvSpPr>
        <p:spPr>
          <a:xfrm>
            <a:off x="6286500" y="3173334"/>
            <a:ext cx="4286250" cy="1709745"/>
          </a:xfrm>
          <a:prstGeom prst="roundRect">
            <a:avLst>
              <a:gd name="adj" fmla="val 1337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286500" y="3173334"/>
            <a:ext cx="4267230" cy="3813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952811" y="3420953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比較清楚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753301" y="3792474"/>
            <a:ext cx="3362157" cy="39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2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「台中手作甜點｜預訂制」</a:t>
            </a:r>
            <a:endParaRPr lang="en-US" sz="2025" dirty="0"/>
          </a:p>
        </p:txBody>
      </p:sp>
      <p:sp>
        <p:nvSpPr>
          <p:cNvPr id="14" name="Text 10"/>
          <p:cNvSpPr txBox="1"/>
          <p:nvPr/>
        </p:nvSpPr>
        <p:spPr>
          <a:xfrm>
            <a:off x="6739037" y="4297223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5" name="Text 11"/>
          <p:cNvSpPr txBox="1"/>
          <p:nvPr/>
        </p:nvSpPr>
        <p:spPr>
          <a:xfrm>
            <a:off x="6928226" y="4297223"/>
            <a:ext cx="327126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做什麼、在哪裡、怎麼買，都有了</a:t>
            </a:r>
            <a:endParaRPr lang="en-US" sz="1575" dirty="0"/>
          </a:p>
        </p:txBody>
      </p:sp>
      <p:sp>
        <p:nvSpPr>
          <p:cNvPr id="16" name="Text 12"/>
          <p:cNvSpPr txBox="1"/>
          <p:nvPr/>
        </p:nvSpPr>
        <p:spPr>
          <a:xfrm>
            <a:off x="3026390" y="5311658"/>
            <a:ext cx="6148791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＊今天不深入教文案寫作，那是後面「商品文案設計」課程的內容。</a:t>
            </a:r>
            <a:endParaRPr lang="en-US" sz="1500" dirty="0"/>
          </a:p>
          <a:p>
            <a:pPr algn="ctr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現在只要做到一件事：讓陌生人三秒內看懂。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三秒測試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4 · 11:14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27 / 76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32597"/>
            <a:ext cx="20900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四種內容，四種用途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313536"/>
            <a:ext cx="431670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IG 上你會用到的四種東西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2145640"/>
            <a:ext cx="2505090" cy="2712842"/>
          </a:xfrm>
          <a:prstGeom prst="roundRect">
            <a:avLst>
              <a:gd name="adj" fmla="val 912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pic>
        <p:nvPicPr>
          <p:cNvPr id="6" name="Image 1" descr="/home/user/gogoeveryday/social-course/export-pptx/build/img/p2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610" y="2155149"/>
            <a:ext cx="2486071" cy="99057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2040" y="3307751"/>
            <a:ext cx="52760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貼文</a:t>
            </a:r>
            <a:endParaRPr lang="en-US" sz="1575" dirty="0"/>
          </a:p>
        </p:txBody>
      </p:sp>
      <p:sp>
        <p:nvSpPr>
          <p:cNvPr id="8" name="Text 4"/>
          <p:cNvSpPr txBox="1"/>
          <p:nvPr/>
        </p:nvSpPr>
        <p:spPr>
          <a:xfrm>
            <a:off x="962040" y="3631540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留下來的作品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962040" y="4022080"/>
            <a:ext cx="231206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會一直留在九宮格裡，是別人認識你的第一印象。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3495660" y="2145640"/>
            <a:ext cx="2505090" cy="2712842"/>
          </a:xfrm>
          <a:prstGeom prst="roundRect">
            <a:avLst>
              <a:gd name="adj" fmla="val 912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pic>
        <p:nvPicPr>
          <p:cNvPr id="11" name="Image 2" descr="/home/user/gogoeveryday/social-course/export-pptx/build/img/p28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170" y="2155149"/>
            <a:ext cx="2486071" cy="99057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657600" y="3307751"/>
            <a:ext cx="64995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Reels</a:t>
            </a:r>
            <a:endParaRPr lang="en-US" sz="1575" dirty="0"/>
          </a:p>
        </p:txBody>
      </p:sp>
      <p:sp>
        <p:nvSpPr>
          <p:cNvPr id="13" name="Text 8"/>
          <p:cNvSpPr txBox="1"/>
          <p:nvPr/>
        </p:nvSpPr>
        <p:spPr>
          <a:xfrm>
            <a:off x="3657600" y="3631540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短影音／過程／幕後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3657600" y="4022080"/>
            <a:ext cx="231206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最容易被陌生人看到的形式。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6191220" y="2145640"/>
            <a:ext cx="2505090" cy="2712842"/>
          </a:xfrm>
          <a:prstGeom prst="roundRect">
            <a:avLst>
              <a:gd name="adj" fmla="val 912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pic>
        <p:nvPicPr>
          <p:cNvPr id="16" name="Image 3" descr="/home/user/gogoeveryday/social-course/export-pptx/build/img/p28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0821" y="2155149"/>
            <a:ext cx="2486071" cy="99057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353160" y="3307751"/>
            <a:ext cx="93058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限時動態</a:t>
            </a:r>
            <a:endParaRPr lang="en-US" sz="1575" dirty="0"/>
          </a:p>
        </p:txBody>
      </p:sp>
      <p:sp>
        <p:nvSpPr>
          <p:cNvPr id="18" name="Text 12"/>
          <p:cNvSpPr txBox="1"/>
          <p:nvPr/>
        </p:nvSpPr>
        <p:spPr>
          <a:xfrm>
            <a:off x="6353160" y="3631540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現在正在發生的事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6353160" y="4022080"/>
            <a:ext cx="2177644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24 小時後消失，可以隨手拍、不用完美。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8886871" y="2145640"/>
            <a:ext cx="2505090" cy="2712842"/>
          </a:xfrm>
          <a:prstGeom prst="roundRect">
            <a:avLst>
              <a:gd name="adj" fmla="val 912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pic>
        <p:nvPicPr>
          <p:cNvPr id="21" name="Image 4" descr="/home/user/gogoeveryday/social-course/export-pptx/build/img/p28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6380" y="2155149"/>
            <a:ext cx="2486071" cy="99057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048720" y="3307751"/>
            <a:ext cx="93058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精選限動</a:t>
            </a:r>
            <a:endParaRPr lang="en-US" sz="1575" dirty="0"/>
          </a:p>
        </p:txBody>
      </p:sp>
      <p:sp>
        <p:nvSpPr>
          <p:cNvPr id="23" name="Text 16"/>
          <p:cNvSpPr txBox="1"/>
          <p:nvPr/>
        </p:nvSpPr>
        <p:spPr>
          <a:xfrm>
            <a:off x="9048720" y="3631540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把重要的限動留下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9048720" y="4022080"/>
            <a:ext cx="231206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營業時間、訂購方式、客人回饋，放這裡。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800100" y="5020422"/>
            <a:ext cx="10591770" cy="704820"/>
          </a:xfrm>
          <a:prstGeom prst="roundRect">
            <a:avLst>
              <a:gd name="adj" fmla="val 24325"/>
            </a:avLst>
          </a:prstGeom>
          <a:solidFill>
            <a:srgbClr val="F8E6C9"/>
          </a:solidFill>
          <a:ln/>
        </p:spPr>
      </p:sp>
      <p:sp>
        <p:nvSpPr>
          <p:cNvPr id="26" name="Shape 19"/>
          <p:cNvSpPr/>
          <p:nvPr/>
        </p:nvSpPr>
        <p:spPr>
          <a:xfrm>
            <a:off x="800100" y="5020422"/>
            <a:ext cx="47640" cy="704820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7" name="Image 5" descr="/home/user/gogoeveryday/social-course/export-pptx/build/img/p28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360" y="5210891"/>
            <a:ext cx="323880" cy="32388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533540" y="5217749"/>
            <a:ext cx="682855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初學者建議順序：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先把貼文發穩定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再試限時動態 → 最後才碰 Reels。</a:t>
            </a:r>
            <a:endParaRPr lang="en-US" sz="1575" dirty="0"/>
          </a:p>
        </p:txBody>
      </p:sp>
      <p:sp>
        <p:nvSpPr>
          <p:cNvPr id="29" name="Text 21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4 · 11:22</a:t>
            </a:r>
            <a:endParaRPr lang="en-US" sz="1500" dirty="0"/>
          </a:p>
        </p:txBody>
      </p:sp>
      <p:sp>
        <p:nvSpPr>
          <p:cNvPr id="30" name="Text 22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28 / 76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331775" y="1460114"/>
            <a:ext cx="14236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用一句話記住</a:t>
            </a:r>
            <a:endParaRPr lang="en-US" sz="1500" dirty="0"/>
          </a:p>
        </p:txBody>
      </p:sp>
      <p:sp>
        <p:nvSpPr>
          <p:cNvPr id="4" name="Shape 1"/>
          <p:cNvSpPr/>
          <p:nvPr/>
        </p:nvSpPr>
        <p:spPr>
          <a:xfrm>
            <a:off x="800100" y="2136404"/>
            <a:ext cx="2490826" cy="2051639"/>
          </a:xfrm>
          <a:prstGeom prst="roundRect">
            <a:avLst>
              <a:gd name="adj" fmla="val 11142"/>
            </a:avLst>
          </a:prstGeom>
          <a:solidFill>
            <a:srgbClr val="FBEEE6"/>
          </a:solidFill>
          <a:ln/>
        </p:spPr>
      </p:sp>
      <p:pic>
        <p:nvPicPr>
          <p:cNvPr id="5" name="Image 1" descr="/home/user/gogoeveryday/social-course/export-pptx/build/img/p2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652" y="2450775"/>
            <a:ext cx="609630" cy="60963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778691" y="3203235"/>
            <a:ext cx="5429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貼文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1520190" y="3536625"/>
            <a:ext cx="1060155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留下作品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3500415" y="2136404"/>
            <a:ext cx="2490826" cy="2051639"/>
          </a:xfrm>
          <a:prstGeom prst="roundRect">
            <a:avLst>
              <a:gd name="adj" fmla="val 11142"/>
            </a:avLst>
          </a:prstGeom>
          <a:solidFill>
            <a:srgbClr val="F0DFE4"/>
          </a:solidFill>
          <a:ln/>
        </p:spPr>
      </p:sp>
      <p:pic>
        <p:nvPicPr>
          <p:cNvPr id="9" name="Image 2" descr="/home/user/gogoeveryday/social-course/export-pptx/build/img/p29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1058" y="2450775"/>
            <a:ext cx="609630" cy="60963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95064" y="3203235"/>
            <a:ext cx="71094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Reels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4099347" y="3536625"/>
            <a:ext cx="1302471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讓人看過程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6200821" y="2136404"/>
            <a:ext cx="2490826" cy="2051639"/>
          </a:xfrm>
          <a:prstGeom prst="roundRect">
            <a:avLst>
              <a:gd name="adj" fmla="val 11142"/>
            </a:avLst>
          </a:prstGeom>
          <a:solidFill>
            <a:srgbClr val="F8E6C9"/>
          </a:solidFill>
          <a:ln/>
        </p:spPr>
      </p:sp>
      <p:pic>
        <p:nvPicPr>
          <p:cNvPr id="13" name="Image 3" descr="/home/user/gogoeveryday/social-course/export-pptx/build/img/p29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1373" y="2450775"/>
            <a:ext cx="609630" cy="60963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969282" y="3203235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限時動態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6920911" y="3536625"/>
            <a:ext cx="1060155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分享現在</a:t>
            </a:r>
            <a:endParaRPr lang="en-US" sz="1800" dirty="0"/>
          </a:p>
        </p:txBody>
      </p:sp>
      <p:sp>
        <p:nvSpPr>
          <p:cNvPr id="16" name="Shape 10"/>
          <p:cNvSpPr/>
          <p:nvPr/>
        </p:nvSpPr>
        <p:spPr>
          <a:xfrm>
            <a:off x="8901135" y="2136404"/>
            <a:ext cx="2490826" cy="2051639"/>
          </a:xfrm>
          <a:prstGeom prst="roundRect">
            <a:avLst>
              <a:gd name="adj" fmla="val 11142"/>
            </a:avLst>
          </a:prstGeom>
          <a:solidFill>
            <a:srgbClr val="DFE8DC"/>
          </a:solidFill>
          <a:ln/>
        </p:spPr>
      </p:sp>
      <p:pic>
        <p:nvPicPr>
          <p:cNvPr id="17" name="Image 4" descr="/home/user/gogoeveryday/social-course/export-pptx/build/img/p29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1687" y="2450775"/>
            <a:ext cx="609630" cy="60963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9669689" y="3203235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精選限動</a:t>
            </a:r>
            <a:endParaRPr lang="en-US" sz="1500" dirty="0"/>
          </a:p>
        </p:txBody>
      </p:sp>
      <p:sp>
        <p:nvSpPr>
          <p:cNvPr id="19" name="Text 12"/>
          <p:cNvSpPr txBox="1"/>
          <p:nvPr/>
        </p:nvSpPr>
        <p:spPr>
          <a:xfrm>
            <a:off x="9378909" y="3536625"/>
            <a:ext cx="1544787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留下重要資訊</a:t>
            </a:r>
            <a:endParaRPr lang="en-US" sz="1800" dirty="0"/>
          </a:p>
        </p:txBody>
      </p:sp>
      <p:sp>
        <p:nvSpPr>
          <p:cNvPr id="20" name="Text 13"/>
          <p:cNvSpPr txBox="1"/>
          <p:nvPr/>
        </p:nvSpPr>
        <p:spPr>
          <a:xfrm>
            <a:off x="4162074" y="4435663"/>
            <a:ext cx="3877239" cy="747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四個都可以用，但不用一次全開。</a:t>
            </a:r>
            <a:endParaRPr lang="en-US" sz="1875" dirty="0"/>
          </a:p>
          <a:p>
            <a:pPr algn="ctr" indent="0" marL="0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先選一個你今天做得到的。</a:t>
            </a:r>
            <a:endParaRPr lang="en-US" sz="1875" dirty="0"/>
          </a:p>
        </p:txBody>
      </p:sp>
      <p:sp>
        <p:nvSpPr>
          <p:cNvPr id="21" name="Shape 14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快問快答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4 · 11:28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29 / 76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301203"/>
            <a:ext cx="12015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看真的帳號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682234"/>
            <a:ext cx="460290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我們來看三個真實的小品牌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1247607"/>
            <a:ext cx="4695353" cy="747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刻意不看 Nike、Apple。</a:t>
            </a:r>
            <a:endParaRPr lang="en-US" sz="1875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要看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跟你規模差不多、你做得到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的帳號。</a:t>
            </a:r>
            <a:endParaRPr lang="en-US" sz="1875" dirty="0"/>
          </a:p>
        </p:txBody>
      </p:sp>
      <p:sp>
        <p:nvSpPr>
          <p:cNvPr id="6" name="Shape 3"/>
          <p:cNvSpPr/>
          <p:nvPr/>
        </p:nvSpPr>
        <p:spPr>
          <a:xfrm>
            <a:off x="800100" y="2228667"/>
            <a:ext cx="3390870" cy="2994751"/>
          </a:xfrm>
          <a:prstGeom prst="roundRect">
            <a:avLst>
              <a:gd name="adj" fmla="val 763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62040" y="2419228"/>
            <a:ext cx="73883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案例 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62040" y="2790657"/>
            <a:ext cx="14541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手作飾品 / 烘焙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1000171" y="3190707"/>
            <a:ext cx="2990820" cy="1428750"/>
          </a:xfrm>
          <a:prstGeom prst="roundRect">
            <a:avLst>
              <a:gd name="adj" fmla="val 12000"/>
            </a:avLst>
          </a:prstGeom>
          <a:solidFill>
            <a:srgbClr val="FBEEE6"/>
          </a:solidFill>
          <a:ln w="19050">
            <a:solidFill>
              <a:srgbClr val="C05F3C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962040" y="4714738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一人工作室，以作品照為主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400550" y="2228667"/>
            <a:ext cx="3390870" cy="2994751"/>
          </a:xfrm>
          <a:prstGeom prst="roundRect">
            <a:avLst>
              <a:gd name="adj" fmla="val 763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562490" y="2419228"/>
            <a:ext cx="74642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案例 B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562490" y="2790657"/>
            <a:ext cx="12542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農產品 / 小農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600621" y="3190707"/>
            <a:ext cx="2990820" cy="1428750"/>
          </a:xfrm>
          <a:prstGeom prst="roundRect">
            <a:avLst>
              <a:gd name="adj" fmla="val 12000"/>
            </a:avLst>
          </a:prstGeom>
          <a:solidFill>
            <a:srgbClr val="FBEEE6"/>
          </a:solidFill>
          <a:ln w="19050">
            <a:solidFill>
              <a:srgbClr val="C05F3C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4562490" y="4714738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大量製作過程與產地照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01000" y="2228667"/>
            <a:ext cx="3390870" cy="2994751"/>
          </a:xfrm>
          <a:prstGeom prst="roundRect">
            <a:avLst>
              <a:gd name="adj" fmla="val 763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8162940" y="2419228"/>
            <a:ext cx="7416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案例 C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162940" y="2790657"/>
            <a:ext cx="14541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個人品牌 / 課程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201071" y="3190707"/>
            <a:ext cx="2990820" cy="1428750"/>
          </a:xfrm>
          <a:prstGeom prst="roundRect">
            <a:avLst>
              <a:gd name="adj" fmla="val 12000"/>
            </a:avLst>
          </a:prstGeom>
          <a:solidFill>
            <a:srgbClr val="FBEEE6"/>
          </a:solidFill>
          <a:ln w="19050">
            <a:solidFill>
              <a:srgbClr val="C05F3C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8162940" y="4714738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人出現在畫面裡，有溫度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61970" y="5575828"/>
            <a:ext cx="11041014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＊建議類型：手作飾品、烘焙甜點、農產品、手作工藝、小型個人品牌。 現場也可以直接用手機投影，即時打開帳號給學員看。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案例觀察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4 · 11:34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30 / 76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39567"/>
            <a:ext cx="12015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觀察的方法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120506"/>
            <a:ext cx="3098810" cy="984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看品牌時，</a:t>
            </a:r>
            <a:endParaRPr lang="en-US" sz="2850" dirty="0"/>
          </a:p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不要只看漂不漂亮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2165574"/>
            <a:ext cx="4442887" cy="747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漂亮不一定賣得掉。</a:t>
            </a:r>
            <a:endParaRPr lang="en-US" sz="1875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我們要看的是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有沒有把該說的說清楚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875" dirty="0"/>
          </a:p>
        </p:txBody>
      </p:sp>
      <p:sp>
        <p:nvSpPr>
          <p:cNvPr id="6" name="Shape 3"/>
          <p:cNvSpPr/>
          <p:nvPr/>
        </p:nvSpPr>
        <p:spPr>
          <a:xfrm>
            <a:off x="800100" y="3156234"/>
            <a:ext cx="2797973" cy="819120"/>
          </a:xfrm>
          <a:prstGeom prst="roundRect">
            <a:avLst>
              <a:gd name="adj" fmla="val 16276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276320" y="3270534"/>
            <a:ext cx="2110161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我一眼知道她在賣什麼嗎？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807653" y="3156234"/>
            <a:ext cx="2797973" cy="819120"/>
          </a:xfrm>
          <a:prstGeom prst="roundRect">
            <a:avLst>
              <a:gd name="adj" fmla="val 16276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283873" y="3413364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大頭貼看得懂嗎？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00100" y="4089654"/>
            <a:ext cx="2797973" cy="533370"/>
          </a:xfrm>
          <a:prstGeom prst="roundRect">
            <a:avLst>
              <a:gd name="adj" fmla="val 24996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1276320" y="4203954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自介清楚嗎？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3807653" y="4089654"/>
            <a:ext cx="2797973" cy="533370"/>
          </a:xfrm>
          <a:prstGeom prst="roundRect">
            <a:avLst>
              <a:gd name="adj" fmla="val 24996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283873" y="4203954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有商品照嗎？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00100" y="4737324"/>
            <a:ext cx="2797973" cy="533370"/>
          </a:xfrm>
          <a:prstGeom prst="roundRect">
            <a:avLst>
              <a:gd name="adj" fmla="val 24996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1276320" y="4851624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有人出現在裡面嗎？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807653" y="4737324"/>
            <a:ext cx="2797973" cy="533370"/>
          </a:xfrm>
          <a:prstGeom prst="roundRect">
            <a:avLst>
              <a:gd name="adj" fmla="val 24996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4283873" y="4851624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有製作過程嗎？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00100" y="5385084"/>
            <a:ext cx="2797973" cy="533370"/>
          </a:xfrm>
          <a:prstGeom prst="roundRect">
            <a:avLst>
              <a:gd name="adj" fmla="val 24996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1276320" y="5499384"/>
            <a:ext cx="132185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 Reels 嗎？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3807653" y="5385084"/>
            <a:ext cx="2797973" cy="533370"/>
          </a:xfrm>
          <a:prstGeom prst="roundRect">
            <a:avLst>
              <a:gd name="adj" fmla="val 24996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4283873" y="5499384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有購買方式嗎？</a:t>
            </a:r>
            <a:endParaRPr lang="en-US" sz="1500" dirty="0"/>
          </a:p>
        </p:txBody>
      </p:sp>
      <p:pic>
        <p:nvPicPr>
          <p:cNvPr id="22" name="Image 1" descr="/home/user/gogoeveryday/social-course/export-pptx/build/img/p3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1992" y="1373429"/>
            <a:ext cx="1428750" cy="142875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865303" y="2925989"/>
            <a:ext cx="2762220" cy="1768084"/>
          </a:xfrm>
          <a:prstGeom prst="roundRect">
            <a:avLst>
              <a:gd name="adj" fmla="val 1292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072506" y="3183118"/>
            <a:ext cx="2357232" cy="1221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八個問題裡，</a:t>
            </a:r>
            <a:endParaRPr lang="en-US" sz="1500" dirty="0"/>
          </a:p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如果有五個以上是「✓」，</a:t>
            </a:r>
            <a:endParaRPr lang="en-US" sz="1500" dirty="0"/>
          </a:p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這個帳號就是</a:t>
            </a:r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值得學的對象</a:t>
            </a:r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8259501" y="4817882"/>
            <a:ext cx="198324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＝ 講義 2 的檢查表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10485699" y="228600"/>
            <a:ext cx="906170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10609509" y="304770"/>
            <a:ext cx="7137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講義 2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4 · 11:40</a:t>
            </a:r>
            <a:endParaRPr lang="en-US" sz="1500" dirty="0"/>
          </a:p>
        </p:txBody>
      </p:sp>
      <p:sp>
        <p:nvSpPr>
          <p:cNvPr id="29" name="Text 2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31 / 76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06810"/>
            <a:ext cx="212259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小組活動 · 15 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287841"/>
            <a:ext cx="3257184" cy="1036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每組看一個品牌，</a:t>
            </a:r>
            <a:endParaRPr lang="en-US" sz="3000" dirty="0"/>
          </a:p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回答四個問題。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800100" y="2607960"/>
            <a:ext cx="2519355" cy="1971721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pic>
        <p:nvPicPr>
          <p:cNvPr id="6" name="Image 1" descr="/home/user/gogoeveryday/social-course/export-pptx/build/img/p3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158" y="2865090"/>
            <a:ext cx="495330" cy="49533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878818" y="3493740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FBEEE6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1942551" y="3522360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19408" y="3960449"/>
            <a:ext cx="189006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75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我最喜歡它哪一點？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3490905" y="2607960"/>
            <a:ext cx="2519355" cy="1971721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pic>
        <p:nvPicPr>
          <p:cNvPr id="11" name="Image 2" descr="/home/user/gogoeveryday/social-course/export-pptx/build/img/p3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2963" y="2865090"/>
            <a:ext cx="495330" cy="49533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569623" y="3493740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FBEEE6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4633356" y="3522360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3610326" y="3960449"/>
            <a:ext cx="229002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75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哪一篇讓我最想停下來？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6181710" y="2607960"/>
            <a:ext cx="2519355" cy="1971721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pic>
        <p:nvPicPr>
          <p:cNvPr id="16" name="Image 3" descr="/home/user/gogoeveryday/social-course/export-pptx/build/img/p32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3768" y="2865090"/>
            <a:ext cx="495330" cy="49533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7260427" y="3493740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FBEEE6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7324161" y="3522360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7000829" y="3960449"/>
            <a:ext cx="8905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75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為什麼？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8872515" y="2607960"/>
            <a:ext cx="2519355" cy="1971721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pic>
        <p:nvPicPr>
          <p:cNvPr id="21" name="Image 4" descr="/home/user/gogoeveryday/social-course/export-pptx/build/img/p32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4573" y="2865090"/>
            <a:ext cx="495330" cy="49533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9951232" y="3493740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FBEEE6"/>
          </a:solidFill>
          <a:ln/>
        </p:spPr>
      </p:sp>
      <p:sp>
        <p:nvSpPr>
          <p:cNvPr id="23" name="Text 16"/>
          <p:cNvSpPr txBox="1"/>
          <p:nvPr/>
        </p:nvSpPr>
        <p:spPr>
          <a:xfrm>
            <a:off x="10014966" y="3522360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991935" y="3960449"/>
            <a:ext cx="229002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75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有什麼是我也做得到的？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800100" y="4779660"/>
            <a:ext cx="5143500" cy="971550"/>
          </a:xfrm>
          <a:prstGeom prst="roundRect">
            <a:avLst>
              <a:gd name="adj" fmla="val 17647"/>
            </a:avLst>
          </a:prstGeom>
          <a:solidFill>
            <a:srgbClr val="DFE8DC"/>
          </a:solidFill>
          <a:ln/>
        </p:spPr>
      </p:sp>
      <p:sp>
        <p:nvSpPr>
          <p:cNvPr id="26" name="Shape 19"/>
          <p:cNvSpPr/>
          <p:nvPr/>
        </p:nvSpPr>
        <p:spPr>
          <a:xfrm>
            <a:off x="800100" y="4779660"/>
            <a:ext cx="47640" cy="971550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27" name="Image 5" descr="/home/user/gogoeveryday/social-course/export-pptx/build/img/p32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360" y="5067330"/>
            <a:ext cx="495330" cy="39621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704990" y="4970130"/>
            <a:ext cx="3917747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分組方式：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3–4 人一組，一組看一個帳號。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討論 10 分鐘，每組派一人分享 1 分鐘。</a:t>
            </a:r>
            <a:endParaRPr lang="en-US" sz="1500" dirty="0"/>
          </a:p>
        </p:txBody>
      </p:sp>
      <p:sp>
        <p:nvSpPr>
          <p:cNvPr id="29" name="Shape 21"/>
          <p:cNvSpPr/>
          <p:nvPr/>
        </p:nvSpPr>
        <p:spPr>
          <a:xfrm>
            <a:off x="6248370" y="4779660"/>
            <a:ext cx="5143500" cy="971550"/>
          </a:xfrm>
          <a:prstGeom prst="roundRect">
            <a:avLst>
              <a:gd name="adj" fmla="val 17647"/>
            </a:avLst>
          </a:prstGeom>
          <a:solidFill>
            <a:srgbClr val="F8E6C9"/>
          </a:solidFill>
          <a:ln/>
        </p:spPr>
      </p:sp>
      <p:sp>
        <p:nvSpPr>
          <p:cNvPr id="30" name="Shape 22"/>
          <p:cNvSpPr/>
          <p:nvPr/>
        </p:nvSpPr>
        <p:spPr>
          <a:xfrm>
            <a:off x="6248370" y="4779660"/>
            <a:ext cx="47640" cy="971550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1" name="Image 6" descr="/home/user/gogoeveryday/social-course/export-pptx/build/img/p32-6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3721" y="5074920"/>
            <a:ext cx="381030" cy="38103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7038960" y="4970130"/>
            <a:ext cx="3725631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講師提醒：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 4 題最重要。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一定要問出「我也做得到」的那一件事。</a:t>
            </a:r>
            <a:endParaRPr lang="en-US" sz="1500" dirty="0"/>
          </a:p>
        </p:txBody>
      </p:sp>
      <p:sp>
        <p:nvSpPr>
          <p:cNvPr id="33" name="Shape 24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4" name="Text 25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小組活動</a:t>
            </a:r>
            <a:endParaRPr lang="en-US" sz="1500" dirty="0"/>
          </a:p>
        </p:txBody>
      </p:sp>
      <p:sp>
        <p:nvSpPr>
          <p:cNvPr id="35" name="Text 26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4 · 11:45</a:t>
            </a:r>
            <a:endParaRPr lang="en-US" sz="1500" dirty="0"/>
          </a:p>
        </p:txBody>
      </p:sp>
      <p:sp>
        <p:nvSpPr>
          <p:cNvPr id="36" name="Text 27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32 / 76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593525"/>
            <a:ext cx="15868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12:00 – 13:00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1879275"/>
            <a:ext cx="2200961" cy="154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8250" b="1" spc="-41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午休</a:t>
            </a:r>
            <a:endParaRPr lang="en-US" sz="825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2955615"/>
            <a:ext cx="3244383" cy="647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spc="-10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下午開始動手做</a:t>
            </a:r>
            <a:endParaRPr lang="en-US" sz="3450" dirty="0"/>
          </a:p>
        </p:txBody>
      </p:sp>
      <p:sp>
        <p:nvSpPr>
          <p:cNvPr id="6" name="Text 3"/>
          <p:cNvSpPr txBox="1"/>
          <p:nvPr/>
        </p:nvSpPr>
        <p:spPr>
          <a:xfrm>
            <a:off x="876270" y="3984315"/>
            <a:ext cx="4038630" cy="10438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吃飯前先做一件事：</a:t>
            </a:r>
            <a:endParaRPr lang="en-US" sz="1725" dirty="0"/>
          </a:p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想想看，如果今天下午要發一篇貼文，</a:t>
            </a:r>
            <a:endParaRPr lang="en-US" sz="1725" dirty="0"/>
          </a:p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你會發什麼？拍什麼照片？</a:t>
            </a:r>
            <a:endParaRPr lang="en-US" sz="1725" dirty="0"/>
          </a:p>
        </p:txBody>
      </p:sp>
      <p:pic>
        <p:nvPicPr>
          <p:cNvPr id="7" name="Image 1" descr="/home/user/gogoeveryday/social-course/export-pptx/build/img/p3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8150" y="2000250"/>
            <a:ext cx="2857500" cy="28575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61970" y="6343650"/>
            <a:ext cx="24241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午休 · 12:00–13:00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33 / 76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296253"/>
            <a:ext cx="27036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13:00 – 13:45 ｜ PART 5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1496324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05</a:t>
            </a:r>
            <a:endParaRPr lang="en-US" sz="1125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3039374"/>
            <a:ext cx="2284628" cy="1562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不同平台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怎麼發？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876270" y="4982474"/>
            <a:ext cx="520878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同一個商品，在 FB、IG、LINE 上要換三種寫法。</a:t>
            </a:r>
            <a:endParaRPr lang="en-US" sz="1725" dirty="0"/>
          </a:p>
        </p:txBody>
      </p:sp>
      <p:pic>
        <p:nvPicPr>
          <p:cNvPr id="7" name="Image 1" descr="/home/user/gogoeveryday/social-course/export-pptx/build/img/p3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4370" y="2171700"/>
            <a:ext cx="1904970" cy="1904970"/>
          </a:xfrm>
          <a:prstGeom prst="rect">
            <a:avLst/>
          </a:prstGeom>
        </p:spPr>
      </p:pic>
      <p:pic>
        <p:nvPicPr>
          <p:cNvPr id="8" name="Image 2" descr="/home/user/gogoeveryday/social-course/export-pptx/build/img/p34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7780" y="4229100"/>
            <a:ext cx="457200" cy="457200"/>
          </a:xfrm>
          <a:prstGeom prst="rect">
            <a:avLst/>
          </a:prstGeom>
        </p:spPr>
      </p:pic>
      <p:pic>
        <p:nvPicPr>
          <p:cNvPr id="9" name="Image 3" descr="/home/user/gogoeveryday/social-course/export-pptx/build/img/p34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8300" y="4229100"/>
            <a:ext cx="457200" cy="457200"/>
          </a:xfrm>
          <a:prstGeom prst="rect">
            <a:avLst/>
          </a:prstGeom>
        </p:spPr>
      </p:pic>
      <p:pic>
        <p:nvPicPr>
          <p:cNvPr id="10" name="Image 4" descr="/home/user/gogoeveryday/social-course/export-pptx/build/img/p34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8820" y="4229100"/>
            <a:ext cx="457200" cy="45720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761970" y="6343650"/>
            <a:ext cx="273030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5 · 13:00–13:45</a:t>
            </a:r>
            <a:endParaRPr lang="en-US" sz="1500" dirty="0"/>
          </a:p>
        </p:txBody>
      </p:sp>
      <p:sp>
        <p:nvSpPr>
          <p:cNvPr id="12" name="Text 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34 / 76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989905" y="328270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下午的第一個問題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2859237" y="709300"/>
            <a:ext cx="6482913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同一段內容，可以三個平台全部貼嗎？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3215122" y="1303294"/>
            <a:ext cx="5771327" cy="1504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394"/>
              </a:lnSpc>
              <a:buNone/>
            </a:pPr>
            <a:r>
              <a:rPr lang="en-US" sz="4350" b="1" spc="-13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可以，</a:t>
            </a:r>
            <a:endParaRPr lang="en-US" sz="4350" dirty="0"/>
          </a:p>
          <a:p>
            <a:pPr algn="ctr" indent="0" marL="0">
              <a:lnSpc>
                <a:spcPts val="5394"/>
              </a:lnSpc>
              <a:buNone/>
            </a:pPr>
            <a:r>
              <a:rPr lang="en-US" sz="4350" b="1" spc="-13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但不要直接複製貼上。</a:t>
            </a:r>
            <a:endParaRPr lang="en-US" sz="4350" dirty="0"/>
          </a:p>
        </p:txBody>
      </p:sp>
      <p:sp>
        <p:nvSpPr>
          <p:cNvPr id="6" name="Shape 3"/>
          <p:cNvSpPr/>
          <p:nvPr/>
        </p:nvSpPr>
        <p:spPr>
          <a:xfrm>
            <a:off x="800100" y="3044586"/>
            <a:ext cx="3378068" cy="2046061"/>
          </a:xfrm>
          <a:prstGeom prst="roundRect">
            <a:avLst>
              <a:gd name="adj" fmla="val 11173"/>
            </a:avLst>
          </a:prstGeom>
          <a:solidFill>
            <a:srgbClr val="EEF4FF"/>
          </a:solidFill>
          <a:ln/>
        </p:spPr>
      </p:sp>
      <p:pic>
        <p:nvPicPr>
          <p:cNvPr id="7" name="Image 1" descr="/home/user/gogoeveryday/social-course/export-pptx/build/img/p3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8619" y="3320826"/>
            <a:ext cx="381030" cy="38103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957365" y="3825667"/>
            <a:ext cx="107304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</a:t>
            </a:r>
            <a:endParaRPr lang="en-US" sz="1575" dirty="0"/>
          </a:p>
        </p:txBody>
      </p:sp>
      <p:sp>
        <p:nvSpPr>
          <p:cNvPr id="9" name="Text 5"/>
          <p:cNvSpPr txBox="1"/>
          <p:nvPr/>
        </p:nvSpPr>
        <p:spPr>
          <a:xfrm>
            <a:off x="1539758" y="4197096"/>
            <a:ext cx="190826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坐在沙發上，</a:t>
            </a:r>
            <a:endParaRPr lang="en-US" sz="1500" dirty="0"/>
          </a:p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願意看比較長的內容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4406768" y="3044586"/>
            <a:ext cx="3378251" cy="2046061"/>
          </a:xfrm>
          <a:prstGeom prst="roundRect">
            <a:avLst>
              <a:gd name="adj" fmla="val 11173"/>
            </a:avLst>
          </a:prstGeom>
          <a:solidFill>
            <a:srgbClr val="FDEEF4"/>
          </a:solidFill>
          <a:ln/>
        </p:spPr>
      </p:sp>
      <p:pic>
        <p:nvPicPr>
          <p:cNvPr id="11" name="Image 2" descr="/home/user/gogoeveryday/social-course/export-pptx/build/img/p35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378" y="3320826"/>
            <a:ext cx="381030" cy="38103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535778" y="3825667"/>
            <a:ext cx="112965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</a:t>
            </a:r>
            <a:endParaRPr lang="en-US" sz="1575" dirty="0"/>
          </a:p>
        </p:txBody>
      </p:sp>
      <p:sp>
        <p:nvSpPr>
          <p:cNvPr id="13" name="Text 8"/>
          <p:cNvSpPr txBox="1"/>
          <p:nvPr/>
        </p:nvSpPr>
        <p:spPr>
          <a:xfrm>
            <a:off x="4944527" y="4197096"/>
            <a:ext cx="231206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手指一直滑，</a:t>
            </a:r>
            <a:endParaRPr lang="en-US" sz="1500" dirty="0"/>
          </a:p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先看圖片才決定要不要停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8013619" y="3044586"/>
            <a:ext cx="3378068" cy="2046061"/>
          </a:xfrm>
          <a:prstGeom prst="roundRect">
            <a:avLst>
              <a:gd name="adj" fmla="val 11173"/>
            </a:avLst>
          </a:prstGeom>
          <a:solidFill>
            <a:srgbClr val="E6F8EE"/>
          </a:solidFill>
          <a:ln/>
        </p:spPr>
      </p:sp>
      <p:pic>
        <p:nvPicPr>
          <p:cNvPr id="15" name="Image 3" descr="/home/user/gogoeveryday/social-course/export-pptx/build/img/p35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12229" y="3320826"/>
            <a:ext cx="381030" cy="38103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418503" y="3825667"/>
            <a:ext cx="57790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</a:t>
            </a:r>
            <a:endParaRPr lang="en-US" sz="1575" dirty="0"/>
          </a:p>
        </p:txBody>
      </p:sp>
      <p:sp>
        <p:nvSpPr>
          <p:cNvPr id="17" name="Text 11"/>
          <p:cNvSpPr txBox="1"/>
          <p:nvPr/>
        </p:nvSpPr>
        <p:spPr>
          <a:xfrm>
            <a:off x="8652419" y="4197096"/>
            <a:ext cx="211016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正在忙，</a:t>
            </a:r>
            <a:endParaRPr lang="en-US" sz="1500" dirty="0"/>
          </a:p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只想知道重點跟怎麼買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3976726" y="5328757"/>
            <a:ext cx="423861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19" name="Shape 13"/>
          <p:cNvSpPr/>
          <p:nvPr/>
        </p:nvSpPr>
        <p:spPr>
          <a:xfrm>
            <a:off x="3976726" y="5328757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0" name="Image 4" descr="/home/user/gogoeveryday/social-course/export-pptx/build/img/p35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1985" y="5657850"/>
            <a:ext cx="342900" cy="3429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630613" y="5519318"/>
            <a:ext cx="3483315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因為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使用平台時的情境不一樣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endParaRPr lang="en-US" sz="1575" dirty="0"/>
          </a:p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同一句話在三個地方的效果差很多。</a:t>
            </a:r>
            <a:endParaRPr lang="en-US" sz="1575" dirty="0"/>
          </a:p>
        </p:txBody>
      </p:sp>
      <p:sp>
        <p:nvSpPr>
          <p:cNvPr id="22" name="Text 15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5 · 13:00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35 / 76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39694"/>
            <a:ext cx="9793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教學建議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1238280" y="1220724"/>
            <a:ext cx="2668768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Facebook 貼文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1909907"/>
            <a:ext cx="5300685" cy="1924172"/>
          </a:xfrm>
          <a:prstGeom prst="roundRect">
            <a:avLst>
              <a:gd name="adj" fmla="val 1188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0100" y="1909907"/>
            <a:ext cx="5281574" cy="38130"/>
          </a:xfrm>
          <a:prstGeom prst="rect">
            <a:avLst/>
          </a:prstGeom>
          <a:solidFill>
            <a:srgbClr val="1877F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2973537" y="2138507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建議字數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271187" y="2510028"/>
            <a:ext cx="2367839" cy="73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spc="-1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80 – 200 </a:t>
            </a:r>
            <a:pPr algn="ctr" indent="0" marL="0">
              <a:buNone/>
            </a:pPr>
            <a:r>
              <a:rPr lang="en-US" sz="1800" b="1" spc="-1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字</a:t>
            </a:r>
            <a:endParaRPr lang="en-US" sz="3900" dirty="0"/>
          </a:p>
        </p:txBody>
      </p:sp>
      <p:sp>
        <p:nvSpPr>
          <p:cNvPr id="9" name="Text 6"/>
          <p:cNvSpPr txBox="1"/>
          <p:nvPr/>
        </p:nvSpPr>
        <p:spPr>
          <a:xfrm>
            <a:off x="2657521" y="3281507"/>
            <a:ext cx="159507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搭配 1–5 張照片</a:t>
            </a:r>
            <a:endParaRPr lang="en-US" sz="1575" dirty="0"/>
          </a:p>
        </p:txBody>
      </p:sp>
      <p:sp>
        <p:nvSpPr>
          <p:cNvPr id="10" name="Text 7"/>
          <p:cNvSpPr txBox="1"/>
          <p:nvPr/>
        </p:nvSpPr>
        <p:spPr>
          <a:xfrm>
            <a:off x="761970" y="4053169"/>
            <a:ext cx="1662013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這裡可以 ——</a:t>
            </a:r>
            <a:endParaRPr lang="en-US" sz="1875" dirty="0"/>
          </a:p>
        </p:txBody>
      </p:sp>
      <p:sp>
        <p:nvSpPr>
          <p:cNvPr id="11" name="Shape 8"/>
          <p:cNvSpPr/>
          <p:nvPr/>
        </p:nvSpPr>
        <p:spPr>
          <a:xfrm>
            <a:off x="800100" y="4562765"/>
            <a:ext cx="2597902" cy="575340"/>
          </a:xfrm>
          <a:prstGeom prst="roundRect">
            <a:avLst>
              <a:gd name="adj" fmla="val 21519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33420" y="4696084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多說一點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502792" y="4562765"/>
            <a:ext cx="2597902" cy="575340"/>
          </a:xfrm>
          <a:prstGeom prst="roundRect">
            <a:avLst>
              <a:gd name="adj" fmla="val 21519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36203" y="4696084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分享製作過程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0100" y="5242895"/>
            <a:ext cx="2597902" cy="575340"/>
          </a:xfrm>
          <a:prstGeom prst="roundRect">
            <a:avLst>
              <a:gd name="adj" fmla="val 21519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33420" y="5376306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分享心得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3502792" y="5242895"/>
            <a:ext cx="2597902" cy="575340"/>
          </a:xfrm>
          <a:prstGeom prst="roundRect">
            <a:avLst>
              <a:gd name="adj" fmla="val 21519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636203" y="5376306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完整說明一件事</a:t>
            </a:r>
            <a:endParaRPr lang="en-US" sz="1500" dirty="0"/>
          </a:p>
        </p:txBody>
      </p:sp>
      <p:pic>
        <p:nvPicPr>
          <p:cNvPr id="19" name="Image 1" descr="/home/user/gogoeveryday/social-course/export-pptx/build/img/p3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024" y="340340"/>
            <a:ext cx="4795845" cy="538673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064014" y="5850880"/>
            <a:ext cx="38694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Facebook：可以把「為什麼」講出來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5 · 13:06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36 / 76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471007"/>
            <a:ext cx="9793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教學建議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1238280" y="852038"/>
            <a:ext cx="276734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Instagram 貼文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1541221"/>
            <a:ext cx="5300685" cy="1924172"/>
          </a:xfrm>
          <a:prstGeom prst="roundRect">
            <a:avLst>
              <a:gd name="adj" fmla="val 1188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2973537" y="1769821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E1306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建議字數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2271187" y="2141342"/>
            <a:ext cx="2367839" cy="73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spc="-1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50 – 150 </a:t>
            </a:r>
            <a:pPr algn="ctr" indent="0" marL="0">
              <a:buNone/>
            </a:pPr>
            <a:r>
              <a:rPr lang="en-US" sz="1800" b="1" spc="-1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字</a:t>
            </a:r>
            <a:endParaRPr lang="en-US" sz="3900" dirty="0"/>
          </a:p>
        </p:txBody>
      </p:sp>
      <p:sp>
        <p:nvSpPr>
          <p:cNvPr id="8" name="Text 5"/>
          <p:cNvSpPr txBox="1"/>
          <p:nvPr/>
        </p:nvSpPr>
        <p:spPr>
          <a:xfrm>
            <a:off x="2773650" y="2912821"/>
            <a:ext cx="136309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圖片才是主角</a:t>
            </a:r>
            <a:endParaRPr lang="en-US" sz="1575" dirty="0"/>
          </a:p>
        </p:txBody>
      </p:sp>
      <p:sp>
        <p:nvSpPr>
          <p:cNvPr id="9" name="Text 6"/>
          <p:cNvSpPr txBox="1"/>
          <p:nvPr/>
        </p:nvSpPr>
        <p:spPr>
          <a:xfrm>
            <a:off x="761970" y="3684575"/>
            <a:ext cx="1157082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重點 ——</a:t>
            </a:r>
            <a:endParaRPr lang="en-US" sz="1875" dirty="0"/>
          </a:p>
        </p:txBody>
      </p:sp>
      <p:sp>
        <p:nvSpPr>
          <p:cNvPr id="10" name="Shape 7"/>
          <p:cNvSpPr/>
          <p:nvPr/>
        </p:nvSpPr>
        <p:spPr>
          <a:xfrm>
            <a:off x="800100" y="4194170"/>
            <a:ext cx="5300685" cy="594451"/>
          </a:xfrm>
          <a:prstGeom prst="roundRect">
            <a:avLst>
              <a:gd name="adj" fmla="val 2242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1060" y="4336999"/>
            <a:ext cx="247620" cy="247620"/>
          </a:xfrm>
          <a:prstGeom prst="roundRect">
            <a:avLst>
              <a:gd name="adj" fmla="val 30761"/>
            </a:avLst>
          </a:prstGeom>
          <a:solidFill>
            <a:srgbClr val="F0DFE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10503" y="4327489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304940" y="4336999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圖片先吸引人停下來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00100" y="4893320"/>
            <a:ext cx="5300685" cy="594451"/>
          </a:xfrm>
          <a:prstGeom prst="roundRect">
            <a:avLst>
              <a:gd name="adj" fmla="val 2242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81060" y="5036149"/>
            <a:ext cx="247620" cy="247620"/>
          </a:xfrm>
          <a:prstGeom prst="roundRect">
            <a:avLst>
              <a:gd name="adj" fmla="val 30761"/>
            </a:avLst>
          </a:prstGeom>
          <a:solidFill>
            <a:srgbClr val="F0DFE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010503" y="5026640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304940" y="5036149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第一段要簡單、看得懂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00100" y="5592470"/>
            <a:ext cx="5300685" cy="594451"/>
          </a:xfrm>
          <a:prstGeom prst="roundRect">
            <a:avLst>
              <a:gd name="adj" fmla="val 2242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81060" y="5735391"/>
            <a:ext cx="247620" cy="247620"/>
          </a:xfrm>
          <a:prstGeom prst="roundRect">
            <a:avLst>
              <a:gd name="adj" fmla="val 30761"/>
            </a:avLst>
          </a:prstGeom>
          <a:solidFill>
            <a:srgbClr val="F0DFE4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010503" y="5725881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1304940" y="5735391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文字補充照片沒講到的事</a:t>
            </a:r>
            <a:endParaRPr lang="en-US" sz="1500" dirty="0"/>
          </a:p>
        </p:txBody>
      </p:sp>
      <p:pic>
        <p:nvPicPr>
          <p:cNvPr id="22" name="Image 1" descr="/home/user/gogoeveryday/social-course/export-pptx/build/img/p3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024" y="263256"/>
            <a:ext cx="4795845" cy="5540898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955566" y="5927964"/>
            <a:ext cx="408608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Instagram：圖大、字少、有 Hashtag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5 · 13:14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37 / 76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38322"/>
            <a:ext cx="9793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教學建議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1238280" y="1219352"/>
            <a:ext cx="2515332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LINE 官方帳號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1908536"/>
            <a:ext cx="5300685" cy="1924172"/>
          </a:xfrm>
          <a:prstGeom prst="roundRect">
            <a:avLst>
              <a:gd name="adj" fmla="val 1188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0100" y="1908536"/>
            <a:ext cx="5281574" cy="38130"/>
          </a:xfrm>
          <a:prstGeom prst="rect">
            <a:avLst/>
          </a:prstGeom>
          <a:solidFill>
            <a:srgbClr val="06C75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2973537" y="2137136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0393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建議字數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418222" y="2508656"/>
            <a:ext cx="2073859" cy="73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00" b="1" spc="-1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30 – 80 </a:t>
            </a:r>
            <a:pPr algn="ctr" indent="0" marL="0">
              <a:buNone/>
            </a:pPr>
            <a:r>
              <a:rPr lang="en-US" sz="1800" b="1" spc="-1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字</a:t>
            </a:r>
            <a:endParaRPr lang="en-US" sz="3900" dirty="0"/>
          </a:p>
        </p:txBody>
      </p:sp>
      <p:sp>
        <p:nvSpPr>
          <p:cNvPr id="9" name="Text 6"/>
          <p:cNvSpPr txBox="1"/>
          <p:nvPr/>
        </p:nvSpPr>
        <p:spPr>
          <a:xfrm>
            <a:off x="2985699" y="3280136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越短越好</a:t>
            </a:r>
            <a:endParaRPr lang="en-US" sz="1575" dirty="0"/>
          </a:p>
        </p:txBody>
      </p:sp>
      <p:sp>
        <p:nvSpPr>
          <p:cNvPr id="10" name="Shape 7"/>
          <p:cNvSpPr/>
          <p:nvPr/>
        </p:nvSpPr>
        <p:spPr>
          <a:xfrm>
            <a:off x="800100" y="4042288"/>
            <a:ext cx="5300685" cy="1030529"/>
          </a:xfrm>
          <a:prstGeom prst="roundRect">
            <a:avLst>
              <a:gd name="adj" fmla="val 16637"/>
            </a:avLst>
          </a:prstGeom>
          <a:solidFill>
            <a:srgbClr val="DFE8DC"/>
          </a:solidFill>
          <a:ln/>
        </p:spPr>
      </p:sp>
      <p:sp>
        <p:nvSpPr>
          <p:cNvPr id="11" name="Shape 8"/>
          <p:cNvSpPr/>
          <p:nvPr/>
        </p:nvSpPr>
        <p:spPr>
          <a:xfrm>
            <a:off x="800100" y="4042288"/>
            <a:ext cx="47640" cy="1030529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57321" y="4232849"/>
            <a:ext cx="1645920" cy="648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8"/>
              </a:lnSpc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一則訊息，</a:t>
            </a:r>
            <a:endParaRPr lang="en-US" sz="1650" dirty="0"/>
          </a:p>
          <a:p>
            <a:pPr algn="l" indent="0" marL="0">
              <a:lnSpc>
                <a:spcPts val="2558"/>
              </a:lnSpc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只講一件事情。</a:t>
            </a:r>
            <a:endParaRPr lang="en-US" sz="1650" dirty="0"/>
          </a:p>
        </p:txBody>
      </p:sp>
      <p:sp>
        <p:nvSpPr>
          <p:cNvPr id="13" name="Shape 10"/>
          <p:cNvSpPr/>
          <p:nvPr/>
        </p:nvSpPr>
        <p:spPr>
          <a:xfrm>
            <a:off x="800100" y="5244267"/>
            <a:ext cx="1696944" cy="575340"/>
          </a:xfrm>
          <a:prstGeom prst="roundRect">
            <a:avLst>
              <a:gd name="adj" fmla="val 21519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204082" y="5377586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新品通知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2601834" y="5244267"/>
            <a:ext cx="1697126" cy="575340"/>
          </a:xfrm>
          <a:prstGeom prst="roundRect">
            <a:avLst>
              <a:gd name="adj" fmla="val 21519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005724" y="5377586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活動通知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403659" y="5244267"/>
            <a:ext cx="1697126" cy="575340"/>
          </a:xfrm>
          <a:prstGeom prst="roundRect">
            <a:avLst>
              <a:gd name="adj" fmla="val 21519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807641" y="5377586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預訂通知</a:t>
            </a:r>
            <a:endParaRPr lang="en-US" sz="1500" dirty="0"/>
          </a:p>
        </p:txBody>
      </p:sp>
      <p:pic>
        <p:nvPicPr>
          <p:cNvPr id="19" name="Image 1" descr="/home/user/gogoeveryday/social-course/export-pptx/build/img/p3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8608" y="404805"/>
            <a:ext cx="2590770" cy="525780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398410" y="5786415"/>
            <a:ext cx="320058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短、清楚、告訴他下一步怎麼做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5 · 13:22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38 / 76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419984"/>
            <a:ext cx="20900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同一件事，三種寫法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609630" y="753374"/>
            <a:ext cx="2109429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手工草莓果醬</a:t>
            </a:r>
            <a:endParaRPr lang="en-US" sz="2550" dirty="0"/>
          </a:p>
        </p:txBody>
      </p:sp>
      <p:pic>
        <p:nvPicPr>
          <p:cNvPr id="5" name="Image 1" descr="/home/user/gogoeveryday/social-course/export-pptx/build/img/p3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77520" y="481614"/>
            <a:ext cx="666780" cy="66678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47670" y="1300734"/>
            <a:ext cx="3530498" cy="4260921"/>
          </a:xfrm>
          <a:prstGeom prst="roundRect">
            <a:avLst>
              <a:gd name="adj" fmla="val 647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47670" y="1300734"/>
            <a:ext cx="3511479" cy="38130"/>
          </a:xfrm>
          <a:prstGeom prst="rect">
            <a:avLst/>
          </a:prstGeom>
          <a:solidFill>
            <a:srgbClr val="1877F2"/>
          </a:solidFill>
          <a:ln/>
        </p:spPr>
      </p:sp>
      <p:sp>
        <p:nvSpPr>
          <p:cNvPr id="8" name="Shape 4"/>
          <p:cNvSpPr/>
          <p:nvPr/>
        </p:nvSpPr>
        <p:spPr>
          <a:xfrm>
            <a:off x="828721" y="1453164"/>
            <a:ext cx="975573" cy="276240"/>
          </a:xfrm>
          <a:prstGeom prst="rect">
            <a:avLst/>
          </a:prstGeom>
          <a:solidFill>
            <a:srgbClr val="E7F0FE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90590" y="1443655"/>
            <a:ext cx="112489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90590" y="1815084"/>
            <a:ext cx="3389224" cy="2581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今天早上到大湖收了一批草莓，紅得發亮。</a:t>
            </a:r>
            <a:endParaRPr lang="en-US" sz="15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草莓果醬很花時間，要一顆一顆去蒂，小火慢慢熬，一鍋大概只能做 20 瓶。 有客人問為什麼不做多一點，因為煮太多鍋，味道就跑掉了。</a:t>
            </a:r>
            <a:endParaRPr lang="en-US" sz="15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這週三西屯市集，歡迎過來試吃 🍓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828721" y="4491624"/>
            <a:ext cx="3168579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90590" y="4691695"/>
            <a:ext cx="244903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約 130 字 · 講過程與原因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4330598" y="1300734"/>
            <a:ext cx="3530681" cy="4260921"/>
          </a:xfrm>
          <a:prstGeom prst="roundRect">
            <a:avLst>
              <a:gd name="adj" fmla="val 647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11558" y="1453164"/>
            <a:ext cx="1044153" cy="276240"/>
          </a:xfrm>
          <a:prstGeom prst="rect">
            <a:avLst/>
          </a:prstGeom>
          <a:solidFill>
            <a:srgbClr val="FDEAF1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473519" y="1443655"/>
            <a:ext cx="11976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E1306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473519" y="1815084"/>
            <a:ext cx="2811780" cy="1742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把春天裝進一瓶草莓果醬裡 🍓</a:t>
            </a:r>
            <a:endParaRPr lang="en-US" sz="1500" dirty="0"/>
          </a:p>
          <a:p>
            <a:pPr algn="l" indent="0" marL="0">
              <a:lnSpc>
                <a:spcPts val="228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一鍋只煮 20 瓶，</a:t>
            </a:r>
            <a:endParaRPr lang="en-US" sz="1500" dirty="0"/>
          </a:p>
          <a:p>
            <a:pPr algn="l" indent="0" marL="0">
              <a:lnSpc>
                <a:spcPts val="228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因為煮太多，味道就跑掉了。</a:t>
            </a:r>
            <a:endParaRPr lang="en-US" sz="1500" dirty="0"/>
          </a:p>
          <a:p>
            <a:pPr algn="l" indent="0" marL="0">
              <a:lnSpc>
                <a:spcPts val="228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週三 · 西屯市集見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4511558" y="3675797"/>
            <a:ext cx="1160282" cy="428671"/>
          </a:xfrm>
          <a:prstGeom prst="roundRect">
            <a:avLst>
              <a:gd name="adj" fmla="val 50000"/>
            </a:avLst>
          </a:prstGeom>
          <a:solidFill>
            <a:srgbClr val="F0DFE4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4616348" y="3742456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D435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#台中果醬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5767121" y="3675797"/>
            <a:ext cx="1160282" cy="428671"/>
          </a:xfrm>
          <a:prstGeom prst="roundRect">
            <a:avLst>
              <a:gd name="adj" fmla="val 50000"/>
            </a:avLst>
          </a:prstGeom>
          <a:solidFill>
            <a:srgbClr val="F0DFE4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5871820" y="3742456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D435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#手工果醬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4511558" y="4199656"/>
            <a:ext cx="1160282" cy="428671"/>
          </a:xfrm>
          <a:prstGeom prst="roundRect">
            <a:avLst>
              <a:gd name="adj" fmla="val 50000"/>
            </a:avLst>
          </a:prstGeom>
          <a:solidFill>
            <a:srgbClr val="F0DFE4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4616348" y="4266316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D435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#西屯市集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4511558" y="4723516"/>
            <a:ext cx="31686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4473519" y="4923495"/>
            <a:ext cx="21279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約 60 字 · 圖片是主角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8013619" y="1300734"/>
            <a:ext cx="3530498" cy="4260921"/>
          </a:xfrm>
          <a:prstGeom prst="roundRect">
            <a:avLst>
              <a:gd name="adj" fmla="val 647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013619" y="1300734"/>
            <a:ext cx="3511479" cy="38130"/>
          </a:xfrm>
          <a:prstGeom prst="rect">
            <a:avLst/>
          </a:prstGeom>
          <a:solidFill>
            <a:srgbClr val="06C755"/>
          </a:solidFill>
          <a:ln/>
        </p:spPr>
      </p:sp>
      <p:sp>
        <p:nvSpPr>
          <p:cNvPr id="27" name="Shape 23"/>
          <p:cNvSpPr/>
          <p:nvPr/>
        </p:nvSpPr>
        <p:spPr>
          <a:xfrm>
            <a:off x="8194670" y="1453164"/>
            <a:ext cx="409285" cy="276240"/>
          </a:xfrm>
          <a:prstGeom prst="rect">
            <a:avLst/>
          </a:prstGeom>
          <a:solidFill>
            <a:srgbClr val="E2F8EA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8156539" y="1443655"/>
            <a:ext cx="54068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0393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</a:t>
            </a:r>
            <a:endParaRPr lang="en-US" sz="1500" dirty="0"/>
          </a:p>
        </p:txBody>
      </p:sp>
      <p:sp>
        <p:nvSpPr>
          <p:cNvPr id="29" name="Text 25"/>
          <p:cNvSpPr txBox="1"/>
          <p:nvPr/>
        </p:nvSpPr>
        <p:spPr>
          <a:xfrm>
            <a:off x="8156539" y="1815084"/>
            <a:ext cx="2408530" cy="1742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🍓 草莓果醬本週開放預訂</a:t>
            </a:r>
            <a:endParaRPr lang="en-US" sz="1500" dirty="0"/>
          </a:p>
          <a:p>
            <a:pPr algn="l" indent="0" marL="0">
              <a:lnSpc>
                <a:spcPts val="228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每瓶 250 元</a:t>
            </a:r>
            <a:endParaRPr lang="en-US" sz="1500" dirty="0"/>
          </a:p>
          <a:p>
            <a:pPr algn="l" indent="0" marL="0">
              <a:lnSpc>
                <a:spcPts val="228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想預訂請直接回覆</a:t>
            </a:r>
            <a:endParaRPr lang="en-US" sz="1500" dirty="0"/>
          </a:p>
          <a:p>
            <a:pPr algn="l" indent="0" marL="0">
              <a:lnSpc>
                <a:spcPts val="228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「草莓＋數量」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8194670" y="3656686"/>
            <a:ext cx="3168579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8156539" y="3856756"/>
            <a:ext cx="23298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約 40 字 · 直接說怎麼買</a:t>
            </a:r>
            <a:endParaRPr lang="en-US" sz="1500" dirty="0"/>
          </a:p>
        </p:txBody>
      </p:sp>
      <p:sp>
        <p:nvSpPr>
          <p:cNvPr id="32" name="Shape 28"/>
          <p:cNvSpPr/>
          <p:nvPr/>
        </p:nvSpPr>
        <p:spPr>
          <a:xfrm>
            <a:off x="647670" y="5666445"/>
            <a:ext cx="10896630" cy="533370"/>
          </a:xfrm>
          <a:prstGeom prst="roundRect">
            <a:avLst>
              <a:gd name="adj" fmla="val 32145"/>
            </a:avLst>
          </a:prstGeom>
          <a:solidFill>
            <a:srgbClr val="F8E6C9"/>
          </a:solidFill>
          <a:ln/>
        </p:spPr>
      </p:sp>
      <p:sp>
        <p:nvSpPr>
          <p:cNvPr id="33" name="Shape 29"/>
          <p:cNvSpPr/>
          <p:nvPr/>
        </p:nvSpPr>
        <p:spPr>
          <a:xfrm>
            <a:off x="647670" y="5666445"/>
            <a:ext cx="47640" cy="533370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4" name="Image 2" descr="/home/user/gogoeveryday/social-course/export-pptx/build/img/p39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90" y="5790347"/>
            <a:ext cx="285750" cy="28575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1304940" y="5785500"/>
            <a:ext cx="789236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寫法不同，但講的是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同一件事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：一鍋只煮 20 瓶 · 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先寫最長的那一篇，再刪成短的。</a:t>
            </a:r>
            <a:endParaRPr lang="en-US" sz="1500" dirty="0"/>
          </a:p>
        </p:txBody>
      </p:sp>
      <p:sp>
        <p:nvSpPr>
          <p:cNvPr id="36" name="Shape 31"/>
          <p:cNvSpPr/>
          <p:nvPr/>
        </p:nvSpPr>
        <p:spPr>
          <a:xfrm>
            <a:off x="10485699" y="228600"/>
            <a:ext cx="906170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7" name="Text 32"/>
          <p:cNvSpPr txBox="1"/>
          <p:nvPr/>
        </p:nvSpPr>
        <p:spPr>
          <a:xfrm>
            <a:off x="10609509" y="304770"/>
            <a:ext cx="7137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講義 4</a:t>
            </a:r>
            <a:endParaRPr lang="en-US" sz="1500" dirty="0"/>
          </a:p>
        </p:txBody>
      </p:sp>
      <p:sp>
        <p:nvSpPr>
          <p:cNvPr id="38" name="Text 33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5 · 13:28</a:t>
            </a:r>
            <a:endParaRPr lang="en-US" sz="1500" dirty="0"/>
          </a:p>
        </p:txBody>
      </p:sp>
      <p:sp>
        <p:nvSpPr>
          <p:cNvPr id="39" name="Text 34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39 / 76</a:t>
            </a:r>
            <a:endParaRPr lang="en-US" sz="15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42875" y="1031718"/>
            <a:ext cx="12015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記住這一句</a:t>
            </a:r>
            <a:endParaRPr lang="en-US" sz="1500" dirty="0"/>
          </a:p>
        </p:txBody>
      </p:sp>
      <p:sp>
        <p:nvSpPr>
          <p:cNvPr id="4" name="Shape 1"/>
          <p:cNvSpPr/>
          <p:nvPr/>
        </p:nvSpPr>
        <p:spPr>
          <a:xfrm>
            <a:off x="1809780" y="1707916"/>
            <a:ext cx="4076670" cy="2908706"/>
          </a:xfrm>
          <a:prstGeom prst="roundRect">
            <a:avLst>
              <a:gd name="adj" fmla="val 7859"/>
            </a:avLst>
          </a:prstGeom>
          <a:solidFill>
            <a:srgbClr val="FBEEE6"/>
          </a:solidFill>
          <a:ln/>
        </p:spPr>
      </p:sp>
      <p:pic>
        <p:nvPicPr>
          <p:cNvPr id="5" name="Image 1" descr="/home/user/gogoeveryday/social-course/export-pptx/build/img/p4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8020" y="2079437"/>
            <a:ext cx="800100" cy="8001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581339" y="3041477"/>
            <a:ext cx="5429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圖片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3161081" y="3393887"/>
            <a:ext cx="1383304" cy="8685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240"/>
              </a:lnSpc>
              <a:buNone/>
            </a:pPr>
            <a:r>
              <a:rPr lang="en-US" sz="24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負責讓人</a:t>
            </a:r>
            <a:endParaRPr lang="en-US" sz="2400" dirty="0"/>
          </a:p>
          <a:p>
            <a:pPr algn="ctr" indent="0" marL="0">
              <a:lnSpc>
                <a:spcPts val="3240"/>
              </a:lnSpc>
              <a:buNone/>
            </a:pPr>
            <a:r>
              <a:rPr lang="en-US" sz="24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停下來</a:t>
            </a:r>
            <a:endParaRPr lang="en-US" sz="2400" dirty="0"/>
          </a:p>
        </p:txBody>
      </p:sp>
      <p:sp>
        <p:nvSpPr>
          <p:cNvPr id="8" name="Shape 4"/>
          <p:cNvSpPr/>
          <p:nvPr/>
        </p:nvSpPr>
        <p:spPr>
          <a:xfrm>
            <a:off x="6305520" y="1707916"/>
            <a:ext cx="4076670" cy="2908706"/>
          </a:xfrm>
          <a:prstGeom prst="roundRect">
            <a:avLst>
              <a:gd name="adj" fmla="val 7859"/>
            </a:avLst>
          </a:prstGeom>
          <a:solidFill>
            <a:srgbClr val="DFE8DC"/>
          </a:solidFill>
          <a:ln/>
        </p:spPr>
      </p:sp>
      <p:pic>
        <p:nvPicPr>
          <p:cNvPr id="9" name="Image 2" descr="/home/user/gogoeveryday/social-course/export-pptx/build/img/p40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3850" y="2079437"/>
            <a:ext cx="800100" cy="8001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077078" y="3041477"/>
            <a:ext cx="5429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文字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7656911" y="3393887"/>
            <a:ext cx="1383304" cy="8685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240"/>
              </a:lnSpc>
              <a:buNone/>
            </a:pPr>
            <a:r>
              <a:rPr lang="en-US" sz="24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負責讓人</a:t>
            </a:r>
            <a:endParaRPr lang="en-US" sz="2400" dirty="0"/>
          </a:p>
          <a:p>
            <a:pPr algn="ctr" indent="0" marL="0">
              <a:lnSpc>
                <a:spcPts val="3240"/>
              </a:lnSpc>
              <a:buNone/>
            </a:pPr>
            <a:r>
              <a:rPr lang="en-US" sz="24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看懂</a:t>
            </a:r>
            <a:endParaRPr lang="en-US" sz="2400" dirty="0"/>
          </a:p>
        </p:txBody>
      </p:sp>
      <p:sp>
        <p:nvSpPr>
          <p:cNvPr id="12" name="Text 7"/>
          <p:cNvSpPr txBox="1"/>
          <p:nvPr/>
        </p:nvSpPr>
        <p:spPr>
          <a:xfrm>
            <a:off x="4414449" y="4864334"/>
            <a:ext cx="3372582" cy="747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所以照片不用很美，</a:t>
            </a:r>
            <a:endParaRPr lang="en-US" sz="1875" dirty="0"/>
          </a:p>
          <a:p>
            <a:pPr algn="ctr" indent="0" marL="0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但一定要看得出來那是什麼</a:t>
            </a:r>
            <a:pPr algn="ctr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875" dirty="0"/>
          </a:p>
        </p:txBody>
      </p:sp>
      <p:sp>
        <p:nvSpPr>
          <p:cNvPr id="13" name="Text 8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5 · 13:35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40 / 76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28995"/>
            <a:ext cx="14236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最常見的錯誤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209934"/>
            <a:ext cx="246558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圖片不是傳單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1912925"/>
            <a:ext cx="3934023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不要把這些</a:t>
            </a:r>
            <a:pPr algn="l" indent="0" marL="0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全部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塞進同一張圖 ——</a:t>
            </a:r>
            <a:endParaRPr lang="en-US" sz="1875" dirty="0"/>
          </a:p>
        </p:txBody>
      </p:sp>
      <p:sp>
        <p:nvSpPr>
          <p:cNvPr id="6" name="Shape 3"/>
          <p:cNvSpPr/>
          <p:nvPr/>
        </p:nvSpPr>
        <p:spPr>
          <a:xfrm>
            <a:off x="800100" y="2479670"/>
            <a:ext cx="2486071" cy="537301"/>
          </a:xfrm>
          <a:prstGeom prst="roundRect">
            <a:avLst>
              <a:gd name="adj" fmla="val 21273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2593970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商品名稱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381360" y="2479670"/>
            <a:ext cx="2486071" cy="537301"/>
          </a:xfrm>
          <a:prstGeom prst="roundRect">
            <a:avLst>
              <a:gd name="adj" fmla="val 21273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95660" y="2593970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價格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00100" y="3112160"/>
            <a:ext cx="2486071" cy="537301"/>
          </a:xfrm>
          <a:prstGeom prst="roundRect">
            <a:avLst>
              <a:gd name="adj" fmla="val 21273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14400" y="3226460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電話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3381360" y="3112160"/>
            <a:ext cx="2486071" cy="537301"/>
          </a:xfrm>
          <a:prstGeom prst="roundRect">
            <a:avLst>
              <a:gd name="adj" fmla="val 21273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95660" y="3226460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地址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00100" y="3744651"/>
            <a:ext cx="2486071" cy="537301"/>
          </a:xfrm>
          <a:prstGeom prst="roundRect">
            <a:avLst>
              <a:gd name="adj" fmla="val 21273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3858951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故事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381360" y="3744651"/>
            <a:ext cx="2486071" cy="537301"/>
          </a:xfrm>
          <a:prstGeom prst="roundRect">
            <a:avLst>
              <a:gd name="adj" fmla="val 21273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495660" y="3858951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優惠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00100" y="4377141"/>
            <a:ext cx="2486071" cy="537301"/>
          </a:xfrm>
          <a:prstGeom prst="roundRect">
            <a:avLst>
              <a:gd name="adj" fmla="val 21273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4400" y="4491441"/>
            <a:ext cx="93634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QR Code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3381360" y="4377141"/>
            <a:ext cx="2486071" cy="537301"/>
          </a:xfrm>
          <a:prstGeom prst="roundRect">
            <a:avLst>
              <a:gd name="adj" fmla="val 21273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495660" y="4491441"/>
            <a:ext cx="7804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 行字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800100" y="5124023"/>
            <a:ext cx="5067330" cy="704820"/>
          </a:xfrm>
          <a:prstGeom prst="roundRect">
            <a:avLst>
              <a:gd name="adj" fmla="val 24325"/>
            </a:avLst>
          </a:prstGeom>
          <a:solidFill>
            <a:srgbClr val="FBEEE6"/>
          </a:solidFill>
          <a:ln/>
        </p:spPr>
      </p:sp>
      <p:sp>
        <p:nvSpPr>
          <p:cNvPr id="23" name="Shape 20"/>
          <p:cNvSpPr/>
          <p:nvPr/>
        </p:nvSpPr>
        <p:spPr>
          <a:xfrm>
            <a:off x="800100" y="5124023"/>
            <a:ext cx="47640" cy="704820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4" name="Image 1" descr="/home/user/gogoeveryday/social-course/export-pptx/build/img/p4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314493"/>
            <a:ext cx="323880" cy="32388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1533540" y="5328757"/>
            <a:ext cx="433142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在手機上，這種圖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縮成一格就什麼都看不到了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</p:txBody>
      </p:sp>
      <p:pic>
        <p:nvPicPr>
          <p:cNvPr id="26" name="Image 2" descr="/home/user/gogoeveryday/social-course/export-pptx/build/img/p41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0" y="1466698"/>
            <a:ext cx="2857500" cy="285750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6222583" y="4695718"/>
            <a:ext cx="225719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在 IG 九宮格裡長這樣 →</a:t>
            </a:r>
            <a:endParaRPr lang="en-US" sz="1500" dirty="0"/>
          </a:p>
        </p:txBody>
      </p:sp>
      <p:pic>
        <p:nvPicPr>
          <p:cNvPr id="28" name="Image 3" descr="/home/user/gogoeveryday/social-course/export-pptx/build/img/p41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0745" y="4495648"/>
            <a:ext cx="704820" cy="70482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5 · 13:39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41 / 76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300929"/>
            <a:ext cx="12015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初學者原則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681960"/>
            <a:ext cx="365302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圖片上只留兩樣東西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800100" y="1413388"/>
            <a:ext cx="5067330" cy="1543233"/>
          </a:xfrm>
          <a:prstGeom prst="roundRect">
            <a:avLst>
              <a:gd name="adj" fmla="val 1481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0100" y="1413388"/>
            <a:ext cx="5048220" cy="3813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19190" y="1622969"/>
            <a:ext cx="74880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第一樣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19190" y="1994489"/>
            <a:ext cx="1339687" cy="371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-2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 個主標題</a:t>
            </a:r>
            <a:endParaRPr lang="en-US" sz="1950" dirty="0"/>
          </a:p>
        </p:txBody>
      </p:sp>
      <p:sp>
        <p:nvSpPr>
          <p:cNvPr id="9" name="Text 6"/>
          <p:cNvSpPr txBox="1"/>
          <p:nvPr/>
        </p:nvSpPr>
        <p:spPr>
          <a:xfrm>
            <a:off x="1019190" y="2423069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例如：手作草莓果醬</a:t>
            </a:r>
            <a:endParaRPr lang="en-US" sz="1575" dirty="0"/>
          </a:p>
        </p:txBody>
      </p:sp>
      <p:sp>
        <p:nvSpPr>
          <p:cNvPr id="10" name="Text 7"/>
          <p:cNvSpPr txBox="1"/>
          <p:nvPr/>
        </p:nvSpPr>
        <p:spPr>
          <a:xfrm>
            <a:off x="3148828" y="3109051"/>
            <a:ext cx="379202" cy="371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＋</a:t>
            </a:r>
            <a:endParaRPr lang="en-US" sz="1950" dirty="0"/>
          </a:p>
        </p:txBody>
      </p:sp>
      <p:sp>
        <p:nvSpPr>
          <p:cNvPr id="11" name="Shape 8"/>
          <p:cNvSpPr/>
          <p:nvPr/>
        </p:nvSpPr>
        <p:spPr>
          <a:xfrm>
            <a:off x="800100" y="3632911"/>
            <a:ext cx="5067330" cy="1543233"/>
          </a:xfrm>
          <a:prstGeom prst="roundRect">
            <a:avLst>
              <a:gd name="adj" fmla="val 1481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00100" y="3632911"/>
            <a:ext cx="5048220" cy="3813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19190" y="3842400"/>
            <a:ext cx="74880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第二樣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019190" y="4213921"/>
            <a:ext cx="1079815" cy="371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-2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 個重點</a:t>
            </a:r>
            <a:endParaRPr lang="en-US" sz="1950" dirty="0"/>
          </a:p>
        </p:txBody>
      </p:sp>
      <p:sp>
        <p:nvSpPr>
          <p:cNvPr id="15" name="Text 12"/>
          <p:cNvSpPr txBox="1"/>
          <p:nvPr/>
        </p:nvSpPr>
        <p:spPr>
          <a:xfrm>
            <a:off x="1019190" y="4642500"/>
            <a:ext cx="211747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例如：本週限量 20 瓶</a:t>
            </a:r>
            <a:endParaRPr lang="en-US" sz="1575" dirty="0"/>
          </a:p>
        </p:txBody>
      </p:sp>
      <p:sp>
        <p:nvSpPr>
          <p:cNvPr id="16" name="Shape 13"/>
          <p:cNvSpPr/>
          <p:nvPr/>
        </p:nvSpPr>
        <p:spPr>
          <a:xfrm>
            <a:off x="800100" y="5385633"/>
            <a:ext cx="5067330" cy="971550"/>
          </a:xfrm>
          <a:prstGeom prst="roundRect">
            <a:avLst>
              <a:gd name="adj" fmla="val 17647"/>
            </a:avLst>
          </a:prstGeom>
          <a:solidFill>
            <a:srgbClr val="DFE8DC"/>
          </a:solidFill>
          <a:ln/>
        </p:spPr>
      </p:sp>
      <p:sp>
        <p:nvSpPr>
          <p:cNvPr id="17" name="Shape 14"/>
          <p:cNvSpPr/>
          <p:nvPr/>
        </p:nvSpPr>
        <p:spPr>
          <a:xfrm>
            <a:off x="800100" y="5385633"/>
            <a:ext cx="47640" cy="971550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18" name="Image 1" descr="/home/user/gogoeveryday/social-course/export-pptx/build/img/p4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709514"/>
            <a:ext cx="323880" cy="32388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533540" y="5576103"/>
            <a:ext cx="2514051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價格、電話、地址、故事，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全部放在貼文裡就好。</a:t>
            </a:r>
            <a:endParaRPr lang="en-US" sz="1500" dirty="0"/>
          </a:p>
        </p:txBody>
      </p:sp>
      <p:pic>
        <p:nvPicPr>
          <p:cNvPr id="20" name="Image 2" descr="/home/user/gogoeveryday/social-course/export-pptx/build/img/p4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3360" y="1990740"/>
            <a:ext cx="1809780" cy="180978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007858" y="3495660"/>
            <a:ext cx="1710294" cy="39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25" b="1" spc="-2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手作草莓果醬</a:t>
            </a:r>
            <a:endParaRPr lang="en-US" sz="2025" dirty="0"/>
          </a:p>
        </p:txBody>
      </p:sp>
      <p:sp>
        <p:nvSpPr>
          <p:cNvPr id="22" name="Text 17"/>
          <p:cNvSpPr txBox="1"/>
          <p:nvPr/>
        </p:nvSpPr>
        <p:spPr>
          <a:xfrm>
            <a:off x="8147761" y="3914821"/>
            <a:ext cx="143057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本週限量 20 瓶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6225510" y="4791090"/>
            <a:ext cx="215606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縮成一格還是看得懂 →</a:t>
            </a:r>
            <a:endParaRPr lang="en-US" sz="1500" dirty="0"/>
          </a:p>
        </p:txBody>
      </p:sp>
      <p:pic>
        <p:nvPicPr>
          <p:cNvPr id="24" name="Image 3" descr="/home/user/gogoeveryday/social-course/export-pptx/build/img/p42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5282" y="4591020"/>
            <a:ext cx="704820" cy="70482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10485699" y="228600"/>
            <a:ext cx="906170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6" name="Text 20"/>
          <p:cNvSpPr txBox="1"/>
          <p:nvPr/>
        </p:nvSpPr>
        <p:spPr>
          <a:xfrm>
            <a:off x="10609509" y="304770"/>
            <a:ext cx="7137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講義 4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5 · 13:42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42 / 76</a:t>
            </a:r>
            <a:endParaRPr lang="en-US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4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296253"/>
            <a:ext cx="27036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13:45 – 14:25 ｜ PART 6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1496324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06</a:t>
            </a:r>
            <a:endParaRPr lang="en-US" sz="1125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3039374"/>
            <a:ext cx="2932664" cy="1562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Hashtag 與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十大關鍵字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876270" y="4982474"/>
            <a:ext cx="380637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讓不認識你的人，有機會搜尋到你。</a:t>
            </a:r>
            <a:endParaRPr lang="en-US" sz="1725" dirty="0"/>
          </a:p>
        </p:txBody>
      </p:sp>
      <p:sp>
        <p:nvSpPr>
          <p:cNvPr id="7" name="Shape 4"/>
          <p:cNvSpPr/>
          <p:nvPr/>
        </p:nvSpPr>
        <p:spPr>
          <a:xfrm>
            <a:off x="8533547" y="2066910"/>
            <a:ext cx="1525676" cy="581010"/>
          </a:xfrm>
          <a:prstGeom prst="roundRect">
            <a:avLst>
              <a:gd name="adj" fmla="val 50000"/>
            </a:avLst>
          </a:prstGeom>
          <a:solidFill>
            <a:srgbClr val="F8E6C9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733526" y="2181210"/>
            <a:ext cx="1203259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5F1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#台中甜點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914486" y="2781330"/>
            <a:ext cx="1525676" cy="5810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9114556" y="2895630"/>
            <a:ext cx="1203259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#手作餅乾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8533547" y="3495660"/>
            <a:ext cx="1754276" cy="581010"/>
          </a:xfrm>
          <a:prstGeom prst="roundRect">
            <a:avLst>
              <a:gd name="adj" fmla="val 50000"/>
            </a:avLst>
          </a:prstGeom>
          <a:solidFill>
            <a:srgbClr val="F0DFE4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733526" y="3609960"/>
            <a:ext cx="1445575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D435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#台中伴手禮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8819297" y="4210080"/>
            <a:ext cx="1297076" cy="581010"/>
          </a:xfrm>
          <a:prstGeom prst="roundRect">
            <a:avLst>
              <a:gd name="adj" fmla="val 50000"/>
            </a:avLst>
          </a:prstGeom>
          <a:solidFill>
            <a:srgbClr val="DFE8D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9019276" y="4324380"/>
            <a:ext cx="96094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F5744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#下午茶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761970" y="6343650"/>
            <a:ext cx="273030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6 · 13:45–14:25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43 / 76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4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060521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先搞懂它在做什麼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441552"/>
            <a:ext cx="3850904" cy="984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Hashtag 就是</a:t>
            </a:r>
            <a:endParaRPr lang="en-US" sz="2850" dirty="0"/>
          </a:p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幫你的內容「貼標籤」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2553279"/>
            <a:ext cx="1274582" cy="504840"/>
          </a:xfrm>
          <a:prstGeom prst="roundRect">
            <a:avLst>
              <a:gd name="adj" fmla="val 49991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962040" y="2658069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#台中甜點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169871" y="2553279"/>
            <a:ext cx="1274582" cy="504840"/>
          </a:xfrm>
          <a:prstGeom prst="roundRect">
            <a:avLst>
              <a:gd name="adj" fmla="val 49991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2331811" y="2658069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#手作餅乾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539734" y="2553279"/>
            <a:ext cx="1465052" cy="504840"/>
          </a:xfrm>
          <a:prstGeom prst="roundRect">
            <a:avLst>
              <a:gd name="adj" fmla="val 49991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701674" y="2658069"/>
            <a:ext cx="121981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#台中伴手禮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00100" y="3267700"/>
            <a:ext cx="5300685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12" name="Shape 9"/>
          <p:cNvSpPr/>
          <p:nvPr/>
        </p:nvSpPr>
        <p:spPr>
          <a:xfrm>
            <a:off x="800100" y="3267700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13" name="Image 1" descr="/home/user/gogoeveryday/social-course/export-pptx/build/img/p4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3587191"/>
            <a:ext cx="361920" cy="3619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571671" y="3458169"/>
            <a:ext cx="2635209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它是在告訴平台：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「這篇內容跟什麼有關？」</a:t>
            </a:r>
            <a:endParaRPr lang="en-US" sz="1575" dirty="0"/>
          </a:p>
        </p:txBody>
      </p:sp>
      <p:sp>
        <p:nvSpPr>
          <p:cNvPr id="15" name="Text 11"/>
          <p:cNvSpPr txBox="1"/>
          <p:nvPr/>
        </p:nvSpPr>
        <p:spPr>
          <a:xfrm>
            <a:off x="761970" y="4449653"/>
            <a:ext cx="3120116" cy="1133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平台知道了，</a:t>
            </a:r>
            <a:endParaRPr lang="en-US" sz="1875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才有辦法把你的內容，</a:t>
            </a:r>
            <a:endParaRPr lang="en-US" sz="1875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推給正在找這種東西的人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875" dirty="0"/>
          </a:p>
        </p:txBody>
      </p:sp>
      <p:pic>
        <p:nvPicPr>
          <p:cNvPr id="16" name="Image 2" descr="/home/user/gogoeveryday/social-course/export-pptx/build/img/p44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8608" y="404805"/>
            <a:ext cx="2590770" cy="52578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176303" y="5786415"/>
            <a:ext cx="36447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別人搜尋標籤時，你的貼文才會出現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手機實作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6 · 13:45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44 / 76</a:t>
            </a:r>
            <a:endParaRPr lang="en-US" sz="15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4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02442"/>
            <a:ext cx="12372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 不要這樣</a:t>
            </a:r>
            <a:endParaRPr lang="en-US" sz="1500" dirty="0"/>
          </a:p>
        </p:txBody>
      </p:sp>
      <p:sp>
        <p:nvSpPr>
          <p:cNvPr id="4" name="Shape 1"/>
          <p:cNvSpPr/>
          <p:nvPr/>
        </p:nvSpPr>
        <p:spPr>
          <a:xfrm>
            <a:off x="800100" y="1140623"/>
            <a:ext cx="5067330" cy="3852824"/>
          </a:xfrm>
          <a:prstGeom prst="roundRect">
            <a:avLst>
              <a:gd name="adj" fmla="val 5933"/>
            </a:avLst>
          </a:prstGeom>
          <a:solidFill>
            <a:srgbClr val="F4ECE1"/>
          </a:solidFill>
          <a:ln/>
        </p:spPr>
      </p:sp>
      <p:sp>
        <p:nvSpPr>
          <p:cNvPr id="5" name="Shape 2"/>
          <p:cNvSpPr/>
          <p:nvPr/>
        </p:nvSpPr>
        <p:spPr>
          <a:xfrm>
            <a:off x="1057321" y="1397752"/>
            <a:ext cx="588782" cy="428671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241C17"/>
            </a:solidFill>
            <a:prstDash val="dash"/>
          </a:ln>
        </p:spPr>
      </p:sp>
      <p:sp>
        <p:nvSpPr>
          <p:cNvPr id="6" name="Text 3"/>
          <p:cNvSpPr txBox="1"/>
          <p:nvPr/>
        </p:nvSpPr>
        <p:spPr>
          <a:xfrm>
            <a:off x="1162020" y="1464503"/>
            <a:ext cx="43443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#愛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722272" y="1397752"/>
            <a:ext cx="779252" cy="428671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241C17"/>
            </a:solidFill>
            <a:prstDash val="dash"/>
          </a:ln>
        </p:spPr>
      </p:sp>
      <p:sp>
        <p:nvSpPr>
          <p:cNvPr id="8" name="Text 5"/>
          <p:cNvSpPr txBox="1"/>
          <p:nvPr/>
        </p:nvSpPr>
        <p:spPr>
          <a:xfrm>
            <a:off x="1826971" y="1464503"/>
            <a:ext cx="6249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#幸福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577694" y="1397752"/>
            <a:ext cx="779252" cy="428671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241C17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2682484" y="1464503"/>
            <a:ext cx="6249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#開心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433206" y="1397752"/>
            <a:ext cx="779252" cy="428671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241C17"/>
            </a:solidFill>
            <a:prstDash val="dash"/>
          </a:ln>
        </p:spPr>
      </p:sp>
      <p:sp>
        <p:nvSpPr>
          <p:cNvPr id="12" name="Text 9"/>
          <p:cNvSpPr txBox="1"/>
          <p:nvPr/>
        </p:nvSpPr>
        <p:spPr>
          <a:xfrm>
            <a:off x="3537905" y="1464503"/>
            <a:ext cx="6249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#台灣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288627" y="1397752"/>
            <a:ext cx="779252" cy="428671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241C17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4393418" y="1464503"/>
            <a:ext cx="6249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#美食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1057321" y="1902592"/>
            <a:ext cx="779252" cy="428671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241C17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1162020" y="1969252"/>
            <a:ext cx="6249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#人生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1912742" y="1902592"/>
            <a:ext cx="869412" cy="428671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241C17"/>
            </a:solidFill>
            <a:prstDash val="dash"/>
          </a:ln>
        </p:spPr>
      </p:sp>
      <p:sp>
        <p:nvSpPr>
          <p:cNvPr id="18" name="Text 15"/>
          <p:cNvSpPr txBox="1"/>
          <p:nvPr/>
        </p:nvSpPr>
        <p:spPr>
          <a:xfrm>
            <a:off x="2017532" y="1969252"/>
            <a:ext cx="71515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#good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2858414" y="1902592"/>
            <a:ext cx="988192" cy="428671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241C17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2963205" y="1969252"/>
            <a:ext cx="83548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#follow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3922776" y="1902592"/>
            <a:ext cx="1186891" cy="428671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241C17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4027566" y="1969252"/>
            <a:ext cx="104616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#like4like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1057321" y="2407432"/>
            <a:ext cx="779252" cy="428671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241C17"/>
            </a:solidFill>
            <a:prstDash val="dash"/>
          </a:ln>
        </p:spPr>
      </p:sp>
      <p:sp>
        <p:nvSpPr>
          <p:cNvPr id="24" name="Text 21"/>
          <p:cNvSpPr txBox="1"/>
          <p:nvPr/>
        </p:nvSpPr>
        <p:spPr>
          <a:xfrm>
            <a:off x="1162020" y="2474092"/>
            <a:ext cx="6249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#日常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1912742" y="2407432"/>
            <a:ext cx="779252" cy="428671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241C1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2017532" y="2474092"/>
            <a:ext cx="6249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#心情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2768163" y="2407432"/>
            <a:ext cx="779252" cy="428671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241C17"/>
            </a:solidFill>
            <a:prstDash val="dash"/>
          </a:ln>
        </p:spPr>
      </p:sp>
      <p:sp>
        <p:nvSpPr>
          <p:cNvPr id="28" name="Text 25"/>
          <p:cNvSpPr txBox="1"/>
          <p:nvPr/>
        </p:nvSpPr>
        <p:spPr>
          <a:xfrm>
            <a:off x="2872953" y="2474092"/>
            <a:ext cx="6249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#分享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3623676" y="2407432"/>
            <a:ext cx="1350752" cy="428671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241C17"/>
            </a:solidFill>
            <a:prstDash val="dash"/>
          </a:ln>
        </p:spPr>
      </p:sp>
      <p:sp>
        <p:nvSpPr>
          <p:cNvPr id="30" name="Text 27"/>
          <p:cNvSpPr txBox="1"/>
          <p:nvPr/>
        </p:nvSpPr>
        <p:spPr>
          <a:xfrm>
            <a:off x="3728466" y="2474092"/>
            <a:ext cx="121981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#開心每一天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1057321" y="2912273"/>
            <a:ext cx="779252" cy="428671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241C17"/>
            </a:solidFill>
            <a:prstDash val="dash"/>
          </a:ln>
        </p:spPr>
      </p:sp>
      <p:sp>
        <p:nvSpPr>
          <p:cNvPr id="32" name="Text 29"/>
          <p:cNvSpPr txBox="1"/>
          <p:nvPr/>
        </p:nvSpPr>
        <p:spPr>
          <a:xfrm>
            <a:off x="1162020" y="2978932"/>
            <a:ext cx="6249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#加油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1912742" y="2912273"/>
            <a:ext cx="779252" cy="428671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241C17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2017532" y="2978932"/>
            <a:ext cx="6249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#美好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1057321" y="3493282"/>
            <a:ext cx="455298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1019190" y="3626602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37" name="Text 34"/>
          <p:cNvSpPr txBox="1"/>
          <p:nvPr/>
        </p:nvSpPr>
        <p:spPr>
          <a:xfrm>
            <a:off x="1304940" y="3626602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跟你賣的東西完全沒關係</a:t>
            </a:r>
            <a:endParaRPr lang="en-US" sz="1575" dirty="0"/>
          </a:p>
        </p:txBody>
      </p:sp>
      <p:sp>
        <p:nvSpPr>
          <p:cNvPr id="38" name="Text 35"/>
          <p:cNvSpPr txBox="1"/>
          <p:nvPr/>
        </p:nvSpPr>
        <p:spPr>
          <a:xfrm>
            <a:off x="1019190" y="4021897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39" name="Text 36"/>
          <p:cNvSpPr txBox="1"/>
          <p:nvPr/>
        </p:nvSpPr>
        <p:spPr>
          <a:xfrm>
            <a:off x="1304940" y="4021897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來的人不是想買東西的人</a:t>
            </a:r>
            <a:endParaRPr lang="en-US" sz="1575" dirty="0"/>
          </a:p>
        </p:txBody>
      </p:sp>
      <p:sp>
        <p:nvSpPr>
          <p:cNvPr id="40" name="Text 37"/>
          <p:cNvSpPr txBox="1"/>
          <p:nvPr/>
        </p:nvSpPr>
        <p:spPr>
          <a:xfrm>
            <a:off x="1019190" y="4417192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41" name="Text 38"/>
          <p:cNvSpPr txBox="1"/>
          <p:nvPr/>
        </p:nvSpPr>
        <p:spPr>
          <a:xfrm>
            <a:off x="1304940" y="4417192"/>
            <a:ext cx="305930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塞太多還可能被平台判定為灌水</a:t>
            </a:r>
            <a:endParaRPr lang="en-US" sz="1575" dirty="0"/>
          </a:p>
        </p:txBody>
      </p:sp>
      <p:sp>
        <p:nvSpPr>
          <p:cNvPr id="42" name="Text 39"/>
          <p:cNvSpPr txBox="1"/>
          <p:nvPr/>
        </p:nvSpPr>
        <p:spPr>
          <a:xfrm>
            <a:off x="6286500" y="702442"/>
            <a:ext cx="989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 要這樣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6324630" y="1140623"/>
            <a:ext cx="5067330" cy="3852824"/>
          </a:xfrm>
          <a:prstGeom prst="roundRect">
            <a:avLst>
              <a:gd name="adj" fmla="val 5933"/>
            </a:avLst>
          </a:prstGeom>
          <a:solidFill>
            <a:srgbClr val="DFE8DC"/>
          </a:solidFill>
          <a:ln/>
        </p:spPr>
      </p:sp>
      <p:sp>
        <p:nvSpPr>
          <p:cNvPr id="44" name="Shape 41"/>
          <p:cNvSpPr/>
          <p:nvPr/>
        </p:nvSpPr>
        <p:spPr>
          <a:xfrm>
            <a:off x="6581760" y="1397752"/>
            <a:ext cx="1198321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45" name="Text 42"/>
          <p:cNvSpPr txBox="1"/>
          <p:nvPr/>
        </p:nvSpPr>
        <p:spPr>
          <a:xfrm>
            <a:off x="6705570" y="1483523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#台中果醬</a:t>
            </a:r>
            <a:endParaRPr lang="en-US" sz="1500" dirty="0"/>
          </a:p>
        </p:txBody>
      </p:sp>
      <p:sp>
        <p:nvSpPr>
          <p:cNvPr id="46" name="Shape 43"/>
          <p:cNvSpPr/>
          <p:nvPr/>
        </p:nvSpPr>
        <p:spPr>
          <a:xfrm>
            <a:off x="7865852" y="1397752"/>
            <a:ext cx="1198321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47" name="Text 44"/>
          <p:cNvSpPr txBox="1"/>
          <p:nvPr/>
        </p:nvSpPr>
        <p:spPr>
          <a:xfrm>
            <a:off x="7989661" y="1483523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#手工果醬</a:t>
            </a:r>
            <a:endParaRPr lang="en-US" sz="1500" dirty="0"/>
          </a:p>
        </p:txBody>
      </p:sp>
      <p:sp>
        <p:nvSpPr>
          <p:cNvPr id="48" name="Shape 45"/>
          <p:cNvSpPr/>
          <p:nvPr/>
        </p:nvSpPr>
        <p:spPr>
          <a:xfrm>
            <a:off x="9149944" y="1397752"/>
            <a:ext cx="1198321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49" name="Text 46"/>
          <p:cNvSpPr txBox="1"/>
          <p:nvPr/>
        </p:nvSpPr>
        <p:spPr>
          <a:xfrm>
            <a:off x="9273753" y="1483523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#草莓果醬</a:t>
            </a:r>
            <a:endParaRPr lang="en-US" sz="1500" dirty="0"/>
          </a:p>
        </p:txBody>
      </p:sp>
      <p:sp>
        <p:nvSpPr>
          <p:cNvPr id="50" name="Shape 47"/>
          <p:cNvSpPr/>
          <p:nvPr/>
        </p:nvSpPr>
        <p:spPr>
          <a:xfrm>
            <a:off x="6581760" y="1950232"/>
            <a:ext cx="1198321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1" name="Text 48"/>
          <p:cNvSpPr txBox="1"/>
          <p:nvPr/>
        </p:nvSpPr>
        <p:spPr>
          <a:xfrm>
            <a:off x="6705570" y="2036003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#西屯市集</a:t>
            </a:r>
            <a:endParaRPr lang="en-US" sz="1500" dirty="0"/>
          </a:p>
        </p:txBody>
      </p:sp>
      <p:sp>
        <p:nvSpPr>
          <p:cNvPr id="52" name="Shape 49"/>
          <p:cNvSpPr/>
          <p:nvPr/>
        </p:nvSpPr>
        <p:spPr>
          <a:xfrm>
            <a:off x="7865852" y="1950232"/>
            <a:ext cx="1388882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3" name="Text 50"/>
          <p:cNvSpPr txBox="1"/>
          <p:nvPr/>
        </p:nvSpPr>
        <p:spPr>
          <a:xfrm>
            <a:off x="7989661" y="2036003"/>
            <a:ext cx="121981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#台中伴手禮</a:t>
            </a:r>
            <a:endParaRPr lang="en-US" sz="1500" dirty="0"/>
          </a:p>
        </p:txBody>
      </p:sp>
      <p:sp>
        <p:nvSpPr>
          <p:cNvPr id="54" name="Shape 51"/>
          <p:cNvSpPr/>
          <p:nvPr/>
        </p:nvSpPr>
        <p:spPr>
          <a:xfrm>
            <a:off x="9340413" y="1950232"/>
            <a:ext cx="1388882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5" name="Text 52"/>
          <p:cNvSpPr txBox="1"/>
          <p:nvPr/>
        </p:nvSpPr>
        <p:spPr>
          <a:xfrm>
            <a:off x="9464314" y="2036003"/>
            <a:ext cx="121981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#無添加果醬</a:t>
            </a:r>
            <a:endParaRPr lang="en-US" sz="1500" dirty="0"/>
          </a:p>
        </p:txBody>
      </p:sp>
      <p:sp>
        <p:nvSpPr>
          <p:cNvPr id="56" name="Shape 53"/>
          <p:cNvSpPr/>
          <p:nvPr/>
        </p:nvSpPr>
        <p:spPr>
          <a:xfrm>
            <a:off x="6581760" y="2502713"/>
            <a:ext cx="1198321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7" name="Text 54"/>
          <p:cNvSpPr txBox="1"/>
          <p:nvPr/>
        </p:nvSpPr>
        <p:spPr>
          <a:xfrm>
            <a:off x="6705570" y="2588392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#送禮推薦</a:t>
            </a:r>
            <a:endParaRPr lang="en-US" sz="1500" dirty="0"/>
          </a:p>
        </p:txBody>
      </p:sp>
      <p:sp>
        <p:nvSpPr>
          <p:cNvPr id="58" name="Shape 55"/>
          <p:cNvSpPr/>
          <p:nvPr/>
        </p:nvSpPr>
        <p:spPr>
          <a:xfrm>
            <a:off x="6581760" y="3121853"/>
            <a:ext cx="455298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6543721" y="3255173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60" name="Text 57"/>
          <p:cNvSpPr txBox="1"/>
          <p:nvPr/>
        </p:nvSpPr>
        <p:spPr>
          <a:xfrm>
            <a:off x="6802679" y="3255173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每一個都跟這篇內容有關</a:t>
            </a:r>
            <a:endParaRPr lang="en-US" sz="1575" dirty="0"/>
          </a:p>
        </p:txBody>
      </p:sp>
      <p:sp>
        <p:nvSpPr>
          <p:cNvPr id="61" name="Text 58"/>
          <p:cNvSpPr txBox="1"/>
          <p:nvPr/>
        </p:nvSpPr>
        <p:spPr>
          <a:xfrm>
            <a:off x="6543721" y="3650468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62" name="Text 59"/>
          <p:cNvSpPr txBox="1"/>
          <p:nvPr/>
        </p:nvSpPr>
        <p:spPr>
          <a:xfrm>
            <a:off x="6802679" y="3650468"/>
            <a:ext cx="263520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是別人真的會拿去搜尋的字</a:t>
            </a:r>
            <a:endParaRPr lang="en-US" sz="1575" dirty="0"/>
          </a:p>
        </p:txBody>
      </p:sp>
      <p:sp>
        <p:nvSpPr>
          <p:cNvPr id="63" name="Text 60"/>
          <p:cNvSpPr txBox="1"/>
          <p:nvPr/>
        </p:nvSpPr>
        <p:spPr>
          <a:xfrm>
            <a:off x="6543721" y="4045763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64" name="Text 61"/>
          <p:cNvSpPr txBox="1"/>
          <p:nvPr/>
        </p:nvSpPr>
        <p:spPr>
          <a:xfrm>
            <a:off x="6802679" y="4045763"/>
            <a:ext cx="232595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5–10 個就夠，不用湊滿</a:t>
            </a:r>
            <a:endParaRPr lang="en-US" sz="1575" dirty="0"/>
          </a:p>
        </p:txBody>
      </p:sp>
      <p:sp>
        <p:nvSpPr>
          <p:cNvPr id="65" name="Shape 62"/>
          <p:cNvSpPr/>
          <p:nvPr/>
        </p:nvSpPr>
        <p:spPr>
          <a:xfrm>
            <a:off x="800100" y="5250668"/>
            <a:ext cx="10591770" cy="704820"/>
          </a:xfrm>
          <a:prstGeom prst="roundRect">
            <a:avLst>
              <a:gd name="adj" fmla="val 24325"/>
            </a:avLst>
          </a:prstGeom>
          <a:solidFill>
            <a:srgbClr val="F8E6C9"/>
          </a:solidFill>
          <a:ln/>
        </p:spPr>
      </p:sp>
      <p:sp>
        <p:nvSpPr>
          <p:cNvPr id="66" name="Shape 63"/>
          <p:cNvSpPr/>
          <p:nvPr/>
        </p:nvSpPr>
        <p:spPr>
          <a:xfrm>
            <a:off x="800100" y="5250668"/>
            <a:ext cx="47640" cy="704820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67" name="Image 1" descr="/home/user/gogoeveryday/social-course/export-pptx/build/img/p4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441137"/>
            <a:ext cx="323880" cy="323880"/>
          </a:xfrm>
          <a:prstGeom prst="rect">
            <a:avLst/>
          </a:prstGeom>
        </p:spPr>
      </p:pic>
      <p:sp>
        <p:nvSpPr>
          <p:cNvPr id="68" name="Text 64"/>
          <p:cNvSpPr txBox="1"/>
          <p:nvPr/>
        </p:nvSpPr>
        <p:spPr>
          <a:xfrm>
            <a:off x="1533540" y="5447995"/>
            <a:ext cx="517952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判斷標準只有一個：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這個標籤，跟這一篇內容有關嗎？</a:t>
            </a:r>
            <a:endParaRPr lang="en-US" sz="1575" dirty="0"/>
          </a:p>
        </p:txBody>
      </p:sp>
      <p:sp>
        <p:nvSpPr>
          <p:cNvPr id="69" name="Text 65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6 · 13:52</a:t>
            </a:r>
            <a:endParaRPr lang="en-US" sz="1500" dirty="0"/>
          </a:p>
        </p:txBody>
      </p:sp>
      <p:sp>
        <p:nvSpPr>
          <p:cNvPr id="70" name="Text 66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45 / 76</a:t>
            </a:r>
            <a:endParaRPr lang="en-US" sz="15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4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927726" y="681319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最重要的思考方式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2793401" y="1043330"/>
            <a:ext cx="6614678" cy="1504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394"/>
              </a:lnSpc>
              <a:buNone/>
            </a:pPr>
            <a:r>
              <a:rPr lang="en-US" sz="4350" b="1" spc="-13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不要想「我想寫什麼」，</a:t>
            </a:r>
            <a:endParaRPr lang="en-US" sz="4350" dirty="0"/>
          </a:p>
          <a:p>
            <a:pPr algn="ctr" indent="0" marL="0">
              <a:lnSpc>
                <a:spcPts val="5394"/>
              </a:lnSpc>
              <a:buNone/>
            </a:pPr>
            <a:r>
              <a:rPr lang="en-US" sz="4350" b="1" spc="-13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要想「</a:t>
            </a:r>
            <a:pPr algn="ctr" indent="0" marL="0">
              <a:lnSpc>
                <a:spcPts val="5394"/>
              </a:lnSpc>
              <a:buNone/>
            </a:pPr>
            <a:r>
              <a:rPr lang="en-US" sz="4350" b="1" spc="-13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別人會搜尋什麼</a:t>
            </a:r>
            <a:pPr algn="ctr" indent="0" marL="0">
              <a:lnSpc>
                <a:spcPts val="5394"/>
              </a:lnSpc>
              <a:buNone/>
            </a:pPr>
            <a:r>
              <a:rPr lang="en-US" sz="4350" b="1" spc="-13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」。</a:t>
            </a:r>
            <a:endParaRPr lang="en-US" sz="4350" dirty="0"/>
          </a:p>
        </p:txBody>
      </p:sp>
      <p:sp>
        <p:nvSpPr>
          <p:cNvPr id="5" name="Shape 2"/>
          <p:cNvSpPr/>
          <p:nvPr/>
        </p:nvSpPr>
        <p:spPr>
          <a:xfrm>
            <a:off x="1524030" y="2765511"/>
            <a:ext cx="4362420" cy="1971812"/>
          </a:xfrm>
          <a:prstGeom prst="roundRect">
            <a:avLst>
              <a:gd name="adj" fmla="val 11593"/>
            </a:avLst>
          </a:prstGeom>
          <a:solidFill>
            <a:srgbClr val="F4ECE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3103474" y="3051261"/>
            <a:ext cx="121304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 只想自己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926994" y="3451311"/>
            <a:ext cx="1556309" cy="533370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241C17"/>
            </a:solidFill>
            <a:prstDash val="dash"/>
          </a:ln>
        </p:spPr>
      </p:sp>
      <p:sp>
        <p:nvSpPr>
          <p:cNvPr id="8" name="Text 5"/>
          <p:cNvSpPr txBox="1"/>
          <p:nvPr/>
        </p:nvSpPr>
        <p:spPr>
          <a:xfrm>
            <a:off x="3071835" y="3565611"/>
            <a:ext cx="127613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75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#我的鳳梨酥</a:t>
            </a:r>
            <a:endParaRPr lang="en-US" sz="1575" dirty="0"/>
          </a:p>
        </p:txBody>
      </p:sp>
      <p:sp>
        <p:nvSpPr>
          <p:cNvPr id="9" name="Text 6"/>
          <p:cNvSpPr txBox="1"/>
          <p:nvPr/>
        </p:nvSpPr>
        <p:spPr>
          <a:xfrm>
            <a:off x="2286366" y="4127602"/>
            <a:ext cx="284725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全世界只有你會打這幾個字。</a:t>
            </a:r>
            <a:endParaRPr lang="en-US" sz="1575" dirty="0"/>
          </a:p>
        </p:txBody>
      </p:sp>
      <p:sp>
        <p:nvSpPr>
          <p:cNvPr id="10" name="Shape 7"/>
          <p:cNvSpPr/>
          <p:nvPr/>
        </p:nvSpPr>
        <p:spPr>
          <a:xfrm>
            <a:off x="6305520" y="2798887"/>
            <a:ext cx="4362420" cy="1905152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305520" y="2798887"/>
            <a:ext cx="4343400" cy="3813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06944" y="3084637"/>
            <a:ext cx="96926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 想客人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594013" y="3484687"/>
            <a:ext cx="1007852" cy="46671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694688" y="3570366"/>
            <a:ext cx="8159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#鳳梨酥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697053" y="3484687"/>
            <a:ext cx="1388882" cy="46671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786390" y="3570366"/>
            <a:ext cx="121981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#台中伴手禮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9181216" y="3484687"/>
            <a:ext cx="1198321" cy="46671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9276222" y="3570366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#手工烘焙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7067946" y="4094226"/>
            <a:ext cx="284725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這些才是別人真的會打的字。</a:t>
            </a:r>
            <a:endParaRPr lang="en-US" sz="1575" dirty="0"/>
          </a:p>
        </p:txBody>
      </p:sp>
      <p:sp>
        <p:nvSpPr>
          <p:cNvPr id="20" name="Shape 17"/>
          <p:cNvSpPr/>
          <p:nvPr/>
        </p:nvSpPr>
        <p:spPr>
          <a:xfrm>
            <a:off x="3576676" y="4975433"/>
            <a:ext cx="503871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21" name="Shape 18"/>
          <p:cNvSpPr/>
          <p:nvPr/>
        </p:nvSpPr>
        <p:spPr>
          <a:xfrm>
            <a:off x="3576676" y="4975433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2" name="Image 1" descr="/home/user/gogoeveryday/social-course/export-pptx/build/img/p4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1935" y="5304526"/>
            <a:ext cx="342900" cy="3429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206514" y="5165994"/>
            <a:ext cx="4331421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練習：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把自己想像成客人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endParaRPr lang="en-US" sz="1575" dirty="0"/>
          </a:p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你想買這個東西的時候，會在搜尋列打什麼？</a:t>
            </a:r>
            <a:endParaRPr lang="en-US" sz="1575" dirty="0"/>
          </a:p>
        </p:txBody>
      </p:sp>
      <p:sp>
        <p:nvSpPr>
          <p:cNvPr id="24" name="Shape 20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全班收集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6 · 13:58</a:t>
            </a:r>
            <a:endParaRPr lang="en-US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46 / 76</a:t>
            </a:r>
            <a:endParaRPr lang="en-US" sz="15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4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477591"/>
            <a:ext cx="25342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今天要帶回家的東西之一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858622"/>
            <a:ext cx="3884828" cy="1036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每個人建立</a:t>
            </a:r>
            <a:endParaRPr lang="en-US" sz="3000" dirty="0"/>
          </a:p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「我的 10 個關鍵字」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800100" y="2178649"/>
            <a:ext cx="3378068" cy="2838755"/>
          </a:xfrm>
          <a:prstGeom prst="roundRect">
            <a:avLst>
              <a:gd name="adj" fmla="val 805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1000171" y="2426360"/>
            <a:ext cx="584210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548079" y="2474001"/>
            <a:ext cx="69375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3–4 個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00171" y="2874051"/>
            <a:ext cx="2847259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你賣的東西本身叫什麼？</a:t>
            </a:r>
            <a:endParaRPr lang="en-US" sz="1575" dirty="0"/>
          </a:p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包含它的種類、做法、材料。</a:t>
            </a:r>
            <a:endParaRPr lang="en-US" sz="1575" dirty="0"/>
          </a:p>
        </p:txBody>
      </p:sp>
      <p:sp>
        <p:nvSpPr>
          <p:cNvPr id="9" name="Shape 6"/>
          <p:cNvSpPr/>
          <p:nvPr/>
        </p:nvSpPr>
        <p:spPr>
          <a:xfrm>
            <a:off x="1038210" y="3664915"/>
            <a:ext cx="2901848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1038210" y="3807744"/>
            <a:ext cx="969721" cy="428671"/>
          </a:xfrm>
          <a:prstGeom prst="roundRect">
            <a:avLst>
              <a:gd name="adj" fmla="val 50000"/>
            </a:avLst>
          </a:prstGeom>
          <a:solidFill>
            <a:srgbClr val="FBEEE6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1143000" y="3874404"/>
            <a:ext cx="8159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#鳳梨酥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2103211" y="3807744"/>
            <a:ext cx="1350752" cy="428671"/>
          </a:xfrm>
          <a:prstGeom prst="roundRect">
            <a:avLst>
              <a:gd name="adj" fmla="val 50000"/>
            </a:avLst>
          </a:prstGeom>
          <a:solidFill>
            <a:srgbClr val="FBEEE6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2208002" y="3874404"/>
            <a:ext cx="121981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#手工鳳梨酥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1038210" y="4331604"/>
            <a:ext cx="1160282" cy="428671"/>
          </a:xfrm>
          <a:prstGeom prst="roundRect">
            <a:avLst>
              <a:gd name="adj" fmla="val 50000"/>
            </a:avLst>
          </a:prstGeom>
          <a:solidFill>
            <a:srgbClr val="FBEEE6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1143000" y="4398355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#手作烘焙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406768" y="2178649"/>
            <a:ext cx="3378251" cy="2838755"/>
          </a:xfrm>
          <a:prstGeom prst="roundRect">
            <a:avLst>
              <a:gd name="adj" fmla="val 805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4606839" y="2426360"/>
            <a:ext cx="584210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地區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5154839" y="2474001"/>
            <a:ext cx="69375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2–3 個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606839" y="2874051"/>
            <a:ext cx="2847259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你的客人在哪裡？</a:t>
            </a:r>
            <a:endParaRPr lang="en-US" sz="1575" dirty="0"/>
          </a:p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縣市、區域、常出沒的市集。</a:t>
            </a:r>
            <a:endParaRPr lang="en-US" sz="1575" dirty="0"/>
          </a:p>
        </p:txBody>
      </p:sp>
      <p:sp>
        <p:nvSpPr>
          <p:cNvPr id="20" name="Shape 17"/>
          <p:cNvSpPr/>
          <p:nvPr/>
        </p:nvSpPr>
        <p:spPr>
          <a:xfrm>
            <a:off x="4644969" y="3664915"/>
            <a:ext cx="290203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4644969" y="3807744"/>
            <a:ext cx="1160282" cy="428671"/>
          </a:xfrm>
          <a:prstGeom prst="roundRect">
            <a:avLst>
              <a:gd name="adj" fmla="val 50000"/>
            </a:avLst>
          </a:prstGeom>
          <a:solidFill>
            <a:srgbClr val="DFE8D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749668" y="3874404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#台中甜點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5900440" y="3807744"/>
            <a:ext cx="1350752" cy="428671"/>
          </a:xfrm>
          <a:prstGeom prst="roundRect">
            <a:avLst>
              <a:gd name="adj" fmla="val 50000"/>
            </a:avLst>
          </a:prstGeom>
          <a:solidFill>
            <a:srgbClr val="DFE8D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6005231" y="3874404"/>
            <a:ext cx="121981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#台中伴手禮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4644969" y="4331604"/>
            <a:ext cx="779252" cy="428671"/>
          </a:xfrm>
          <a:prstGeom prst="roundRect">
            <a:avLst>
              <a:gd name="adj" fmla="val 50000"/>
            </a:avLst>
          </a:prstGeom>
          <a:solidFill>
            <a:srgbClr val="DFE8D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4749668" y="4398355"/>
            <a:ext cx="6249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#西屯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8013619" y="2178649"/>
            <a:ext cx="3378068" cy="2838755"/>
          </a:xfrm>
          <a:prstGeom prst="roundRect">
            <a:avLst>
              <a:gd name="adj" fmla="val 805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213689" y="2426360"/>
            <a:ext cx="1770187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使用情境／需求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893168" y="2474001"/>
            <a:ext cx="69375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3–4 個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8213689" y="2874051"/>
            <a:ext cx="2423160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別人在什麼時候需要它？</a:t>
            </a:r>
            <a:endParaRPr lang="en-US" sz="1575" dirty="0"/>
          </a:p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送誰？什麼場合？</a:t>
            </a:r>
            <a:endParaRPr lang="en-US" sz="1575" dirty="0"/>
          </a:p>
        </p:txBody>
      </p:sp>
      <p:sp>
        <p:nvSpPr>
          <p:cNvPr id="31" name="Shape 28"/>
          <p:cNvSpPr/>
          <p:nvPr/>
        </p:nvSpPr>
        <p:spPr>
          <a:xfrm>
            <a:off x="8251820" y="3664915"/>
            <a:ext cx="2901848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8251820" y="3807744"/>
            <a:ext cx="969721" cy="428671"/>
          </a:xfrm>
          <a:prstGeom prst="roundRect">
            <a:avLst>
              <a:gd name="adj" fmla="val 50000"/>
            </a:avLst>
          </a:prstGeom>
          <a:solidFill>
            <a:srgbClr val="F8E6C9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8356519" y="3874404"/>
            <a:ext cx="8159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#下午茶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9316822" y="3807744"/>
            <a:ext cx="779252" cy="428671"/>
          </a:xfrm>
          <a:prstGeom prst="roundRect">
            <a:avLst>
              <a:gd name="adj" fmla="val 50000"/>
            </a:avLst>
          </a:prstGeom>
          <a:solidFill>
            <a:srgbClr val="F8E6C9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9421520" y="3874404"/>
            <a:ext cx="6249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#送禮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8251820" y="4331604"/>
            <a:ext cx="1160282" cy="428671"/>
          </a:xfrm>
          <a:prstGeom prst="roundRect">
            <a:avLst>
              <a:gd name="adj" fmla="val 50000"/>
            </a:avLst>
          </a:prstGeom>
          <a:solidFill>
            <a:srgbClr val="F8E6C9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8356519" y="4398355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#節慶禮盒</a:t>
            </a:r>
            <a:endParaRPr lang="en-US" sz="1500" dirty="0"/>
          </a:p>
        </p:txBody>
      </p:sp>
      <p:sp>
        <p:nvSpPr>
          <p:cNvPr id="38" name="Shape 35"/>
          <p:cNvSpPr/>
          <p:nvPr/>
        </p:nvSpPr>
        <p:spPr>
          <a:xfrm>
            <a:off x="800100" y="5179344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39" name="Shape 36"/>
          <p:cNvSpPr/>
          <p:nvPr/>
        </p:nvSpPr>
        <p:spPr>
          <a:xfrm>
            <a:off x="800100" y="5179344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40" name="Image 1" descr="/home/user/gogoeveryday/social-course/export-pptx/build/img/p4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517947"/>
            <a:ext cx="323880" cy="323880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1533540" y="5369905"/>
            <a:ext cx="4369278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 10 個字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寫一次，可以用一整年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以後每發一篇，從裡面挑 5–8 個適合的就好。</a:t>
            </a:r>
            <a:endParaRPr lang="en-US" sz="1575" dirty="0"/>
          </a:p>
        </p:txBody>
      </p:sp>
      <p:sp>
        <p:nvSpPr>
          <p:cNvPr id="42" name="Shape 38"/>
          <p:cNvSpPr/>
          <p:nvPr/>
        </p:nvSpPr>
        <p:spPr>
          <a:xfrm>
            <a:off x="10485699" y="228600"/>
            <a:ext cx="906170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43" name="Text 39"/>
          <p:cNvSpPr txBox="1"/>
          <p:nvPr/>
        </p:nvSpPr>
        <p:spPr>
          <a:xfrm>
            <a:off x="10609509" y="304770"/>
            <a:ext cx="7137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講義 3</a:t>
            </a:r>
            <a:endParaRPr lang="en-US" sz="1500" dirty="0"/>
          </a:p>
        </p:txBody>
      </p:sp>
      <p:sp>
        <p:nvSpPr>
          <p:cNvPr id="44" name="Text 40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6 · 14:04</a:t>
            </a:r>
            <a:endParaRPr lang="en-US" sz="1500" dirty="0"/>
          </a:p>
        </p:txBody>
      </p:sp>
      <p:sp>
        <p:nvSpPr>
          <p:cNvPr id="45" name="Text 41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47 / 76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4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314907"/>
            <a:ext cx="9793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完整範例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695938"/>
            <a:ext cx="3296869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如果我做手作鳳梨酥</a:t>
            </a:r>
            <a:endParaRPr lang="en-US" sz="270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2485614"/>
            <a:ext cx="5505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1524030" y="2399843"/>
            <a:ext cx="1007852" cy="466710"/>
          </a:xfrm>
          <a:prstGeom prst="roundRect">
            <a:avLst>
              <a:gd name="adj" fmla="val 50000"/>
            </a:avLst>
          </a:prstGeom>
          <a:solidFill>
            <a:srgbClr val="FBEEE6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647840" y="2485614"/>
            <a:ext cx="8159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#鳳梨酥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627071" y="2399843"/>
            <a:ext cx="1388882" cy="466710"/>
          </a:xfrm>
          <a:prstGeom prst="roundRect">
            <a:avLst>
              <a:gd name="adj" fmla="val 50000"/>
            </a:avLst>
          </a:prstGeom>
          <a:solidFill>
            <a:srgbClr val="FBEEE6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750972" y="2485614"/>
            <a:ext cx="121981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#手工鳳梨酥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111234" y="2399843"/>
            <a:ext cx="1198321" cy="466710"/>
          </a:xfrm>
          <a:prstGeom prst="roundRect">
            <a:avLst>
              <a:gd name="adj" fmla="val 50000"/>
            </a:avLst>
          </a:prstGeom>
          <a:solidFill>
            <a:srgbClr val="FBEEE6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235044" y="2485614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#手作烘焙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1970" y="3114264"/>
            <a:ext cx="5505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spc="15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地區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524030" y="3028493"/>
            <a:ext cx="1198321" cy="466710"/>
          </a:xfrm>
          <a:prstGeom prst="roundRect">
            <a:avLst>
              <a:gd name="adj" fmla="val 50000"/>
            </a:avLst>
          </a:prstGeom>
          <a:solidFill>
            <a:srgbClr val="DFE8D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1647840" y="3114264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#台中甜點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2817632" y="3028493"/>
            <a:ext cx="1388882" cy="466710"/>
          </a:xfrm>
          <a:prstGeom prst="roundRect">
            <a:avLst>
              <a:gd name="adj" fmla="val 50000"/>
            </a:avLst>
          </a:prstGeom>
          <a:solidFill>
            <a:srgbClr val="DFE8D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2941442" y="3114264"/>
            <a:ext cx="121981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#台中伴手禮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61970" y="3742914"/>
            <a:ext cx="5505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spc="15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情境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1524030" y="3657143"/>
            <a:ext cx="1007852" cy="466710"/>
          </a:xfrm>
          <a:prstGeom prst="roundRect">
            <a:avLst>
              <a:gd name="adj" fmla="val 50000"/>
            </a:avLst>
          </a:prstGeom>
          <a:solidFill>
            <a:srgbClr val="F8E6C9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1647840" y="3742914"/>
            <a:ext cx="8159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#下午茶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2627071" y="3657143"/>
            <a:ext cx="817382" cy="466710"/>
          </a:xfrm>
          <a:prstGeom prst="roundRect">
            <a:avLst>
              <a:gd name="adj" fmla="val 50000"/>
            </a:avLst>
          </a:prstGeom>
          <a:solidFill>
            <a:srgbClr val="F8E6C9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2750972" y="3742914"/>
            <a:ext cx="6249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#送禮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3539734" y="3657143"/>
            <a:ext cx="1198321" cy="466710"/>
          </a:xfrm>
          <a:prstGeom prst="roundRect">
            <a:avLst>
              <a:gd name="adj" fmla="val 50000"/>
            </a:avLst>
          </a:prstGeom>
          <a:solidFill>
            <a:srgbClr val="F8E6C9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3663544" y="3742914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#節慶禮盒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0100" y="4371564"/>
            <a:ext cx="5300685" cy="971550"/>
          </a:xfrm>
          <a:prstGeom prst="roundRect">
            <a:avLst>
              <a:gd name="adj" fmla="val 17647"/>
            </a:avLst>
          </a:prstGeom>
          <a:solidFill>
            <a:srgbClr val="F8E6C9"/>
          </a:solidFill>
          <a:ln/>
        </p:spPr>
      </p:sp>
      <p:sp>
        <p:nvSpPr>
          <p:cNvPr id="25" name="Shape 22"/>
          <p:cNvSpPr/>
          <p:nvPr/>
        </p:nvSpPr>
        <p:spPr>
          <a:xfrm>
            <a:off x="800100" y="4371564"/>
            <a:ext cx="47640" cy="971550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6" name="Image 1" descr="/home/user/gogoeveryday/social-course/export-pptx/build/img/p4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695353"/>
            <a:ext cx="323880" cy="32388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533540" y="4562033"/>
            <a:ext cx="3816797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注意：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沒有一個標籤是 #好吃 #推薦 #讚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每一個都是「有人會拿去搜尋」的字。</a:t>
            </a:r>
            <a:endParaRPr lang="en-US" sz="1500" dirty="0"/>
          </a:p>
        </p:txBody>
      </p:sp>
      <p:pic>
        <p:nvPicPr>
          <p:cNvPr id="28" name="Image 2" descr="/home/user/gogoeveryday/social-course/export-pptx/build/img/p48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6227" y="682691"/>
            <a:ext cx="2095530" cy="2095530"/>
          </a:xfrm>
          <a:prstGeom prst="rect">
            <a:avLst/>
          </a:prstGeom>
        </p:spPr>
      </p:pic>
      <p:pic>
        <p:nvPicPr>
          <p:cNvPr id="29" name="Image 3" descr="/home/user/gogoeveryday/social-course/export-pptx/build/img/p48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4727" y="2921051"/>
            <a:ext cx="3238530" cy="3063789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6 · 14:09</a:t>
            </a:r>
            <a:endParaRPr lang="en-US" sz="1500" dirty="0"/>
          </a:p>
        </p:txBody>
      </p:sp>
      <p:sp>
        <p:nvSpPr>
          <p:cNvPr id="31" name="Text 2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48 / 76</a:t>
            </a:r>
            <a:endParaRPr lang="en-US" sz="15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4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672816"/>
            <a:ext cx="16457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三個免費的方法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609630" y="1053846"/>
            <a:ext cx="5434005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想不出來的時候，去這三個地方找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47670" y="1862541"/>
            <a:ext cx="3505170" cy="3312871"/>
          </a:xfrm>
          <a:prstGeom prst="roundRect">
            <a:avLst>
              <a:gd name="adj" fmla="val 69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pic>
        <p:nvPicPr>
          <p:cNvPr id="6" name="Image 1" descr="/home/user/gogoeveryday/social-course/export-pptx/build/img/p4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60" y="2081632"/>
            <a:ext cx="285750" cy="28575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09660" y="2076877"/>
            <a:ext cx="152375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 搜尋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866760" y="2500793"/>
            <a:ext cx="3067080" cy="457200"/>
          </a:xfrm>
          <a:prstGeom prst="roundRect">
            <a:avLst>
              <a:gd name="adj" fmla="val 18760"/>
            </a:avLst>
          </a:prstGeom>
          <a:solidFill>
            <a:srgbClr val="EFEFEF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43021" y="2576962"/>
            <a:ext cx="36960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🔍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257300" y="2576962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鳳梨酥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828721" y="3043672"/>
            <a:ext cx="224851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#鳳梨酥 12.4萬則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28721" y="3386572"/>
            <a:ext cx="217535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#鳳梨酥禮盒 2.1萬則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28721" y="3729472"/>
            <a:ext cx="2257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#土鳳梨酥 8,942 則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866760" y="4177162"/>
            <a:ext cx="306708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828721" y="4319991"/>
            <a:ext cx="332174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打進去，看平台自動跳出哪些相關標籤與則數。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4343400" y="1862541"/>
            <a:ext cx="3505170" cy="3312871"/>
          </a:xfrm>
          <a:prstGeom prst="roundRect">
            <a:avLst>
              <a:gd name="adj" fmla="val 69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pic>
        <p:nvPicPr>
          <p:cNvPr id="17" name="Image 2" descr="/home/user/gogoeveryday/social-course/export-pptx/build/img/p49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490" y="2081632"/>
            <a:ext cx="285750" cy="28575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905390" y="2076877"/>
            <a:ext cx="122154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Google 搜尋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4562490" y="2500793"/>
            <a:ext cx="3067080" cy="476220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67280" y="2586472"/>
            <a:ext cx="36960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🔍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981560" y="2586472"/>
            <a:ext cx="1146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台中 伴手禮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4524360" y="3062691"/>
            <a:ext cx="15961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台中 伴手禮 推薦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4524360" y="3405591"/>
            <a:ext cx="16687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台中 伴手禮 2026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4524360" y="3748491"/>
            <a:ext cx="15961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台中 伴手禮 車站</a:t>
            </a:r>
            <a:endParaRPr lang="en-US" sz="1500" dirty="0"/>
          </a:p>
        </p:txBody>
      </p:sp>
      <p:sp>
        <p:nvSpPr>
          <p:cNvPr id="25" name="Shape 20"/>
          <p:cNvSpPr/>
          <p:nvPr/>
        </p:nvSpPr>
        <p:spPr>
          <a:xfrm>
            <a:off x="4562490" y="4196182"/>
            <a:ext cx="306708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4524360" y="4339102"/>
            <a:ext cx="332174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看「自動完成」跟頁面最下面的「相關搜尋」。</a:t>
            </a:r>
            <a:endParaRPr lang="en-US" sz="1500" dirty="0"/>
          </a:p>
        </p:txBody>
      </p:sp>
      <p:sp>
        <p:nvSpPr>
          <p:cNvPr id="27" name="Shape 22"/>
          <p:cNvSpPr/>
          <p:nvPr/>
        </p:nvSpPr>
        <p:spPr>
          <a:xfrm>
            <a:off x="8039130" y="1862541"/>
            <a:ext cx="3505170" cy="3312871"/>
          </a:xfrm>
          <a:prstGeom prst="roundRect">
            <a:avLst>
              <a:gd name="adj" fmla="val 69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pic>
        <p:nvPicPr>
          <p:cNvPr id="28" name="Image 3" descr="/home/user/gogoeveryday/social-course/export-pptx/build/img/p49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8221" y="2081632"/>
            <a:ext cx="323880" cy="287853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639160" y="2077974"/>
            <a:ext cx="14882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Google Trends</a:t>
            </a:r>
            <a:endParaRPr lang="en-US" sz="1500" dirty="0"/>
          </a:p>
        </p:txBody>
      </p:sp>
      <p:sp>
        <p:nvSpPr>
          <p:cNvPr id="30" name="Shape 24"/>
          <p:cNvSpPr/>
          <p:nvPr/>
        </p:nvSpPr>
        <p:spPr>
          <a:xfrm>
            <a:off x="8258221" y="2502804"/>
            <a:ext cx="3067080" cy="1171621"/>
          </a:xfrm>
          <a:prstGeom prst="roundRect">
            <a:avLst>
              <a:gd name="adj" fmla="val 9756"/>
            </a:avLst>
          </a:prstGeom>
          <a:solidFill>
            <a:srgbClr val="F4ECE1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8353410" y="2607594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手作餅乾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10391790" y="2607594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手工餅乾</a:t>
            </a:r>
            <a:endParaRPr lang="en-US" sz="1500" dirty="0"/>
          </a:p>
        </p:txBody>
      </p:sp>
      <p:pic>
        <p:nvPicPr>
          <p:cNvPr id="33" name="Image 4" descr="/home/user/gogoeveryday/social-course/export-pptx/build/img/p49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1540" y="2979115"/>
            <a:ext cx="2800350" cy="53337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258221" y="3769705"/>
            <a:ext cx="306708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5" name="Text 28"/>
          <p:cNvSpPr txBox="1"/>
          <p:nvPr/>
        </p:nvSpPr>
        <p:spPr>
          <a:xfrm>
            <a:off x="8220090" y="3912535"/>
            <a:ext cx="332174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兩個講法哪個比較多人搜？用哪個字就對了。</a:t>
            </a:r>
            <a:endParaRPr lang="en-US" sz="1500" dirty="0"/>
          </a:p>
        </p:txBody>
      </p:sp>
      <p:sp>
        <p:nvSpPr>
          <p:cNvPr id="36" name="Shape 29"/>
          <p:cNvSpPr/>
          <p:nvPr/>
        </p:nvSpPr>
        <p:spPr>
          <a:xfrm>
            <a:off x="647670" y="5337444"/>
            <a:ext cx="10896630" cy="609630"/>
          </a:xfrm>
          <a:prstGeom prst="roundRect">
            <a:avLst>
              <a:gd name="adj" fmla="val 28124"/>
            </a:avLst>
          </a:prstGeom>
          <a:solidFill>
            <a:srgbClr val="FBEEE6"/>
          </a:solidFill>
          <a:ln/>
        </p:spPr>
      </p:sp>
      <p:sp>
        <p:nvSpPr>
          <p:cNvPr id="37" name="Shape 30"/>
          <p:cNvSpPr/>
          <p:nvPr/>
        </p:nvSpPr>
        <p:spPr>
          <a:xfrm>
            <a:off x="647670" y="5337444"/>
            <a:ext cx="47640" cy="609630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8" name="Image 5" descr="/home/user/gogoeveryday/social-course/export-pptx/build/img/p49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910" y="5489783"/>
            <a:ext cx="304770" cy="304770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1343071" y="5494630"/>
            <a:ext cx="625001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現在請跟著做一次：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在 IG 搜尋列打進你的商品名稱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，看看跳出什麼。</a:t>
            </a:r>
            <a:endParaRPr lang="en-US" sz="1500" dirty="0"/>
          </a:p>
        </p:txBody>
      </p:sp>
      <p:sp>
        <p:nvSpPr>
          <p:cNvPr id="40" name="Shape 32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41" name="Text 33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現場示範</a:t>
            </a:r>
            <a:endParaRPr lang="en-US" sz="1500" dirty="0"/>
          </a:p>
        </p:txBody>
      </p:sp>
      <p:sp>
        <p:nvSpPr>
          <p:cNvPr id="42" name="Text 34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6 · 14:14</a:t>
            </a:r>
            <a:endParaRPr lang="en-US" sz="1500" dirty="0"/>
          </a:p>
        </p:txBody>
      </p:sp>
      <p:sp>
        <p:nvSpPr>
          <p:cNvPr id="43" name="Text 3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49 / 76</a:t>
            </a:r>
            <a:endParaRPr lang="en-US" sz="15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5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567019"/>
            <a:ext cx="176104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動手做 · 8 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957560"/>
            <a:ext cx="4324929" cy="880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請找出</a:t>
            </a:r>
            <a:endParaRPr lang="en-US" sz="2550" dirty="0"/>
          </a:p>
          <a:p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跟自己最有關的 10 個關鍵字</a:t>
            </a:r>
            <a:endParaRPr lang="en-US" sz="255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1918960"/>
            <a:ext cx="4841291" cy="747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寫在</a:t>
            </a:r>
            <a:pPr algn="l" indent="0" marL="0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講義 3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，或直接打在</a:t>
            </a:r>
            <a:pPr algn="l" indent="0" marL="0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手機的備忘錄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裡。</a:t>
            </a:r>
            <a:endParaRPr lang="en-US" sz="1875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建議兩邊都留一份。</a:t>
            </a:r>
            <a:endParaRPr lang="en-US" sz="1875" dirty="0"/>
          </a:p>
        </p:txBody>
      </p:sp>
      <p:sp>
        <p:nvSpPr>
          <p:cNvPr id="6" name="Shape 3"/>
          <p:cNvSpPr/>
          <p:nvPr/>
        </p:nvSpPr>
        <p:spPr>
          <a:xfrm>
            <a:off x="800100" y="2833360"/>
            <a:ext cx="58055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304940" y="2957170"/>
            <a:ext cx="14008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商品類 3–4 個</a:t>
            </a:r>
            <a:endParaRPr lang="en-US" sz="1575" dirty="0"/>
          </a:p>
        </p:txBody>
      </p:sp>
      <p:sp>
        <p:nvSpPr>
          <p:cNvPr id="8" name="Shape 5"/>
          <p:cNvSpPr/>
          <p:nvPr/>
        </p:nvSpPr>
        <p:spPr>
          <a:xfrm>
            <a:off x="800100" y="3500140"/>
            <a:ext cx="58055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1304940" y="3623950"/>
            <a:ext cx="14008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地區類 2–3 個</a:t>
            </a:r>
            <a:endParaRPr lang="en-US" sz="1575" dirty="0"/>
          </a:p>
        </p:txBody>
      </p:sp>
      <p:sp>
        <p:nvSpPr>
          <p:cNvPr id="10" name="Shape 7"/>
          <p:cNvSpPr/>
          <p:nvPr/>
        </p:nvSpPr>
        <p:spPr>
          <a:xfrm>
            <a:off x="800100" y="4166921"/>
            <a:ext cx="58055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1304940" y="4290731"/>
            <a:ext cx="203700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情境／需求類 3–4 個</a:t>
            </a:r>
            <a:endParaRPr lang="en-US" sz="1575" dirty="0"/>
          </a:p>
        </p:txBody>
      </p:sp>
      <p:sp>
        <p:nvSpPr>
          <p:cNvPr id="12" name="Shape 9"/>
          <p:cNvSpPr/>
          <p:nvPr/>
        </p:nvSpPr>
        <p:spPr>
          <a:xfrm>
            <a:off x="800100" y="4833610"/>
            <a:ext cx="58055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1304940" y="4957420"/>
            <a:ext cx="369527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存進手機備忘錄，取名「我的關鍵字」</a:t>
            </a:r>
            <a:endParaRPr lang="en-US" sz="1575" dirty="0"/>
          </a:p>
        </p:txBody>
      </p:sp>
      <p:sp>
        <p:nvSpPr>
          <p:cNvPr id="14" name="Shape 11"/>
          <p:cNvSpPr/>
          <p:nvPr/>
        </p:nvSpPr>
        <p:spPr>
          <a:xfrm>
            <a:off x="800100" y="5538521"/>
            <a:ext cx="5805526" cy="552480"/>
          </a:xfrm>
          <a:prstGeom prst="roundRect">
            <a:avLst>
              <a:gd name="adj" fmla="val 31033"/>
            </a:avLst>
          </a:prstGeom>
          <a:solidFill>
            <a:srgbClr val="DFE8DC"/>
          </a:solidFill>
          <a:ln/>
        </p:spPr>
      </p:sp>
      <p:sp>
        <p:nvSpPr>
          <p:cNvPr id="15" name="Shape 12"/>
          <p:cNvSpPr/>
          <p:nvPr/>
        </p:nvSpPr>
        <p:spPr>
          <a:xfrm>
            <a:off x="800100" y="5538521"/>
            <a:ext cx="47640" cy="552480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16" name="Image 1" descr="/home/user/gogoeveryday/social-course/export-pptx/build/img/p5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210" y="5671840"/>
            <a:ext cx="285750" cy="28575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438260" y="5667085"/>
            <a:ext cx="429356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以後每發一篇，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從這 10 個挑 5–8 個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來用就好。</a:t>
            </a:r>
            <a:endParaRPr lang="en-US" sz="1500" dirty="0"/>
          </a:p>
        </p:txBody>
      </p:sp>
      <p:pic>
        <p:nvPicPr>
          <p:cNvPr id="18" name="Image 2" descr="/home/user/gogoeveryday/social-course/export-pptx/build/img/p50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0563" y="833476"/>
            <a:ext cx="2171700" cy="440055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761884" y="5357835"/>
            <a:ext cx="2978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存在手機裡，發文時直接複製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10485699" y="228600"/>
            <a:ext cx="906170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10609509" y="304770"/>
            <a:ext cx="7137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講義 3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6 · 14:20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50 / 76</a:t>
            </a:r>
            <a:endParaRPr lang="en-US" sz="15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296253"/>
            <a:ext cx="50398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14:25 – 14:35 休息 ｜ 14:35 – 15:05 ｜ PART 7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1496324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07</a:t>
            </a:r>
            <a:endParaRPr lang="en-US" sz="1125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3039374"/>
            <a:ext cx="2284628" cy="1562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Reels 與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限時動態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876270" y="4982474"/>
            <a:ext cx="473522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不用跳舞、不用剪輯、不用露臉，也可以拍。</a:t>
            </a:r>
            <a:endParaRPr lang="en-US" sz="1725" dirty="0"/>
          </a:p>
        </p:txBody>
      </p:sp>
      <p:pic>
        <p:nvPicPr>
          <p:cNvPr id="7" name="Image 1" descr="/home/user/gogoeveryday/social-course/export-pptx/build/img/p5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4370" y="2452695"/>
            <a:ext cx="1904970" cy="190497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61970" y="6343650"/>
            <a:ext cx="273030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7 · 14:35–15:05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51 / 76</a:t>
            </a:r>
            <a:endParaRPr lang="en-US" sz="15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824295" y="811073"/>
            <a:ext cx="16457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先講最大的誤會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737061" y="1192103"/>
            <a:ext cx="4727357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很多人以為 Reels 一定要跳舞</a:t>
            </a:r>
            <a:endParaRPr lang="en-US" sz="2700" dirty="0"/>
          </a:p>
        </p:txBody>
      </p:sp>
      <p:sp>
        <p:nvSpPr>
          <p:cNvPr id="5" name="Text 2"/>
          <p:cNvSpPr txBox="1"/>
          <p:nvPr/>
        </p:nvSpPr>
        <p:spPr>
          <a:xfrm>
            <a:off x="4850709" y="1743669"/>
            <a:ext cx="2500152" cy="1152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626"/>
              </a:lnSpc>
              <a:buNone/>
            </a:pPr>
            <a:r>
              <a:rPr lang="en-US" sz="6150" b="1" spc="-18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不用。</a:t>
            </a:r>
            <a:endParaRPr lang="en-US" sz="6150" dirty="0"/>
          </a:p>
        </p:txBody>
      </p:sp>
      <p:sp>
        <p:nvSpPr>
          <p:cNvPr id="6" name="Shape 3"/>
          <p:cNvSpPr/>
          <p:nvPr/>
        </p:nvSpPr>
        <p:spPr>
          <a:xfrm>
            <a:off x="1809780" y="3102651"/>
            <a:ext cx="2717780" cy="1504920"/>
          </a:xfrm>
          <a:prstGeom prst="roundRect">
            <a:avLst>
              <a:gd name="adj" fmla="val 1519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pic>
        <p:nvPicPr>
          <p:cNvPr id="7" name="Image 1" descr="/home/user/gogoeveryday/social-course/export-pptx/build/img/p5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1848" y="3378799"/>
            <a:ext cx="533370" cy="53337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708087" y="4036070"/>
            <a:ext cx="93058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不用跳舞</a:t>
            </a:r>
            <a:endParaRPr lang="en-US" sz="1575" dirty="0"/>
          </a:p>
        </p:txBody>
      </p:sp>
      <p:sp>
        <p:nvSpPr>
          <p:cNvPr id="9" name="Shape 5"/>
          <p:cNvSpPr/>
          <p:nvPr/>
        </p:nvSpPr>
        <p:spPr>
          <a:xfrm>
            <a:off x="4737049" y="3102651"/>
            <a:ext cx="2717780" cy="1504920"/>
          </a:xfrm>
          <a:prstGeom prst="roundRect">
            <a:avLst>
              <a:gd name="adj" fmla="val 1519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pic>
        <p:nvPicPr>
          <p:cNvPr id="10" name="Image 2" descr="/home/user/gogoeveryday/social-course/export-pptx/build/img/p5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117" y="3378799"/>
            <a:ext cx="533370" cy="53337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635356" y="4036070"/>
            <a:ext cx="93058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不用露臉</a:t>
            </a:r>
            <a:endParaRPr lang="en-US" sz="1575" dirty="0"/>
          </a:p>
        </p:txBody>
      </p:sp>
      <p:sp>
        <p:nvSpPr>
          <p:cNvPr id="12" name="Shape 7"/>
          <p:cNvSpPr/>
          <p:nvPr/>
        </p:nvSpPr>
        <p:spPr>
          <a:xfrm>
            <a:off x="7664318" y="3102651"/>
            <a:ext cx="2717871" cy="1504920"/>
          </a:xfrm>
          <a:prstGeom prst="roundRect">
            <a:avLst>
              <a:gd name="adj" fmla="val 1519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pic>
        <p:nvPicPr>
          <p:cNvPr id="13" name="Image 3" descr="/home/user/gogoeveryday/social-course/export-pptx/build/img/p52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6569" y="3378799"/>
            <a:ext cx="533370" cy="53337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352861" y="4036070"/>
            <a:ext cx="135038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不用剪輯技巧</a:t>
            </a:r>
            <a:endParaRPr lang="en-US" sz="1575" dirty="0"/>
          </a:p>
        </p:txBody>
      </p:sp>
      <p:sp>
        <p:nvSpPr>
          <p:cNvPr id="15" name="Shape 9"/>
          <p:cNvSpPr/>
          <p:nvPr/>
        </p:nvSpPr>
        <p:spPr>
          <a:xfrm>
            <a:off x="3285256" y="4845680"/>
            <a:ext cx="5621365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16" name="Shape 10"/>
          <p:cNvSpPr/>
          <p:nvPr/>
        </p:nvSpPr>
        <p:spPr>
          <a:xfrm>
            <a:off x="3285256" y="4845680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17" name="Image 4" descr="/home/user/gogoeveryday/social-course/export-pptx/build/img/p52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0516" y="5174772"/>
            <a:ext cx="342900" cy="3429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897630" y="5036149"/>
            <a:ext cx="4949099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Reels 只是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「會動的照片」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你原本拍照的東西，改成錄 5 秒影片，就是 Reels。</a:t>
            </a:r>
            <a:endParaRPr lang="en-US" sz="1575" dirty="0"/>
          </a:p>
        </p:txBody>
      </p:sp>
      <p:sp>
        <p:nvSpPr>
          <p:cNvPr id="19" name="Text 12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7 · 14:35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52 / 76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33420"/>
            <a:ext cx="20900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六大類，選一個就好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314450"/>
            <a:ext cx="3401568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Reels 可以拍這六種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2146554"/>
            <a:ext cx="3403580" cy="1693652"/>
          </a:xfrm>
          <a:prstGeom prst="roundRect">
            <a:avLst>
              <a:gd name="adj" fmla="val 1349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19190" y="2365644"/>
            <a:ext cx="590520" cy="590520"/>
          </a:xfrm>
          <a:prstGeom prst="roundRect">
            <a:avLst>
              <a:gd name="adj" fmla="val 25813"/>
            </a:avLst>
          </a:prstGeom>
          <a:solidFill>
            <a:srgbClr val="FBEEE6"/>
          </a:solidFill>
          <a:ln/>
        </p:spPr>
      </p:sp>
      <p:pic>
        <p:nvPicPr>
          <p:cNvPr id="7" name="Image 1" descr="/home/user/gogoeveryday/social-course/export-pptx/build/img/p5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2441814"/>
            <a:ext cx="438180" cy="4381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24010" y="2356134"/>
            <a:ext cx="33723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724010" y="2670414"/>
            <a:ext cx="8905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商品展示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724010" y="3003804"/>
            <a:ext cx="231206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把成品轉一圈、拿起來、打開包裝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4394149" y="2146554"/>
            <a:ext cx="3403580" cy="1693652"/>
          </a:xfrm>
          <a:prstGeom prst="roundRect">
            <a:avLst>
              <a:gd name="adj" fmla="val 1349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13239" y="2365644"/>
            <a:ext cx="590520" cy="590520"/>
          </a:xfrm>
          <a:prstGeom prst="roundRect">
            <a:avLst>
              <a:gd name="adj" fmla="val 25813"/>
            </a:avLst>
          </a:prstGeom>
          <a:solidFill>
            <a:srgbClr val="F8E6C9"/>
          </a:solidFill>
          <a:ln/>
        </p:spPr>
      </p:sp>
      <p:pic>
        <p:nvPicPr>
          <p:cNvPr id="13" name="Image 2" descr="/home/user/gogoeveryday/social-course/export-pptx/build/img/p53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9409" y="2441814"/>
            <a:ext cx="438180" cy="4381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318059" y="2356134"/>
            <a:ext cx="33723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5318059" y="2670414"/>
            <a:ext cx="8905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製作過程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5318059" y="3003804"/>
            <a:ext cx="231206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從材料到完成，最受歡迎的一種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7988198" y="2146554"/>
            <a:ext cx="3403671" cy="1693652"/>
          </a:xfrm>
          <a:prstGeom prst="roundRect">
            <a:avLst>
              <a:gd name="adj" fmla="val 1349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207289" y="2365644"/>
            <a:ext cx="590520" cy="590520"/>
          </a:xfrm>
          <a:prstGeom prst="roundRect">
            <a:avLst>
              <a:gd name="adj" fmla="val 25813"/>
            </a:avLst>
          </a:prstGeom>
          <a:solidFill>
            <a:srgbClr val="F0DFE4"/>
          </a:solidFill>
          <a:ln/>
        </p:spPr>
      </p:sp>
      <p:pic>
        <p:nvPicPr>
          <p:cNvPr id="19" name="Image 3" descr="/home/user/gogoeveryday/social-course/export-pptx/build/img/p53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3458" y="2441814"/>
            <a:ext cx="438180" cy="43818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912108" y="2356134"/>
            <a:ext cx="33723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8912108" y="2670414"/>
            <a:ext cx="8905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幕後花絮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8912108" y="3003804"/>
            <a:ext cx="231206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工作桌、備料、收攤、失敗的那一鍋</a:t>
            </a:r>
            <a:endParaRPr lang="en-US" sz="1500" dirty="0"/>
          </a:p>
        </p:txBody>
      </p:sp>
      <p:sp>
        <p:nvSpPr>
          <p:cNvPr id="23" name="Shape 17"/>
          <p:cNvSpPr/>
          <p:nvPr/>
        </p:nvSpPr>
        <p:spPr>
          <a:xfrm>
            <a:off x="800100" y="4030675"/>
            <a:ext cx="3403580" cy="1693652"/>
          </a:xfrm>
          <a:prstGeom prst="roundRect">
            <a:avLst>
              <a:gd name="adj" fmla="val 1349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1019190" y="4249765"/>
            <a:ext cx="590520" cy="590520"/>
          </a:xfrm>
          <a:prstGeom prst="roundRect">
            <a:avLst>
              <a:gd name="adj" fmla="val 25813"/>
            </a:avLst>
          </a:prstGeom>
          <a:solidFill>
            <a:srgbClr val="DFE8DC"/>
          </a:solidFill>
          <a:ln/>
        </p:spPr>
      </p:sp>
      <p:pic>
        <p:nvPicPr>
          <p:cNvPr id="25" name="Image 4" descr="/home/user/gogoeveryday/social-course/export-pptx/build/img/p53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830" y="4324929"/>
            <a:ext cx="495330" cy="44019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724010" y="4240256"/>
            <a:ext cx="33723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1724010" y="4554626"/>
            <a:ext cx="8905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前後對比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1724010" y="4887925"/>
            <a:ext cx="2245949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材料 → 成品；空攤位 → 擺好的攤位</a:t>
            </a:r>
            <a:endParaRPr lang="en-US" sz="1500" dirty="0"/>
          </a:p>
        </p:txBody>
      </p:sp>
      <p:sp>
        <p:nvSpPr>
          <p:cNvPr id="29" name="Shape 22"/>
          <p:cNvSpPr/>
          <p:nvPr/>
        </p:nvSpPr>
        <p:spPr>
          <a:xfrm>
            <a:off x="4394149" y="4030675"/>
            <a:ext cx="3403580" cy="1693652"/>
          </a:xfrm>
          <a:prstGeom prst="roundRect">
            <a:avLst>
              <a:gd name="adj" fmla="val 1349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4613239" y="4249765"/>
            <a:ext cx="590520" cy="590520"/>
          </a:xfrm>
          <a:prstGeom prst="roundRect">
            <a:avLst>
              <a:gd name="adj" fmla="val 25813"/>
            </a:avLst>
          </a:prstGeom>
          <a:solidFill>
            <a:srgbClr val="FBEEE6"/>
          </a:solidFill>
          <a:ln/>
        </p:spPr>
      </p:sp>
      <p:pic>
        <p:nvPicPr>
          <p:cNvPr id="31" name="Image 5" descr="/home/user/gogoeveryday/social-course/export-pptx/build/img/p53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9409" y="4326026"/>
            <a:ext cx="438180" cy="4381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318059" y="4240256"/>
            <a:ext cx="33723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⑤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5318059" y="4554626"/>
            <a:ext cx="8905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使用方式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5318059" y="4887925"/>
            <a:ext cx="231206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果醬可以怎麼吃、耳環怎麼搭配</a:t>
            </a:r>
            <a:endParaRPr lang="en-US" sz="1500" dirty="0"/>
          </a:p>
        </p:txBody>
      </p:sp>
      <p:sp>
        <p:nvSpPr>
          <p:cNvPr id="35" name="Shape 27"/>
          <p:cNvSpPr/>
          <p:nvPr/>
        </p:nvSpPr>
        <p:spPr>
          <a:xfrm>
            <a:off x="7988198" y="4030675"/>
            <a:ext cx="3403671" cy="1693652"/>
          </a:xfrm>
          <a:prstGeom prst="roundRect">
            <a:avLst>
              <a:gd name="adj" fmla="val 1349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8207289" y="4249765"/>
            <a:ext cx="590520" cy="590520"/>
          </a:xfrm>
          <a:prstGeom prst="roundRect">
            <a:avLst>
              <a:gd name="adj" fmla="val 25813"/>
            </a:avLst>
          </a:prstGeom>
          <a:solidFill>
            <a:srgbClr val="F8E6C9"/>
          </a:solidFill>
          <a:ln/>
        </p:spPr>
      </p:sp>
      <p:pic>
        <p:nvPicPr>
          <p:cNvPr id="37" name="Image 6" descr="/home/user/gogoeveryday/social-course/export-pptx/build/img/p53-6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3458" y="4326026"/>
            <a:ext cx="438180" cy="43818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8912108" y="4240256"/>
            <a:ext cx="33723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⑥</a:t>
            </a:r>
            <a:endParaRPr lang="en-US" sz="1500" dirty="0"/>
          </a:p>
        </p:txBody>
      </p:sp>
      <p:sp>
        <p:nvSpPr>
          <p:cNvPr id="39" name="Text 30"/>
          <p:cNvSpPr txBox="1"/>
          <p:nvPr/>
        </p:nvSpPr>
        <p:spPr>
          <a:xfrm>
            <a:off x="8912108" y="4554626"/>
            <a:ext cx="8905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工作日常</a:t>
            </a:r>
            <a:endParaRPr lang="en-US" sz="1500" dirty="0"/>
          </a:p>
        </p:txBody>
      </p:sp>
      <p:sp>
        <p:nvSpPr>
          <p:cNvPr id="40" name="Text 31"/>
          <p:cNvSpPr txBox="1"/>
          <p:nvPr/>
        </p:nvSpPr>
        <p:spPr>
          <a:xfrm>
            <a:off x="8912108" y="4887925"/>
            <a:ext cx="211016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今天出貨幾箱、市集人潮、包裝的手</a:t>
            </a:r>
            <a:endParaRPr lang="en-US" sz="1500" dirty="0"/>
          </a:p>
        </p:txBody>
      </p:sp>
      <p:sp>
        <p:nvSpPr>
          <p:cNvPr id="41" name="Text 32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7 · 14:39</a:t>
            </a:r>
            <a:endParaRPr lang="en-US" sz="1500" dirty="0"/>
          </a:p>
        </p:txBody>
      </p:sp>
      <p:sp>
        <p:nvSpPr>
          <p:cNvPr id="42" name="Text 33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53 / 76</a:t>
            </a:r>
            <a:endParaRPr lang="en-US" sz="15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86729"/>
            <a:ext cx="16457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舉例：手作餅乾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367760"/>
            <a:ext cx="3474903" cy="984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這五個畫面接起來，</a:t>
            </a:r>
            <a:endParaRPr lang="en-US" sz="2850" dirty="0"/>
          </a:p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就是一支 Reels。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2295784" y="2717597"/>
            <a:ext cx="1257300" cy="1714500"/>
          </a:xfrm>
          <a:prstGeom prst="roundRect">
            <a:avLst>
              <a:gd name="adj" fmla="val 12124"/>
            </a:avLst>
          </a:prstGeom>
          <a:solidFill>
            <a:srgbClr val="F4ECE1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pic>
        <p:nvPicPr>
          <p:cNvPr id="6" name="Image 1" descr="/home/user/gogoeveryday/social-course/export-pptx/build/img/p5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5784" y="2717597"/>
            <a:ext cx="1257300" cy="17145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372045" y="2793766"/>
            <a:ext cx="283921" cy="342900"/>
          </a:xfrm>
          <a:prstGeom prst="roundRect">
            <a:avLst>
              <a:gd name="adj" fmla="val 50000"/>
            </a:avLst>
          </a:prstGeom>
          <a:solidFill>
            <a:srgbClr val="000000">
              <a:alpha val="55000"/>
            </a:srgbClr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2396825" y="2812877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2330714" y="4051066"/>
            <a:ext cx="11969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🥣 材料準備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3648365" y="3427171"/>
            <a:ext cx="19321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›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3881628" y="2717597"/>
            <a:ext cx="1257300" cy="1714500"/>
          </a:xfrm>
          <a:prstGeom prst="roundRect">
            <a:avLst>
              <a:gd name="adj" fmla="val 12124"/>
            </a:avLst>
          </a:prstGeom>
          <a:solidFill>
            <a:srgbClr val="F4ECE1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pic>
        <p:nvPicPr>
          <p:cNvPr id="12" name="Image 2" descr="/home/user/gogoeveryday/social-course/export-pptx/build/img/p54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1628" y="2717597"/>
            <a:ext cx="1257300" cy="17145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3957798" y="2793766"/>
            <a:ext cx="283921" cy="342900"/>
          </a:xfrm>
          <a:prstGeom prst="roundRect">
            <a:avLst>
              <a:gd name="adj" fmla="val 50000"/>
            </a:avLst>
          </a:prstGeom>
          <a:solidFill>
            <a:srgbClr val="000000">
              <a:alpha val="55000"/>
            </a:srgbClr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3982578" y="2812877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4118000" y="4051066"/>
            <a:ext cx="7938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👐 揉麵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5234117" y="3427171"/>
            <a:ext cx="19321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›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5467380" y="2717597"/>
            <a:ext cx="1257300" cy="1714500"/>
          </a:xfrm>
          <a:prstGeom prst="roundRect">
            <a:avLst>
              <a:gd name="adj" fmla="val 12124"/>
            </a:avLst>
          </a:prstGeom>
          <a:solidFill>
            <a:srgbClr val="F4ECE1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pic>
        <p:nvPicPr>
          <p:cNvPr id="18" name="Image 3" descr="/home/user/gogoeveryday/social-course/export-pptx/build/img/p54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7380" y="2717597"/>
            <a:ext cx="1257300" cy="17145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543550" y="2793766"/>
            <a:ext cx="283921" cy="342900"/>
          </a:xfrm>
          <a:prstGeom prst="roundRect">
            <a:avLst>
              <a:gd name="adj" fmla="val 50000"/>
            </a:avLst>
          </a:prstGeom>
          <a:solidFill>
            <a:srgbClr val="000000">
              <a:alpha val="55000"/>
            </a:srgbClr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5568330" y="2812877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5703753" y="4051066"/>
            <a:ext cx="7938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🔥 烘烤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819870" y="3427171"/>
            <a:ext cx="19321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›</a:t>
            </a:r>
            <a:endParaRPr lang="en-US" sz="1500" dirty="0"/>
          </a:p>
        </p:txBody>
      </p:sp>
      <p:sp>
        <p:nvSpPr>
          <p:cNvPr id="23" name="Shape 17"/>
          <p:cNvSpPr/>
          <p:nvPr/>
        </p:nvSpPr>
        <p:spPr>
          <a:xfrm>
            <a:off x="7053133" y="2717597"/>
            <a:ext cx="1257300" cy="1714500"/>
          </a:xfrm>
          <a:prstGeom prst="roundRect">
            <a:avLst>
              <a:gd name="adj" fmla="val 12124"/>
            </a:avLst>
          </a:prstGeom>
          <a:solidFill>
            <a:srgbClr val="F4ECE1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pic>
        <p:nvPicPr>
          <p:cNvPr id="24" name="Image 4" descr="/home/user/gogoeveryday/social-course/export-pptx/build/img/p54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3133" y="2717597"/>
            <a:ext cx="1257300" cy="17145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7129302" y="2793766"/>
            <a:ext cx="283921" cy="342900"/>
          </a:xfrm>
          <a:prstGeom prst="roundRect">
            <a:avLst>
              <a:gd name="adj" fmla="val 50000"/>
            </a:avLst>
          </a:prstGeom>
          <a:solidFill>
            <a:srgbClr val="000000">
              <a:alpha val="55000"/>
            </a:srgbClr>
          </a:solidFill>
          <a:ln/>
        </p:spPr>
      </p:sp>
      <p:sp>
        <p:nvSpPr>
          <p:cNvPr id="26" name="Text 19"/>
          <p:cNvSpPr txBox="1"/>
          <p:nvPr/>
        </p:nvSpPr>
        <p:spPr>
          <a:xfrm>
            <a:off x="7154083" y="2812877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7289505" y="4051066"/>
            <a:ext cx="7938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✨ 出爐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8405622" y="3427171"/>
            <a:ext cx="19321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›</a:t>
            </a:r>
            <a:endParaRPr lang="en-US" sz="1500" dirty="0"/>
          </a:p>
        </p:txBody>
      </p:sp>
      <p:sp>
        <p:nvSpPr>
          <p:cNvPr id="29" name="Shape 22"/>
          <p:cNvSpPr/>
          <p:nvPr/>
        </p:nvSpPr>
        <p:spPr>
          <a:xfrm>
            <a:off x="8638885" y="2717597"/>
            <a:ext cx="1257300" cy="1714500"/>
          </a:xfrm>
          <a:prstGeom prst="roundRect">
            <a:avLst>
              <a:gd name="adj" fmla="val 12124"/>
            </a:avLst>
          </a:prstGeom>
          <a:solidFill>
            <a:srgbClr val="F4ECE1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pic>
        <p:nvPicPr>
          <p:cNvPr id="30" name="Image 5" descr="/home/user/gogoeveryday/social-course/export-pptx/build/img/p54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8885" y="2717597"/>
            <a:ext cx="1257300" cy="17145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8715055" y="2793766"/>
            <a:ext cx="283921" cy="342900"/>
          </a:xfrm>
          <a:prstGeom prst="roundRect">
            <a:avLst>
              <a:gd name="adj" fmla="val 50000"/>
            </a:avLst>
          </a:prstGeom>
          <a:solidFill>
            <a:srgbClr val="000000">
              <a:alpha val="55000"/>
            </a:srgbClr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8739835" y="2812877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8875258" y="4051066"/>
            <a:ext cx="7938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🎁 包裝</a:t>
            </a:r>
            <a:endParaRPr lang="en-US" sz="1500" dirty="0"/>
          </a:p>
        </p:txBody>
      </p:sp>
      <p:sp>
        <p:nvSpPr>
          <p:cNvPr id="34" name="Shape 26"/>
          <p:cNvSpPr/>
          <p:nvPr/>
        </p:nvSpPr>
        <p:spPr>
          <a:xfrm>
            <a:off x="800100" y="4670207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35" name="Shape 27"/>
          <p:cNvSpPr/>
          <p:nvPr/>
        </p:nvSpPr>
        <p:spPr>
          <a:xfrm>
            <a:off x="800100" y="4670207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6" name="Image 6" descr="/home/user/gogoeveryday/social-course/export-pptx/build/img/p54-6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5360" y="4999299"/>
            <a:ext cx="342900" cy="34290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1552560" y="4860768"/>
            <a:ext cx="4657588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每段拍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3–5 秒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就好，全部加起來大約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15–25 秒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不用配樂、不用字幕，也可以先發出去。</a:t>
            </a:r>
            <a:endParaRPr lang="en-US" sz="1575" dirty="0"/>
          </a:p>
        </p:txBody>
      </p:sp>
      <p:sp>
        <p:nvSpPr>
          <p:cNvPr id="38" name="Shape 29"/>
          <p:cNvSpPr/>
          <p:nvPr/>
        </p:nvSpPr>
        <p:spPr>
          <a:xfrm>
            <a:off x="10462199" y="228600"/>
            <a:ext cx="929762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9" name="Text 30"/>
          <p:cNvSpPr txBox="1"/>
          <p:nvPr/>
        </p:nvSpPr>
        <p:spPr>
          <a:xfrm>
            <a:off x="10586009" y="304770"/>
            <a:ext cx="7372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拆五格</a:t>
            </a:r>
            <a:endParaRPr lang="en-US" sz="1500" dirty="0"/>
          </a:p>
        </p:txBody>
      </p:sp>
      <p:sp>
        <p:nvSpPr>
          <p:cNvPr id="40" name="Text 31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7 · 14:44</a:t>
            </a:r>
            <a:endParaRPr lang="en-US" sz="1500" dirty="0"/>
          </a:p>
        </p:txBody>
      </p:sp>
      <p:sp>
        <p:nvSpPr>
          <p:cNvPr id="41" name="Text 32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54 / 76</a:t>
            </a:r>
            <a:endParaRPr lang="en-US" sz="15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5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26892"/>
            <a:ext cx="12015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初學者版本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207922"/>
            <a:ext cx="3144073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 3–5 個片段就好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1897106"/>
            <a:ext cx="5067330" cy="609630"/>
          </a:xfrm>
          <a:prstGeom prst="roundRect">
            <a:avLst>
              <a:gd name="adj" fmla="val 23444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00171" y="2049536"/>
            <a:ext cx="304770" cy="304770"/>
          </a:xfrm>
          <a:prstGeom prst="roundRect">
            <a:avLst>
              <a:gd name="adj" fmla="val 31263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58144" y="2049536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409730" y="2054291"/>
            <a:ext cx="5086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材料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00100" y="2611526"/>
            <a:ext cx="5067330" cy="609630"/>
          </a:xfrm>
          <a:prstGeom prst="roundRect">
            <a:avLst>
              <a:gd name="adj" fmla="val 23444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0171" y="2763865"/>
            <a:ext cx="304770" cy="304770"/>
          </a:xfrm>
          <a:prstGeom prst="roundRect">
            <a:avLst>
              <a:gd name="adj" fmla="val 31263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1058144" y="2763865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409730" y="2768620"/>
            <a:ext cx="5086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製作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0100" y="3325856"/>
            <a:ext cx="5067330" cy="609630"/>
          </a:xfrm>
          <a:prstGeom prst="roundRect">
            <a:avLst>
              <a:gd name="adj" fmla="val 23444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00171" y="3478286"/>
            <a:ext cx="304770" cy="304770"/>
          </a:xfrm>
          <a:prstGeom prst="roundRect">
            <a:avLst>
              <a:gd name="adj" fmla="val 31263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1058144" y="3478286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409730" y="3483041"/>
            <a:ext cx="5086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成品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00100" y="4040276"/>
            <a:ext cx="5067330" cy="609630"/>
          </a:xfrm>
          <a:prstGeom prst="roundRect">
            <a:avLst>
              <a:gd name="adj" fmla="val 23444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00171" y="4192615"/>
            <a:ext cx="304770" cy="304770"/>
          </a:xfrm>
          <a:prstGeom prst="roundRect">
            <a:avLst>
              <a:gd name="adj" fmla="val 31263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1058144" y="4192615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409730" y="4197370"/>
            <a:ext cx="5086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包裝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800100" y="4859396"/>
            <a:ext cx="5067330" cy="971550"/>
          </a:xfrm>
          <a:prstGeom prst="roundRect">
            <a:avLst>
              <a:gd name="adj" fmla="val 17647"/>
            </a:avLst>
          </a:prstGeom>
          <a:solidFill>
            <a:srgbClr val="DFE8DC"/>
          </a:solidFill>
          <a:ln/>
        </p:spPr>
      </p:sp>
      <p:sp>
        <p:nvSpPr>
          <p:cNvPr id="22" name="Shape 19"/>
          <p:cNvSpPr/>
          <p:nvPr/>
        </p:nvSpPr>
        <p:spPr>
          <a:xfrm>
            <a:off x="800100" y="4859396"/>
            <a:ext cx="47640" cy="971550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23" name="Image 1" descr="/home/user/gogoeveryday/social-course/export-pptx/build/img/p5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183276"/>
            <a:ext cx="323880" cy="32388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533540" y="5049865"/>
            <a:ext cx="2615275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用手機內建的相機錄，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直接在 IG 裡面接起來就好。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6286500" y="142921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現在不用先學這些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6324630" y="581010"/>
            <a:ext cx="5067330" cy="3562320"/>
          </a:xfrm>
          <a:prstGeom prst="roundRect">
            <a:avLst>
              <a:gd name="adj" fmla="val 6417"/>
            </a:avLst>
          </a:prstGeom>
          <a:solidFill>
            <a:srgbClr val="F4ECE1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6562740" y="847740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8" name="Text 24"/>
          <p:cNvSpPr txBox="1"/>
          <p:nvPr/>
        </p:nvSpPr>
        <p:spPr>
          <a:xfrm>
            <a:off x="6848490" y="847740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專業剪輯軟體</a:t>
            </a:r>
            <a:endParaRPr lang="en-US" sz="1500" dirty="0"/>
          </a:p>
        </p:txBody>
      </p:sp>
      <p:sp>
        <p:nvSpPr>
          <p:cNvPr id="29" name="Text 25"/>
          <p:cNvSpPr txBox="1"/>
          <p:nvPr/>
        </p:nvSpPr>
        <p:spPr>
          <a:xfrm>
            <a:off x="6562740" y="1299545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30" name="Text 26"/>
          <p:cNvSpPr txBox="1"/>
          <p:nvPr/>
        </p:nvSpPr>
        <p:spPr>
          <a:xfrm>
            <a:off x="6848490" y="1299545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炫技轉場</a:t>
            </a:r>
            <a:endParaRPr lang="en-US" sz="1500" dirty="0"/>
          </a:p>
        </p:txBody>
      </p:sp>
      <p:sp>
        <p:nvSpPr>
          <p:cNvPr id="31" name="Text 27"/>
          <p:cNvSpPr txBox="1"/>
          <p:nvPr/>
        </p:nvSpPr>
        <p:spPr>
          <a:xfrm>
            <a:off x="6562740" y="1751442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32" name="Text 28"/>
          <p:cNvSpPr txBox="1"/>
          <p:nvPr/>
        </p:nvSpPr>
        <p:spPr>
          <a:xfrm>
            <a:off x="6848490" y="1751442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高難度特效</a:t>
            </a:r>
            <a:endParaRPr lang="en-US" sz="1500" dirty="0"/>
          </a:p>
        </p:txBody>
      </p:sp>
      <p:sp>
        <p:nvSpPr>
          <p:cNvPr id="33" name="Text 29"/>
          <p:cNvSpPr txBox="1"/>
          <p:nvPr/>
        </p:nvSpPr>
        <p:spPr>
          <a:xfrm>
            <a:off x="6562740" y="2203247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34" name="Text 30"/>
          <p:cNvSpPr txBox="1"/>
          <p:nvPr/>
        </p:nvSpPr>
        <p:spPr>
          <a:xfrm>
            <a:off x="6848490" y="2203247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配音與字幕</a:t>
            </a:r>
            <a:endParaRPr lang="en-US" sz="1500" dirty="0"/>
          </a:p>
        </p:txBody>
      </p:sp>
      <p:sp>
        <p:nvSpPr>
          <p:cNvPr id="35" name="Text 31"/>
          <p:cNvSpPr txBox="1"/>
          <p:nvPr/>
        </p:nvSpPr>
        <p:spPr>
          <a:xfrm>
            <a:off x="6562740" y="2655052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36" name="Text 32"/>
          <p:cNvSpPr txBox="1"/>
          <p:nvPr/>
        </p:nvSpPr>
        <p:spPr>
          <a:xfrm>
            <a:off x="6848490" y="2655052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買燈光器材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6600871" y="3106948"/>
            <a:ext cx="451485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6562740" y="3249778"/>
            <a:ext cx="271595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這些以後有興趣再學。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先發出去，比拍得漂亮重要。</a:t>
            </a:r>
            <a:endParaRPr lang="en-US" sz="1500" dirty="0"/>
          </a:p>
        </p:txBody>
      </p:sp>
      <p:pic>
        <p:nvPicPr>
          <p:cNvPr id="39" name="Image 2" descr="/home/user/gogoeveryday/social-course/export-pptx/build/img/p55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4860" y="4352910"/>
            <a:ext cx="666780" cy="666780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7404080" y="5143500"/>
            <a:ext cx="2917850" cy="118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最常見的失敗原因不是拍得不好，</a:t>
            </a:r>
            <a:endParaRPr lang="en-US" sz="1500" dirty="0"/>
          </a:p>
          <a:p>
            <a:pPr algn="ctr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而是「想拍到完美，所以一直沒發」。</a:t>
            </a:r>
            <a:endParaRPr lang="en-US" sz="1500" dirty="0"/>
          </a:p>
        </p:txBody>
      </p:sp>
      <p:sp>
        <p:nvSpPr>
          <p:cNvPr id="41" name="Shape 36"/>
          <p:cNvSpPr/>
          <p:nvPr/>
        </p:nvSpPr>
        <p:spPr>
          <a:xfrm>
            <a:off x="10430927" y="228600"/>
            <a:ext cx="960943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42" name="Text 37"/>
          <p:cNvSpPr txBox="1"/>
          <p:nvPr/>
        </p:nvSpPr>
        <p:spPr>
          <a:xfrm>
            <a:off x="10554736" y="304770"/>
            <a:ext cx="76855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錄 5 秒</a:t>
            </a:r>
            <a:endParaRPr lang="en-US" sz="1500" dirty="0"/>
          </a:p>
        </p:txBody>
      </p:sp>
      <p:sp>
        <p:nvSpPr>
          <p:cNvPr id="43" name="Text 38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7 · 14:50</a:t>
            </a:r>
            <a:endParaRPr lang="en-US" sz="1500" dirty="0"/>
          </a:p>
        </p:txBody>
      </p:sp>
      <p:sp>
        <p:nvSpPr>
          <p:cNvPr id="44" name="Text 39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55 / 76</a:t>
            </a:r>
            <a:endParaRPr lang="en-US" sz="15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5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667786"/>
            <a:ext cx="176835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24 小時後就消失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048817"/>
            <a:ext cx="3562045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限時動態比較像 ——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1585570"/>
            <a:ext cx="2441448" cy="10438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000" b="1" spc="-9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「今天正在</a:t>
            </a:r>
            <a:endParaRPr lang="en-US" sz="3000" dirty="0"/>
          </a:p>
          <a:p>
            <a:pPr algn="l" indent="0" marL="0">
              <a:lnSpc>
                <a:spcPts val="3720"/>
              </a:lnSpc>
              <a:buNone/>
            </a:pPr>
            <a:r>
              <a:rPr lang="en-US" sz="3000" b="1" spc="-9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發生什麼？」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800100" y="2816169"/>
            <a:ext cx="2593147" cy="594451"/>
          </a:xfrm>
          <a:prstGeom prst="roundRect">
            <a:avLst>
              <a:gd name="adj" fmla="val 2242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43021" y="2958998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今天正在製作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507547" y="2816169"/>
            <a:ext cx="2593147" cy="594451"/>
          </a:xfrm>
          <a:prstGeom prst="roundRect">
            <a:avLst>
              <a:gd name="adj" fmla="val 2242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0468" y="2958998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今天在擺攤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00100" y="3524829"/>
            <a:ext cx="2593147" cy="594451"/>
          </a:xfrm>
          <a:prstGeom prst="roundRect">
            <a:avLst>
              <a:gd name="adj" fmla="val 2242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3021" y="3667750"/>
            <a:ext cx="151342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商品剩最後 3 個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3507547" y="3524829"/>
            <a:ext cx="2593147" cy="594451"/>
          </a:xfrm>
          <a:prstGeom prst="roundRect">
            <a:avLst>
              <a:gd name="adj" fmla="val 2242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50468" y="3667750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今天收到新材料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00100" y="4233581"/>
            <a:ext cx="2593147" cy="594451"/>
          </a:xfrm>
          <a:prstGeom prst="roundRect">
            <a:avLst>
              <a:gd name="adj" fmla="val 2242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43021" y="4376410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客人的回饋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507547" y="4233581"/>
            <a:ext cx="2593147" cy="594451"/>
          </a:xfrm>
          <a:prstGeom prst="roundRect">
            <a:avLst>
              <a:gd name="adj" fmla="val 2242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650468" y="4376410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明天新品預告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00100" y="5018502"/>
            <a:ext cx="5300685" cy="971550"/>
          </a:xfrm>
          <a:prstGeom prst="roundRect">
            <a:avLst>
              <a:gd name="adj" fmla="val 17647"/>
            </a:avLst>
          </a:prstGeom>
          <a:solidFill>
            <a:srgbClr val="F8E6C9"/>
          </a:solidFill>
          <a:ln/>
        </p:spPr>
      </p:sp>
      <p:sp>
        <p:nvSpPr>
          <p:cNvPr id="19" name="Shape 16"/>
          <p:cNvSpPr/>
          <p:nvPr/>
        </p:nvSpPr>
        <p:spPr>
          <a:xfrm>
            <a:off x="800100" y="5018502"/>
            <a:ext cx="47640" cy="971550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0" name="Image 1" descr="/home/user/gogoeveryday/social-course/export-pptx/build/img/p5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342291"/>
            <a:ext cx="323880" cy="32388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533540" y="5208971"/>
            <a:ext cx="2917850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因為 24 小時就消失，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所以不用有壓力，隨手拍就好。</a:t>
            </a:r>
            <a:endParaRPr lang="en-US" sz="1500" dirty="0"/>
          </a:p>
        </p:txBody>
      </p:sp>
      <p:pic>
        <p:nvPicPr>
          <p:cNvPr id="22" name="Image 2" descr="/home/user/gogoeveryday/social-course/export-pptx/build/img/p5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8608" y="404805"/>
            <a:ext cx="2590770" cy="525780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509510" y="5786415"/>
            <a:ext cx="2978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隨手拍、加一句話，就可以發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5" name="Text 20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手機實作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7 · 14:55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56 / 76</a:t>
            </a:r>
            <a:endParaRPr lang="en-US" sz="15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5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27954" y="469362"/>
            <a:ext cx="12015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兩種都可以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4175333" y="850392"/>
            <a:ext cx="3850904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因為它們的用途不一樣</a:t>
            </a:r>
            <a:endParaRPr lang="en-US" sz="2850" dirty="0"/>
          </a:p>
        </p:txBody>
      </p:sp>
      <p:pic>
        <p:nvPicPr>
          <p:cNvPr id="5" name="Image 1" descr="/home/user/gogoeveryday/social-course/export-pptx/build/img/p5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3640" y="1682496"/>
            <a:ext cx="1981230" cy="198123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753533" y="3768517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75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精緻商品照</a:t>
            </a:r>
            <a:endParaRPr lang="en-US" sz="1575" dirty="0"/>
          </a:p>
        </p:txBody>
      </p:sp>
      <p:sp>
        <p:nvSpPr>
          <p:cNvPr id="7" name="Text 3"/>
          <p:cNvSpPr txBox="1"/>
          <p:nvPr/>
        </p:nvSpPr>
        <p:spPr>
          <a:xfrm>
            <a:off x="2172889" y="4254246"/>
            <a:ext cx="2312060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放在</a:t>
            </a:r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貼文</a:t>
            </a:r>
            <a:pPr algn="ctr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</a:t>
            </a:r>
            <a:endParaRPr lang="en-US" sz="1500" dirty="0"/>
          </a:p>
          <a:p>
            <a:pPr algn="ctr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要留下來、要被反覆看到</a:t>
            </a:r>
            <a:endParaRPr lang="en-US" sz="1500" dirty="0"/>
          </a:p>
        </p:txBody>
      </p:sp>
      <p:pic>
        <p:nvPicPr>
          <p:cNvPr id="8" name="Image 2" descr="/home/user/gogoeveryday/social-course/export-pptx/build/img/p5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2188" y="1964223"/>
            <a:ext cx="963138" cy="96313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8347009" y="2908249"/>
            <a:ext cx="1139068" cy="458114"/>
          </a:xfrm>
          <a:prstGeom prst="roundRect">
            <a:avLst>
              <a:gd name="adj" fmla="val 16627"/>
            </a:avLst>
          </a:prstGeom>
          <a:solidFill>
            <a:srgbClr val="FFFFFF">
              <a:alpha val="92000"/>
            </a:srgbClr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8416503" y="2962747"/>
            <a:ext cx="1009132" cy="3395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還在忙 😅</a:t>
            </a:r>
            <a:endParaRPr lang="en-US" sz="1500" dirty="0"/>
          </a:p>
        </p:txBody>
      </p:sp>
      <p:sp>
        <p:nvSpPr>
          <p:cNvPr id="11" name="Shape 6"/>
          <p:cNvSpPr/>
          <p:nvPr/>
        </p:nvSpPr>
        <p:spPr>
          <a:xfrm>
            <a:off x="7991490" y="1796796"/>
            <a:ext cx="952530" cy="361920"/>
          </a:xfrm>
          <a:prstGeom prst="roundRect">
            <a:avLst>
              <a:gd name="adj" fmla="val 50000"/>
            </a:avLst>
          </a:prstGeom>
          <a:solidFill>
            <a:srgbClr val="000000">
              <a:alpha val="40000"/>
            </a:srgbClr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8023220" y="1825417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限時動態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7872984" y="3768517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75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手機隨手拍的工作桌</a:t>
            </a:r>
            <a:endParaRPr lang="en-US" sz="1575" dirty="0"/>
          </a:p>
        </p:txBody>
      </p:sp>
      <p:sp>
        <p:nvSpPr>
          <p:cNvPr id="14" name="Text 9"/>
          <p:cNvSpPr txBox="1"/>
          <p:nvPr/>
        </p:nvSpPr>
        <p:spPr>
          <a:xfrm>
            <a:off x="7659929" y="4254246"/>
            <a:ext cx="2424897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放在</a:t>
            </a:r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限時動態</a:t>
            </a:r>
            <a:pPr algn="ctr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</a:t>
            </a:r>
            <a:endParaRPr lang="en-US" sz="1500" dirty="0"/>
          </a:p>
          <a:p>
            <a:pPr algn="ctr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只活 24 小時、要的是真實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00100" y="5187666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DFE8DC"/>
          </a:solidFill>
          <a:ln/>
        </p:spPr>
      </p:sp>
      <p:sp>
        <p:nvSpPr>
          <p:cNvPr id="16" name="Shape 11"/>
          <p:cNvSpPr/>
          <p:nvPr/>
        </p:nvSpPr>
        <p:spPr>
          <a:xfrm>
            <a:off x="800100" y="5187666"/>
            <a:ext cx="47640" cy="1000994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17" name="Image 3" descr="/home/user/gogoeveryday/social-course/export-pptx/build/img/p57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360" y="5526268"/>
            <a:ext cx="323880" cy="3238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533540" y="5378226"/>
            <a:ext cx="3059308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很多人反而更喜歡右邊那種，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因為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看得出來是真的人在做事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  <p:sp>
        <p:nvSpPr>
          <p:cNvPr id="19" name="Text 13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7 · 15:00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57 / 76</a:t>
            </a:r>
            <a:endParaRPr lang="en-US" sz="15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66907"/>
            <a:ext cx="12015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一次分清楚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147938"/>
            <a:ext cx="2584369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兩個都要發嗎？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1813804"/>
            <a:ext cx="4291005" cy="1486174"/>
          </a:xfrm>
          <a:prstGeom prst="roundRect">
            <a:avLst>
              <a:gd name="adj" fmla="val 15382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0100" y="1813804"/>
            <a:ext cx="4271985" cy="38130"/>
          </a:xfrm>
          <a:prstGeom prst="rect">
            <a:avLst/>
          </a:prstGeom>
          <a:solidFill>
            <a:srgbClr val="8A5A6D"/>
          </a:solidFill>
          <a:ln/>
        </p:spPr>
      </p:sp>
      <p:pic>
        <p:nvPicPr>
          <p:cNvPr id="7" name="Image 1" descr="/home/user/gogoeveryday/social-course/export-pptx/build/img/p5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210" y="2032803"/>
            <a:ext cx="323880" cy="3238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38260" y="2047159"/>
            <a:ext cx="6252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Reels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000171" y="2442454"/>
            <a:ext cx="2211202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給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還不認識你的人</a:t>
            </a:r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看。</a:t>
            </a:r>
            <a:endParaRPr lang="en-US" sz="1575" dirty="0"/>
          </a:p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負責「被看見」。</a:t>
            </a:r>
            <a:endParaRPr lang="en-US" sz="1575" dirty="0"/>
          </a:p>
        </p:txBody>
      </p:sp>
      <p:sp>
        <p:nvSpPr>
          <p:cNvPr id="10" name="Shape 6"/>
          <p:cNvSpPr/>
          <p:nvPr/>
        </p:nvSpPr>
        <p:spPr>
          <a:xfrm>
            <a:off x="800100" y="3452409"/>
            <a:ext cx="4291005" cy="1486174"/>
          </a:xfrm>
          <a:prstGeom prst="roundRect">
            <a:avLst>
              <a:gd name="adj" fmla="val 15382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800100" y="3452409"/>
            <a:ext cx="4271985" cy="38130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2" name="Image 2" descr="/home/user/gogoeveryday/social-course/export-pptx/build/img/p58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210" y="3671407"/>
            <a:ext cx="323880" cy="3238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38260" y="3685764"/>
            <a:ext cx="8905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限時動態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000171" y="4081059"/>
            <a:ext cx="2529230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給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已經認識你的人</a:t>
            </a:r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看。</a:t>
            </a:r>
            <a:endParaRPr lang="en-US" sz="1575" dirty="0"/>
          </a:p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負責「被喜歡、被信任」。</a:t>
            </a:r>
            <a:endParaRPr lang="en-US" sz="1575" dirty="0"/>
          </a:p>
        </p:txBody>
      </p:sp>
      <p:sp>
        <p:nvSpPr>
          <p:cNvPr id="15" name="Text 10"/>
          <p:cNvSpPr txBox="1"/>
          <p:nvPr/>
        </p:nvSpPr>
        <p:spPr>
          <a:xfrm>
            <a:off x="761970" y="5110033"/>
            <a:ext cx="4506986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對照早上的漏斗：Reels 在最上面，限時動態在中間。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5586435" y="1042965"/>
            <a:ext cx="114300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Shape 12"/>
          <p:cNvSpPr/>
          <p:nvPr/>
        </p:nvSpPr>
        <p:spPr>
          <a:xfrm>
            <a:off x="5586435" y="1566824"/>
            <a:ext cx="1143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Shape 13"/>
          <p:cNvSpPr/>
          <p:nvPr/>
        </p:nvSpPr>
        <p:spPr>
          <a:xfrm>
            <a:off x="6729435" y="1042965"/>
            <a:ext cx="2443185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Shape 14"/>
          <p:cNvSpPr/>
          <p:nvPr/>
        </p:nvSpPr>
        <p:spPr>
          <a:xfrm>
            <a:off x="6729435" y="1566824"/>
            <a:ext cx="244318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6881774" y="1176376"/>
            <a:ext cx="77614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REELS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9172621" y="1042965"/>
            <a:ext cx="221934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Shape 17"/>
          <p:cNvSpPr/>
          <p:nvPr/>
        </p:nvSpPr>
        <p:spPr>
          <a:xfrm>
            <a:off x="9172621" y="1566824"/>
            <a:ext cx="22193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9324960" y="1176376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限時動態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5586435" y="1576426"/>
            <a:ext cx="1143000" cy="8667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hape 20"/>
          <p:cNvSpPr/>
          <p:nvPr/>
        </p:nvSpPr>
        <p:spPr>
          <a:xfrm>
            <a:off x="5586435" y="2433676"/>
            <a:ext cx="11430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5738774" y="1709745"/>
            <a:ext cx="731520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觸及對象</a:t>
            </a:r>
            <a:endParaRPr lang="en-US" sz="1575" dirty="0"/>
          </a:p>
        </p:txBody>
      </p:sp>
      <p:sp>
        <p:nvSpPr>
          <p:cNvPr id="27" name="Shape 22"/>
          <p:cNvSpPr/>
          <p:nvPr/>
        </p:nvSpPr>
        <p:spPr>
          <a:xfrm>
            <a:off x="6729435" y="1576426"/>
            <a:ext cx="2443185" cy="8667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Shape 23"/>
          <p:cNvSpPr/>
          <p:nvPr/>
        </p:nvSpPr>
        <p:spPr>
          <a:xfrm>
            <a:off x="6729435" y="2433676"/>
            <a:ext cx="2443185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6881774" y="1852574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被更多陌生人看到</a:t>
            </a:r>
            <a:endParaRPr lang="en-US" sz="1575" dirty="0"/>
          </a:p>
        </p:txBody>
      </p:sp>
      <p:sp>
        <p:nvSpPr>
          <p:cNvPr id="30" name="Shape 25"/>
          <p:cNvSpPr/>
          <p:nvPr/>
        </p:nvSpPr>
        <p:spPr>
          <a:xfrm>
            <a:off x="9172621" y="1576426"/>
            <a:ext cx="2219340" cy="8667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Shape 26"/>
          <p:cNvSpPr/>
          <p:nvPr/>
        </p:nvSpPr>
        <p:spPr>
          <a:xfrm>
            <a:off x="9172621" y="2433676"/>
            <a:ext cx="221934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9324960" y="1852574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跟目前的粉絲互動</a:t>
            </a:r>
            <a:endParaRPr lang="en-US" sz="1575" dirty="0"/>
          </a:p>
        </p:txBody>
      </p:sp>
      <p:sp>
        <p:nvSpPr>
          <p:cNvPr id="33" name="Shape 28"/>
          <p:cNvSpPr/>
          <p:nvPr/>
        </p:nvSpPr>
        <p:spPr>
          <a:xfrm>
            <a:off x="5586435" y="2443185"/>
            <a:ext cx="1143000" cy="8667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Shape 29"/>
          <p:cNvSpPr/>
          <p:nvPr/>
        </p:nvSpPr>
        <p:spPr>
          <a:xfrm>
            <a:off x="5586435" y="3300435"/>
            <a:ext cx="11430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5738774" y="2576505"/>
            <a:ext cx="731520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內容重點</a:t>
            </a:r>
            <a:endParaRPr lang="en-US" sz="1575" dirty="0"/>
          </a:p>
        </p:txBody>
      </p:sp>
      <p:sp>
        <p:nvSpPr>
          <p:cNvPr id="36" name="Shape 31"/>
          <p:cNvSpPr/>
          <p:nvPr/>
        </p:nvSpPr>
        <p:spPr>
          <a:xfrm>
            <a:off x="6729435" y="2443185"/>
            <a:ext cx="2443185" cy="8667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Shape 32"/>
          <p:cNvSpPr/>
          <p:nvPr/>
        </p:nvSpPr>
        <p:spPr>
          <a:xfrm>
            <a:off x="6729435" y="3300435"/>
            <a:ext cx="2443185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6881774" y="2719426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過程</a:t>
            </a:r>
            <a:endParaRPr lang="en-US" sz="1575" dirty="0"/>
          </a:p>
        </p:txBody>
      </p:sp>
      <p:sp>
        <p:nvSpPr>
          <p:cNvPr id="39" name="Shape 34"/>
          <p:cNvSpPr/>
          <p:nvPr/>
        </p:nvSpPr>
        <p:spPr>
          <a:xfrm>
            <a:off x="9172621" y="2443185"/>
            <a:ext cx="2219340" cy="8667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Shape 35"/>
          <p:cNvSpPr/>
          <p:nvPr/>
        </p:nvSpPr>
        <p:spPr>
          <a:xfrm>
            <a:off x="9172621" y="3300435"/>
            <a:ext cx="221934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9324960" y="2719426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即時</a:t>
            </a:r>
            <a:endParaRPr lang="en-US" sz="1575" dirty="0"/>
          </a:p>
        </p:txBody>
      </p:sp>
      <p:sp>
        <p:nvSpPr>
          <p:cNvPr id="42" name="Shape 37"/>
          <p:cNvSpPr/>
          <p:nvPr/>
        </p:nvSpPr>
        <p:spPr>
          <a:xfrm>
            <a:off x="5586435" y="3309945"/>
            <a:ext cx="114300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Shape 38"/>
          <p:cNvSpPr/>
          <p:nvPr/>
        </p:nvSpPr>
        <p:spPr>
          <a:xfrm>
            <a:off x="5586435" y="3881445"/>
            <a:ext cx="11430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5738774" y="3443265"/>
            <a:ext cx="73152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適合放</a:t>
            </a:r>
            <a:endParaRPr lang="en-US" sz="1575" dirty="0"/>
          </a:p>
        </p:txBody>
      </p:sp>
      <p:sp>
        <p:nvSpPr>
          <p:cNvPr id="45" name="Shape 40"/>
          <p:cNvSpPr/>
          <p:nvPr/>
        </p:nvSpPr>
        <p:spPr>
          <a:xfrm>
            <a:off x="6729435" y="3309945"/>
            <a:ext cx="2443185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Shape 41"/>
          <p:cNvSpPr/>
          <p:nvPr/>
        </p:nvSpPr>
        <p:spPr>
          <a:xfrm>
            <a:off x="6729435" y="3881445"/>
            <a:ext cx="2443185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6881774" y="3443265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商品展示、製作過程</a:t>
            </a:r>
            <a:endParaRPr lang="en-US" sz="1575" dirty="0"/>
          </a:p>
        </p:txBody>
      </p:sp>
      <p:sp>
        <p:nvSpPr>
          <p:cNvPr id="48" name="Shape 43"/>
          <p:cNvSpPr/>
          <p:nvPr/>
        </p:nvSpPr>
        <p:spPr>
          <a:xfrm>
            <a:off x="9172621" y="3309945"/>
            <a:ext cx="221934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Shape 44"/>
          <p:cNvSpPr/>
          <p:nvPr/>
        </p:nvSpPr>
        <p:spPr>
          <a:xfrm>
            <a:off x="9172621" y="3881445"/>
            <a:ext cx="221934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9324960" y="3443265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今天的狀況</a:t>
            </a:r>
            <a:endParaRPr lang="en-US" sz="1575" dirty="0"/>
          </a:p>
        </p:txBody>
      </p:sp>
      <p:sp>
        <p:nvSpPr>
          <p:cNvPr id="51" name="Shape 46"/>
          <p:cNvSpPr/>
          <p:nvPr/>
        </p:nvSpPr>
        <p:spPr>
          <a:xfrm>
            <a:off x="5586435" y="3890955"/>
            <a:ext cx="114300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Shape 47"/>
          <p:cNvSpPr/>
          <p:nvPr/>
        </p:nvSpPr>
        <p:spPr>
          <a:xfrm>
            <a:off x="5586435" y="4462455"/>
            <a:ext cx="11430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5738774" y="4024274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氣質</a:t>
            </a:r>
            <a:endParaRPr lang="en-US" sz="1575" dirty="0"/>
          </a:p>
        </p:txBody>
      </p:sp>
      <p:sp>
        <p:nvSpPr>
          <p:cNvPr id="54" name="Shape 49"/>
          <p:cNvSpPr/>
          <p:nvPr/>
        </p:nvSpPr>
        <p:spPr>
          <a:xfrm>
            <a:off x="6729435" y="3890955"/>
            <a:ext cx="2443185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Shape 50"/>
          <p:cNvSpPr/>
          <p:nvPr/>
        </p:nvSpPr>
        <p:spPr>
          <a:xfrm>
            <a:off x="6729435" y="4462455"/>
            <a:ext cx="2443185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6" name="Text 51"/>
          <p:cNvSpPr txBox="1"/>
          <p:nvPr/>
        </p:nvSpPr>
        <p:spPr>
          <a:xfrm>
            <a:off x="6881774" y="4024274"/>
            <a:ext cx="136309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幕後、有故事</a:t>
            </a:r>
            <a:endParaRPr lang="en-US" sz="1575" dirty="0"/>
          </a:p>
        </p:txBody>
      </p:sp>
      <p:sp>
        <p:nvSpPr>
          <p:cNvPr id="57" name="Shape 52"/>
          <p:cNvSpPr/>
          <p:nvPr/>
        </p:nvSpPr>
        <p:spPr>
          <a:xfrm>
            <a:off x="9172621" y="3890955"/>
            <a:ext cx="221934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8" name="Shape 53"/>
          <p:cNvSpPr/>
          <p:nvPr/>
        </p:nvSpPr>
        <p:spPr>
          <a:xfrm>
            <a:off x="9172621" y="4462455"/>
            <a:ext cx="221934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9" name="Text 54"/>
          <p:cNvSpPr txBox="1"/>
          <p:nvPr/>
        </p:nvSpPr>
        <p:spPr>
          <a:xfrm>
            <a:off x="9324960" y="4024274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提醒、閒聊</a:t>
            </a:r>
            <a:endParaRPr lang="en-US" sz="1575" dirty="0"/>
          </a:p>
        </p:txBody>
      </p:sp>
      <p:sp>
        <p:nvSpPr>
          <p:cNvPr id="60" name="Shape 55"/>
          <p:cNvSpPr/>
          <p:nvPr/>
        </p:nvSpPr>
        <p:spPr>
          <a:xfrm>
            <a:off x="5586435" y="4471965"/>
            <a:ext cx="114300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1" name="Shape 56"/>
          <p:cNvSpPr/>
          <p:nvPr/>
        </p:nvSpPr>
        <p:spPr>
          <a:xfrm>
            <a:off x="5586435" y="5043465"/>
            <a:ext cx="11430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2" name="Text 57"/>
          <p:cNvSpPr txBox="1"/>
          <p:nvPr/>
        </p:nvSpPr>
        <p:spPr>
          <a:xfrm>
            <a:off x="5738774" y="4605376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壽命</a:t>
            </a:r>
            <a:endParaRPr lang="en-US" sz="1575" dirty="0"/>
          </a:p>
        </p:txBody>
      </p:sp>
      <p:sp>
        <p:nvSpPr>
          <p:cNvPr id="63" name="Shape 58"/>
          <p:cNvSpPr/>
          <p:nvPr/>
        </p:nvSpPr>
        <p:spPr>
          <a:xfrm>
            <a:off x="6729435" y="4471965"/>
            <a:ext cx="2443185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4" name="Shape 59"/>
          <p:cNvSpPr/>
          <p:nvPr/>
        </p:nvSpPr>
        <p:spPr>
          <a:xfrm>
            <a:off x="6729435" y="5043465"/>
            <a:ext cx="2443185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5" name="Text 60"/>
          <p:cNvSpPr txBox="1"/>
          <p:nvPr/>
        </p:nvSpPr>
        <p:spPr>
          <a:xfrm>
            <a:off x="6881774" y="4605376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會一直留著</a:t>
            </a:r>
            <a:endParaRPr lang="en-US" sz="1575" dirty="0"/>
          </a:p>
        </p:txBody>
      </p:sp>
      <p:sp>
        <p:nvSpPr>
          <p:cNvPr id="66" name="Shape 61"/>
          <p:cNvSpPr/>
          <p:nvPr/>
        </p:nvSpPr>
        <p:spPr>
          <a:xfrm>
            <a:off x="9172621" y="4471965"/>
            <a:ext cx="221934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7" name="Shape 62"/>
          <p:cNvSpPr/>
          <p:nvPr/>
        </p:nvSpPr>
        <p:spPr>
          <a:xfrm>
            <a:off x="9172621" y="5043465"/>
            <a:ext cx="221934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8" name="Text 63"/>
          <p:cNvSpPr txBox="1"/>
          <p:nvPr/>
        </p:nvSpPr>
        <p:spPr>
          <a:xfrm>
            <a:off x="9324960" y="4605376"/>
            <a:ext cx="144932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24 小時後消失</a:t>
            </a:r>
            <a:endParaRPr lang="en-US" sz="1575" dirty="0"/>
          </a:p>
        </p:txBody>
      </p:sp>
      <p:sp>
        <p:nvSpPr>
          <p:cNvPr id="69" name="Text 64"/>
          <p:cNvSpPr txBox="1"/>
          <p:nvPr/>
        </p:nvSpPr>
        <p:spPr>
          <a:xfrm>
            <a:off x="5738774" y="5186385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要求</a:t>
            </a:r>
            <a:endParaRPr lang="en-US" sz="1575" dirty="0"/>
          </a:p>
        </p:txBody>
      </p:sp>
      <p:sp>
        <p:nvSpPr>
          <p:cNvPr id="70" name="Text 65"/>
          <p:cNvSpPr txBox="1"/>
          <p:nvPr/>
        </p:nvSpPr>
        <p:spPr>
          <a:xfrm>
            <a:off x="6881774" y="5186385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稍微想一下</a:t>
            </a:r>
            <a:endParaRPr lang="en-US" sz="1575" dirty="0"/>
          </a:p>
        </p:txBody>
      </p:sp>
      <p:sp>
        <p:nvSpPr>
          <p:cNvPr id="71" name="Text 66"/>
          <p:cNvSpPr txBox="1"/>
          <p:nvPr/>
        </p:nvSpPr>
        <p:spPr>
          <a:xfrm>
            <a:off x="9324960" y="5186385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隨手拍就好</a:t>
            </a:r>
            <a:endParaRPr lang="en-US" sz="1575" dirty="0"/>
          </a:p>
        </p:txBody>
      </p:sp>
      <p:sp>
        <p:nvSpPr>
          <p:cNvPr id="72" name="Text 67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7 · 15:02</a:t>
            </a:r>
            <a:endParaRPr lang="en-US" sz="1500" dirty="0"/>
          </a:p>
        </p:txBody>
      </p:sp>
      <p:sp>
        <p:nvSpPr>
          <p:cNvPr id="73" name="Text 68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58 / 76</a:t>
            </a:r>
            <a:endParaRPr lang="en-US" sz="15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5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296253"/>
            <a:ext cx="27036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15:05 – 15:35 ｜ PART 8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1496324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08</a:t>
            </a:r>
            <a:endParaRPr lang="en-US" sz="1125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3039374"/>
            <a:ext cx="3612794" cy="1562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 官方帳號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與顧客承接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876270" y="4982474"/>
            <a:ext cx="439616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FB、IG 把人帶來，這裡負責把人留下來。</a:t>
            </a:r>
            <a:endParaRPr lang="en-US" sz="1725" dirty="0"/>
          </a:p>
        </p:txBody>
      </p:sp>
      <p:pic>
        <p:nvPicPr>
          <p:cNvPr id="7" name="Image 1" descr="/home/user/gogoeveryday/social-course/export-pptx/build/img/p5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6871" y="2803916"/>
            <a:ext cx="1200150" cy="12001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61970" y="6343650"/>
            <a:ext cx="273030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8 · 15:05–15:35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59 / 76</a:t>
            </a:r>
            <a:endParaRPr lang="en-US" sz="15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6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67547"/>
            <a:ext cx="11407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私人 LINE</a:t>
            </a:r>
            <a:endParaRPr lang="en-US" sz="1500" dirty="0"/>
          </a:p>
        </p:txBody>
      </p:sp>
      <p:sp>
        <p:nvSpPr>
          <p:cNvPr id="4" name="Shape 1"/>
          <p:cNvSpPr/>
          <p:nvPr/>
        </p:nvSpPr>
        <p:spPr>
          <a:xfrm>
            <a:off x="800100" y="1205636"/>
            <a:ext cx="5067330" cy="4675327"/>
          </a:xfrm>
          <a:prstGeom prst="roundRect">
            <a:avLst>
              <a:gd name="adj" fmla="val 4889"/>
            </a:avLst>
          </a:prstGeom>
          <a:solidFill>
            <a:srgbClr val="F4ECE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038210" y="1472367"/>
            <a:ext cx="2489820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家人、朋友、個人聯絡</a:t>
            </a:r>
            <a:endParaRPr lang="en-US" sz="1800" dirty="0"/>
          </a:p>
        </p:txBody>
      </p:sp>
      <p:pic>
        <p:nvPicPr>
          <p:cNvPr id="6" name="Image 1" descr="/home/user/gogoeveryday/social-course/export-pptx/build/img/p6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9390" y="1967697"/>
            <a:ext cx="1428750" cy="11430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38210" y="3272546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8" name="Text 4"/>
          <p:cNvSpPr txBox="1"/>
          <p:nvPr/>
        </p:nvSpPr>
        <p:spPr>
          <a:xfrm>
            <a:off x="1323960" y="3272546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客人訊息會被家人群組洗掉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038210" y="3667293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0" name="Text 6"/>
          <p:cNvSpPr txBox="1"/>
          <p:nvPr/>
        </p:nvSpPr>
        <p:spPr>
          <a:xfrm>
            <a:off x="1323960" y="3667293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分不清誰是客人、誰是朋友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038210" y="4061948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2" name="Text 8"/>
          <p:cNvSpPr txBox="1"/>
          <p:nvPr/>
        </p:nvSpPr>
        <p:spPr>
          <a:xfrm>
            <a:off x="1323960" y="4061948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沒辦法群發新品通知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038210" y="4456694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4" name="Text 10"/>
          <p:cNvSpPr txBox="1"/>
          <p:nvPr/>
        </p:nvSpPr>
        <p:spPr>
          <a:xfrm>
            <a:off x="1323960" y="4456694"/>
            <a:ext cx="27159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別人加你＝看到你的私人生活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1038210" y="4851349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6" name="Text 12"/>
          <p:cNvSpPr txBox="1"/>
          <p:nvPr/>
        </p:nvSpPr>
        <p:spPr>
          <a:xfrm>
            <a:off x="1323960" y="4851349"/>
            <a:ext cx="27159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沒有數據，不知道有幾個客人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6286500" y="767547"/>
            <a:ext cx="158502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 官方帳號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6324630" y="1205636"/>
            <a:ext cx="5067330" cy="4675327"/>
          </a:xfrm>
          <a:prstGeom prst="roundRect">
            <a:avLst>
              <a:gd name="adj" fmla="val 488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24630" y="1205636"/>
            <a:ext cx="5048220" cy="38130"/>
          </a:xfrm>
          <a:prstGeom prst="rect">
            <a:avLst/>
          </a:prstGeom>
          <a:solidFill>
            <a:srgbClr val="06C755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6562740" y="1472367"/>
            <a:ext cx="2729667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顧客、會員、接單、活動</a:t>
            </a:r>
            <a:endParaRPr lang="en-US" sz="1800" dirty="0"/>
          </a:p>
        </p:txBody>
      </p:sp>
      <p:pic>
        <p:nvPicPr>
          <p:cNvPr id="21" name="Image 2" descr="/home/user/gogoeveryday/social-course/export-pptx/build/img/p60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2890" y="1967697"/>
            <a:ext cx="2190720" cy="160641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562740" y="3736056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3" name="Text 18"/>
          <p:cNvSpPr txBox="1"/>
          <p:nvPr/>
        </p:nvSpPr>
        <p:spPr>
          <a:xfrm>
            <a:off x="6821698" y="3736056"/>
            <a:ext cx="29178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客人訊息獨立一個地方，不會漏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6562740" y="4130711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5" name="Text 20"/>
          <p:cNvSpPr txBox="1"/>
          <p:nvPr/>
        </p:nvSpPr>
        <p:spPr>
          <a:xfrm>
            <a:off x="6821698" y="4130711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可以一次群發給所有好友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562740" y="4525457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7" name="Text 22"/>
          <p:cNvSpPr txBox="1"/>
          <p:nvPr/>
        </p:nvSpPr>
        <p:spPr>
          <a:xfrm>
            <a:off x="6821698" y="4525457"/>
            <a:ext cx="33217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可以看到有幾個人加入、幾個人看了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6562740" y="4920112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9" name="Text 24"/>
          <p:cNvSpPr txBox="1"/>
          <p:nvPr/>
        </p:nvSpPr>
        <p:spPr>
          <a:xfrm>
            <a:off x="6821698" y="4920112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不會暴露你的私人生活</a:t>
            </a:r>
            <a:endParaRPr lang="en-US" sz="1500" dirty="0"/>
          </a:p>
        </p:txBody>
      </p:sp>
      <p:sp>
        <p:nvSpPr>
          <p:cNvPr id="30" name="Text 25"/>
          <p:cNvSpPr txBox="1"/>
          <p:nvPr/>
        </p:nvSpPr>
        <p:spPr>
          <a:xfrm>
            <a:off x="6562740" y="5314767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31" name="Text 26"/>
          <p:cNvSpPr txBox="1"/>
          <p:nvPr/>
        </p:nvSpPr>
        <p:spPr>
          <a:xfrm>
            <a:off x="6821698" y="5314767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免費就能開，一個人也能用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8 · 15:05</a:t>
            </a:r>
            <a:endParaRPr lang="en-US" sz="1500" dirty="0"/>
          </a:p>
        </p:txBody>
      </p:sp>
      <p:sp>
        <p:nvSpPr>
          <p:cNvPr id="33" name="Text 28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60 / 76</a:t>
            </a:r>
            <a:endParaRPr lang="en-US" sz="15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6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657088"/>
            <a:ext cx="25342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基本功能（今天要會的）</a:t>
            </a:r>
            <a:endParaRPr lang="en-US" sz="1500" dirty="0"/>
          </a:p>
        </p:txBody>
      </p:sp>
      <p:sp>
        <p:nvSpPr>
          <p:cNvPr id="4" name="Shape 1"/>
          <p:cNvSpPr/>
          <p:nvPr/>
        </p:nvSpPr>
        <p:spPr>
          <a:xfrm>
            <a:off x="800100" y="1095268"/>
            <a:ext cx="2593147" cy="594451"/>
          </a:xfrm>
          <a:prstGeom prst="roundRect">
            <a:avLst>
              <a:gd name="adj" fmla="val 2242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23910" y="1238098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一對一聊天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507547" y="1095268"/>
            <a:ext cx="2593147" cy="594451"/>
          </a:xfrm>
          <a:prstGeom prst="roundRect">
            <a:avLst>
              <a:gd name="adj" fmla="val 2242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631448" y="123809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群發訊息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00100" y="1803928"/>
            <a:ext cx="2593147" cy="594451"/>
          </a:xfrm>
          <a:prstGeom prst="roundRect">
            <a:avLst>
              <a:gd name="adj" fmla="val 2242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23910" y="1946849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歡迎訊息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507547" y="1803928"/>
            <a:ext cx="2593147" cy="594451"/>
          </a:xfrm>
          <a:prstGeom prst="roundRect">
            <a:avLst>
              <a:gd name="adj" fmla="val 2242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31448" y="1946849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活動通知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00100" y="2512680"/>
            <a:ext cx="2593147" cy="594451"/>
          </a:xfrm>
          <a:prstGeom prst="roundRect">
            <a:avLst>
              <a:gd name="adj" fmla="val 2242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23910" y="2655509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新品通知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3507547" y="2512680"/>
            <a:ext cx="2593147" cy="594451"/>
          </a:xfrm>
          <a:prstGeom prst="roundRect">
            <a:avLst>
              <a:gd name="adj" fmla="val 2242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631448" y="265550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優惠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0100" y="3221340"/>
            <a:ext cx="2593147" cy="594451"/>
          </a:xfrm>
          <a:prstGeom prst="roundRect">
            <a:avLst>
              <a:gd name="adj" fmla="val 2242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23910" y="3364260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預約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3507547" y="3221340"/>
            <a:ext cx="2593147" cy="594451"/>
          </a:xfrm>
          <a:prstGeom prst="roundRect">
            <a:avLst>
              <a:gd name="adj" fmla="val 2242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631448" y="3364260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接單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761970" y="4034881"/>
            <a:ext cx="33217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進階功能（今天只要「知道有」）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800100" y="4473062"/>
            <a:ext cx="1690726" cy="594451"/>
          </a:xfrm>
          <a:prstGeom prst="roundRect">
            <a:avLst>
              <a:gd name="adj" fmla="val 22427"/>
            </a:avLst>
          </a:prstGeom>
          <a:solidFill>
            <a:srgbClr val="FFFFFF">
              <a:alpha val="0"/>
            </a:srgbClr>
          </a:solidFill>
          <a:ln w="9525">
            <a:solidFill>
              <a:srgbClr val="241C17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1200882" y="4615891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圖文選單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2605126" y="4473062"/>
            <a:ext cx="1690726" cy="594451"/>
          </a:xfrm>
          <a:prstGeom prst="roundRect">
            <a:avLst>
              <a:gd name="adj" fmla="val 22427"/>
            </a:avLst>
          </a:prstGeom>
          <a:solidFill>
            <a:srgbClr val="FFFFFF">
              <a:alpha val="0"/>
            </a:srgbClr>
          </a:solidFill>
          <a:ln w="9525">
            <a:solidFill>
              <a:srgbClr val="241C17"/>
            </a:solidFill>
            <a:prstDash val="dash"/>
          </a:ln>
        </p:spPr>
      </p:sp>
      <p:sp>
        <p:nvSpPr>
          <p:cNvPr id="24" name="Text 21"/>
          <p:cNvSpPr txBox="1"/>
          <p:nvPr/>
        </p:nvSpPr>
        <p:spPr>
          <a:xfrm>
            <a:off x="3103748" y="4615891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優惠券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4410060" y="4473062"/>
            <a:ext cx="1690726" cy="594451"/>
          </a:xfrm>
          <a:prstGeom prst="roundRect">
            <a:avLst>
              <a:gd name="adj" fmla="val 22427"/>
            </a:avLst>
          </a:prstGeom>
          <a:solidFill>
            <a:srgbClr val="FFFFFF">
              <a:alpha val="0"/>
            </a:srgbClr>
          </a:solidFill>
          <a:ln w="9525">
            <a:solidFill>
              <a:srgbClr val="241C1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4908682" y="4615891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集點卡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761970" y="5219852"/>
            <a:ext cx="5615422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＊這三個今天不教操作。等到你已經有 30–50 個好友，再回來設定就好。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175925" y="1118311"/>
            <a:ext cx="16457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圖文選單長這樣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7565197" y="1518361"/>
            <a:ext cx="2857500" cy="2621128"/>
          </a:xfrm>
          <a:prstGeom prst="roundRect">
            <a:avLst>
              <a:gd name="adj" fmla="val 5086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650968" y="1604040"/>
            <a:ext cx="857250" cy="1196310"/>
          </a:xfrm>
          <a:prstGeom prst="roundRect">
            <a:avLst>
              <a:gd name="adj" fmla="val 11115"/>
            </a:avLst>
          </a:prstGeom>
          <a:solidFill>
            <a:srgbClr val="F4ECE1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732898" y="1737451"/>
            <a:ext cx="702991" cy="929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🧺</a:t>
            </a:r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商品目錄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8565368" y="1604040"/>
            <a:ext cx="857250" cy="1196310"/>
          </a:xfrm>
          <a:prstGeom prst="roundRect">
            <a:avLst>
              <a:gd name="adj" fmla="val 11115"/>
            </a:avLst>
          </a:prstGeom>
          <a:solidFill>
            <a:srgbClr val="F4ECE1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647298" y="1737451"/>
            <a:ext cx="702991" cy="929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📝</a:t>
            </a:r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我要預訂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9479768" y="1604040"/>
            <a:ext cx="857250" cy="1196310"/>
          </a:xfrm>
          <a:prstGeom prst="roundRect">
            <a:avLst>
              <a:gd name="adj" fmla="val 11115"/>
            </a:avLst>
          </a:prstGeom>
          <a:solidFill>
            <a:srgbClr val="F4ECE1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9561698" y="1737451"/>
            <a:ext cx="702991" cy="929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🕘</a:t>
            </a:r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營業時間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7650968" y="2857500"/>
            <a:ext cx="857250" cy="1196310"/>
          </a:xfrm>
          <a:prstGeom prst="roundRect">
            <a:avLst>
              <a:gd name="adj" fmla="val 11115"/>
            </a:avLst>
          </a:prstGeom>
          <a:solidFill>
            <a:srgbClr val="F4ECE1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732898" y="2990820"/>
            <a:ext cx="702991" cy="929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📣</a:t>
            </a:r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最新消息</a:t>
            </a:r>
            <a:endParaRPr lang="en-US" sz="1500" dirty="0"/>
          </a:p>
        </p:txBody>
      </p:sp>
      <p:sp>
        <p:nvSpPr>
          <p:cNvPr id="38" name="Shape 35"/>
          <p:cNvSpPr/>
          <p:nvPr/>
        </p:nvSpPr>
        <p:spPr>
          <a:xfrm>
            <a:off x="8565368" y="2857500"/>
            <a:ext cx="857250" cy="1196310"/>
          </a:xfrm>
          <a:prstGeom prst="roundRect">
            <a:avLst>
              <a:gd name="adj" fmla="val 11115"/>
            </a:avLst>
          </a:prstGeom>
          <a:solidFill>
            <a:srgbClr val="F4ECE1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8647298" y="2990820"/>
            <a:ext cx="702991" cy="929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📍</a:t>
            </a:r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取貨地點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9479768" y="2857500"/>
            <a:ext cx="857250" cy="1196310"/>
          </a:xfrm>
          <a:prstGeom prst="roundRect">
            <a:avLst>
              <a:gd name="adj" fmla="val 11115"/>
            </a:avLst>
          </a:prstGeom>
          <a:solidFill>
            <a:srgbClr val="F4ECE1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9561698" y="2990820"/>
            <a:ext cx="702991" cy="929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💬</a:t>
            </a:r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聯絡我們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7565197" y="4349069"/>
            <a:ext cx="2857500" cy="1190640"/>
          </a:xfrm>
          <a:prstGeom prst="roundRect">
            <a:avLst>
              <a:gd name="adj" fmla="val 14400"/>
            </a:avLst>
          </a:prstGeom>
          <a:solidFill>
            <a:srgbClr val="DFE8DC"/>
          </a:solidFill>
          <a:ln/>
        </p:spPr>
      </p:sp>
      <p:sp>
        <p:nvSpPr>
          <p:cNvPr id="43" name="Shape 40"/>
          <p:cNvSpPr/>
          <p:nvPr/>
        </p:nvSpPr>
        <p:spPr>
          <a:xfrm>
            <a:off x="7565197" y="4349069"/>
            <a:ext cx="47640" cy="1190640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44" name="Image 1" descr="/home/user/gogoeveryday/social-course/export-pptx/build/img/p6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398" y="4801514"/>
            <a:ext cx="189738" cy="285750"/>
          </a:xfrm>
          <a:prstGeom prst="rect">
            <a:avLst/>
          </a:prstGeom>
        </p:spPr>
      </p:pic>
      <p:sp>
        <p:nvSpPr>
          <p:cNvPr id="45" name="Text 41"/>
          <p:cNvSpPr txBox="1"/>
          <p:nvPr/>
        </p:nvSpPr>
        <p:spPr>
          <a:xfrm>
            <a:off x="8088051" y="4501500"/>
            <a:ext cx="2211202" cy="885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客人一加入就看到</a:t>
            </a:r>
            <a:endParaRPr lang="en-US" sz="1500" dirty="0"/>
          </a:p>
          <a:p>
            <a:pPr algn="ctr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「我要預訂」</a:t>
            </a:r>
            <a:pPr algn="ctr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，不用問也知道怎麼買。</a:t>
            </a:r>
            <a:endParaRPr lang="en-US" sz="1500" dirty="0"/>
          </a:p>
        </p:txBody>
      </p:sp>
      <p:sp>
        <p:nvSpPr>
          <p:cNvPr id="46" name="Shape 42"/>
          <p:cNvSpPr/>
          <p:nvPr/>
        </p:nvSpPr>
        <p:spPr>
          <a:xfrm>
            <a:off x="10058400" y="228600"/>
            <a:ext cx="1333470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47" name="Text 43"/>
          <p:cNvSpPr txBox="1"/>
          <p:nvPr/>
        </p:nvSpPr>
        <p:spPr>
          <a:xfrm>
            <a:off x="10182210" y="304770"/>
            <a:ext cx="116110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寫歡迎訊息</a:t>
            </a:r>
            <a:endParaRPr lang="en-US" sz="1500" dirty="0"/>
          </a:p>
        </p:txBody>
      </p:sp>
      <p:sp>
        <p:nvSpPr>
          <p:cNvPr id="48" name="Text 44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8 · 15:11</a:t>
            </a:r>
            <a:endParaRPr lang="en-US" sz="1500" dirty="0"/>
          </a:p>
        </p:txBody>
      </p:sp>
      <p:sp>
        <p:nvSpPr>
          <p:cNvPr id="49" name="Text 4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61 / 76</a:t>
            </a:r>
            <a:endParaRPr lang="en-US" sz="15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6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76127" y="293614"/>
            <a:ext cx="20900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五個入口，一個出口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487339" y="674644"/>
            <a:ext cx="5226619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客人是怎麼加到你的 LINE 的？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2219340" y="1506748"/>
            <a:ext cx="1428750" cy="10858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pic>
        <p:nvPicPr>
          <p:cNvPr id="6" name="Image 1" descr="/home/user/gogoeveryday/social-course/export-pptx/build/img/p6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821" y="1706728"/>
            <a:ext cx="323880" cy="3238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425263" y="2116379"/>
            <a:ext cx="102623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3800521" y="1506748"/>
            <a:ext cx="1428750" cy="10858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pic>
        <p:nvPicPr>
          <p:cNvPr id="9" name="Image 2" descr="/home/user/gogoeveryday/social-course/export-pptx/build/img/p6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2910" y="1706728"/>
            <a:ext cx="323880" cy="3238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979469" y="2116379"/>
            <a:ext cx="10801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</a:t>
            </a:r>
            <a:endParaRPr lang="en-US" sz="1500" dirty="0"/>
          </a:p>
        </p:txBody>
      </p:sp>
      <p:sp>
        <p:nvSpPr>
          <p:cNvPr id="11" name="Shape 6"/>
          <p:cNvSpPr/>
          <p:nvPr/>
        </p:nvSpPr>
        <p:spPr>
          <a:xfrm>
            <a:off x="5381610" y="1506748"/>
            <a:ext cx="1428750" cy="10858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pic>
        <p:nvPicPr>
          <p:cNvPr id="12" name="Image 3" descr="/home/user/gogoeveryday/social-course/export-pptx/build/img/p62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1170" y="1610898"/>
            <a:ext cx="609630" cy="51572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5655381" y="2116379"/>
            <a:ext cx="8905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市集現場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6962790" y="1506748"/>
            <a:ext cx="1428750" cy="10858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pic>
        <p:nvPicPr>
          <p:cNvPr id="15" name="Image 4" descr="/home/user/gogoeveryday/social-course/export-pptx/build/img/p62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15271" y="1706728"/>
            <a:ext cx="323880" cy="32388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7427488" y="2116379"/>
            <a:ext cx="5086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名片</a:t>
            </a:r>
            <a:endParaRPr lang="en-US" sz="1500" dirty="0"/>
          </a:p>
        </p:txBody>
      </p:sp>
      <p:sp>
        <p:nvSpPr>
          <p:cNvPr id="17" name="Shape 10"/>
          <p:cNvSpPr/>
          <p:nvPr/>
        </p:nvSpPr>
        <p:spPr>
          <a:xfrm>
            <a:off x="8543971" y="1506748"/>
            <a:ext cx="1428750" cy="10858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pic>
        <p:nvPicPr>
          <p:cNvPr id="18" name="Image 5" descr="/home/user/gogoeveryday/social-course/export-pptx/build/img/p62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6360" y="1706728"/>
            <a:ext cx="323880" cy="32388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817651" y="2116379"/>
            <a:ext cx="8905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商品包裝</a:t>
            </a:r>
            <a:endParaRPr lang="en-US" sz="1500" dirty="0"/>
          </a:p>
        </p:txBody>
      </p:sp>
      <p:sp>
        <p:nvSpPr>
          <p:cNvPr id="20" name="Text 12"/>
          <p:cNvSpPr txBox="1"/>
          <p:nvPr/>
        </p:nvSpPr>
        <p:spPr>
          <a:xfrm>
            <a:off x="5920740" y="2764048"/>
            <a:ext cx="360091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↓</a:t>
            </a:r>
            <a:endParaRPr lang="en-US" sz="1800" dirty="0"/>
          </a:p>
        </p:txBody>
      </p:sp>
      <p:sp>
        <p:nvSpPr>
          <p:cNvPr id="21" name="Shape 13"/>
          <p:cNvSpPr/>
          <p:nvPr/>
        </p:nvSpPr>
        <p:spPr>
          <a:xfrm>
            <a:off x="3933840" y="3183118"/>
            <a:ext cx="4324380" cy="1104870"/>
          </a:xfrm>
          <a:prstGeom prst="roundRect">
            <a:avLst>
              <a:gd name="adj" fmla="val 20690"/>
            </a:avLst>
          </a:prstGeom>
          <a:solidFill>
            <a:srgbClr val="241C17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Shape 14"/>
          <p:cNvSpPr/>
          <p:nvPr/>
        </p:nvSpPr>
        <p:spPr>
          <a:xfrm>
            <a:off x="4229100" y="3383189"/>
            <a:ext cx="704820" cy="704820"/>
          </a:xfrm>
          <a:prstGeom prst="roundRect">
            <a:avLst>
              <a:gd name="adj" fmla="val 16217"/>
            </a:avLst>
          </a:prstGeom>
          <a:solidFill>
            <a:srgbClr val="FFFFFF"/>
          </a:solidFill>
          <a:ln/>
        </p:spPr>
      </p:sp>
      <p:pic>
        <p:nvPicPr>
          <p:cNvPr id="23" name="Image 6" descr="/home/user/gogoeveryday/social-course/export-pptx/build/img/p62-6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05270" y="3459358"/>
            <a:ext cx="552480" cy="55248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5781203" y="3411718"/>
            <a:ext cx="1515435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你的 QR Code</a:t>
            </a:r>
            <a:endParaRPr lang="en-US" sz="1650" dirty="0"/>
          </a:p>
        </p:txBody>
      </p:sp>
      <p:sp>
        <p:nvSpPr>
          <p:cNvPr id="25" name="Text 16"/>
          <p:cNvSpPr txBox="1"/>
          <p:nvPr/>
        </p:nvSpPr>
        <p:spPr>
          <a:xfrm>
            <a:off x="4978999" y="3754618"/>
            <a:ext cx="31198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印出來、放大、貼在看得到的地方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5920740" y="4354739"/>
            <a:ext cx="360091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↓</a:t>
            </a:r>
            <a:endParaRPr lang="en-US" sz="1800" dirty="0"/>
          </a:p>
        </p:txBody>
      </p:sp>
      <p:sp>
        <p:nvSpPr>
          <p:cNvPr id="27" name="Shape 18"/>
          <p:cNvSpPr/>
          <p:nvPr/>
        </p:nvSpPr>
        <p:spPr>
          <a:xfrm>
            <a:off x="4481657" y="4773808"/>
            <a:ext cx="3228564" cy="666780"/>
          </a:xfrm>
          <a:prstGeom prst="roundRect">
            <a:avLst>
              <a:gd name="adj" fmla="val 3428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8" name="Shape 19"/>
          <p:cNvSpPr/>
          <p:nvPr/>
        </p:nvSpPr>
        <p:spPr>
          <a:xfrm>
            <a:off x="4481657" y="4773808"/>
            <a:ext cx="3209453" cy="38130"/>
          </a:xfrm>
          <a:prstGeom prst="rect">
            <a:avLst/>
          </a:prstGeom>
          <a:solidFill>
            <a:srgbClr val="06C755"/>
          </a:solidFill>
          <a:ln/>
        </p:spPr>
      </p:sp>
      <p:sp>
        <p:nvSpPr>
          <p:cNvPr id="29" name="Text 20"/>
          <p:cNvSpPr txBox="1"/>
          <p:nvPr/>
        </p:nvSpPr>
        <p:spPr>
          <a:xfrm>
            <a:off x="5109576" y="4945258"/>
            <a:ext cx="2382286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LINE 官方帳號好友 ＋1</a:t>
            </a:r>
            <a:endParaRPr lang="en-US" sz="1650" dirty="0"/>
          </a:p>
        </p:txBody>
      </p:sp>
      <p:sp>
        <p:nvSpPr>
          <p:cNvPr id="30" name="Shape 21"/>
          <p:cNvSpPr/>
          <p:nvPr/>
        </p:nvSpPr>
        <p:spPr>
          <a:xfrm>
            <a:off x="2744663" y="5659679"/>
            <a:ext cx="6702643" cy="704820"/>
          </a:xfrm>
          <a:prstGeom prst="roundRect">
            <a:avLst>
              <a:gd name="adj" fmla="val 24325"/>
            </a:avLst>
          </a:prstGeom>
          <a:solidFill>
            <a:srgbClr val="FBEEE6"/>
          </a:solidFill>
          <a:ln/>
        </p:spPr>
      </p:sp>
      <p:sp>
        <p:nvSpPr>
          <p:cNvPr id="31" name="Shape 22"/>
          <p:cNvSpPr/>
          <p:nvPr/>
        </p:nvSpPr>
        <p:spPr>
          <a:xfrm>
            <a:off x="2744663" y="5659679"/>
            <a:ext cx="47640" cy="704820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2" name="Image 7" descr="/home/user/gogoeveryday/social-course/export-pptx/build/img/p62-7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39923" y="5850148"/>
            <a:ext cx="323880" cy="32388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3305007" y="5857006"/>
            <a:ext cx="611532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最常見的錯誤：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QR Code 印太小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，或是放在客人看不到的地方。</a:t>
            </a:r>
            <a:endParaRPr lang="en-US" sz="1575" dirty="0"/>
          </a:p>
        </p:txBody>
      </p:sp>
      <p:sp>
        <p:nvSpPr>
          <p:cNvPr id="34" name="Text 24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8 · 15:18</a:t>
            </a:r>
            <a:endParaRPr lang="en-US" sz="1500" dirty="0"/>
          </a:p>
        </p:txBody>
      </p:sp>
      <p:sp>
        <p:nvSpPr>
          <p:cNvPr id="35" name="Text 2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62 / 76</a:t>
            </a:r>
            <a:endParaRPr lang="en-US" sz="15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6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12409"/>
            <a:ext cx="12015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殘酷的事實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093440"/>
            <a:ext cx="2722900" cy="1426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社群上的人，</a:t>
            </a:r>
            <a:endParaRPr lang="en-US" sz="2850" dirty="0"/>
          </a:p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今天看到你，</a:t>
            </a:r>
            <a:endParaRPr lang="en-US" sz="2850" dirty="0"/>
          </a:p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明天就忘了你。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2665842"/>
            <a:ext cx="5048220" cy="613471"/>
          </a:xfrm>
          <a:prstGeom prst="roundRect">
            <a:avLst>
              <a:gd name="adj" fmla="val 2329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62040" y="2820101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71671" y="2818181"/>
            <a:ext cx="28172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在 IG 看到你的果醬，覺得不錯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00100" y="3384012"/>
            <a:ext cx="5048220" cy="613471"/>
          </a:xfrm>
          <a:prstGeom prst="roundRect">
            <a:avLst>
              <a:gd name="adj" fmla="val 2329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62040" y="3538362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明天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71671" y="3536442"/>
            <a:ext cx="215542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已經滑過 300 篇貼文了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00100" y="4102273"/>
            <a:ext cx="5048220" cy="613471"/>
          </a:xfrm>
          <a:prstGeom prst="roundRect">
            <a:avLst>
              <a:gd name="adj" fmla="val 2329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62040" y="425662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下週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71671" y="4254703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完全想不起來你叫什麼名字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00100" y="4944344"/>
            <a:ext cx="5048220" cy="1000994"/>
          </a:xfrm>
          <a:prstGeom prst="roundRect">
            <a:avLst>
              <a:gd name="adj" fmla="val 17128"/>
            </a:avLst>
          </a:prstGeom>
          <a:solidFill>
            <a:srgbClr val="DFE8DC"/>
          </a:solidFill>
          <a:ln/>
        </p:spPr>
      </p:sp>
      <p:sp>
        <p:nvSpPr>
          <p:cNvPr id="15" name="Shape 12"/>
          <p:cNvSpPr/>
          <p:nvPr/>
        </p:nvSpPr>
        <p:spPr>
          <a:xfrm>
            <a:off x="800100" y="4944344"/>
            <a:ext cx="47640" cy="1000994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16" name="Image 1" descr="/home/user/gogoeveryday/social-course/export-pptx/build/img/p6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273436"/>
            <a:ext cx="342900" cy="3429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552560" y="5134905"/>
            <a:ext cx="3589203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 可以讓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已經有興趣的人留下來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下次你有新品，可以直接告訴他。</a:t>
            </a:r>
            <a:endParaRPr lang="en-US" sz="1575" dirty="0"/>
          </a:p>
        </p:txBody>
      </p:sp>
      <p:pic>
        <p:nvPicPr>
          <p:cNvPr id="18" name="Image 2" descr="/home/user/gogoeveryday/social-course/export-pptx/build/img/p63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2421" y="404805"/>
            <a:ext cx="2590770" cy="52578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161215" y="5786415"/>
            <a:ext cx="34227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半年前加的好友，今天還找得到他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8 · 15:23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63 / 76</a:t>
            </a:r>
            <a:endParaRPr lang="en-US" sz="15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645201"/>
            <a:ext cx="12372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 錯誤示範</a:t>
            </a:r>
            <a:endParaRPr lang="en-US" sz="1500" dirty="0"/>
          </a:p>
        </p:txBody>
      </p:sp>
      <p:sp>
        <p:nvSpPr>
          <p:cNvPr id="4" name="Shape 1"/>
          <p:cNvSpPr/>
          <p:nvPr/>
        </p:nvSpPr>
        <p:spPr>
          <a:xfrm>
            <a:off x="800100" y="1083290"/>
            <a:ext cx="5086350" cy="4919929"/>
          </a:xfrm>
          <a:prstGeom prst="roundRect">
            <a:avLst>
              <a:gd name="adj" fmla="val 4646"/>
            </a:avLst>
          </a:prstGeom>
          <a:solidFill>
            <a:srgbClr val="F4ECE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000171" y="1331001"/>
            <a:ext cx="4937211" cy="2562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150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大家好，我是小芳，很高興認識大家！今年冬天特別冷，不知道大家有沒有好好照顧自己呢？ 最近我們家的果醬有了新的口味，是用大湖的草莓做的，草莓是我一大早開車去收的， 回來以後要一顆一顆去蒂，這個過程其實很花時間，大概要兩個小時…… 總之如果有興趣的話歡迎跟我說，我們這週三會在西屯市集擺攤， 攤位大概在中間偏右邊的位置，如果找不到可以打電話給我……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1038210" y="4064599"/>
            <a:ext cx="461013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00171" y="4198010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1285921" y="4198010"/>
            <a:ext cx="268175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整篇 FB 文章直接貼進 LINE</a:t>
            </a:r>
            <a:endParaRPr lang="en-US" sz="1575" dirty="0"/>
          </a:p>
        </p:txBody>
      </p:sp>
      <p:sp>
        <p:nvSpPr>
          <p:cNvPr id="9" name="Text 6"/>
          <p:cNvSpPr txBox="1"/>
          <p:nvPr/>
        </p:nvSpPr>
        <p:spPr>
          <a:xfrm>
            <a:off x="1000171" y="4583796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0" name="Text 7"/>
          <p:cNvSpPr txBox="1"/>
          <p:nvPr/>
        </p:nvSpPr>
        <p:spPr>
          <a:xfrm>
            <a:off x="1285921" y="4583796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看完不知道要做什麼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1000171" y="4969490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1285921" y="4969490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客人手指滑兩下就關掉了</a:t>
            </a:r>
            <a:endParaRPr lang="en-US" sz="1575" dirty="0"/>
          </a:p>
        </p:txBody>
      </p:sp>
      <p:sp>
        <p:nvSpPr>
          <p:cNvPr id="13" name="Text 10"/>
          <p:cNvSpPr txBox="1"/>
          <p:nvPr/>
        </p:nvSpPr>
        <p:spPr>
          <a:xfrm>
            <a:off x="6267480" y="645201"/>
            <a:ext cx="12115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 正確示範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305520" y="1083290"/>
            <a:ext cx="5086350" cy="4919929"/>
          </a:xfrm>
          <a:prstGeom prst="roundRect">
            <a:avLst>
              <a:gd name="adj" fmla="val 4646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5520" y="1083290"/>
            <a:ext cx="5067330" cy="38130"/>
          </a:xfrm>
          <a:prstGeom prst="rect">
            <a:avLst/>
          </a:prstGeom>
          <a:solidFill>
            <a:srgbClr val="06C755"/>
          </a:solidFill>
          <a:ln/>
        </p:spPr>
      </p:sp>
      <p:sp>
        <p:nvSpPr>
          <p:cNvPr id="16" name="Shape 13"/>
          <p:cNvSpPr/>
          <p:nvPr/>
        </p:nvSpPr>
        <p:spPr>
          <a:xfrm>
            <a:off x="6543721" y="1321399"/>
            <a:ext cx="4610130" cy="2266980"/>
          </a:xfrm>
          <a:prstGeom prst="roundRect">
            <a:avLst>
              <a:gd name="adj" fmla="val 5881"/>
            </a:avLst>
          </a:prstGeom>
          <a:solidFill>
            <a:srgbClr val="8FB6D8"/>
          </a:solidFill>
          <a:ln/>
        </p:spPr>
      </p:sp>
      <p:sp>
        <p:nvSpPr>
          <p:cNvPr id="17" name="Shape 14"/>
          <p:cNvSpPr/>
          <p:nvPr/>
        </p:nvSpPr>
        <p:spPr>
          <a:xfrm>
            <a:off x="6677040" y="1473830"/>
            <a:ext cx="4343400" cy="1962120"/>
          </a:xfrm>
          <a:prstGeom prst="roundRect">
            <a:avLst>
              <a:gd name="adj" fmla="val 19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762720" y="1569110"/>
            <a:ext cx="2004639" cy="1771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🍪 本週餅乾開放預訂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原味／巧克力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8/20 前可預訂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👉 回覆「我要預訂」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505590" y="3750320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0" name="Text 17"/>
          <p:cNvSpPr txBox="1"/>
          <p:nvPr/>
        </p:nvSpPr>
        <p:spPr>
          <a:xfrm>
            <a:off x="6764548" y="3750320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一則訊息只講一件事</a:t>
            </a:r>
            <a:endParaRPr lang="en-US" sz="1575" dirty="0"/>
          </a:p>
        </p:txBody>
      </p:sp>
      <p:sp>
        <p:nvSpPr>
          <p:cNvPr id="21" name="Text 18"/>
          <p:cNvSpPr txBox="1"/>
          <p:nvPr/>
        </p:nvSpPr>
        <p:spPr>
          <a:xfrm>
            <a:off x="6505590" y="4136106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2" name="Text 19"/>
          <p:cNvSpPr txBox="1"/>
          <p:nvPr/>
        </p:nvSpPr>
        <p:spPr>
          <a:xfrm>
            <a:off x="6764548" y="4136106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有明確的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下一步動作</a:t>
            </a:r>
            <a:endParaRPr lang="en-US" sz="1575" dirty="0"/>
          </a:p>
        </p:txBody>
      </p:sp>
      <p:sp>
        <p:nvSpPr>
          <p:cNvPr id="23" name="Text 20"/>
          <p:cNvSpPr txBox="1"/>
          <p:nvPr/>
        </p:nvSpPr>
        <p:spPr>
          <a:xfrm>
            <a:off x="6505590" y="4521799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4" name="Text 21"/>
          <p:cNvSpPr txBox="1"/>
          <p:nvPr/>
        </p:nvSpPr>
        <p:spPr>
          <a:xfrm>
            <a:off x="6764548" y="4521799"/>
            <a:ext cx="157505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三秒鐘就能看完</a:t>
            </a:r>
            <a:endParaRPr lang="en-US" sz="1575" dirty="0"/>
          </a:p>
        </p:txBody>
      </p:sp>
      <p:sp>
        <p:nvSpPr>
          <p:cNvPr id="25" name="Shape 22"/>
          <p:cNvSpPr/>
          <p:nvPr/>
        </p:nvSpPr>
        <p:spPr>
          <a:xfrm>
            <a:off x="6543721" y="4983846"/>
            <a:ext cx="461013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505590" y="5136185"/>
            <a:ext cx="483223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結構：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做什麼 → 有什麼選擇 → 到什麼時候 → 怎麼回我</a:t>
            </a:r>
            <a:endParaRPr lang="en-US" sz="1575" dirty="0"/>
          </a:p>
        </p:txBody>
      </p:sp>
      <p:sp>
        <p:nvSpPr>
          <p:cNvPr id="27" name="Shape 24"/>
          <p:cNvSpPr/>
          <p:nvPr/>
        </p:nvSpPr>
        <p:spPr>
          <a:xfrm>
            <a:off x="10058400" y="228600"/>
            <a:ext cx="1333470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10182210" y="304770"/>
            <a:ext cx="116110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寫一則訊息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8 · 15:27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64 / 76</a:t>
            </a:r>
            <a:endParaRPr lang="en-US" sz="15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6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524317"/>
            <a:ext cx="7601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動手做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905347"/>
            <a:ext cx="365302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至少要找到這七個地方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1514064"/>
            <a:ext cx="2836103" cy="514350"/>
          </a:xfrm>
          <a:prstGeom prst="roundRect">
            <a:avLst>
              <a:gd name="adj" fmla="val 2592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1247790" y="1618762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官方帳號首頁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769523" y="1514064"/>
            <a:ext cx="2836103" cy="514350"/>
          </a:xfrm>
          <a:prstGeom prst="roundRect">
            <a:avLst>
              <a:gd name="adj" fmla="val 2592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217213" y="1618762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帳號名稱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00100" y="2123603"/>
            <a:ext cx="2836103" cy="514350"/>
          </a:xfrm>
          <a:prstGeom prst="roundRect">
            <a:avLst>
              <a:gd name="adj" fmla="val 2592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247790" y="2228393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大頭貼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769523" y="2123603"/>
            <a:ext cx="2836103" cy="514350"/>
          </a:xfrm>
          <a:prstGeom prst="roundRect">
            <a:avLst>
              <a:gd name="adj" fmla="val 2592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217213" y="2228393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基本介紹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0100" y="2733233"/>
            <a:ext cx="2836103" cy="514350"/>
          </a:xfrm>
          <a:prstGeom prst="roundRect">
            <a:avLst>
              <a:gd name="adj" fmla="val 2592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1247790" y="2838023"/>
            <a:ext cx="138595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我的 QR Code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769523" y="2733233"/>
            <a:ext cx="2836103" cy="514350"/>
          </a:xfrm>
          <a:prstGeom prst="roundRect">
            <a:avLst>
              <a:gd name="adj" fmla="val 2592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217213" y="2838023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加好友的方式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00100" y="3342864"/>
            <a:ext cx="2836103" cy="514350"/>
          </a:xfrm>
          <a:prstGeom prst="roundRect">
            <a:avLst>
              <a:gd name="adj" fmla="val 2592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1247790" y="3447562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群發訊息的位置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00100" y="4028664"/>
            <a:ext cx="5805526" cy="1190640"/>
          </a:xfrm>
          <a:prstGeom prst="roundRect">
            <a:avLst>
              <a:gd name="adj" fmla="val 14400"/>
            </a:avLst>
          </a:prstGeom>
          <a:solidFill>
            <a:srgbClr val="FBEEE6"/>
          </a:solidFill>
          <a:ln/>
        </p:spPr>
      </p:sp>
      <p:sp>
        <p:nvSpPr>
          <p:cNvPr id="20" name="Shape 17"/>
          <p:cNvSpPr/>
          <p:nvPr/>
        </p:nvSpPr>
        <p:spPr>
          <a:xfrm>
            <a:off x="800100" y="4028664"/>
            <a:ext cx="47640" cy="1190640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1" name="Image 1" descr="/home/user/gogoeveryday/social-course/export-pptx/build/img/p6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4471507"/>
            <a:ext cx="304770" cy="30477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476390" y="4181003"/>
            <a:ext cx="3408243" cy="885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還沒有官方帳號的人：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用手機下載「LINE 官方帳號」App，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用現有的 LINE 帳號就能建立。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761970" y="5352623"/>
            <a:ext cx="5139111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＊視課堂進度與網路狀況，決定是否現場實際建立帳號。</a:t>
            </a: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如果時間不夠，先讓大家把步驟記下來，回家再做。</a:t>
            </a:r>
            <a:endParaRPr lang="en-US" sz="1500" dirty="0"/>
          </a:p>
        </p:txBody>
      </p:sp>
      <p:pic>
        <p:nvPicPr>
          <p:cNvPr id="24" name="Image 2" descr="/home/user/gogoeveryday/social-course/export-pptx/build/img/p65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0982" y="404805"/>
            <a:ext cx="2590770" cy="525780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457664" y="5786415"/>
            <a:ext cx="358691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「分享我的帳號」裡就有 QR Code</a:t>
            </a:r>
            <a:endParaRPr lang="en-US" sz="1500" dirty="0"/>
          </a:p>
        </p:txBody>
      </p:sp>
      <p:sp>
        <p:nvSpPr>
          <p:cNvPr id="26" name="Shape 21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手機實作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8 · 15:31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65 / 76</a:t>
            </a:r>
            <a:endParaRPr lang="en-US" sz="15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6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296253"/>
            <a:ext cx="27036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15:35 – 16:00 ｜ PART 9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1496324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</a:t>
            </a:r>
            <a:endParaRPr lang="en-US" sz="1125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3039374"/>
            <a:ext cx="2833177" cy="1562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免費曝光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＋成果實作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876270" y="4982474"/>
            <a:ext cx="581146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沒有廣告費也可以。最後 25 分鐘，把今天學的做出來。</a:t>
            </a:r>
            <a:endParaRPr lang="en-US" sz="1725" dirty="0"/>
          </a:p>
        </p:txBody>
      </p:sp>
      <p:pic>
        <p:nvPicPr>
          <p:cNvPr id="7" name="Image 1" descr="/home/user/gogoeveryday/social-course/export-pptx/build/img/p6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978213"/>
            <a:ext cx="3429000" cy="290139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61970" y="6343650"/>
            <a:ext cx="273030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9 · 15:35–16:00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66 / 76</a:t>
            </a:r>
            <a:endParaRPr lang="en-US" sz="15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6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174547"/>
            <a:ext cx="20900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十個不用花錢的方法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555577"/>
            <a:ext cx="3474903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免費曝光的十個地方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2387681"/>
            <a:ext cx="2011589" cy="1047720"/>
          </a:xfrm>
          <a:prstGeom prst="roundRect">
            <a:avLst>
              <a:gd name="adj" fmla="val 14549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6" name="Image 1" descr="/home/user/gogoeveryday/social-course/export-pptx/build/img/p6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889" y="2595250"/>
            <a:ext cx="361920" cy="28949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64544" y="2978201"/>
            <a:ext cx="149211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 社團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2945008" y="2387681"/>
            <a:ext cx="2011680" cy="1047720"/>
          </a:xfrm>
          <a:prstGeom prst="roundRect">
            <a:avLst>
              <a:gd name="adj" fmla="val 14549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9" name="Image 2" descr="/home/user/gogoeveryday/social-course/export-pptx/build/img/p6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7927" y="2597170"/>
            <a:ext cx="285750" cy="28575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304367" y="2978201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個人帳號分享</a:t>
            </a:r>
            <a:endParaRPr lang="en-US" sz="1500" dirty="0"/>
          </a:p>
        </p:txBody>
      </p:sp>
      <p:sp>
        <p:nvSpPr>
          <p:cNvPr id="11" name="Shape 6"/>
          <p:cNvSpPr/>
          <p:nvPr/>
        </p:nvSpPr>
        <p:spPr>
          <a:xfrm>
            <a:off x="5090099" y="2387681"/>
            <a:ext cx="2011680" cy="1047720"/>
          </a:xfrm>
          <a:prstGeom prst="roundRect">
            <a:avLst>
              <a:gd name="adj" fmla="val 14549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12" name="Image 3" descr="/home/user/gogoeveryday/social-course/export-pptx/build/img/p67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3907" y="2578151"/>
            <a:ext cx="323880" cy="3238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5449367" y="2978201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顧客主動分享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7235099" y="2387681"/>
            <a:ext cx="2011680" cy="1047720"/>
          </a:xfrm>
          <a:prstGeom prst="roundRect">
            <a:avLst>
              <a:gd name="adj" fmla="val 14549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15" name="Image 4" descr="/home/user/gogoeveryday/social-course/export-pptx/build/img/p67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8998" y="2578151"/>
            <a:ext cx="323880" cy="32388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7406914" y="2978201"/>
            <a:ext cx="167783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 Reels</a:t>
            </a:r>
            <a:endParaRPr lang="en-US" sz="1500" dirty="0"/>
          </a:p>
        </p:txBody>
      </p:sp>
      <p:sp>
        <p:nvSpPr>
          <p:cNvPr id="17" name="Shape 10"/>
          <p:cNvSpPr/>
          <p:nvPr/>
        </p:nvSpPr>
        <p:spPr>
          <a:xfrm>
            <a:off x="9380190" y="2387681"/>
            <a:ext cx="2011589" cy="1047720"/>
          </a:xfrm>
          <a:prstGeom prst="roundRect">
            <a:avLst>
              <a:gd name="adj" fmla="val 14549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18" name="Image 5" descr="/home/user/gogoeveryday/social-course/export-pptx/build/img/p67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4089" y="2578151"/>
            <a:ext cx="323880" cy="32388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941448" y="2978201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限時動態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800100" y="3568720"/>
            <a:ext cx="2011589" cy="1047720"/>
          </a:xfrm>
          <a:prstGeom prst="roundRect">
            <a:avLst>
              <a:gd name="adj" fmla="val 14549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21" name="Image 6" descr="/home/user/gogoeveryday/social-course/export-pptx/build/img/p67-6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4000" y="3759281"/>
            <a:ext cx="323880" cy="32388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354318" y="4159331"/>
            <a:ext cx="91266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Hashtag</a:t>
            </a:r>
            <a:endParaRPr lang="en-US" sz="1500" dirty="0"/>
          </a:p>
        </p:txBody>
      </p:sp>
      <p:sp>
        <p:nvSpPr>
          <p:cNvPr id="23" name="Shape 14"/>
          <p:cNvSpPr/>
          <p:nvPr/>
        </p:nvSpPr>
        <p:spPr>
          <a:xfrm>
            <a:off x="2945008" y="3568720"/>
            <a:ext cx="2011680" cy="1047720"/>
          </a:xfrm>
          <a:prstGeom prst="roundRect">
            <a:avLst>
              <a:gd name="adj" fmla="val 14549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24" name="Image 7" descr="/home/user/gogoeveryday/social-course/export-pptx/build/img/p67-7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88908" y="3759281"/>
            <a:ext cx="323880" cy="32388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3405226" y="4159331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地區關鍵字</a:t>
            </a:r>
            <a:endParaRPr lang="en-US" sz="1500" dirty="0"/>
          </a:p>
        </p:txBody>
      </p:sp>
      <p:sp>
        <p:nvSpPr>
          <p:cNvPr id="26" name="Shape 16"/>
          <p:cNvSpPr/>
          <p:nvPr/>
        </p:nvSpPr>
        <p:spPr>
          <a:xfrm>
            <a:off x="5090099" y="3568720"/>
            <a:ext cx="2011680" cy="1047720"/>
          </a:xfrm>
          <a:prstGeom prst="roundRect">
            <a:avLst>
              <a:gd name="adj" fmla="val 14549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27" name="Image 8" descr="/home/user/gogoeveryday/social-course/export-pptx/build/img/p67-8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33907" y="3759281"/>
            <a:ext cx="323880" cy="32388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5550317" y="4159331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跟別人合作</a:t>
            </a:r>
            <a:endParaRPr lang="en-US" sz="1500" dirty="0"/>
          </a:p>
        </p:txBody>
      </p:sp>
      <p:sp>
        <p:nvSpPr>
          <p:cNvPr id="29" name="Shape 18"/>
          <p:cNvSpPr/>
          <p:nvPr/>
        </p:nvSpPr>
        <p:spPr>
          <a:xfrm>
            <a:off x="7235099" y="3568720"/>
            <a:ext cx="2011680" cy="1047720"/>
          </a:xfrm>
          <a:prstGeom prst="roundRect">
            <a:avLst>
              <a:gd name="adj" fmla="val 14549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30" name="Image 9" descr="/home/user/gogoeveryday/social-course/export-pptx/build/img/p67-9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78998" y="3759281"/>
            <a:ext cx="323880" cy="32388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7552761" y="4159331"/>
            <a:ext cx="138595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市集 QR Code</a:t>
            </a:r>
            <a:endParaRPr lang="en-US" sz="1500" dirty="0"/>
          </a:p>
        </p:txBody>
      </p:sp>
      <p:sp>
        <p:nvSpPr>
          <p:cNvPr id="32" name="Shape 20"/>
          <p:cNvSpPr/>
          <p:nvPr/>
        </p:nvSpPr>
        <p:spPr>
          <a:xfrm>
            <a:off x="9380190" y="3568720"/>
            <a:ext cx="2011589" cy="1047720"/>
          </a:xfrm>
          <a:prstGeom prst="roundRect">
            <a:avLst>
              <a:gd name="adj" fmla="val 14549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33" name="Image 10" descr="/home/user/gogoeveryday/social-course/export-pptx/build/img/p67-10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43109" y="3778301"/>
            <a:ext cx="285750" cy="285750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9689074" y="4159331"/>
            <a:ext cx="14033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 好友分享</a:t>
            </a:r>
            <a:endParaRPr lang="en-US" sz="1500" dirty="0"/>
          </a:p>
        </p:txBody>
      </p:sp>
      <p:sp>
        <p:nvSpPr>
          <p:cNvPr id="35" name="Shape 22"/>
          <p:cNvSpPr/>
          <p:nvPr/>
        </p:nvSpPr>
        <p:spPr>
          <a:xfrm>
            <a:off x="800100" y="4778380"/>
            <a:ext cx="10591770" cy="704820"/>
          </a:xfrm>
          <a:prstGeom prst="roundRect">
            <a:avLst>
              <a:gd name="adj" fmla="val 24325"/>
            </a:avLst>
          </a:prstGeom>
          <a:solidFill>
            <a:srgbClr val="F8E6C9"/>
          </a:solidFill>
          <a:ln/>
        </p:spPr>
      </p:sp>
      <p:sp>
        <p:nvSpPr>
          <p:cNvPr id="36" name="Shape 23"/>
          <p:cNvSpPr/>
          <p:nvPr/>
        </p:nvSpPr>
        <p:spPr>
          <a:xfrm>
            <a:off x="800100" y="4778380"/>
            <a:ext cx="47640" cy="704820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7" name="Image 11" descr="/home/user/gogoeveryday/social-course/export-pptx/build/img/p67-1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5360" y="4968941"/>
            <a:ext cx="323880" cy="323880"/>
          </a:xfrm>
          <a:prstGeom prst="rect">
            <a:avLst/>
          </a:prstGeom>
        </p:spPr>
      </p:pic>
      <p:sp>
        <p:nvSpPr>
          <p:cNvPr id="38" name="Text 24"/>
          <p:cNvSpPr txBox="1"/>
          <p:nvPr/>
        </p:nvSpPr>
        <p:spPr>
          <a:xfrm>
            <a:off x="1533540" y="4975799"/>
            <a:ext cx="560362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不用十個都做。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挑兩個，做三個月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，比十個都做一次有效。</a:t>
            </a:r>
            <a:endParaRPr lang="en-US" sz="1575" dirty="0"/>
          </a:p>
        </p:txBody>
      </p:sp>
      <p:sp>
        <p:nvSpPr>
          <p:cNvPr id="39" name="Text 25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9 · 15:35</a:t>
            </a:r>
            <a:endParaRPr lang="en-US" sz="1500" dirty="0"/>
          </a:p>
        </p:txBody>
      </p:sp>
      <p:sp>
        <p:nvSpPr>
          <p:cNvPr id="40" name="Text 26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67 / 76</a:t>
            </a:r>
            <a:endParaRPr lang="en-US" sz="15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6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969593" y="402702"/>
            <a:ext cx="14236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最重要的提醒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884463" y="745602"/>
            <a:ext cx="4432554" cy="2120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626"/>
              </a:lnSpc>
              <a:buNone/>
            </a:pPr>
            <a:r>
              <a:rPr lang="en-US" sz="6150" b="1" spc="-18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曝光 ≠ 喜歡</a:t>
            </a:r>
            <a:endParaRPr lang="en-US" sz="6150" dirty="0"/>
          </a:p>
          <a:p>
            <a:pPr algn="ctr" indent="0" marL="0">
              <a:lnSpc>
                <a:spcPts val="7626"/>
              </a:lnSpc>
              <a:buNone/>
            </a:pPr>
            <a:r>
              <a:rPr lang="en-US" sz="6150" b="1" spc="-18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喜歡 ≠ 購買</a:t>
            </a:r>
            <a:endParaRPr lang="en-US" sz="6150" dirty="0"/>
          </a:p>
        </p:txBody>
      </p:sp>
      <p:sp>
        <p:nvSpPr>
          <p:cNvPr id="5" name="Text 2"/>
          <p:cNvSpPr txBox="1"/>
          <p:nvPr/>
        </p:nvSpPr>
        <p:spPr>
          <a:xfrm>
            <a:off x="5107015" y="3025384"/>
            <a:ext cx="1987266" cy="371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159"/>
              </a:lnSpc>
              <a:buNone/>
            </a:pPr>
            <a:r>
              <a:rPr lang="en-US" sz="19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中間還需要 ——</a:t>
            </a:r>
            <a:endParaRPr lang="en-US" sz="1950" dirty="0"/>
          </a:p>
        </p:txBody>
      </p:sp>
      <p:sp>
        <p:nvSpPr>
          <p:cNvPr id="6" name="Shape 3"/>
          <p:cNvSpPr/>
          <p:nvPr/>
        </p:nvSpPr>
        <p:spPr>
          <a:xfrm>
            <a:off x="1619220" y="3655040"/>
            <a:ext cx="2095530" cy="1590690"/>
          </a:xfrm>
          <a:prstGeom prst="roundRect">
            <a:avLst>
              <a:gd name="adj" fmla="val 14371"/>
            </a:avLst>
          </a:prstGeom>
          <a:solidFill>
            <a:srgbClr val="FBEEE6"/>
          </a:solidFill>
          <a:ln/>
        </p:spPr>
      </p:sp>
      <p:pic>
        <p:nvPicPr>
          <p:cNvPr id="7" name="Image 1" descr="/home/user/gogoeveryday/social-course/export-pptx/build/img/p6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9320" y="3950299"/>
            <a:ext cx="495330" cy="49533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48911" y="4569440"/>
            <a:ext cx="645841" cy="39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2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內容</a:t>
            </a:r>
            <a:endParaRPr lang="en-US" sz="2025" dirty="0"/>
          </a:p>
        </p:txBody>
      </p:sp>
      <p:sp>
        <p:nvSpPr>
          <p:cNvPr id="9" name="Shape 5"/>
          <p:cNvSpPr/>
          <p:nvPr/>
        </p:nvSpPr>
        <p:spPr>
          <a:xfrm>
            <a:off x="3905220" y="3655040"/>
            <a:ext cx="2095530" cy="1590690"/>
          </a:xfrm>
          <a:prstGeom prst="roundRect">
            <a:avLst>
              <a:gd name="adj" fmla="val 14371"/>
            </a:avLst>
          </a:prstGeom>
          <a:solidFill>
            <a:srgbClr val="F8E6C9"/>
          </a:solidFill>
          <a:ln/>
        </p:spPr>
      </p:sp>
      <p:pic>
        <p:nvPicPr>
          <p:cNvPr id="10" name="Image 2" descr="/home/user/gogoeveryday/social-course/export-pptx/build/img/p68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5320" y="3950299"/>
            <a:ext cx="495330" cy="49533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634911" y="4569440"/>
            <a:ext cx="645841" cy="39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2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品質</a:t>
            </a:r>
            <a:endParaRPr lang="en-US" sz="2025" dirty="0"/>
          </a:p>
        </p:txBody>
      </p:sp>
      <p:sp>
        <p:nvSpPr>
          <p:cNvPr id="12" name="Shape 7"/>
          <p:cNvSpPr/>
          <p:nvPr/>
        </p:nvSpPr>
        <p:spPr>
          <a:xfrm>
            <a:off x="6191220" y="3655040"/>
            <a:ext cx="2095530" cy="1590690"/>
          </a:xfrm>
          <a:prstGeom prst="roundRect">
            <a:avLst>
              <a:gd name="adj" fmla="val 14371"/>
            </a:avLst>
          </a:prstGeom>
          <a:solidFill>
            <a:srgbClr val="DFE8DC"/>
          </a:solidFill>
          <a:ln/>
        </p:spPr>
      </p:sp>
      <p:pic>
        <p:nvPicPr>
          <p:cNvPr id="13" name="Image 3" descr="/home/user/gogoeveryday/social-course/export-pptx/build/img/p68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1320" y="3950299"/>
            <a:ext cx="495330" cy="49533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920911" y="4569440"/>
            <a:ext cx="645841" cy="39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2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信任</a:t>
            </a:r>
            <a:endParaRPr lang="en-US" sz="2025" dirty="0"/>
          </a:p>
        </p:txBody>
      </p:sp>
      <p:sp>
        <p:nvSpPr>
          <p:cNvPr id="15" name="Shape 9"/>
          <p:cNvSpPr/>
          <p:nvPr/>
        </p:nvSpPr>
        <p:spPr>
          <a:xfrm>
            <a:off x="8477220" y="3655040"/>
            <a:ext cx="2095530" cy="1590690"/>
          </a:xfrm>
          <a:prstGeom prst="roundRect">
            <a:avLst>
              <a:gd name="adj" fmla="val 14371"/>
            </a:avLst>
          </a:prstGeom>
          <a:solidFill>
            <a:srgbClr val="F0DFE4"/>
          </a:solidFill>
          <a:ln/>
        </p:spPr>
      </p:sp>
      <p:pic>
        <p:nvPicPr>
          <p:cNvPr id="16" name="Image 4" descr="/home/user/gogoeveryday/social-course/export-pptx/build/img/p68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7320" y="3950299"/>
            <a:ext cx="495330" cy="49533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9206911" y="4569440"/>
            <a:ext cx="645841" cy="39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2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服務</a:t>
            </a:r>
            <a:endParaRPr lang="en-US" sz="2025" dirty="0"/>
          </a:p>
        </p:txBody>
      </p:sp>
      <p:sp>
        <p:nvSpPr>
          <p:cNvPr id="18" name="Text 11"/>
          <p:cNvSpPr txBox="1"/>
          <p:nvPr/>
        </p:nvSpPr>
        <p:spPr>
          <a:xfrm>
            <a:off x="4161892" y="5493349"/>
            <a:ext cx="3877513" cy="747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社群只是</a:t>
            </a:r>
            <a:pPr algn="ctr" indent="0" marL="0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把好東西讓更多人知道</a:t>
            </a:r>
            <a:pPr algn="ctr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875" dirty="0"/>
          </a:p>
          <a:p>
            <a:pPr algn="ctr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它沒有辦法把不好的東西變好。</a:t>
            </a:r>
            <a:endParaRPr lang="en-US" sz="1875" dirty="0"/>
          </a:p>
        </p:txBody>
      </p:sp>
      <p:sp>
        <p:nvSpPr>
          <p:cNvPr id="19" name="Text 12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9 · 15:40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68 / 76</a:t>
            </a:r>
            <a:endParaRPr lang="en-US" sz="15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6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20491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五個最容易踩的雷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201522"/>
            <a:ext cx="2722900" cy="984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這五件事，</a:t>
            </a:r>
            <a:endParaRPr lang="en-US" sz="2850" dirty="0"/>
          </a:p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做了會有反效果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2370399"/>
            <a:ext cx="5067330" cy="609630"/>
          </a:xfrm>
          <a:prstGeom prst="roundRect">
            <a:avLst>
              <a:gd name="adj" fmla="val 23444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00171" y="2532339"/>
            <a:ext cx="285750" cy="285750"/>
          </a:xfrm>
          <a:prstGeom prst="roundRect">
            <a:avLst>
              <a:gd name="adj" fmla="val 30016"/>
            </a:avLst>
          </a:prstGeom>
          <a:solidFill>
            <a:srgbClr val="FBEEE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23945" y="2522830"/>
            <a:ext cx="2933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390620" y="2522830"/>
            <a:ext cx="1490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每天一直賣東西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00100" y="3084728"/>
            <a:ext cx="5067330" cy="609630"/>
          </a:xfrm>
          <a:prstGeom prst="roundRect">
            <a:avLst>
              <a:gd name="adj" fmla="val 23444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0171" y="3246669"/>
            <a:ext cx="285750" cy="285750"/>
          </a:xfrm>
          <a:prstGeom prst="roundRect">
            <a:avLst>
              <a:gd name="adj" fmla="val 30016"/>
            </a:avLst>
          </a:prstGeom>
          <a:solidFill>
            <a:srgbClr val="FBEEE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23945" y="3237159"/>
            <a:ext cx="2933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390620" y="3237159"/>
            <a:ext cx="129049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到處亂貼廣告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0100" y="3799149"/>
            <a:ext cx="5067330" cy="609630"/>
          </a:xfrm>
          <a:prstGeom prst="roundRect">
            <a:avLst>
              <a:gd name="adj" fmla="val 23444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00171" y="3961089"/>
            <a:ext cx="285750" cy="285750"/>
          </a:xfrm>
          <a:prstGeom prst="roundRect">
            <a:avLst>
              <a:gd name="adj" fmla="val 30016"/>
            </a:avLst>
          </a:prstGeom>
          <a:solidFill>
            <a:srgbClr val="FBEEE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23945" y="3951580"/>
            <a:ext cx="2933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390620" y="3951580"/>
            <a:ext cx="16901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每一篇都長得一樣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00100" y="4513478"/>
            <a:ext cx="5067330" cy="609630"/>
          </a:xfrm>
          <a:prstGeom prst="roundRect">
            <a:avLst>
              <a:gd name="adj" fmla="val 23444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00171" y="4675419"/>
            <a:ext cx="285750" cy="285750"/>
          </a:xfrm>
          <a:prstGeom prst="roundRect">
            <a:avLst>
              <a:gd name="adj" fmla="val 30016"/>
            </a:avLst>
          </a:prstGeom>
          <a:solidFill>
            <a:srgbClr val="FBEEE6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023945" y="4665909"/>
            <a:ext cx="2933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390620" y="4665909"/>
            <a:ext cx="1490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有人留言不回覆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800100" y="5227899"/>
            <a:ext cx="5067330" cy="609630"/>
          </a:xfrm>
          <a:prstGeom prst="roundRect">
            <a:avLst>
              <a:gd name="adj" fmla="val 23444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00171" y="5389839"/>
            <a:ext cx="285750" cy="285750"/>
          </a:xfrm>
          <a:prstGeom prst="roundRect">
            <a:avLst>
              <a:gd name="adj" fmla="val 30016"/>
            </a:avLst>
          </a:prstGeom>
          <a:solidFill>
            <a:srgbClr val="FBEEE6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023945" y="5380330"/>
            <a:ext cx="2933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390620" y="5380330"/>
            <a:ext cx="189006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發了幾天之後就消失</a:t>
            </a:r>
            <a:endParaRPr lang="en-US" sz="1500" dirty="0"/>
          </a:p>
        </p:txBody>
      </p:sp>
      <p:pic>
        <p:nvPicPr>
          <p:cNvPr id="25" name="Image 1" descr="/home/user/gogoeveryday/social-course/export-pptx/build/img/p6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6280" y="979871"/>
            <a:ext cx="1524030" cy="152403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334220" y="2684861"/>
            <a:ext cx="3047970" cy="3002798"/>
          </a:xfrm>
          <a:prstGeom prst="roundRect">
            <a:avLst>
              <a:gd name="adj" fmla="val 761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7481987" y="2941991"/>
            <a:ext cx="2761854" cy="24559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其中最可惜的是最後一個 ——</a:t>
            </a:r>
            <a:endParaRPr lang="en-US" sz="1500" dirty="0"/>
          </a:p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發了三篇沒有人看，就放棄了。</a:t>
            </a:r>
            <a:endParaRPr lang="en-US" sz="1500" dirty="0"/>
          </a:p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社群是慢慢累積的，</a:t>
            </a:r>
            <a:endParaRPr lang="en-US" sz="1500" dirty="0"/>
          </a:p>
          <a:p>
            <a:pPr algn="ctr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前三個月幾乎都沒什麼人看，這很正常。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9 · 15:43</a:t>
            </a:r>
            <a:endParaRPr lang="en-US" sz="1500" dirty="0"/>
          </a:p>
        </p:txBody>
      </p:sp>
      <p:sp>
        <p:nvSpPr>
          <p:cNvPr id="29" name="Text 2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69 / 76</a:t>
            </a:r>
            <a:endParaRPr lang="en-US" sz="15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7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56371"/>
            <a:ext cx="27563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解決「我不知道要發什麼」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337401"/>
            <a:ext cx="460290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你可以發的內容，只有四類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2169505"/>
            <a:ext cx="2505090" cy="2665202"/>
          </a:xfrm>
          <a:prstGeom prst="roundRect">
            <a:avLst>
              <a:gd name="adj" fmla="val 912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19190" y="2426635"/>
            <a:ext cx="628650" cy="628650"/>
          </a:xfrm>
          <a:prstGeom prst="roundRect">
            <a:avLst>
              <a:gd name="adj" fmla="val 27273"/>
            </a:avLst>
          </a:prstGeom>
          <a:solidFill>
            <a:srgbClr val="FBEEE6"/>
          </a:solidFill>
          <a:ln/>
        </p:spPr>
      </p:sp>
      <p:pic>
        <p:nvPicPr>
          <p:cNvPr id="7" name="Image 1" descr="/home/user/gogoeveryday/social-course/export-pptx/build/img/p7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2502804"/>
            <a:ext cx="476220" cy="4762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81060" y="3198205"/>
            <a:ext cx="584210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981060" y="3560125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我賣什麼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981060" y="3960175"/>
            <a:ext cx="211016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成品照、新品、口味介紹、包裝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3495660" y="2169505"/>
            <a:ext cx="2505090" cy="2665202"/>
          </a:xfrm>
          <a:prstGeom prst="roundRect">
            <a:avLst>
              <a:gd name="adj" fmla="val 912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714750" y="2426635"/>
            <a:ext cx="628650" cy="628650"/>
          </a:xfrm>
          <a:prstGeom prst="roundRect">
            <a:avLst>
              <a:gd name="adj" fmla="val 27273"/>
            </a:avLst>
          </a:prstGeom>
          <a:solidFill>
            <a:srgbClr val="F8E6C9"/>
          </a:solidFill>
          <a:ln/>
        </p:spPr>
      </p:sp>
      <p:pic>
        <p:nvPicPr>
          <p:cNvPr id="13" name="Image 2" descr="/home/user/gogoeveryday/social-course/export-pptx/build/img/p70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0920" y="2502804"/>
            <a:ext cx="476220" cy="4762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76620" y="3198205"/>
            <a:ext cx="584210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過程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3676620" y="3560125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我是怎麼做的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3676620" y="3960175"/>
            <a:ext cx="211016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備料、製作、烘烤、包裝、失敗的那次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6191220" y="2169505"/>
            <a:ext cx="2505090" cy="2665202"/>
          </a:xfrm>
          <a:prstGeom prst="roundRect">
            <a:avLst>
              <a:gd name="adj" fmla="val 912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410310" y="2426635"/>
            <a:ext cx="628650" cy="628650"/>
          </a:xfrm>
          <a:prstGeom prst="roundRect">
            <a:avLst>
              <a:gd name="adj" fmla="val 27273"/>
            </a:avLst>
          </a:prstGeom>
          <a:solidFill>
            <a:srgbClr val="DFE8DC"/>
          </a:solidFill>
          <a:ln/>
        </p:spPr>
      </p:sp>
      <p:pic>
        <p:nvPicPr>
          <p:cNvPr id="19" name="Image 3" descr="/home/user/gogoeveryday/social-course/export-pptx/build/img/p70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8440" y="2519995"/>
            <a:ext cx="552480" cy="44183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372271" y="3198205"/>
            <a:ext cx="357805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人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6372271" y="3560125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我是誰／工作日常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372271" y="3960175"/>
            <a:ext cx="211016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為什麼開始做、今天的工作、市集現場</a:t>
            </a:r>
            <a:endParaRPr lang="en-US" sz="1500" dirty="0"/>
          </a:p>
        </p:txBody>
      </p:sp>
      <p:sp>
        <p:nvSpPr>
          <p:cNvPr id="23" name="Shape 17"/>
          <p:cNvSpPr/>
          <p:nvPr/>
        </p:nvSpPr>
        <p:spPr>
          <a:xfrm>
            <a:off x="8886871" y="2169505"/>
            <a:ext cx="2505090" cy="2665202"/>
          </a:xfrm>
          <a:prstGeom prst="roundRect">
            <a:avLst>
              <a:gd name="adj" fmla="val 912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105870" y="2426635"/>
            <a:ext cx="628650" cy="628650"/>
          </a:xfrm>
          <a:prstGeom prst="roundRect">
            <a:avLst>
              <a:gd name="adj" fmla="val 27273"/>
            </a:avLst>
          </a:prstGeom>
          <a:solidFill>
            <a:srgbClr val="F0DFE4"/>
          </a:solidFill>
          <a:ln/>
        </p:spPr>
      </p:sp>
      <p:pic>
        <p:nvPicPr>
          <p:cNvPr id="25" name="Image 4" descr="/home/user/gogoeveryday/social-course/export-pptx/build/img/p70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2130" y="2502804"/>
            <a:ext cx="476220" cy="4762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067830" y="3198205"/>
            <a:ext cx="129049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有用的內容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9067830" y="3560125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技巧、知識、使用方式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9067830" y="3960175"/>
            <a:ext cx="211016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怎麼保存、怎麼搭配、怎麼挑選</a:t>
            </a:r>
            <a:endParaRPr lang="en-US" sz="1500" dirty="0"/>
          </a:p>
        </p:txBody>
      </p:sp>
      <p:sp>
        <p:nvSpPr>
          <p:cNvPr id="29" name="Shape 22"/>
          <p:cNvSpPr/>
          <p:nvPr/>
        </p:nvSpPr>
        <p:spPr>
          <a:xfrm>
            <a:off x="800100" y="4996647"/>
            <a:ext cx="10591770" cy="704820"/>
          </a:xfrm>
          <a:prstGeom prst="roundRect">
            <a:avLst>
              <a:gd name="adj" fmla="val 24325"/>
            </a:avLst>
          </a:prstGeom>
          <a:solidFill>
            <a:srgbClr val="FBEEE6"/>
          </a:solidFill>
          <a:ln/>
        </p:spPr>
      </p:sp>
      <p:sp>
        <p:nvSpPr>
          <p:cNvPr id="30" name="Shape 23"/>
          <p:cNvSpPr/>
          <p:nvPr/>
        </p:nvSpPr>
        <p:spPr>
          <a:xfrm>
            <a:off x="800100" y="4996647"/>
            <a:ext cx="47640" cy="704820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1" name="Image 5" descr="/home/user/gogoeveryday/social-course/export-pptx/build/img/p70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360" y="5187117"/>
            <a:ext cx="323880" cy="3238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1533540" y="5193975"/>
            <a:ext cx="539157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下次不知道要發什麼的時候，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從這四類裡面挑一個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就好。</a:t>
            </a:r>
            <a:endParaRPr lang="en-US" sz="1575" dirty="0"/>
          </a:p>
        </p:txBody>
      </p:sp>
      <p:sp>
        <p:nvSpPr>
          <p:cNvPr id="33" name="Text 25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9 · 15:46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70 / 76</a:t>
            </a:r>
            <a:endParaRPr lang="en-US" sz="15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7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577626"/>
            <a:ext cx="16457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一週四篇的範例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958566"/>
            <a:ext cx="3474903" cy="984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四篇裡面，</a:t>
            </a:r>
            <a:endParaRPr lang="en-US" sz="2850" dirty="0"/>
          </a:p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只有一篇在賣東西。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2108424"/>
            <a:ext cx="5805526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00171" y="2318004"/>
            <a:ext cx="495330" cy="495330"/>
          </a:xfrm>
          <a:prstGeom prst="roundRect">
            <a:avLst>
              <a:gd name="adj" fmla="val 26915"/>
            </a:avLst>
          </a:prstGeom>
          <a:solidFill>
            <a:srgbClr val="FBEEE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19190" y="2413284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週一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609710" y="2260854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609710" y="2565624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今天新做好的草莓果醬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00100" y="3127614"/>
            <a:ext cx="5805526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00171" y="3337194"/>
            <a:ext cx="495330" cy="495330"/>
          </a:xfrm>
          <a:prstGeom prst="roundRect">
            <a:avLst>
              <a:gd name="adj" fmla="val 26915"/>
            </a:avLst>
          </a:prstGeom>
          <a:solidFill>
            <a:srgbClr val="F8E6C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19190" y="343238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週三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609710" y="3280044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幕後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09710" y="3584814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熬果醬的鍋子與一整個下午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0100" y="4146804"/>
            <a:ext cx="5805526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000171" y="4356384"/>
            <a:ext cx="495330" cy="495330"/>
          </a:xfrm>
          <a:prstGeom prst="roundRect">
            <a:avLst>
              <a:gd name="adj" fmla="val 26915"/>
            </a:avLst>
          </a:prstGeom>
          <a:solidFill>
            <a:srgbClr val="F0DFE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019190" y="4451574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週五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609710" y="4299234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小技巧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609710" y="4604004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果醬開封後怎麼保存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800100" y="5165994"/>
            <a:ext cx="5805526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000171" y="5375483"/>
            <a:ext cx="495330" cy="495330"/>
          </a:xfrm>
          <a:prstGeom prst="roundRect">
            <a:avLst>
              <a:gd name="adj" fmla="val 26915"/>
            </a:avLst>
          </a:prstGeom>
          <a:solidFill>
            <a:srgbClr val="DFE8D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019190" y="5470764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週日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609710" y="5318333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生活／客人分享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609710" y="5623194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客人傳來的早餐照片</a:t>
            </a:r>
            <a:endParaRPr lang="en-US" sz="1500" dirty="0"/>
          </a:p>
        </p:txBody>
      </p:sp>
      <p:pic>
        <p:nvPicPr>
          <p:cNvPr id="25" name="Image 1" descr="/home/user/gogoeveryday/social-course/export-pptx/build/img/p7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0563" y="442935"/>
            <a:ext cx="2171700" cy="440055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722382" y="5033955"/>
            <a:ext cx="3047970" cy="1190640"/>
          </a:xfrm>
          <a:prstGeom prst="roundRect">
            <a:avLst>
              <a:gd name="adj" fmla="val 14400"/>
            </a:avLst>
          </a:prstGeom>
          <a:solidFill>
            <a:srgbClr val="DFE8DC"/>
          </a:solidFill>
          <a:ln/>
        </p:spPr>
      </p:sp>
      <p:sp>
        <p:nvSpPr>
          <p:cNvPr id="27" name="Shape 23"/>
          <p:cNvSpPr/>
          <p:nvPr/>
        </p:nvSpPr>
        <p:spPr>
          <a:xfrm>
            <a:off x="7722382" y="5033955"/>
            <a:ext cx="47640" cy="1190640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28" name="Image 2" descr="/home/user/gogoeveryday/social-course/export-pptx/build/img/p71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0492" y="5486400"/>
            <a:ext cx="284744" cy="28575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8387883" y="5186385"/>
            <a:ext cx="2211202" cy="885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讓帳號比較像</a:t>
            </a:r>
            <a:pPr algn="ctr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「一個人」</a:t>
            </a:r>
            <a:pPr algn="ctr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endParaRPr lang="en-US" sz="1500" dirty="0"/>
          </a:p>
          <a:p>
            <a:pPr algn="ctr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不是「一張廣告傳單」。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10058400" y="228600"/>
            <a:ext cx="1333470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1" name="Text 26"/>
          <p:cNvSpPr txBox="1"/>
          <p:nvPr/>
        </p:nvSpPr>
        <p:spPr>
          <a:xfrm>
            <a:off x="10182210" y="304770"/>
            <a:ext cx="116110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寫發文計畫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9 · 15:49</a:t>
            </a:r>
            <a:endParaRPr lang="en-US" sz="1500" dirty="0"/>
          </a:p>
        </p:txBody>
      </p:sp>
      <p:sp>
        <p:nvSpPr>
          <p:cNvPr id="33" name="Text 28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71 / 76</a:t>
            </a:r>
            <a:endParaRPr lang="en-US" sz="15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7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522214"/>
            <a:ext cx="30111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今天最後一個任務 · 12 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903244"/>
            <a:ext cx="309881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完成一則真的內容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1544879"/>
            <a:ext cx="3372856" cy="747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選一個平台，</a:t>
            </a:r>
            <a:endParaRPr lang="en-US" sz="1875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發布出去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，或至少</a:t>
            </a:r>
            <a:pPr algn="l" indent="0" marL="0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存成草稿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875" dirty="0"/>
          </a:p>
        </p:txBody>
      </p:sp>
      <p:sp>
        <p:nvSpPr>
          <p:cNvPr id="6" name="Shape 3"/>
          <p:cNvSpPr/>
          <p:nvPr/>
        </p:nvSpPr>
        <p:spPr>
          <a:xfrm>
            <a:off x="800100" y="2516429"/>
            <a:ext cx="1499707" cy="447690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181130" y="2592598"/>
            <a:ext cx="107478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30" kern="0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Facebook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376068" y="2587843"/>
            <a:ext cx="3219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或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718968" y="2516429"/>
            <a:ext cx="1556309" cy="447690"/>
          </a:xfrm>
          <a:prstGeom prst="roundRect">
            <a:avLst>
              <a:gd name="adj" fmla="val 50000"/>
            </a:avLst>
          </a:prstGeom>
          <a:solidFill>
            <a:srgbClr val="FDEEF4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099907" y="2592598"/>
            <a:ext cx="113467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30" kern="0" dirty="0">
                <a:solidFill>
                  <a:srgbClr val="E1306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Instagram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1970" y="3183118"/>
            <a:ext cx="16916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至少要包含 ——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00100" y="3583168"/>
            <a:ext cx="58055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1304940" y="3706978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一張圖片</a:t>
            </a:r>
            <a:endParaRPr lang="en-US" sz="1575" dirty="0"/>
          </a:p>
        </p:txBody>
      </p:sp>
      <p:sp>
        <p:nvSpPr>
          <p:cNvPr id="14" name="Shape 11"/>
          <p:cNvSpPr/>
          <p:nvPr/>
        </p:nvSpPr>
        <p:spPr>
          <a:xfrm>
            <a:off x="800100" y="4249948"/>
            <a:ext cx="58055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1304940" y="4373758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簡短的文字</a:t>
            </a:r>
            <a:endParaRPr lang="en-US" sz="1575" dirty="0"/>
          </a:p>
        </p:txBody>
      </p:sp>
      <p:sp>
        <p:nvSpPr>
          <p:cNvPr id="16" name="Shape 13"/>
          <p:cNvSpPr/>
          <p:nvPr/>
        </p:nvSpPr>
        <p:spPr>
          <a:xfrm>
            <a:off x="800100" y="4916729"/>
            <a:ext cx="58055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1304940" y="5040539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符合這個平台的呈現方式</a:t>
            </a:r>
            <a:endParaRPr lang="en-US" sz="1575" dirty="0"/>
          </a:p>
        </p:txBody>
      </p:sp>
      <p:sp>
        <p:nvSpPr>
          <p:cNvPr id="18" name="Shape 15"/>
          <p:cNvSpPr/>
          <p:nvPr/>
        </p:nvSpPr>
        <p:spPr>
          <a:xfrm>
            <a:off x="800100" y="5583418"/>
            <a:ext cx="58055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1304940" y="5707228"/>
            <a:ext cx="275618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相關的 Hashtag（IG 適用）</a:t>
            </a:r>
            <a:endParaRPr lang="en-US" sz="1575" dirty="0"/>
          </a:p>
        </p:txBody>
      </p:sp>
      <p:sp>
        <p:nvSpPr>
          <p:cNvPr id="20" name="Shape 17"/>
          <p:cNvSpPr/>
          <p:nvPr/>
        </p:nvSpPr>
        <p:spPr>
          <a:xfrm>
            <a:off x="7531913" y="816011"/>
            <a:ext cx="3429000" cy="4263939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897124" y="1063630"/>
            <a:ext cx="270790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卡住的時候，照這個順序做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789042" y="1482791"/>
            <a:ext cx="266730" cy="266730"/>
          </a:xfrm>
          <a:prstGeom prst="roundRect">
            <a:avLst>
              <a:gd name="adj" fmla="val 32156"/>
            </a:avLst>
          </a:prstGeom>
          <a:solidFill>
            <a:srgbClr val="FBEEE6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805227" y="1473281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8088417" y="1511320"/>
            <a:ext cx="271595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打開手機相簿，挑一張今天或最近拍的照片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7789042" y="2233422"/>
            <a:ext cx="266730" cy="266730"/>
          </a:xfrm>
          <a:prstGeom prst="roundRect">
            <a:avLst>
              <a:gd name="adj" fmla="val 32156"/>
            </a:avLst>
          </a:prstGeom>
          <a:solidFill>
            <a:srgbClr val="FBEEE6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805227" y="2223912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8075981" y="2262043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用一句話說：這是什麼？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7789042" y="2675443"/>
            <a:ext cx="266730" cy="266730"/>
          </a:xfrm>
          <a:prstGeom prst="roundRect">
            <a:avLst>
              <a:gd name="adj" fmla="val 32156"/>
            </a:avLst>
          </a:prstGeom>
          <a:solidFill>
            <a:srgbClr val="FBEEE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805227" y="266593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8189458" y="2704064"/>
            <a:ext cx="251405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再用一句話說：有什麼特別的？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7789042" y="3426165"/>
            <a:ext cx="266730" cy="266730"/>
          </a:xfrm>
          <a:prstGeom prst="roundRect">
            <a:avLst>
              <a:gd name="adj" fmla="val 32156"/>
            </a:avLst>
          </a:prstGeom>
          <a:solidFill>
            <a:srgbClr val="FBEEE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805227" y="3416656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8088417" y="3454786"/>
            <a:ext cx="271595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最後寫：想要的話可以怎麼跟我說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7789042" y="4176888"/>
            <a:ext cx="266730" cy="266730"/>
          </a:xfrm>
          <a:prstGeom prst="roundRect">
            <a:avLst>
              <a:gd name="adj" fmla="val 32156"/>
            </a:avLst>
          </a:prstGeom>
          <a:solidFill>
            <a:srgbClr val="FBEEE6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805227" y="4167378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8067020" y="4205417"/>
            <a:ext cx="2758928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IG 的話，從講義 3 挑 5 個關鍵字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7531913" y="5251399"/>
            <a:ext cx="3429000" cy="600121"/>
          </a:xfrm>
          <a:prstGeom prst="roundRect">
            <a:avLst>
              <a:gd name="adj" fmla="val 28569"/>
            </a:avLst>
          </a:prstGeom>
          <a:solidFill>
            <a:srgbClr val="F8E6C9"/>
          </a:solidFill>
          <a:ln/>
        </p:spPr>
      </p:sp>
      <p:sp>
        <p:nvSpPr>
          <p:cNvPr id="38" name="Shape 35"/>
          <p:cNvSpPr/>
          <p:nvPr/>
        </p:nvSpPr>
        <p:spPr>
          <a:xfrm>
            <a:off x="7531913" y="5251399"/>
            <a:ext cx="47640" cy="600121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9" name="Image 1" descr="/home/user/gogoeveryday/social-course/export-pptx/build/img/p7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0023" y="5408585"/>
            <a:ext cx="285750" cy="285750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8104602" y="5403830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不用寫得好，</a:t>
            </a:r>
            <a:pPr algn="ctr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寫完就好</a:t>
            </a:r>
            <a:pPr algn="ctr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</p:txBody>
      </p:sp>
      <p:sp>
        <p:nvSpPr>
          <p:cNvPr id="41" name="Shape 37"/>
          <p:cNvSpPr/>
          <p:nvPr/>
        </p:nvSpPr>
        <p:spPr>
          <a:xfrm>
            <a:off x="9366656" y="228600"/>
            <a:ext cx="2025213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42" name="Text 38"/>
          <p:cNvSpPr txBox="1"/>
          <p:nvPr/>
        </p:nvSpPr>
        <p:spPr>
          <a:xfrm>
            <a:off x="9490466" y="304770"/>
            <a:ext cx="18943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講義 4 · 實際發布</a:t>
            </a:r>
            <a:endParaRPr lang="en-US" sz="1500" dirty="0"/>
          </a:p>
        </p:txBody>
      </p:sp>
      <p:sp>
        <p:nvSpPr>
          <p:cNvPr id="43" name="Text 39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9 · 15:52</a:t>
            </a:r>
            <a:endParaRPr lang="en-US" sz="1500" dirty="0"/>
          </a:p>
        </p:txBody>
      </p:sp>
      <p:sp>
        <p:nvSpPr>
          <p:cNvPr id="44" name="Text 40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72 / 76</a:t>
            </a:r>
            <a:endParaRPr lang="en-US" sz="15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7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28304" y="536387"/>
            <a:ext cx="16457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帶回家的三張紙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423331" y="917418"/>
            <a:ext cx="5354909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離開教室前，請確認你有這三個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1749430"/>
            <a:ext cx="3378068" cy="3467222"/>
          </a:xfrm>
          <a:prstGeom prst="roundRect">
            <a:avLst>
              <a:gd name="adj" fmla="val 676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0100" y="1749430"/>
            <a:ext cx="3359048" cy="3813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773570" y="1997141"/>
            <a:ext cx="14406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寫在講義 3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608704" y="2368570"/>
            <a:ext cx="1770187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我的十大關鍵字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1057321" y="2844881"/>
            <a:ext cx="969721" cy="42867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138885" y="2911541"/>
            <a:ext cx="8159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#鳳梨酥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122322" y="2844881"/>
            <a:ext cx="1350752" cy="42867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2192457" y="2911541"/>
            <a:ext cx="121981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#台中伴手禮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057321" y="3368741"/>
            <a:ext cx="969721" cy="42867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1138885" y="3435401"/>
            <a:ext cx="8159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#下午茶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2122322" y="3368741"/>
            <a:ext cx="779252" cy="42867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2204161" y="3435401"/>
            <a:ext cx="6249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#送禮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1057321" y="3892601"/>
            <a:ext cx="1160282" cy="42867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1133216" y="3959261"/>
            <a:ext cx="10178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#手作烘焙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2312792" y="3892601"/>
            <a:ext cx="1168603" cy="428671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241C17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2388504" y="3959261"/>
            <a:ext cx="102668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…共 10 個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1057321" y="4473611"/>
            <a:ext cx="2863718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176284" y="4626041"/>
            <a:ext cx="263520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也要存一份在手機備忘錄。</a:t>
            </a:r>
            <a:endParaRPr lang="en-US" sz="1575" dirty="0"/>
          </a:p>
        </p:txBody>
      </p:sp>
      <p:sp>
        <p:nvSpPr>
          <p:cNvPr id="23" name="Shape 20"/>
          <p:cNvSpPr/>
          <p:nvPr/>
        </p:nvSpPr>
        <p:spPr>
          <a:xfrm>
            <a:off x="4406768" y="1749430"/>
            <a:ext cx="3378251" cy="3467222"/>
          </a:xfrm>
          <a:prstGeom prst="roundRect">
            <a:avLst>
              <a:gd name="adj" fmla="val 676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406768" y="1749430"/>
            <a:ext cx="3359231" cy="3813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380238" y="1997141"/>
            <a:ext cx="14406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寫在講義 1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5335433" y="2368570"/>
            <a:ext cx="1530248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我的主要平台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663989" y="2844881"/>
            <a:ext cx="1233068" cy="447690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4747839" y="2921051"/>
            <a:ext cx="107478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30" kern="0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931347" y="2916296"/>
            <a:ext cx="3219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或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77996" y="2844881"/>
            <a:ext cx="1289578" cy="447690"/>
          </a:xfrm>
          <a:prstGeom prst="roundRect">
            <a:avLst>
              <a:gd name="adj" fmla="val 50000"/>
            </a:avLst>
          </a:prstGeom>
          <a:solidFill>
            <a:srgbClr val="FDEEF4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6360201" y="2921051"/>
            <a:ext cx="113467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30" kern="0" dirty="0">
                <a:solidFill>
                  <a:srgbClr val="E1306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4663989" y="3444911"/>
            <a:ext cx="286390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4677065" y="3597341"/>
            <a:ext cx="2847259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只選一個。做熟了再考慮第二個。</a:t>
            </a:r>
            <a:endParaRPr lang="en-US" sz="1575" dirty="0"/>
          </a:p>
        </p:txBody>
      </p:sp>
      <p:sp>
        <p:nvSpPr>
          <p:cNvPr id="34" name="Shape 31"/>
          <p:cNvSpPr/>
          <p:nvPr/>
        </p:nvSpPr>
        <p:spPr>
          <a:xfrm>
            <a:off x="8013619" y="1749430"/>
            <a:ext cx="3378068" cy="3467222"/>
          </a:xfrm>
          <a:prstGeom prst="roundRect">
            <a:avLst>
              <a:gd name="adj" fmla="val 676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8013619" y="1749430"/>
            <a:ext cx="3359048" cy="38130"/>
          </a:xfrm>
          <a:prstGeom prst="rect">
            <a:avLst/>
          </a:prstGeom>
          <a:solidFill>
            <a:srgbClr val="06C755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8987089" y="1997141"/>
            <a:ext cx="14406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0393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寫在講義 1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8702436" y="2368570"/>
            <a:ext cx="2010126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我的顧客聯絡平台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8270839" y="2844881"/>
            <a:ext cx="1843979" cy="447690"/>
          </a:xfrm>
          <a:prstGeom prst="roundRect">
            <a:avLst>
              <a:gd name="adj" fmla="val 50000"/>
            </a:avLst>
          </a:prstGeom>
          <a:solidFill>
            <a:srgbClr val="E6F8E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8611088" y="2921051"/>
            <a:ext cx="143972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30" kern="0" dirty="0">
                <a:solidFill>
                  <a:srgbClr val="0393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LINE 官方帳號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8270839" y="3444911"/>
            <a:ext cx="2863718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8283915" y="3597341"/>
            <a:ext cx="2847259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還沒開的人，這週內把它開起來。</a:t>
            </a:r>
            <a:endParaRPr lang="en-US" sz="1575" dirty="0"/>
          </a:p>
        </p:txBody>
      </p:sp>
      <p:sp>
        <p:nvSpPr>
          <p:cNvPr id="42" name="Shape 39"/>
          <p:cNvSpPr/>
          <p:nvPr/>
        </p:nvSpPr>
        <p:spPr>
          <a:xfrm>
            <a:off x="2521915" y="5416723"/>
            <a:ext cx="7148048" cy="704820"/>
          </a:xfrm>
          <a:prstGeom prst="roundRect">
            <a:avLst>
              <a:gd name="adj" fmla="val 24325"/>
            </a:avLst>
          </a:prstGeom>
          <a:solidFill>
            <a:srgbClr val="FBEEE6"/>
          </a:solidFill>
          <a:ln/>
        </p:spPr>
      </p:sp>
      <p:sp>
        <p:nvSpPr>
          <p:cNvPr id="43" name="Shape 40"/>
          <p:cNvSpPr/>
          <p:nvPr/>
        </p:nvSpPr>
        <p:spPr>
          <a:xfrm>
            <a:off x="2521915" y="5416723"/>
            <a:ext cx="47640" cy="704820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44" name="Image 1" descr="/home/user/gogoeveryday/social-course/export-pptx/build/img/p7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7175" y="5607284"/>
            <a:ext cx="323880" cy="323880"/>
          </a:xfrm>
          <a:prstGeom prst="rect">
            <a:avLst/>
          </a:prstGeom>
        </p:spPr>
      </p:pic>
      <p:sp>
        <p:nvSpPr>
          <p:cNvPr id="45" name="Text 41"/>
          <p:cNvSpPr txBox="1"/>
          <p:nvPr/>
        </p:nvSpPr>
        <p:spPr>
          <a:xfrm>
            <a:off x="3068909" y="5614050"/>
            <a:ext cx="658752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回家後第一件事：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 QR Code 印出來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，貼在你的商品包裝或攤位上。</a:t>
            </a:r>
            <a:endParaRPr lang="en-US" sz="1575" dirty="0"/>
          </a:p>
        </p:txBody>
      </p:sp>
      <p:sp>
        <p:nvSpPr>
          <p:cNvPr id="46" name="Shape 42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47" name="Text 43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成果確認</a:t>
            </a:r>
            <a:endParaRPr lang="en-US" sz="1500" dirty="0"/>
          </a:p>
        </p:txBody>
      </p:sp>
      <p:sp>
        <p:nvSpPr>
          <p:cNvPr id="48" name="Text 44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9 · 15:56</a:t>
            </a:r>
            <a:endParaRPr lang="en-US" sz="1500" dirty="0"/>
          </a:p>
        </p:txBody>
      </p:sp>
      <p:sp>
        <p:nvSpPr>
          <p:cNvPr id="49" name="Text 4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73 / 76</a:t>
            </a:r>
            <a:endParaRPr lang="en-US" sz="15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7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0281" y="832561"/>
            <a:ext cx="25342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今天不是要記住所有按鈕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4551243" y="1213500"/>
            <a:ext cx="309881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只要記住這五件事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2045604"/>
            <a:ext cx="1996410" cy="1960382"/>
          </a:xfrm>
          <a:prstGeom prst="roundRect">
            <a:avLst>
              <a:gd name="adj" fmla="val 1166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617299" y="2302825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681033" y="2331354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7905" y="2779044"/>
            <a:ext cx="129049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知道客人在哪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49879" y="3131454"/>
            <a:ext cx="170627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年紀、地區、平常滑什麼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2948849" y="2045604"/>
            <a:ext cx="1996410" cy="1960382"/>
          </a:xfrm>
          <a:prstGeom prst="roundRect">
            <a:avLst>
              <a:gd name="adj" fmla="val 1166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766139" y="2302825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D99A4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829873" y="2331354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506450" y="2779044"/>
            <a:ext cx="8905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選對平台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053456" y="3131454"/>
            <a:ext cx="1796796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一個曝光 ＋ 一個聯絡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97689" y="2045604"/>
            <a:ext cx="1996501" cy="1960382"/>
          </a:xfrm>
          <a:prstGeom prst="roundRect">
            <a:avLst>
              <a:gd name="adj" fmla="val 1166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14888" y="2302825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978622" y="2331354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5455402" y="2779044"/>
            <a:ext cx="129049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讓內容值得看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348417" y="3131454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四類內容輪流發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7246620" y="2045604"/>
            <a:ext cx="1996410" cy="1960382"/>
          </a:xfrm>
          <a:prstGeom prst="roundRect">
            <a:avLst>
              <a:gd name="adj" fmla="val 1166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063819" y="2302825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8A5A6D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127553" y="2331354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7604333" y="2779044"/>
            <a:ext cx="129049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學會基本操作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7396399" y="3131454"/>
            <a:ext cx="170627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會發、會改、會回留言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9395369" y="2045604"/>
            <a:ext cx="1996501" cy="1960382"/>
          </a:xfrm>
          <a:prstGeom prst="roundRect">
            <a:avLst>
              <a:gd name="adj" fmla="val 1166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0212568" y="2302825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A94E2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10276302" y="2331354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9953061" y="2779044"/>
            <a:ext cx="8905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b="1" spc="-1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持續出現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9646097" y="3131454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固定比完美重要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800100" y="4244096"/>
            <a:ext cx="5172121" cy="666780"/>
          </a:xfrm>
          <a:prstGeom prst="roundRect">
            <a:avLst>
              <a:gd name="adj" fmla="val 25713"/>
            </a:avLst>
          </a:prstGeom>
          <a:solidFill>
            <a:srgbClr val="FBEEE6"/>
          </a:solidFill>
          <a:ln/>
        </p:spPr>
      </p:sp>
      <p:sp>
        <p:nvSpPr>
          <p:cNvPr id="31" name="Shape 28"/>
          <p:cNvSpPr/>
          <p:nvPr/>
        </p:nvSpPr>
        <p:spPr>
          <a:xfrm>
            <a:off x="800100" y="4244096"/>
            <a:ext cx="47640" cy="666780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2" name="Image 1" descr="/home/user/gogoeveryday/social-course/export-pptx/build/img/p7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40" y="4415546"/>
            <a:ext cx="323880" cy="323880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514521" y="4429902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引流讓人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看見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6219840" y="4244096"/>
            <a:ext cx="5172121" cy="666780"/>
          </a:xfrm>
          <a:prstGeom prst="roundRect">
            <a:avLst>
              <a:gd name="adj" fmla="val 25713"/>
            </a:avLst>
          </a:prstGeom>
          <a:solidFill>
            <a:srgbClr val="F8E6C9"/>
          </a:solidFill>
          <a:ln/>
        </p:spPr>
      </p:sp>
      <p:sp>
        <p:nvSpPr>
          <p:cNvPr id="35" name="Shape 31"/>
          <p:cNvSpPr/>
          <p:nvPr/>
        </p:nvSpPr>
        <p:spPr>
          <a:xfrm>
            <a:off x="6219840" y="4244096"/>
            <a:ext cx="47640" cy="666780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6" name="Image 2" descr="/home/user/gogoeveryday/social-course/export-pptx/build/img/p74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6080" y="4415546"/>
            <a:ext cx="323880" cy="323880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6934170" y="4429902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好內容讓人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喜歡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</a:t>
            </a:r>
            <a:endParaRPr lang="en-US" sz="1500" dirty="0"/>
          </a:p>
        </p:txBody>
      </p:sp>
      <p:sp>
        <p:nvSpPr>
          <p:cNvPr id="38" name="Shape 33"/>
          <p:cNvSpPr/>
          <p:nvPr/>
        </p:nvSpPr>
        <p:spPr>
          <a:xfrm>
            <a:off x="800100" y="5158496"/>
            <a:ext cx="5172121" cy="666780"/>
          </a:xfrm>
          <a:prstGeom prst="roundRect">
            <a:avLst>
              <a:gd name="adj" fmla="val 25713"/>
            </a:avLst>
          </a:prstGeom>
          <a:solidFill>
            <a:srgbClr val="DFE8DC"/>
          </a:solidFill>
          <a:ln/>
        </p:spPr>
      </p:sp>
      <p:sp>
        <p:nvSpPr>
          <p:cNvPr id="39" name="Shape 34"/>
          <p:cNvSpPr/>
          <p:nvPr/>
        </p:nvSpPr>
        <p:spPr>
          <a:xfrm>
            <a:off x="800100" y="5158496"/>
            <a:ext cx="47640" cy="666780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40" name="Image 3" descr="/home/user/gogoeveryday/social-course/export-pptx/build/img/p74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340" y="5329946"/>
            <a:ext cx="323880" cy="323880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1514521" y="5344302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持續互動讓人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信任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</a:t>
            </a:r>
            <a:endParaRPr lang="en-US" sz="1500" dirty="0"/>
          </a:p>
        </p:txBody>
      </p:sp>
      <p:sp>
        <p:nvSpPr>
          <p:cNvPr id="42" name="Text 36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9 · 15:58</a:t>
            </a:r>
            <a:endParaRPr lang="en-US" sz="1500" dirty="0"/>
          </a:p>
        </p:txBody>
      </p:sp>
      <p:sp>
        <p:nvSpPr>
          <p:cNvPr id="43" name="Text 37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74 / 76</a:t>
            </a:r>
            <a:endParaRPr lang="en-US" sz="15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7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gogoeveryday/social-course/export-pptx/build/img/p7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610" y="609630"/>
            <a:ext cx="1428750" cy="142875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558766" y="2400300"/>
            <a:ext cx="7083765" cy="2840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410"/>
              </a:lnSpc>
              <a:buNone/>
            </a:pPr>
            <a:r>
              <a:rPr lang="en-US" sz="3150" b="1" spc="-9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不是因為有人追蹤，</a:t>
            </a:r>
            <a:endParaRPr lang="en-US" sz="3150" dirty="0"/>
          </a:p>
          <a:p>
            <a:pPr algn="ctr" indent="0" marL="0">
              <a:lnSpc>
                <a:spcPts val="4410"/>
              </a:lnSpc>
              <a:buNone/>
            </a:pPr>
            <a:r>
              <a:rPr lang="en-US" sz="3150" b="1" spc="-9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你的東西才變好。</a:t>
            </a:r>
            <a:endParaRPr lang="en-US" sz="3150" dirty="0"/>
          </a:p>
          <a:p>
            <a:pPr algn="ctr" indent="0" marL="0">
              <a:lnSpc>
                <a:spcPts val="4410"/>
              </a:lnSpc>
              <a:buNone/>
            </a:pPr>
            <a:r>
              <a:rPr lang="en-US" sz="3150" b="1" spc="-9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而是因為你</a:t>
            </a:r>
            <a:pPr algn="ctr" indent="0" marL="0">
              <a:lnSpc>
                <a:spcPts val="4410"/>
              </a:lnSpc>
              <a:buNone/>
            </a:pPr>
            <a:r>
              <a:rPr lang="en-US" sz="3150" b="1" spc="-95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持續把好的東西分享出來</a:t>
            </a:r>
            <a:pPr algn="ctr" indent="0" marL="0">
              <a:lnSpc>
                <a:spcPts val="4410"/>
              </a:lnSpc>
              <a:buNone/>
            </a:pPr>
            <a:r>
              <a:rPr lang="en-US" sz="3150" b="1" spc="-9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endParaRPr lang="en-US" sz="3150" dirty="0"/>
          </a:p>
          <a:p>
            <a:pPr algn="ctr" indent="0" marL="0">
              <a:lnSpc>
                <a:spcPts val="4410"/>
              </a:lnSpc>
              <a:buNone/>
            </a:pPr>
            <a:r>
              <a:rPr lang="en-US" sz="3150" b="1" spc="-95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別人才慢慢認識你、喜歡你。</a:t>
            </a:r>
            <a:endParaRPr lang="en-US" sz="3150" dirty="0"/>
          </a:p>
        </p:txBody>
      </p:sp>
      <p:sp>
        <p:nvSpPr>
          <p:cNvPr id="5" name="Shape 1"/>
          <p:cNvSpPr/>
          <p:nvPr/>
        </p:nvSpPr>
        <p:spPr>
          <a:xfrm>
            <a:off x="4069537" y="5610118"/>
            <a:ext cx="2448855" cy="4476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2"/>
          <p:cNvSpPr txBox="1"/>
          <p:nvPr/>
        </p:nvSpPr>
        <p:spPr>
          <a:xfrm>
            <a:off x="4116903" y="5686288"/>
            <a:ext cx="23635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30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08/16 社群平台操作入門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6651711" y="5610118"/>
            <a:ext cx="1470721" cy="4476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728430" y="5686288"/>
            <a:ext cx="132670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30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西屯婦女培力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9 · 16:00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75 / 76</a:t>
            </a:r>
            <a:endParaRPr lang="en-US" sz="15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7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20456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課前請印好，每人一份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101486"/>
            <a:ext cx="2962656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四張 A4 課堂講義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1933590"/>
            <a:ext cx="2505090" cy="3137032"/>
          </a:xfrm>
          <a:prstGeom prst="roundRect">
            <a:avLst>
              <a:gd name="adj" fmla="val 912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981060" y="2162190"/>
            <a:ext cx="72914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講義 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81060" y="2524110"/>
            <a:ext cx="135038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我的平台選擇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981060" y="2860792"/>
            <a:ext cx="17312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Slide 12 / 61 使用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1019190" y="3289371"/>
            <a:ext cx="20669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143000" y="3422782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我的商品／技能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3794211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我想讓誰看到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4165732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主要曝光平台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" y="4537161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顧客聯絡平台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3495660" y="1933590"/>
            <a:ext cx="2505090" cy="3137032"/>
          </a:xfrm>
          <a:prstGeom prst="roundRect">
            <a:avLst>
              <a:gd name="adj" fmla="val 912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3676620" y="2162190"/>
            <a:ext cx="72914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講義 2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676620" y="2524110"/>
            <a:ext cx="140415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IG 品牌觀察表</a:t>
            </a:r>
            <a:endParaRPr lang="en-US" sz="1575" dirty="0"/>
          </a:p>
        </p:txBody>
      </p:sp>
      <p:sp>
        <p:nvSpPr>
          <p:cNvPr id="17" name="Text 14"/>
          <p:cNvSpPr txBox="1"/>
          <p:nvPr/>
        </p:nvSpPr>
        <p:spPr>
          <a:xfrm>
            <a:off x="3676620" y="2860792"/>
            <a:ext cx="17312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Slide 25 / 26 使用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3714750" y="3289371"/>
            <a:ext cx="20669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838560" y="3422782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八項檢查清單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3838560" y="3794211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我最喜歡哪一點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838560" y="4165732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我也做得到的一件事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191220" y="1933590"/>
            <a:ext cx="2505090" cy="3137032"/>
          </a:xfrm>
          <a:prstGeom prst="roundRect">
            <a:avLst>
              <a:gd name="adj" fmla="val 912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372271" y="2162190"/>
            <a:ext cx="72914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講義 3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372271" y="2524110"/>
            <a:ext cx="15602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我的十大關鍵字</a:t>
            </a:r>
            <a:endParaRPr lang="en-US" sz="1575" dirty="0"/>
          </a:p>
        </p:txBody>
      </p:sp>
      <p:sp>
        <p:nvSpPr>
          <p:cNvPr id="25" name="Text 22"/>
          <p:cNvSpPr txBox="1"/>
          <p:nvPr/>
        </p:nvSpPr>
        <p:spPr>
          <a:xfrm>
            <a:off x="6372271" y="2860792"/>
            <a:ext cx="17312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Slide 38 / 41 使用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6410310" y="3289371"/>
            <a:ext cx="20669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534120" y="3422782"/>
            <a:ext cx="113650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 3–4 個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6534120" y="3794211"/>
            <a:ext cx="113650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地區 2–3 個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6534120" y="4165732"/>
            <a:ext cx="17422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需求／情境 3–4 個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8886871" y="1933590"/>
            <a:ext cx="2505090" cy="3137032"/>
          </a:xfrm>
          <a:prstGeom prst="roundRect">
            <a:avLst>
              <a:gd name="adj" fmla="val 912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9067830" y="2162190"/>
            <a:ext cx="72914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講義 4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9067830" y="2524110"/>
            <a:ext cx="198004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我的第一篇社群內容</a:t>
            </a:r>
            <a:endParaRPr lang="en-US" sz="1575" dirty="0"/>
          </a:p>
        </p:txBody>
      </p:sp>
      <p:sp>
        <p:nvSpPr>
          <p:cNvPr id="33" name="Text 30"/>
          <p:cNvSpPr txBox="1"/>
          <p:nvPr/>
        </p:nvSpPr>
        <p:spPr>
          <a:xfrm>
            <a:off x="9067830" y="2860792"/>
            <a:ext cx="21393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Slide 31 / 34 / 60 使用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9105870" y="3289371"/>
            <a:ext cx="20669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9229771" y="3422782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要發在哪裡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9229771" y="3794211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要放什麼內容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9229771" y="4165732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搭配哪張照片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9229771" y="4537161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使用哪些關鍵字</a:t>
            </a:r>
            <a:endParaRPr lang="en-US" sz="1500" dirty="0"/>
          </a:p>
        </p:txBody>
      </p:sp>
      <p:sp>
        <p:nvSpPr>
          <p:cNvPr id="39" name="Shape 36"/>
          <p:cNvSpPr/>
          <p:nvPr/>
        </p:nvSpPr>
        <p:spPr>
          <a:xfrm>
            <a:off x="800100" y="5232471"/>
            <a:ext cx="10591770" cy="704820"/>
          </a:xfrm>
          <a:prstGeom prst="roundRect">
            <a:avLst>
              <a:gd name="adj" fmla="val 24325"/>
            </a:avLst>
          </a:prstGeom>
          <a:solidFill>
            <a:srgbClr val="FBEEE6"/>
          </a:solidFill>
          <a:ln/>
        </p:spPr>
      </p:sp>
      <p:sp>
        <p:nvSpPr>
          <p:cNvPr id="40" name="Shape 37"/>
          <p:cNvSpPr/>
          <p:nvPr/>
        </p:nvSpPr>
        <p:spPr>
          <a:xfrm>
            <a:off x="800100" y="5232471"/>
            <a:ext cx="47640" cy="704820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41" name="Image 1" descr="/home/user/gogoeveryday/social-course/export-pptx/build/img/p7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423032"/>
            <a:ext cx="323880" cy="323880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1533540" y="5429890"/>
            <a:ext cx="92150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四張講義的完整可列印版本，請開啟同一資料夾中的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handouts.html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，用瀏覽器直接列印成 A4。</a:t>
            </a:r>
            <a:endParaRPr lang="en-US" sz="1575" dirty="0"/>
          </a:p>
        </p:txBody>
      </p:sp>
      <p:sp>
        <p:nvSpPr>
          <p:cNvPr id="43" name="Text 39"/>
          <p:cNvSpPr txBox="1"/>
          <p:nvPr/>
        </p:nvSpPr>
        <p:spPr>
          <a:xfrm>
            <a:off x="761970" y="6343650"/>
            <a:ext cx="135102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附錄 · —</a:t>
            </a:r>
            <a:endParaRPr lang="en-US" sz="1500" dirty="0"/>
          </a:p>
        </p:txBody>
      </p:sp>
      <p:sp>
        <p:nvSpPr>
          <p:cNvPr id="44" name="Text 40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76 / 76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76</Slides>
  <Notes>76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7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社群平台操作入門｜西屯婦女培力 08/16</dc:title>
  <dc:subject>PptxGenJS Presentation</dc:subject>
  <dc:creator>PptxGenJS</dc:creator>
  <cp:lastModifiedBy>PptxGenJS</cp:lastModifiedBy>
  <cp:revision>1</cp:revision>
  <dcterms:created xsi:type="dcterms:W3CDTF">2026-08-10T12:53:28Z</dcterms:created>
  <dcterms:modified xsi:type="dcterms:W3CDTF">2026-08-10T12:53:28Z</dcterms:modified>
</cp:coreProperties>
</file>