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</p:sldIdLst>
  <p:notesMasterIdLst>
    <p:notesMasterId r:id="rId7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notesMaster" Target="notesMasters/notesMaster1.xml"/><Relationship Id="rId79" Type="http://schemas.openxmlformats.org/officeDocument/2006/relationships/presProps" Target="presProps.xml"/><Relationship Id="rId80" Type="http://schemas.openxmlformats.org/officeDocument/2006/relationships/viewProps" Target="viewProps.xml"/><Relationship Id="rId81" Type="http://schemas.openxmlformats.org/officeDocument/2006/relationships/theme" Target="theme/theme1.xml"/><Relationship Id="rId8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開場先自我介紹，並說明「這堂課不是要把大家變成網紅」，而是讓每個人手上的東西——手作、烘焙、農產、課程、服務——有辦法被別人看見。
· 請大家把手機拿出來放桌上，今天會一直用到；如果沒有安裝 FB／IG，先協助安裝或兩人一組共用一支。
【互動提問】
· 請大家用一句話介紹「我做的東西」或「我想做的東西」，一人 30 秒。
【學員實作】
· 確認每位學員的手機可以上網、能登入 Facebook 或 Instagram。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先讓學員知道整天的節奏，降低焦慮：上午聽觀念、下午做東西，中間有三次休息。
· 特別強調 15:35 之後是「把今天學的做出一篇真的內容」，請大家上午就開始想自己要發什麼。
【互動提問】
· 問：今天結束時，你最想解決哪一件事？（舉手統計，寫在白板上，最後一節回來對照）
【學員實作】
· 發下四張講義，請先寫講義 1 上半部「我的商品／技能」。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這一段完全不碰按鈕，只談觀念。讓學員先安心：不會馬上考操作。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把整天的內容收斂成三個問題，讓學員知道「今天不會學到爆炸」。
· 強調：社群平台的按鈕每年都在改，但這三個問題永遠不會變。
【互動提問】
· 問：這三件事裡，哪一件是你現在最卡住的？（舉手，快速掃過現場狀況）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這是本班 30 人的真實課前調查，不是示意數據。念出第一名「不懂如何進行社群經營 24 人、80%」，讓學員知道大家都一樣。
· 第 2、4、5 名（拍照、文案、AI）是後面幾堂課的內容，這裡先預告，讓學員安心：不是今天學不完，是本來就分開教。
· 今天要解決的就是第一名那一項。
【互動提問】
· 問：這六項裡，你自己勾了哪幾個？（舉手統計，跟調查結果對照）
· 問：還有沒有沒被列到的困擾？（記在白板，最後一節回來確認有沒有解決）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這頁是整天觀念的核心之一。左邊是大部分人的直覺做法，右邊才是有效的做法。
· 重點不是「不能賣」，而是「不能每篇都在賣」。比例大約是：四篇裡一篇賣東西。
【互動提問】
· 問：如果你是客人，左邊那種帳號你會追蹤嗎？為什麼？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這個漏斗是今天所有內容的骨架，後面每一段都會回來對照：現在我們在講哪一層。
· 提醒學員：很多人只做最上面一層（一直發文求曝光），或只做最下面一層（一直叫人買），中間沒有東西。
【互動提問】
· 問：你覺得自己現在卡在哪一層？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用「開店」的比喻，把抽象的社群變成生活經驗。中高齡學員對實體店的經驗遠比對演算法熟。
· 結論：把人帶來只是第一步，人來了之後看到什麼，才決定會不會買。
【互動提問】
· 問：大家逛市集的時候，什麼樣的攤位你會停下來？什麼樣的會直接走過？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請全班一起念一次這三句話。這是整天最重要的一句，最後一節還會回來。
· 把這句寫在白板上，整天留著。
【學員實作】
· 請學員把這句話抄在講義的空白處。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這一段的目標很單純：讓學員離開時知道自己要做哪一個，不要三個都開然後三個都荒廢。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這個比喻整天都會用，請學員記住三個名詞：廣場、櫥窗、櫃台。
· 很多學員的問題是「我都在櫥窗喊話，但沒有櫃台」——東西被看到了，卻沒地方成交。
【互動提問】
· 問：你現在有哪一個？哪一個完全沒有？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台灣中高齡族群仍大量使用 Facebook，而且「社團」是免費曝光的主要來源，後面第九段會再談。
· 強調 Facebook 的長處是：可以寫比較多字、可以講故事、可以被分享出去。
【互動提問】
· 問：你有加入哪些在地社團？（例如西屯二手、台中媽媽社團、社區公布欄）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IG 最大的價值是「陌生人會找到你」——透過 Hashtag、搜尋、Reels。FB 比較難做到這件事。
· 提醒：IG 上文字沒有連結功能（貼文內文無法點），所以聯絡方式一定要放在自我介紹。
【互動提問】
· 問：現場有多少人有 IG？（舉手）有在用的又有多少？
【學員實作】
· 請有 IG 的學員現在打開自己的個人檔案，等一下 PART 4 會用到。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很多學員以為 LINE 官方帳號是「大公司才用的」。要破除這個誤解：一個人也能開，免費方案每月有一定則數的訊息額度。
· 重點觀念：FB／IG 上的人「不是你的」，演算法一改就看不到；LINE 好友才是真正留得住的名單。
【互動提問】
· 問：現場有誰用私人 LINE 在接單？遇過什麼困擾？（訊息被家人洗掉、分不清誰是客人）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這頁是用學員自己的數據替下一頁的建議鋪路：不是我叫你們做 Facebook，是因為你們本來就都在用。
· LINE 30 人全部都有、Facebook 28 人——這兩個是最省力的起點；Instagram 只有 13 人用過，對多數人是全新工具。
· Canva 只有 4 人用過，所以今天完全不碰 Canva 操作；那是後面「商品視覺設計」課程的內容。
【互動提問】
· 問：有用過 Instagram 的請舉手？（對照 43% 這個數字，讓現場自己確認）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這頁要講得很肯定：三個都開但都不更新，比只做好一個還糟。
· 公式：曝光平台（FB 或 IG）＋ 聯絡平台（LINE）＝ 兩個就夠。
【學員實作】
· 請學員在講義 1 勾選：主要曝光平台是 FB 還是 IG。現在就決定，不要拖到下課。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先蓋住答案，讓學員自己講，再一個一個掀開。這裡是上午互動的重點。
· 講完後把邏輯講白：選平台不是看「哪個比較紅」，是看「我的客人在哪裡」。
【互動提問】
· 問：A 阿姨如果想賣到全台灣，答案會不會改變？（會，就要加上 IG 或宅配社團）
· 問：現場有沒有人的情況跟這三個很像？
【學員實作】
· 兩人一組，互相說出對方適合哪個平台，並說明理由。3 分鐘。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休息回來先確認全班手機都在手上。這一段是今天第一次大量操作，速度要放慢，寧可少做兩項也不要有人掉隊。
· 建議安排 1–2 位志工或助教在教室走動協助。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很多學員會說「我用個人帳號賣就好」。可以，但要說明三個限制：好友上限、沒有數據、朋友會被洗版。
· 折衷做法：粉專發文 → 分享到個人帳號。兩邊都顧到，下一頁會教。
【互動提問】
· 問：現場有誰已經有粉絲專頁？（請他們等一下當小老師）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一項一項對照右邊的手機示意圖講。學員可以邊聽邊看自己的粉專缺哪一項。
· 最常缺的是第 5 項聯絡方式——很多粉專找不到怎麼買。
【互動提問】
· 問：你的粉專缺哪幾項？
【學員實作】
· 請學員打開自己的粉專，六項逐一對照，缺的先記下來。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刻意不要講「品牌感」「調性」這種詞，中高齡學員只要記住公式：做什麼＋在哪裡。
· 如果學員已經取了很文青的名字，不用逼他改，建議在名稱後面加上說明即可。
【互動提問】
· 問：如果你是客人，在搜尋列會打什麼字找這種東西？
【學員實作】
· 請每位學員在講義空白處，用「你做什麼＋你在哪裡」寫一個名稱。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這頁停留最久，預計 12–15 分鐘。講師先示範一次，再讓學員自己做一次。
· 沒有粉專的人：現場建立。有粉專但很久沒用的人：先更新大頭貼與簡介。
【互動提問】
· 問：卡在哪一步？（請卡住的人舉手，助教過去協助）
【學員實作】
· 六項全部操作一次。完成的人請協助隔壁的學員。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一項一項在投影的手機上點給大家看，不要只念名稱。
· 「編輯」與「刪除」一定要教——學員最怕發錯，知道可以改就敢發了。
【互動提問】
· 問：有沒有人發過文之後想改卻不知道怎麼改？
【學員實作】
· 請每個人現在發一則「測試貼文」（可以只給自己看），再把它編輯一次、然後刪除。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這頁是「免費曝光」與「被討厭」的分界線，講清楚可以省掉學員很多麻煩。
· 建議提供實際做法：進到社團先看置頂規則，很多社團規定只能週幾發廣告。
【互動提問】
· 問：有沒有人被社團退過文或踢出來過？發生什麼事？
【學員實作】
· 請學員找出 1–2 個跟自己商品有關的在地社團，記在講義上。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這一段有大量觀察活動，請先分好組（3–4 人一組），並確認每組至少有一支能上網的手機。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請學員現在就打開自己的 IG（沒有的人看隔壁的），五個地方一個一個對。
· 強調第 5 項：IG 貼文內文的網址不能點，所以聯絡方式只能放在自我介紹欄。這是最多人踩的坑。
【互動提問】
· 問：你的自我介紹現在寫什麼？願意念出來給大家聽嗎？
【學員實作】
· 打開自己的 IG，五個地方逐一檢查。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不要批評「分享生活中的幸福」不好，而是說：它適合個人帳號，不適合要接單的帳號。
· 示範方法：請一位學員念自己的自介，其他人聽完舉手回答「他在賣什麼」，馬上見真章。
【互動提問】
· 隨機找 2–3 位學員念自介，全班猜他在做什麼。猜不出來就代表要改。
【學員實作】
· 把自我介紹改成「做什麼 ＋ 給誰 ＋ 在哪裡／怎麼買」。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先給全貌，讓學員知道 IG 不是只有「發照片」。細節下午 PART 7 會再展開。
· 順序很重要：叫初學者一開始就拍 Reels，多半會放棄。
【互動提問】
· 問：這四個裡面，你用過哪幾個？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這是上一頁的濃縮版，請全班一起念一次。
· 可以做個小活動：講師說「今天在做餅乾的影片」，學員回答該用哪一種。
【互動提問】
· 快問快答：① 客人回饋的截圖 → 精選限動；② 今天出爐的餅乾 → 限動；③ 完成的作品照 → 貼文；④ 揉麵到出爐 → Reels。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上課前務必先挑好 3–5 個真實帳號，並確認當天網路可連。最好是台中在地的，學員會更有感。
· 如果現場網路穩定，直接開手機投影比放截圖更好——可以即時滑給大家看。
· 挑選原則：追蹤數 1,000–20,000、一個人在經營、照片是手機拍的。太專業的會讓學員覺得「我做不到」。
【互動提問】
· 問：你們覺得這三個帳號，哪一個你最有可能做到？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這八個問題就是講義 2。請學員拿出講義，等一下觀察時直接勾。
· 重點是把「感覺」變成「可檢查的項目」，學員回家才知道自己該補什麼。
【學員實作】
· 發下／確認每人手上有講義 2。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活動節奏：分組 2 分鐘 → 觀察討論 10 分鐘 → 每組分享 1 分鐘 × 3–5 組。
· 講師在各組間走動，把學員說的「做得到的事」記在白板，下午實作時會用到。
· 如果時間不夠，把分享縮短成「每組講一句：我們決定回去要做的一件事」。
【互動提問】
· 收尾時問：有沒有哪一組發現「原來他們也只是用手機拍」？
【學員實作】
· 小組完成講義 2 的觀察表，並在最下方寫下「我也做得到的一件事」。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午休前先埋伏筆：下午第一件事就是「你要發什麼」，讓學員吃飯時腦袋有東西在轉。
· 提醒 13:00 準時開始，下午操作很密集。
【學員實作】
· 請學員午休時先想好一個要發的主題，並拍一張照片。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下午第一段。先問午休的作業：你想好要發什麼了嗎？點兩三位學員說說看。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用「使用情境」解釋，比講演算法容易懂。FB＝坐著看、IG＝滑著看、LINE＝忙著看。
· 不用叫學員寫三份完全不同的文，只要「同一件事，換三種長度」。
【互動提問】
· 問：你自己在滑 IG 的時候，會把長長的文字看完嗎？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一定要強調：80–200 字是「教學建議」，不是 Facebook 的規定。平台沒有限制字數。
· 給初學者一個數字，是為了讓他們不會卡在「到底要寫多少」。熟了以後可長可短。
· 這篇範例的重點是最後兩段：講「為什麼一鍋只做 20 瓶」——這就是信任感的來源。
【互動提問】
· 問：這篇裡面，哪一句話會讓你想買？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同樣強調：50–150 字是建議值，不是規定。
· 請學員比較上一頁跟這一頁——同一件事，IG 版只留下最有畫面的那兩句。
· Hashtag 下一段（PART 6）會完整教，這裡先讓他們看到長什麼樣子。
【互動提問】
· 問：如果只能留一句話，你會留哪一句？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LINE 是「打擾度最高」的平台——訊息會跳出通知。所以最忌諱長篇大論。
· 最關鍵的一句是最後一行：「請回覆草莓＋數量」。一定要告訴客人下一步做什麼，否則他看完就關掉了。
· 補充：官方帳號免費方案每月有訊息則數上限，所以更要每則都有用。
【互動提問】
· 問：你收過最討厭的商家 LINE 訊息長什麼樣子？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 PART 5 的核心頁，建議停留 5–6 分鐘，三欄逐一念出來讓學員感受差異。
· 教一個實用技巧：先寫 FB 版（最長）→ 刪成 IG 版 → 再刪成 LINE 版。只要寫一次。
· 注意三欄講的都是同一個賣點「一鍋只煮 20 瓶」，不要每個平台講不同故事。
【互動提問】
· 問：如果你的商品是 ⟨學員的商品⟩，這三段你會怎麼寫？（現場改編一位學員的商品當範例）
【學員實作】
· 請學員拿出午休想好的主題，先寫 FB 版本（80–200 字），寫在講義 4。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這是今天第二句要記住的話。跟早上那句「引流／內容／互動」並列。
· 延伸：所以糊掉的、光線很暗的、看不出主角的照片，第一關就輸了。
· ＊不要深入教攝影，後面有「手機商品攝影與影像編修」課程。這裡只講分工觀念。
【互動提問】
· 問：你滑手機的時候，是先看圖還是先看字？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右邊刻意做成「塞爆的傳單」，並在下面示範它縮小成九宮格一格時的樣子——完全看不到。
· 這一頁很有說服力，讓學員自己看到問題，不用講太多道理。
【互動提問】
· 問：你看得清楚右邊那張圖在寫什麼嗎？（大部分人會說看不清楚——這就是重點）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跟上一頁對照著看，差別非常明顯。同樣縮成一格，這張還看得懂。
· ＊不教 Canva 操作與排版技巧（那是「商品視覺設計」課程）。這裡只講「留多少字」。
【互動提問】
· 問：如果只能在圖上留一句話，你的商品要留哪一句？
【學員實作】
· 請學員在講義 4「我要搭配哪張照片」旁邊，寫下要放在圖上的那一句話。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這一段是今天「被陌生人找到」的關鍵。提醒學員：這段的產出（十大關鍵字）要帶回家長期使用。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用「標籤／分類」來解釋最好懂：像去圖書館，書上要貼分類標籤，別人才找得到。
· 示範：現場在 IG 搜尋列打 #台中伴手禮，把結果投影出來。
【互動提問】
· 問：有沒有人曾經用 Hashtag 找過東西？
【學員實作】
· 請學員現在在 IG 搜尋一個跟自己商品有關的標籤，看看跳出什麼。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左邊那些「#愛 #幸福」是很多人真的在用的，不要嘲笑，只要說明「來的人不會買」。
· 給一個具體數字：5–10 個。初學者最需要的是數字，不是原則。
【互動提問】
· 問：如果有人用 #美食 搜尋，跳出幾百萬篇，你的貼文排第幾？（答：看不到。所以要用更精準的字）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這是整段最關鍵的觀念轉換：從「我」變成「客人」。
· 可以現場示範：講師說「我想買伴手禮送人」，然後打開手機打字給大家看。
【互動提問】
· 問：如果你要買一個伴手禮送給外縣市的朋友，你會打什麼字去搜尋？（收集 3–5 個答案寫在白板）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三個分類是重點：商品／地區／情境。很多人只想得到「商品」，漏掉後面兩類。
· 「地區」對在地微型創業特別重要——競爭少、找到的人是真的買得到的人。
· 「情境」是最容易被忽略、但轉換率最高的：#送禮 #彌月禮盒 #伴手禮，都是有明確需求的人在搜。
【互動提問】
· 問：你的商品在什麼「情境」下最容易被買走？
【學員實作】
· 發下講義 3，開始填寫。這頁停留 3 分鐘，講完下一頁範例再讓他們寫完。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用完整範例把上一頁的三分類具體化。
· 請學員注意：一篇貼文不用把 10 個都放上去，挑最相關的 5–8 個。
【互動提問】
· 問：如果今天發的是「包裝過程」的照片，這 10 個字裡你會挑哪幾個？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這三個工具都免費，而且不用註冊。建議現場用講師手機／電腦各示範一次。
· Google Trends 示範「手工餅乾 vs 手作餅乾」，比較結果會讓學員很有感——一個字差很多。
· 如果現場網路不穩，先準備好截圖備用。
【互動提問】
· 問：你的商品有沒有兩種以上的叫法？（例如 手工／手作、餅乾／曲奇）
【學員實作】
· 三個工具至少實際操作一個，把找到的新關鍵字補進講義 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 8 分鐘講師要在教室走動，個別協助。最常卡住的是「情境」類。
· 協助技巧：直接問學員「上一個買你東西的人，是買來做什麼的？」答案通常就是情境關鍵字。
· 一定要請他們存進手機備忘錄——寫在紙上回家就找不到了。
【互動提問】
· 請 2–3 位學員念出自己的 10 個字，全班一起看有沒有可以再加的。
【學員實作】
· 完成講義 3，並存一份到手機備忘錄。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這一段最容易讓中高齡學員退縮。開場第一句就要先破除「我不會跳舞、我不敢露臉」的恐懼。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這頁請放慢，讓學員真的放下心理負擔。可以直接問：「有誰一聽到短影音就想跳過？」
· 關鍵句：Reels 只是會動的照片。中高齡學員聽到這句通常表情就鬆了。
· 補充：Reels 是目前最容易被「還沒追蹤你的人」看到的形式，所以值得試。
【互動提問】
· 問：有誰拍過短影片？有誰完全沒拍過？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六種裡面，②製作過程 跟 ③幕後花絮 是中高齡學員最容易做、效果也最好的。建議直接推薦這兩種。
· ④前後對比 很好用而且不用露臉：一開始是麵粉，最後是餅乾，中間不用剪。
【互動提問】
· 問：這六種裡，哪一種你明天就可以拍？
【學員實作】
· 請每個人選定一種，寫在講義 4 旁邊。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這頁是把「Reels」變成「五張會動的照片」，是這一段最有力的一頁。
· 強調順序就是自然的工作順序，學員本來就在做這些事，只是把手機架著錄下來。
· 實用建議：買一個 100–200 元的手機夾／小腳架，架在旁邊錄，雙手可以繼續工作。
【互動提問】
· 問：你的工作流程有哪五個步驟？（請兩位學員說說看，講師幫忙拆成五格）
【學員實作】
· 在講義 4 背面，把自己的工作流程畫成五格。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這頁的目的是「降低門檻」。請具體說：不用下載任何 App，IG 內建就能接片段。
· 再次強調：這堂課不教剪輯與攝影技巧，後面有專門的課程。今天只要他們敢按下錄影鍵。
【互動提問】
· 問：有誰因為「覺得拍得不夠好」所以一直沒發？
【學員實作】
· 現場練習：請學員拿手機，對著桌上任何東西錄 5 秒。就這樣，沒有別的要求。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限時動態是「養熟客」的工具，看的人多半是已經追蹤你的人。
· 很實用的一招：「商品剩最後 3 個」——製造即時感，常常真的會有人來問。
· 提醒：限動可以加「問答貼紙」「投票貼紙」，是最簡單的互動方式，可現場示範一次。
【互動提問】
· 問：你今天做了什麼事，其實就可以直接發限動？
【學員實作】
· 請學員現在發一則限動（可設定成只有自己看得到），內容就是現在的教室或桌上的東西。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這頁是給完美主義者的解藥。很多學員因為「拍不好」而完全不發。
· 重點：兩種照片沒有好壞，只是放的位置不同。貼文要精選，限動可以隨便。
【互動提問】
· 問：你比較喜歡看哪一種？（通常會有不少人選右邊——這就是答案）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用表格收尾這一段。重點是最後一列「要求」：Reels 要想一下，限動隨手拍。
· 建議給學員一個可執行的頻率：Reels 一週 1 支，限時動態一週 2–3 則。不要多。
【互動提問】
· 問：如果一週只能做一件事，你會選 Reels 還是限動？（沒有標準答案，看他的客人是新的還是舊的）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這一段是「成交」的關鍵，但常被忽略。先問：現場有多少人已經有官方帳號？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用「訊息被家人洗掉」這個例子最有共鳴，幾乎每個用私人 LINE 接單的人都遇過。
· 要說明：官方帳號是免費開的，不需要公司行號，個人也可以申請。這點很多人不知道。
【互動提問】
· 問：有誰漏接過客人的訊息？發生什麼事？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把功能明確切成兩層：今天要會的 8 個、今天只要知道的 3 個。避免資訊過載。
· 「歡迎訊息」最值得優先設定——客人一加好友就自動收到，等於 24 小時自動回覆。
· ＊不要現場教圖文選單設定，會吃掉太多時間。
【互動提問】
· 問：如果客人加了你的 LINE，第一句話你想跟他說什麼？（這就是歡迎訊息）
【學員實作】
· 請學員在講義背面寫下自己的「歡迎訊息」草稿，30 字以內。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這頁把「導流」具體化成五個入口。請學員檢查：這五個地方你放了幾個？
· 市集攤位的做法：把 QR Code 印成 A4 立牌放在桌上，比口頭說「加我 LINE」有效十倍。
· 商品包裝上貼一張小貼紙，是回購率最高的做法。
【互動提問】
· 問：你目前有在哪幾個地方放 QR Code？
【學員實作】
· 請學員現在打開自己的 LINE，找到自己的 QR Code（下一頁清單會再確認一次）。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講一個對比：IG 粉絲 1,000 人，一則貼文可能只有 80 人看到；LINE 好友 100 人，群發時 100 人都會收到通知。
· 結論：粉絲數不是資產，能聯絡到的名單才是。
· 這也回到早上的漏斗——LINE 負責的是「詢問→購買→回購」。
【互動提問】
· 問：你有沒有想過，去年買過你東西的客人，你現在還聯絡得到嗎？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右邊那個「👉 回覆我要預訂」是整頁的重點。沒有下一步，客人就算有興趣也不會動。
· 把四段結構寫在白板上：做什麼→有什麼選擇→到什麼時候→怎麼回我。學員照著填就能寫。
【互動提問】
· 問：左邊那則，如果是你收到，你會看完嗎？
【學員實作】
· 請學員用右邊的四段結構，寫一則自己的 LINE 訊息，30–80 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先示範一次自己的官方帳號後台，再讓學員操作。
· 如果現場多數人沒有官方帳號，建議至少完成到「建立帳號＋設定大頭貼＋找到 QR Code」三步。
· 請已經完成的學員互相加好友，馬上就能看到效果，也順便測試 QR Code 有沒有用。
【互動提問】
· 問：有誰找到 QR Code 了？（請他舉起手機給大家看）
【學員實作】
· 七項逐一操作。完成的人請互相掃描加好友。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最後一段。先講 10 分鐘觀念，剩下 15 分鐘全部給學員做東西。時間一定要守住。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十個裡面，對中高齡在地創業者最有效的通常是：Facebook 社團、顧客分享、市集 QR Code。
· 「顧客主動分享」是最被低估的——做法很簡單：出貨時附一張小卡，寫「拍照標註我，下次折 20 元」。
【互動提問】
· 問：你上次被朋友介紹去買東西，是什麼情況？
【學員實作】
· 請學員圈出兩個「我三個月內會認真做」的方法。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這頁要講得誠實，不要給不切實際的期待。社群不是魔法。
· 對這群學員特別重要：她們的商品品質通常很好，真正缺的是「被看見」跟「被信任」，而不是行銷技巧。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第五點「發了之後就消失」是最常見的失敗原因，請多花時間講。
· 給一個具體的期待值：前 3 個月、大約 20–30 篇，才會開始有比較穩定的互動。先講清楚，學員才不會三週就放棄。
· 「有人留言不回覆」也要強調：留言一定要回，回一句「謝謝」都好。
【互動提問】
· 問：有誰發過幾篇之後就放棄了？（多數人會舉手，讓大家知道這很普遍）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這是解決「不知道要發什麼」最實用的一頁。請學員拍照存起來。
· 大部分人只會發第一類（商品），所以帳號看起來像廣告傳單。第二、三類才是讓人喜歡你的關鍵。
· 第四類「有用的內容」對建立專業感特別有效：果醬怎麼保存、開封後放多久。
【互動提問】
· 問：你最近三篇貼文，分別是哪一類？（多數人會發現三篇都是第一類）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一週四篇是建議值，做不到就一週兩篇，但要「固定」。固定比多重要。
· 比例原則：賣東西的貼文不要超過四分之一。
· 如果學員說沒時間，教他們：週日花一小時，把四篇的照片一次拍完，之後每天發一篇。
【互動提問】
· 問：你一週可以固定發幾篇？（請他們誠實一點，寧可少也不要做不到）
【學員實作】
· 在講義背面寫下：我的一週發文計畫（星期幾、發哪一類）。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這是今天最重要的 12 分鐘。講師與助教要全場走動，一個一個看。
· 目標不是寫得好，是「真的按下發布」。有按下去的人，回家才會繼續做。
· 對於真的不敢發的人：讓他存草稿，或設定成只有自己看得到，也算完成。
【互動提問】
· 最後請 2–3 位願意的學員，把自己剛剛發的內容投影出來給大家看，全班給掌聲。
【學員實作】
· 完成講義 4，並實際發布一則內容或存成草稿。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把今天的產出收斂成三張紙，讓學員很清楚「我帶走了什麼」。
· 建議請學員互相檢查隔壁同學有沒有三項都完成。
· 如果有後續課程，這裡預告下一堂（品牌故事撰寫／商品文案設計），並說明會用到今天的成果。
【互動提問】
· 問：三項都完成的人請舉手。（沒完成的協助他當場補完）
【學員實作】
· 三項逐一確認。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回到早上白板上寫的那句話，請全班再念一次。首尾呼應。
· 五件事裡，第 5 點「持續出現」最重要也最難。可以邀請學員互相加 LINE 或組成小群組互相督促。
【互動提問】
· 問：今天最開始你說最想解決的問題，解決了嗎？（回到 Slide 2 的白板紀錄）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慢慢念完這段，停三秒再說「今天辛苦了」。
· 如果有後續課程，這裡再預告一次時間。
· 提醒學員填回饋單，並鼓勵大家把今天發的那則內容互相追蹤、互相按讚。
【學員實作】
· 發回饋單。鼓勵學員互相追蹤帳號。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講義檔案：handouts.html，用 Chrome 開啟後按 Ctrl/Cmd + P，選 A4 直式即可列印。
· 建議每人多印一份講義 3（十大關鍵字），一份留在教室、一份帶回家。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71550" y="1507937"/>
            <a:ext cx="26664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西屯婦女培力 · 一日課程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00100" y="1993666"/>
            <a:ext cx="2960004" cy="1813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105"/>
              </a:lnSpc>
              <a:buNone/>
            </a:pPr>
            <a:r>
              <a:rPr lang="en-US" sz="5550" b="1" spc="-222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社群平台</a:t>
            </a:r>
            <a:endParaRPr lang="en-US" sz="5550" dirty="0"/>
          </a:p>
          <a:p>
            <a:pPr algn="l" indent="0" marL="0">
              <a:lnSpc>
                <a:spcPts val="6105"/>
              </a:lnSpc>
              <a:buNone/>
            </a:pPr>
            <a:r>
              <a:rPr lang="en-US" sz="5550" b="1" spc="-222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操作入門</a:t>
            </a:r>
            <a:endParaRPr lang="en-US" sz="55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3887114"/>
            <a:ext cx="3241091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22"/>
              </a:lnSpc>
              <a:buNone/>
            </a:pPr>
            <a:r>
              <a:rPr lang="en-US" sz="19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不用當網紅，</a:t>
            </a:r>
            <a:endParaRPr lang="en-US" sz="1950" dirty="0"/>
          </a:p>
          <a:p>
            <a:pPr algn="l" indent="0" marL="0">
              <a:lnSpc>
                <a:spcPts val="3022"/>
              </a:lnSpc>
              <a:buNone/>
            </a:pPr>
            <a:r>
              <a:rPr lang="en-US" sz="19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也能讓別人看見你的作品。</a:t>
            </a:r>
            <a:endParaRPr lang="en-US" sz="1950" dirty="0"/>
          </a:p>
        </p:txBody>
      </p:sp>
      <p:sp>
        <p:nvSpPr>
          <p:cNvPr id="6" name="Text 3"/>
          <p:cNvSpPr txBox="1"/>
          <p:nvPr/>
        </p:nvSpPr>
        <p:spPr>
          <a:xfrm>
            <a:off x="952530" y="5054803"/>
            <a:ext cx="252237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30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08/16（六）09:00–16:00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684575" y="5054803"/>
            <a:ext cx="15496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30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實際授課 6 小時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61970" y="6343650"/>
            <a:ext cx="172355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開場 · 09:00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 / 76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324612"/>
            <a:ext cx="233418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TODAY 09:00–16:00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609630" y="705551"/>
            <a:ext cx="272290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今天會走過的路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609630" y="1271016"/>
            <a:ext cx="5765841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上午把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觀念與平台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搞清楚，下午全部都是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動手做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875" dirty="0"/>
          </a:p>
        </p:txBody>
      </p:sp>
      <p:sp>
        <p:nvSpPr>
          <p:cNvPr id="6" name="Text 3"/>
          <p:cNvSpPr txBox="1"/>
          <p:nvPr/>
        </p:nvSpPr>
        <p:spPr>
          <a:xfrm>
            <a:off x="6796644" y="1275771"/>
            <a:ext cx="107478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30" kern="0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Facebook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410743" y="1275771"/>
            <a:ext cx="113467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30" kern="0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Instagram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081351" y="1275771"/>
            <a:ext cx="143972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30" kern="0" dirty="0">
                <a:solidFill>
                  <a:srgbClr val="0393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LINE 官方帳號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23930" y="1894911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09:00–09:30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847820" y="2028231"/>
            <a:ext cx="33217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社群不是只有發文：先搞懂經營邏輯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362670" y="1894911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09:30–10:10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486650" y="2028231"/>
            <a:ext cx="288008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FB、IG、LINE 官方帳號怎麼選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23930" y="2656881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10:10–10:20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847820" y="2790200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休息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362670" y="2656881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10:20–11:05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486650" y="2790200"/>
            <a:ext cx="229980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 粉絲專頁操作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23930" y="3418850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11:05–12:00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847820" y="3552261"/>
            <a:ext cx="296155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 操作＋品牌案例觀察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362670" y="3418850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12:00–13:00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7486650" y="3552261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午休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23930" y="4180911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13:00–13:45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847820" y="4314231"/>
            <a:ext cx="27159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不同平台怎麼發：字數與圖文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362670" y="4180911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13:45–14:25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7486650" y="4314231"/>
            <a:ext cx="273003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Hashtag、搜尋與十大關鍵字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723930" y="4942881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14:25–14:35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847820" y="5076200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休息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6362670" y="4942881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14:35–15:05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7486650" y="5076200"/>
            <a:ext cx="264371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Reels、限時動態與內容形式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723930" y="5704850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15:05–15:35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1847820" y="5838261"/>
            <a:ext cx="24129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 官方帳號與顧客承接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6362670" y="5704850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15:35–16:00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7486650" y="5838261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免費曝光＋綜合實作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761970" y="6343650"/>
            <a:ext cx="172355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開場 · 09:00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 / 76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682039"/>
            <a:ext cx="27036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09:00 – 09:30 ｜ PART 1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1882110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01</a:t>
            </a:r>
            <a:endParaRPr lang="en-US" sz="1125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3425160"/>
            <a:ext cx="5575280" cy="790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社群到底在經營什麼？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876270" y="4596689"/>
            <a:ext cx="58963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先把「為什麼要發」想清楚，後面所有按鈕才會有意義。</a:t>
            </a:r>
            <a:endParaRPr lang="en-US" sz="1725" dirty="0"/>
          </a:p>
        </p:txBody>
      </p:sp>
      <p:sp>
        <p:nvSpPr>
          <p:cNvPr id="7" name="Text 4"/>
          <p:cNvSpPr txBox="1"/>
          <p:nvPr/>
        </p:nvSpPr>
        <p:spPr>
          <a:xfrm>
            <a:off x="761970" y="6343650"/>
            <a:ext cx="273030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· 09:00–09:30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/ 76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01472"/>
            <a:ext cx="20900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今天不是教你當網紅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172901"/>
            <a:ext cx="487997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26"/>
              </a:lnSpc>
              <a:buNone/>
            </a:pPr>
            <a:r>
              <a:rPr lang="en-US" sz="3300" b="1" spc="-6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今天我們只解決三件事。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1143914" y="2665202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019190" y="3141421"/>
            <a:ext cx="1770187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我要去哪裡發？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019190" y="3570092"/>
            <a:ext cx="2916479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Facebook、Instagram、LINE 官方帳號，</a:t>
            </a:r>
            <a:endParaRPr lang="en-US" sz="1575" dirty="0"/>
          </a:p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哪一個適合我？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4737964" y="2665202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613239" y="3141421"/>
            <a:ext cx="1530248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我要怎麼發？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4613239" y="3570092"/>
            <a:ext cx="2635209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字要寫多少、照片怎麼配、</a:t>
            </a:r>
            <a:endParaRPr lang="en-US" sz="1575" dirty="0"/>
          </a:p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三個平台差在哪？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8332013" y="2665202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207289" y="3141421"/>
            <a:ext cx="224997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發了怎麼讓人看到？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8207289" y="3570092"/>
            <a:ext cx="2917302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Hashtag、Reels、限時動態，</a:t>
            </a:r>
            <a:endParaRPr lang="en-US" sz="1575" dirty="0"/>
          </a:p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還有不用花錢的曝光方式。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1571671" y="5387096"/>
            <a:ext cx="517952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不用學會全部功能。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會用得到的那幾個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，就足以開始。</a:t>
            </a:r>
            <a:endParaRPr lang="en-US" sz="1575" dirty="0"/>
          </a:p>
        </p:txBody>
      </p:sp>
      <p:sp>
        <p:nvSpPr>
          <p:cNvPr id="15" name="Text 12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舉手調查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· 09:00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 / 76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416406"/>
            <a:ext cx="329915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課前需求調查 · 有效樣本 30 人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797436"/>
            <a:ext cx="2861340" cy="103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這些困擾，</a:t>
            </a:r>
            <a:endParaRPr lang="en-US" sz="3000" dirty="0"/>
          </a:p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是不是你也有？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3003164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不懂如何進行社群經營</a:t>
            </a:r>
            <a:endParaRPr lang="en-US" sz="1575" dirty="0"/>
          </a:p>
        </p:txBody>
      </p:sp>
      <p:sp>
        <p:nvSpPr>
          <p:cNvPr id="6" name="Text 3"/>
          <p:cNvSpPr txBox="1"/>
          <p:nvPr/>
        </p:nvSpPr>
        <p:spPr>
          <a:xfrm>
            <a:off x="4751954" y="3008010"/>
            <a:ext cx="139647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24 人｜80.0%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61970" y="3403214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不會拍攝商品照片與影音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4751954" y="3408060"/>
            <a:ext cx="139647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22 人｜73.3%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1970" y="3803264"/>
            <a:ext cx="263520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不知道該怎麼賣、怎麼行銷</a:t>
            </a:r>
            <a:endParaRPr lang="en-US" sz="1575" dirty="0"/>
          </a:p>
        </p:txBody>
      </p:sp>
      <p:sp>
        <p:nvSpPr>
          <p:cNvPr id="10" name="Text 7"/>
          <p:cNvSpPr txBox="1"/>
          <p:nvPr/>
        </p:nvSpPr>
        <p:spPr>
          <a:xfrm>
            <a:off x="4751954" y="3808110"/>
            <a:ext cx="139647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22 人｜73.3%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1970" y="4203314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不會寫介紹文案與內容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4751954" y="4208160"/>
            <a:ext cx="139647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18 人｜60.0%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61970" y="4603364"/>
            <a:ext cx="166530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不會使用 AI 工具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4751954" y="4608210"/>
            <a:ext cx="139647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16 人｜53.3%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61970" y="5003414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完全不知道怎麼開始</a:t>
            </a:r>
            <a:endParaRPr lang="en-US" sz="1575" dirty="0"/>
          </a:p>
        </p:txBody>
      </p:sp>
      <p:sp>
        <p:nvSpPr>
          <p:cNvPr id="16" name="Text 13"/>
          <p:cNvSpPr txBox="1"/>
          <p:nvPr/>
        </p:nvSpPr>
        <p:spPr>
          <a:xfrm>
            <a:off x="4751954" y="5008260"/>
            <a:ext cx="139647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 人｜46.7%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893192" y="3004536"/>
            <a:ext cx="2211202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「把手作品分享出去、</a:t>
            </a:r>
            <a:endParaRPr lang="en-US" sz="1575" dirty="0"/>
          </a:p>
          <a:p>
            <a:pPr algn="ctr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增加一份收入。」</a:t>
            </a:r>
            <a:endParaRPr lang="en-US" sz="1575" dirty="0"/>
          </a:p>
        </p:txBody>
      </p:sp>
      <p:sp>
        <p:nvSpPr>
          <p:cNvPr id="18" name="Text 15"/>
          <p:cNvSpPr txBox="1"/>
          <p:nvPr/>
        </p:nvSpPr>
        <p:spPr>
          <a:xfrm>
            <a:off x="8509041" y="4043020"/>
            <a:ext cx="9793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學員原話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7641458" y="4690781"/>
            <a:ext cx="1787103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排第一名的困難，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就是今天這堂課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  <p:sp>
        <p:nvSpPr>
          <p:cNvPr id="20" name="Text 17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舉手對照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· 09:05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 / 76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280355"/>
            <a:ext cx="14236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最常見的錯誤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1019190" y="1156716"/>
            <a:ext cx="14312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 常見的做法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1019190" y="1528145"/>
            <a:ext cx="321960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647840" y="1671066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有商品，歡迎購買！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19190" y="2213945"/>
            <a:ext cx="321960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明天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647840" y="2356866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有商品，歡迎購買！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19190" y="2899745"/>
            <a:ext cx="321960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後天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47840" y="3042666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有商品，歡迎購買！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2560594" y="4328495"/>
            <a:ext cx="1575054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只有你在說話，</a:t>
            </a:r>
            <a:endParaRPr lang="en-US" sz="1575" dirty="0"/>
          </a:p>
          <a:p>
            <a:pPr algn="ctr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沒有人想回應。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6524610" y="1156716"/>
            <a:ext cx="140543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 正確的觀念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524610" y="1528145"/>
            <a:ext cx="321960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143750" y="1671066"/>
            <a:ext cx="24085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今年的草莓終於進來了 🍓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524610" y="2213945"/>
            <a:ext cx="321960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明天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143750" y="2356866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煮果醬時廚房的樣子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524610" y="2899745"/>
            <a:ext cx="321960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後天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143750" y="3042666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客人回購的一句話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7853873" y="4328495"/>
            <a:ext cx="1999061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先讓別人願意看你，</a:t>
            </a:r>
            <a:endParaRPr lang="en-US" sz="1575" dirty="0"/>
          </a:p>
          <a:p>
            <a:pPr algn="ctr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再談購買。</a:t>
            </a:r>
            <a:endParaRPr lang="en-US" sz="1575" dirty="0"/>
          </a:p>
        </p:txBody>
      </p:sp>
      <p:sp>
        <p:nvSpPr>
          <p:cNvPr id="20" name="Text 17"/>
          <p:cNvSpPr txBox="1"/>
          <p:nvPr/>
        </p:nvSpPr>
        <p:spPr>
          <a:xfrm>
            <a:off x="1533540" y="5624200"/>
            <a:ext cx="4225442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沒有人喜歡天天被推銷，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但大家都喜歡看「有人正在認真做一件事」。</a:t>
            </a:r>
            <a:endParaRPr lang="en-US" sz="1575" dirty="0"/>
          </a:p>
        </p:txBody>
      </p:sp>
      <p:sp>
        <p:nvSpPr>
          <p:cNvPr id="21" name="Text 18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· 09:10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 / 76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004468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整天的主軸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385407"/>
            <a:ext cx="3653028" cy="103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一個陌生人，</a:t>
            </a:r>
            <a:endParaRPr lang="en-US" sz="3000" dirty="0"/>
          </a:p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怎麼變成你的客人？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2553188"/>
            <a:ext cx="3685764" cy="1904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中間每一層都會流失一些人，</a:t>
            </a:r>
            <a:endParaRPr lang="en-US" sz="1875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這很正常。</a:t>
            </a:r>
            <a:endParaRPr lang="en-US" sz="1875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我們要做的不是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逼人買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endParaRPr lang="en-US" sz="1875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而是讓願意留下的人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走得下去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875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4796302"/>
            <a:ext cx="216557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30" kern="0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FB · IG 負責前面三層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5339182"/>
            <a:ext cx="185156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30" kern="0" dirty="0">
                <a:solidFill>
                  <a:srgbClr val="0393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 負責後面三層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130296" y="1100115"/>
            <a:ext cx="772759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被看見</a:t>
            </a:r>
            <a:endParaRPr lang="en-US" sz="1650" dirty="0"/>
          </a:p>
        </p:txBody>
      </p:sp>
      <p:sp>
        <p:nvSpPr>
          <p:cNvPr id="9" name="Text 6"/>
          <p:cNvSpPr txBox="1"/>
          <p:nvPr/>
        </p:nvSpPr>
        <p:spPr>
          <a:xfrm>
            <a:off x="8130296" y="1700235"/>
            <a:ext cx="772759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被認識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8130296" y="2300265"/>
            <a:ext cx="772759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被喜歡</a:t>
            </a:r>
            <a:endParaRPr lang="en-US" sz="1650" dirty="0"/>
          </a:p>
        </p:txBody>
      </p:sp>
      <p:sp>
        <p:nvSpPr>
          <p:cNvPr id="11" name="Text 8"/>
          <p:cNvSpPr txBox="1"/>
          <p:nvPr/>
        </p:nvSpPr>
        <p:spPr>
          <a:xfrm>
            <a:off x="8130296" y="2900385"/>
            <a:ext cx="772759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被信任</a:t>
            </a:r>
            <a:endParaRPr lang="en-US" sz="1650" dirty="0"/>
          </a:p>
        </p:txBody>
      </p:sp>
      <p:sp>
        <p:nvSpPr>
          <p:cNvPr id="12" name="Text 9"/>
          <p:cNvSpPr txBox="1"/>
          <p:nvPr/>
        </p:nvSpPr>
        <p:spPr>
          <a:xfrm>
            <a:off x="8237190" y="3500415"/>
            <a:ext cx="559064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詢問</a:t>
            </a:r>
            <a:endParaRPr lang="en-US" sz="1650" dirty="0"/>
          </a:p>
        </p:txBody>
      </p:sp>
      <p:sp>
        <p:nvSpPr>
          <p:cNvPr id="13" name="Text 10"/>
          <p:cNvSpPr txBox="1"/>
          <p:nvPr/>
        </p:nvSpPr>
        <p:spPr>
          <a:xfrm>
            <a:off x="8237190" y="4100535"/>
            <a:ext cx="559064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購買</a:t>
            </a:r>
            <a:endParaRPr lang="en-US" sz="1650" dirty="0"/>
          </a:p>
        </p:txBody>
      </p:sp>
      <p:sp>
        <p:nvSpPr>
          <p:cNvPr id="14" name="Text 11"/>
          <p:cNvSpPr txBox="1"/>
          <p:nvPr/>
        </p:nvSpPr>
        <p:spPr>
          <a:xfrm>
            <a:off x="7864846" y="4700565"/>
            <a:ext cx="1333470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回購 · 推薦</a:t>
            </a:r>
            <a:endParaRPr lang="en-US" sz="1650" dirty="0"/>
          </a:p>
        </p:txBody>
      </p:sp>
      <p:sp>
        <p:nvSpPr>
          <p:cNvPr id="15" name="Text 12"/>
          <p:cNvSpPr txBox="1"/>
          <p:nvPr/>
        </p:nvSpPr>
        <p:spPr>
          <a:xfrm>
            <a:off x="5786049" y="5243535"/>
            <a:ext cx="541590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被看見 → 被認識 → 被喜歡 → 被信任 → 詢問 → 購買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· 09:15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 / 76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27954" y="990021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換個方式想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2647097" y="1351940"/>
            <a:ext cx="6907286" cy="81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394"/>
              </a:lnSpc>
              <a:buNone/>
            </a:pPr>
            <a:r>
              <a:rPr lang="en-US" sz="4350" b="1" spc="-13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引流，只是把人帶到門口。</a:t>
            </a:r>
            <a:endParaRPr lang="en-US" sz="4350" dirty="0"/>
          </a:p>
        </p:txBody>
      </p:sp>
      <p:sp>
        <p:nvSpPr>
          <p:cNvPr id="5" name="Text 2"/>
          <p:cNvSpPr txBox="1"/>
          <p:nvPr/>
        </p:nvSpPr>
        <p:spPr>
          <a:xfrm>
            <a:off x="2052371" y="5248839"/>
            <a:ext cx="25342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一家店，每天很多人經過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4630" y="2615641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但是……</a:t>
            </a:r>
            <a:endParaRPr lang="en-US" sz="1575" dirty="0"/>
          </a:p>
        </p:txBody>
      </p:sp>
      <p:sp>
        <p:nvSpPr>
          <p:cNvPr id="7" name="Text 4"/>
          <p:cNvSpPr txBox="1"/>
          <p:nvPr/>
        </p:nvSpPr>
        <p:spPr>
          <a:xfrm>
            <a:off x="6324630" y="3097530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6610380" y="3097530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東西看不懂</a:t>
            </a:r>
            <a:endParaRPr lang="en-US" sz="1575" dirty="0"/>
          </a:p>
        </p:txBody>
      </p:sp>
      <p:sp>
        <p:nvSpPr>
          <p:cNvPr id="9" name="Text 6"/>
          <p:cNvSpPr txBox="1"/>
          <p:nvPr/>
        </p:nvSpPr>
        <p:spPr>
          <a:xfrm>
            <a:off x="6324630" y="3511936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0" name="Text 7"/>
          <p:cNvSpPr txBox="1"/>
          <p:nvPr/>
        </p:nvSpPr>
        <p:spPr>
          <a:xfrm>
            <a:off x="6610380" y="3511936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內容很亂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6324630" y="3926251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6610380" y="3926251"/>
            <a:ext cx="157505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不知道在賣什麼</a:t>
            </a:r>
            <a:endParaRPr lang="en-US" sz="1575" dirty="0"/>
          </a:p>
        </p:txBody>
      </p:sp>
      <p:sp>
        <p:nvSpPr>
          <p:cNvPr id="13" name="Text 10"/>
          <p:cNvSpPr txBox="1"/>
          <p:nvPr/>
        </p:nvSpPr>
        <p:spPr>
          <a:xfrm>
            <a:off x="6324630" y="4340565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6610380" y="4340565"/>
            <a:ext cx="157505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找不到聯絡方式</a:t>
            </a:r>
            <a:endParaRPr lang="en-US" sz="1575" dirty="0"/>
          </a:p>
        </p:txBody>
      </p:sp>
      <p:sp>
        <p:nvSpPr>
          <p:cNvPr id="15" name="Text 12"/>
          <p:cNvSpPr txBox="1"/>
          <p:nvPr/>
        </p:nvSpPr>
        <p:spPr>
          <a:xfrm>
            <a:off x="6581760" y="5050140"/>
            <a:ext cx="979505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8"/>
              </a:lnSpc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會買嗎？</a:t>
            </a:r>
            <a:endParaRPr lang="en-US" sz="1650" dirty="0"/>
          </a:p>
        </p:txBody>
      </p:sp>
      <p:sp>
        <p:nvSpPr>
          <p:cNvPr id="16" name="Text 13"/>
          <p:cNvSpPr txBox="1"/>
          <p:nvPr/>
        </p:nvSpPr>
        <p:spPr>
          <a:xfrm>
            <a:off x="9980310" y="304770"/>
            <a:ext cx="13751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生活經驗連結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· 09:20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 / 76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331775" y="1333470"/>
            <a:ext cx="14236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請記住這句話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2216140" y="3276570"/>
            <a:ext cx="5429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引流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1810878" y="3619470"/>
            <a:ext cx="1353403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18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讓人</a:t>
            </a:r>
            <a:pPr algn="ctr" indent="0" marL="0">
              <a:lnSpc>
                <a:spcPts val="2625"/>
              </a:lnSpc>
              <a:buNone/>
            </a:pPr>
            <a:r>
              <a:rPr lang="en-US" sz="18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看見</a:t>
            </a:r>
            <a:pPr algn="ctr" indent="0" marL="0">
              <a:lnSpc>
                <a:spcPts val="2625"/>
              </a:lnSpc>
              <a:buNone/>
            </a:pPr>
            <a:r>
              <a:rPr lang="en-US" sz="18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</a:t>
            </a:r>
            <a:endParaRPr lang="en-US" sz="1875" dirty="0"/>
          </a:p>
        </p:txBody>
      </p:sp>
      <p:sp>
        <p:nvSpPr>
          <p:cNvPr id="6" name="Text 3"/>
          <p:cNvSpPr txBox="1"/>
          <p:nvPr/>
        </p:nvSpPr>
        <p:spPr>
          <a:xfrm>
            <a:off x="5618988" y="3276570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好的內容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23946" y="3619470"/>
            <a:ext cx="1353403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18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讓人</a:t>
            </a:r>
            <a:pPr algn="ctr" indent="0" marL="0">
              <a:lnSpc>
                <a:spcPts val="2625"/>
              </a:lnSpc>
              <a:buNone/>
            </a:pPr>
            <a:r>
              <a:rPr lang="en-US" sz="18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喜歡</a:t>
            </a:r>
            <a:pPr algn="ctr" indent="0" marL="0">
              <a:lnSpc>
                <a:spcPts val="2625"/>
              </a:lnSpc>
              <a:buNone/>
            </a:pPr>
            <a:r>
              <a:rPr lang="en-US" sz="18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</a:t>
            </a:r>
            <a:endParaRPr lang="en-US" sz="1875" dirty="0"/>
          </a:p>
        </p:txBody>
      </p:sp>
      <p:sp>
        <p:nvSpPr>
          <p:cNvPr id="8" name="Text 5"/>
          <p:cNvSpPr txBox="1"/>
          <p:nvPr/>
        </p:nvSpPr>
        <p:spPr>
          <a:xfrm>
            <a:off x="9232240" y="3276570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持續互動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037107" y="3619470"/>
            <a:ext cx="1353403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18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讓人</a:t>
            </a:r>
            <a:pPr algn="ctr" indent="0" marL="0">
              <a:lnSpc>
                <a:spcPts val="2625"/>
              </a:lnSpc>
              <a:buNone/>
            </a:pPr>
            <a:r>
              <a:rPr lang="en-US" sz="18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信任</a:t>
            </a:r>
            <a:pPr algn="ctr" indent="0" marL="0">
              <a:lnSpc>
                <a:spcPts val="2625"/>
              </a:lnSpc>
              <a:buNone/>
            </a:pPr>
            <a:r>
              <a:rPr lang="en-US" sz="18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</a:t>
            </a:r>
            <a:endParaRPr lang="en-US" sz="1875" dirty="0"/>
          </a:p>
        </p:txBody>
      </p:sp>
      <p:sp>
        <p:nvSpPr>
          <p:cNvPr id="10" name="Text 7"/>
          <p:cNvSpPr txBox="1"/>
          <p:nvPr/>
        </p:nvSpPr>
        <p:spPr>
          <a:xfrm>
            <a:off x="3615629" y="4619640"/>
            <a:ext cx="4970221" cy="747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今天所有的操作、字數、Hashtag、Reels，</a:t>
            </a:r>
            <a:endParaRPr lang="en-US" sz="1875" dirty="0"/>
          </a:p>
          <a:p>
            <a:pPr algn="ctr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都只是為了完成上面這三件事。</a:t>
            </a:r>
            <a:endParaRPr lang="en-US" sz="1875" dirty="0"/>
          </a:p>
        </p:txBody>
      </p:sp>
      <p:sp>
        <p:nvSpPr>
          <p:cNvPr id="11" name="Text 8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· 09:25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9 / 76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296253"/>
            <a:ext cx="27036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09:30 – 10:10 ｜ PART 2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1496324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02</a:t>
            </a:r>
            <a:endParaRPr lang="en-US" sz="1125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3039374"/>
            <a:ext cx="3644524" cy="156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FB、IG、LINE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到底差在哪？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876270" y="4982474"/>
            <a:ext cx="519973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不是三個都要做。先知道它們各自負責什麼工作。</a:t>
            </a:r>
            <a:endParaRPr lang="en-US" sz="1725" dirty="0"/>
          </a:p>
        </p:txBody>
      </p:sp>
      <p:sp>
        <p:nvSpPr>
          <p:cNvPr id="7" name="Text 4"/>
          <p:cNvSpPr txBox="1"/>
          <p:nvPr/>
        </p:nvSpPr>
        <p:spPr>
          <a:xfrm>
            <a:off x="761970" y="6343650"/>
            <a:ext cx="273030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 · 09:30–10:10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 / 76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678668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用開店來想就懂了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059698"/>
            <a:ext cx="484028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三個平台，三種不同的店面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1019190" y="3997665"/>
            <a:ext cx="130009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019190" y="4369186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社區廣場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019190" y="4797765"/>
            <a:ext cx="3059308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大家會在這裡聊天、分享、看見鄰居在做什麼。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建立關係</a:t>
            </a:r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的地方。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4625858" y="3997665"/>
            <a:ext cx="140232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625858" y="4369186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展示櫥窗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4625858" y="4797765"/>
            <a:ext cx="305930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路過的人被作品吸引而停下來。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吸引新的人</a:t>
            </a:r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的地方。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8232709" y="3997665"/>
            <a:ext cx="15487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0393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 官方帳號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232709" y="4369186"/>
            <a:ext cx="1770187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會員／客服櫃台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8232709" y="4797765"/>
            <a:ext cx="2847259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有興趣的人來問、來訂、來回購。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留下顧客</a:t>
            </a:r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的地方。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 · 09:30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 / 76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16595"/>
            <a:ext cx="9793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社區廣場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1295430" y="1297625"/>
            <a:ext cx="359606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Facebook 粉絲專頁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2000524"/>
            <a:ext cx="2166762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適合這些情況 ——</a:t>
            </a:r>
            <a:endParaRPr lang="en-US" sz="1875" dirty="0"/>
          </a:p>
        </p:txBody>
      </p:sp>
      <p:sp>
        <p:nvSpPr>
          <p:cNvPr id="6" name="Text 3"/>
          <p:cNvSpPr txBox="1"/>
          <p:nvPr/>
        </p:nvSpPr>
        <p:spPr>
          <a:xfrm>
            <a:off x="943021" y="2748229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在地客群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650468" y="2748229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中高齡族群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43021" y="3456981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社團與社區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650468" y="3456981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活動資訊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43021" y="4165732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完整內容分享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650468" y="4165732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建立熟悉感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704990" y="5017313"/>
            <a:ext cx="4117177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手作品 · 市集 · 農產品 · 社區活動 · 課程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客人年紀偏長、住在附近，就用 Facebook。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364212" y="5815035"/>
            <a:ext cx="32690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 可以講比較完整的事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 · 09:38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 / 76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16595"/>
            <a:ext cx="9793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展示櫥窗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1295430" y="1297625"/>
            <a:ext cx="203326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Instagram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2000524"/>
            <a:ext cx="2166762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適合這些情況 ——</a:t>
            </a:r>
            <a:endParaRPr lang="en-US" sz="1875" dirty="0"/>
          </a:p>
        </p:txBody>
      </p:sp>
      <p:sp>
        <p:nvSpPr>
          <p:cNvPr id="6" name="Text 3"/>
          <p:cNvSpPr txBox="1"/>
          <p:nvPr/>
        </p:nvSpPr>
        <p:spPr>
          <a:xfrm>
            <a:off x="943021" y="2748229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商品作品展示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650468" y="2748229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個人風格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43021" y="3456981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照片為主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650468" y="3456981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短影片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43021" y="4165732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製作過程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650468" y="4165732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開發新客群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704990" y="5017313"/>
            <a:ext cx="2569464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一句話：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IG 就像你的作品展示櫥窗。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509510" y="5815035"/>
            <a:ext cx="2978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九宮格＝別人對你的第一印象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舉手調查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 · 09:45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 / 76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600395"/>
            <a:ext cx="16457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會員／客服櫃台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1295430" y="981334"/>
            <a:ext cx="264289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LINE 官方帳號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1684325"/>
            <a:ext cx="2166762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適合這些情況 ——</a:t>
            </a:r>
            <a:endParaRPr lang="en-US" sz="1875" dirty="0"/>
          </a:p>
        </p:txBody>
      </p:sp>
      <p:sp>
        <p:nvSpPr>
          <p:cNvPr id="6" name="Text 3"/>
          <p:cNvSpPr txBox="1"/>
          <p:nvPr/>
        </p:nvSpPr>
        <p:spPr>
          <a:xfrm>
            <a:off x="943021" y="2422520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顧客詢問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650468" y="2422520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預約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43021" y="3112160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接單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650468" y="3112160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活動通知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43021" y="3801801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新品通知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650468" y="3801801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熟客維繫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43021" y="4491441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回購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650468" y="4491441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出貨通知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704990" y="5333512"/>
            <a:ext cx="2614910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FB、IG 把人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帶來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 把有興趣的人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留下來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620610" y="5815035"/>
            <a:ext cx="27563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真正成交，多半發生在這裡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 · 09:52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 / 76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550365"/>
            <a:ext cx="425378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課前調查 · 曾使用過的數位工具 · 30 人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931304"/>
            <a:ext cx="497899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好消息：</a:t>
            </a:r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你們已經天天在用了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2782519"/>
            <a:ext cx="607527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</a:t>
            </a:r>
            <a:endParaRPr lang="en-US" sz="1650" dirty="0"/>
          </a:p>
        </p:txBody>
      </p:sp>
      <p:sp>
        <p:nvSpPr>
          <p:cNvPr id="6" name="Text 3"/>
          <p:cNvSpPr txBox="1"/>
          <p:nvPr/>
        </p:nvSpPr>
        <p:spPr>
          <a:xfrm>
            <a:off x="4418472" y="2796784"/>
            <a:ext cx="151552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30 人｜100.0%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61970" y="3201589"/>
            <a:ext cx="1137605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4537619" y="3215853"/>
            <a:ext cx="139647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28 人｜93.3%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1970" y="3620658"/>
            <a:ext cx="1041410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ChatGPT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37619" y="3635014"/>
            <a:ext cx="139647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17 人｜56.7%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267480" y="2782519"/>
            <a:ext cx="119905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</a:t>
            </a:r>
            <a:endParaRPr lang="en-US" sz="1650" dirty="0"/>
          </a:p>
        </p:txBody>
      </p:sp>
      <p:sp>
        <p:nvSpPr>
          <p:cNvPr id="12" name="Text 9"/>
          <p:cNvSpPr txBox="1"/>
          <p:nvPr/>
        </p:nvSpPr>
        <p:spPr>
          <a:xfrm>
            <a:off x="10043130" y="2796784"/>
            <a:ext cx="139647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 人｜43.3%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267480" y="3201589"/>
            <a:ext cx="87078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Gemini</a:t>
            </a:r>
            <a:endParaRPr lang="en-US" sz="1650" dirty="0"/>
          </a:p>
        </p:txBody>
      </p:sp>
      <p:sp>
        <p:nvSpPr>
          <p:cNvPr id="14" name="Text 11"/>
          <p:cNvSpPr txBox="1"/>
          <p:nvPr/>
        </p:nvSpPr>
        <p:spPr>
          <a:xfrm>
            <a:off x="10162276" y="3215853"/>
            <a:ext cx="12772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9 人｜30.0%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7480" y="3620658"/>
            <a:ext cx="766907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Canva</a:t>
            </a:r>
            <a:endParaRPr lang="en-US" sz="1650" dirty="0"/>
          </a:p>
        </p:txBody>
      </p:sp>
      <p:sp>
        <p:nvSpPr>
          <p:cNvPr id="16" name="Text 13"/>
          <p:cNvSpPr txBox="1"/>
          <p:nvPr/>
        </p:nvSpPr>
        <p:spPr>
          <a:xfrm>
            <a:off x="10162276" y="3635014"/>
            <a:ext cx="12772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 人｜13.3%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571671" y="4354098"/>
            <a:ext cx="3483315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 100%、Facebook 93%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你要用的工具，早就在你手機裡了。</a:t>
            </a:r>
            <a:endParaRPr lang="en-US" sz="1575" dirty="0"/>
          </a:p>
        </p:txBody>
      </p:sp>
      <p:sp>
        <p:nvSpPr>
          <p:cNvPr id="18" name="Text 15"/>
          <p:cNvSpPr txBox="1"/>
          <p:nvPr/>
        </p:nvSpPr>
        <p:spPr>
          <a:xfrm>
            <a:off x="6981810" y="4354098"/>
            <a:ext cx="3963833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 只有 43%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所以先把 FB＋LINE 練熟，IG 之後再說。</a:t>
            </a:r>
            <a:endParaRPr lang="en-US" sz="1575" dirty="0"/>
          </a:p>
        </p:txBody>
      </p:sp>
      <p:sp>
        <p:nvSpPr>
          <p:cNvPr id="19" name="Text 16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舉手對照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 · 09:58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 / 76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237787" y="488015"/>
            <a:ext cx="16457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最常被問的問題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4175333" y="869046"/>
            <a:ext cx="3850904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所以我三個都要做嗎？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4850709" y="1443929"/>
            <a:ext cx="2500152" cy="1152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626"/>
              </a:lnSpc>
              <a:buNone/>
            </a:pPr>
            <a:r>
              <a:rPr lang="en-US" sz="6150" b="1" spc="-18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不用。</a:t>
            </a:r>
            <a:endParaRPr lang="en-US" sz="6150" dirty="0"/>
          </a:p>
        </p:txBody>
      </p:sp>
      <p:sp>
        <p:nvSpPr>
          <p:cNvPr id="6" name="Text 3"/>
          <p:cNvSpPr txBox="1"/>
          <p:nvPr/>
        </p:nvSpPr>
        <p:spPr>
          <a:xfrm>
            <a:off x="2028871" y="3136301"/>
            <a:ext cx="16174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初學者先想這個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2028871" y="3507730"/>
            <a:ext cx="1650309" cy="723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-2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我要在哪裡</a:t>
            </a:r>
            <a:endParaRPr lang="en-US" sz="1950" dirty="0"/>
          </a:p>
          <a:p>
            <a:pPr algn="l" indent="0" marL="0">
              <a:buNone/>
            </a:pPr>
            <a:r>
              <a:rPr lang="en-US" sz="1950" b="1" spc="-2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「被看到」？</a:t>
            </a:r>
            <a:endParaRPr lang="en-US" sz="1950" dirty="0"/>
          </a:p>
        </p:txBody>
      </p:sp>
      <p:sp>
        <p:nvSpPr>
          <p:cNvPr id="8" name="Text 5"/>
          <p:cNvSpPr txBox="1"/>
          <p:nvPr/>
        </p:nvSpPr>
        <p:spPr>
          <a:xfrm>
            <a:off x="2447940" y="4431640"/>
            <a:ext cx="107478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30" kern="0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Facebook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042928" y="4431640"/>
            <a:ext cx="113467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30" kern="0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Instagram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2028871" y="4945990"/>
            <a:ext cx="263520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二選一就好，先做熟一個。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6476970" y="3136301"/>
            <a:ext cx="118131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然後想這個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476970" y="3507730"/>
            <a:ext cx="1910090" cy="723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-2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我要在哪裡</a:t>
            </a:r>
            <a:endParaRPr lang="en-US" sz="1950" dirty="0"/>
          </a:p>
          <a:p>
            <a:pPr algn="l" indent="0" marL="0">
              <a:buNone/>
            </a:pPr>
            <a:r>
              <a:rPr lang="en-US" sz="1950" b="1" spc="-2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「留下顧客」？</a:t>
            </a:r>
            <a:endParaRPr lang="en-US" sz="1950" dirty="0"/>
          </a:p>
        </p:txBody>
      </p:sp>
      <p:sp>
        <p:nvSpPr>
          <p:cNvPr id="13" name="Text 10"/>
          <p:cNvSpPr txBox="1"/>
          <p:nvPr/>
        </p:nvSpPr>
        <p:spPr>
          <a:xfrm>
            <a:off x="6896130" y="4431640"/>
            <a:ext cx="143972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30" kern="0" dirty="0">
                <a:solidFill>
                  <a:srgbClr val="0393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LINE 官方帳號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476970" y="4945990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這個幾乎每個人都需要。</a:t>
            </a:r>
            <a:endParaRPr lang="en-US" sz="1575" dirty="0"/>
          </a:p>
        </p:txBody>
      </p:sp>
      <p:sp>
        <p:nvSpPr>
          <p:cNvPr id="15" name="Text 12"/>
          <p:cNvSpPr txBox="1"/>
          <p:nvPr/>
        </p:nvSpPr>
        <p:spPr>
          <a:xfrm>
            <a:off x="3221431" y="5851063"/>
            <a:ext cx="5758800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一個曝光平台 ＋ 一個聯絡平台</a:t>
            </a:r>
            <a:pPr algn="ctr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，就是最好的起點。</a:t>
            </a:r>
            <a:endParaRPr lang="en-US" sz="1875" dirty="0"/>
          </a:p>
        </p:txBody>
      </p:sp>
      <p:sp>
        <p:nvSpPr>
          <p:cNvPr id="16" name="Text 13"/>
          <p:cNvSpPr txBox="1"/>
          <p:nvPr/>
        </p:nvSpPr>
        <p:spPr>
          <a:xfrm>
            <a:off x="10609509" y="304770"/>
            <a:ext cx="7137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講義 1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 · 10:00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16 / 76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79222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換你們回答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560161"/>
            <a:ext cx="610682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如果是他們，你會建議做哪個平台？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2137227" y="3192536"/>
            <a:ext cx="73883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 阿姨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911370" y="3563965"/>
            <a:ext cx="1190457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做手工泡菜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1401044" y="3964015"/>
            <a:ext cx="2211202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客人大多 40–60 歲，</a:t>
            </a:r>
            <a:endParaRPr lang="en-US" sz="1575" dirty="0"/>
          </a:p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都住在台中西屯附近。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1554571" y="4973970"/>
            <a:ext cx="107478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30" kern="0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2871399" y="4973970"/>
            <a:ext cx="57954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30" kern="0" dirty="0">
                <a:solidFill>
                  <a:srgbClr val="0393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727436" y="3192536"/>
            <a:ext cx="74642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 學員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505420" y="3563965"/>
            <a:ext cx="1190457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做手工耳環</a:t>
            </a:r>
            <a:endParaRPr lang="en-US" sz="1650" dirty="0"/>
          </a:p>
        </p:txBody>
      </p:sp>
      <p:sp>
        <p:nvSpPr>
          <p:cNvPr id="12" name="Text 9"/>
          <p:cNvSpPr txBox="1"/>
          <p:nvPr/>
        </p:nvSpPr>
        <p:spPr>
          <a:xfrm>
            <a:off x="4973422" y="3964015"/>
            <a:ext cx="2254545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想接觸 20–40 歲女性，</a:t>
            </a:r>
            <a:endParaRPr lang="en-US" sz="1575" dirty="0"/>
          </a:p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目前沒什麼在地客。</a:t>
            </a:r>
            <a:endParaRPr lang="en-US" sz="1575" dirty="0"/>
          </a:p>
        </p:txBody>
      </p:sp>
      <p:sp>
        <p:nvSpPr>
          <p:cNvPr id="13" name="Text 10"/>
          <p:cNvSpPr txBox="1"/>
          <p:nvPr/>
        </p:nvSpPr>
        <p:spPr>
          <a:xfrm>
            <a:off x="5118720" y="4973970"/>
            <a:ext cx="113467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30" kern="0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493703" y="4973970"/>
            <a:ext cx="57954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30" kern="0" dirty="0">
                <a:solidFill>
                  <a:srgbClr val="0393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323954" y="3192536"/>
            <a:ext cx="7416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 學員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317919" y="3563965"/>
            <a:ext cx="753831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教瑜珈</a:t>
            </a:r>
            <a:endParaRPr lang="en-US" sz="1650" dirty="0"/>
          </a:p>
        </p:txBody>
      </p:sp>
      <p:sp>
        <p:nvSpPr>
          <p:cNvPr id="17" name="Text 14"/>
          <p:cNvSpPr txBox="1"/>
          <p:nvPr/>
        </p:nvSpPr>
        <p:spPr>
          <a:xfrm>
            <a:off x="8801283" y="3964015"/>
            <a:ext cx="1787103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主要想招募</a:t>
            </a:r>
            <a:endParaRPr lang="en-US" sz="1575" dirty="0"/>
          </a:p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附近社區的居民。</a:t>
            </a:r>
            <a:endParaRPr lang="en-US" sz="1575" dirty="0"/>
          </a:p>
        </p:txBody>
      </p:sp>
      <p:sp>
        <p:nvSpPr>
          <p:cNvPr id="18" name="Text 15"/>
          <p:cNvSpPr txBox="1"/>
          <p:nvPr/>
        </p:nvSpPr>
        <p:spPr>
          <a:xfrm>
            <a:off x="8742853" y="4973970"/>
            <a:ext cx="107478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30" kern="0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059680" y="4973970"/>
            <a:ext cx="57954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30" kern="0" dirty="0">
                <a:solidFill>
                  <a:srgbClr val="0393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552560" y="6019038"/>
            <a:ext cx="645173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判斷方式只有一個：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我的客人年紀多大、住在哪裡、平常在滑什麼？</a:t>
            </a:r>
            <a:endParaRPr lang="en-US" sz="1575" dirty="0"/>
          </a:p>
        </p:txBody>
      </p:sp>
      <p:sp>
        <p:nvSpPr>
          <p:cNvPr id="21" name="Text 18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全班討論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 · 10:04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17 / 76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296253"/>
            <a:ext cx="50398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10:10 – 10:20 休息 ｜ 10:20 – 11:05 ｜ PART 3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1496324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03</a:t>
            </a:r>
            <a:endParaRPr lang="en-US" sz="1125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3039374"/>
            <a:ext cx="3381543" cy="156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粉絲專頁操作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876270" y="4982474"/>
            <a:ext cx="65930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拿起手機，跟著一起做。這一段講師手機投影，全班同步操作。</a:t>
            </a:r>
            <a:endParaRPr lang="en-US" sz="1725" dirty="0"/>
          </a:p>
        </p:txBody>
      </p:sp>
      <p:sp>
        <p:nvSpPr>
          <p:cNvPr id="7" name="Text 4"/>
          <p:cNvSpPr txBox="1"/>
          <p:nvPr/>
        </p:nvSpPr>
        <p:spPr>
          <a:xfrm>
            <a:off x="761970" y="6343650"/>
            <a:ext cx="273030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 · 10:20–11:05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18 / 76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657271"/>
            <a:ext cx="16457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先分清楚這兩個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1019190" y="1533540"/>
            <a:ext cx="216804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個人 Facebook 帳號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1019190" y="1904970"/>
            <a:ext cx="1590142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-22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「我是誰」</a:t>
            </a:r>
            <a:endParaRPr lang="en-US" sz="2250" dirty="0"/>
          </a:p>
        </p:txBody>
      </p:sp>
      <p:sp>
        <p:nvSpPr>
          <p:cNvPr id="6" name="Text 3"/>
          <p:cNvSpPr txBox="1"/>
          <p:nvPr/>
        </p:nvSpPr>
        <p:spPr>
          <a:xfrm>
            <a:off x="1181130" y="3752880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朋友、家人、同學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181130" y="4162440"/>
            <a:ext cx="245050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有好友人數上限（5,000）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81130" y="4572000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用來維持關係，不是做生意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524610" y="1533540"/>
            <a:ext cx="210613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 粉絲專頁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24610" y="1904970"/>
            <a:ext cx="2189988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-22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「我提供什麼」</a:t>
            </a:r>
            <a:endParaRPr lang="en-US" sz="2250" dirty="0"/>
          </a:p>
        </p:txBody>
      </p:sp>
      <p:sp>
        <p:nvSpPr>
          <p:cNvPr id="11" name="Text 8"/>
          <p:cNvSpPr txBox="1"/>
          <p:nvPr/>
        </p:nvSpPr>
        <p:spPr>
          <a:xfrm>
            <a:off x="6686550" y="3752880"/>
            <a:ext cx="31198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顧客、陌生人都能追蹤，沒有上限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686550" y="4162440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可以看到成效數據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686550" y="4572000"/>
            <a:ext cx="31198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可以放營業時間、地址、聯絡方式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52560" y="5540898"/>
            <a:ext cx="798408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如果未來要做商品、服務、課程，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建議另外建立粉絲專頁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不要全部擠在個人帳號。</a:t>
            </a:r>
            <a:endParaRPr lang="en-US" sz="1575" dirty="0"/>
          </a:p>
        </p:txBody>
      </p:sp>
      <p:sp>
        <p:nvSpPr>
          <p:cNvPr id="15" name="Text 12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 · 10:20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19 / 76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379385"/>
            <a:ext cx="14236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檢查你的粉專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760324"/>
            <a:ext cx="309881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至少要有這六件事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1029614" y="1640068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352580" y="1640068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看得懂的名稱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352580" y="1954439"/>
            <a:ext cx="2110161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別人一看就知道你做什麼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999037" y="1640068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322003" y="1640068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清楚的大頭貼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322003" y="1954439"/>
            <a:ext cx="2110161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商品或本人，不要用風景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29614" y="2983139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352580" y="2983139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封面照片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352580" y="3297418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放最有代表性的作品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999037" y="2983139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322003" y="2983139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一句話介紹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4322003" y="3297418"/>
            <a:ext cx="2110161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你是誰、你做什麼、在哪裡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029614" y="4326118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352580" y="432611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聯絡方式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352580" y="4640489"/>
            <a:ext cx="22110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電話或 LINE，一定要放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3999037" y="4326118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322003" y="4326118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可以找到你的方式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4322003" y="4640489"/>
            <a:ext cx="2110161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地址、市集時間、或連結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761970" y="5554889"/>
            <a:ext cx="6148791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＊今天不教設計與排版，那是後面「商品視覺設計」課程的內容。今天只確認「有沒有」。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7166153" y="1724010"/>
            <a:ext cx="74624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封面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7009882" y="2190720"/>
            <a:ext cx="94448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大頭貼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0589941" y="2505090"/>
            <a:ext cx="74624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名稱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0547970" y="3105120"/>
            <a:ext cx="94448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 一句話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0466040" y="3609960"/>
            <a:ext cx="1146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⑤ 聯絡方式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對照檢查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 · 10:26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 / 76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-10424"/>
            <a:ext cx="16879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Before / After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370606"/>
            <a:ext cx="3653028" cy="103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讓陌生人看名稱，</a:t>
            </a:r>
            <a:endParaRPr lang="en-US" sz="3000" dirty="0"/>
          </a:p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就知道你在做什麼。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2320290" y="4129065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6" name="Text 3"/>
          <p:cNvSpPr txBox="1"/>
          <p:nvPr/>
        </p:nvSpPr>
        <p:spPr>
          <a:xfrm>
            <a:off x="2578334" y="4129065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看不出來在賣什麼</a:t>
            </a:r>
            <a:endParaRPr lang="en-US" sz="1575" dirty="0"/>
          </a:p>
        </p:txBody>
      </p:sp>
      <p:sp>
        <p:nvSpPr>
          <p:cNvPr id="7" name="Text 4"/>
          <p:cNvSpPr txBox="1"/>
          <p:nvPr/>
        </p:nvSpPr>
        <p:spPr>
          <a:xfrm>
            <a:off x="7631674" y="4129065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7848204" y="4129065"/>
            <a:ext cx="230748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 ＋ 地區，一眼就懂</a:t>
            </a:r>
            <a:endParaRPr lang="en-US" sz="1575" dirty="0"/>
          </a:p>
        </p:txBody>
      </p:sp>
      <p:sp>
        <p:nvSpPr>
          <p:cNvPr id="9" name="Text 6"/>
          <p:cNvSpPr txBox="1"/>
          <p:nvPr/>
        </p:nvSpPr>
        <p:spPr>
          <a:xfrm>
            <a:off x="1552560" y="4933920"/>
            <a:ext cx="4591477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公式：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你做什麼 ＋ 你在哪裡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這樣別人搜尋「台中 果醬」時，才可能找到你。</a:t>
            </a:r>
            <a:endParaRPr lang="en-US" sz="1575" dirty="0"/>
          </a:p>
        </p:txBody>
      </p:sp>
      <p:sp>
        <p:nvSpPr>
          <p:cNvPr id="10" name="Text 7"/>
          <p:cNvSpPr txBox="1"/>
          <p:nvPr/>
        </p:nvSpPr>
        <p:spPr>
          <a:xfrm>
            <a:off x="761970" y="6239774"/>
            <a:ext cx="847100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＊今天不教品牌命名與故事，那是「品牌故事撰寫」課程的內容。這裡只處理「看不看得懂」。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182210" y="304770"/>
            <a:ext cx="116110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寫一個名稱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 · 10:32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21 / 76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436352"/>
            <a:ext cx="16457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跟著講師一起做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817382"/>
            <a:ext cx="234699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現在拿出手機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1401775"/>
            <a:ext cx="3624773" cy="747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做完一項就打一個勾。</a:t>
            </a:r>
            <a:endParaRPr lang="en-US" sz="1875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做不完沒關係，記下來回家做。</a:t>
            </a:r>
            <a:endParaRPr lang="en-US" sz="1875" dirty="0"/>
          </a:p>
        </p:txBody>
      </p:sp>
      <p:sp>
        <p:nvSpPr>
          <p:cNvPr id="6" name="Text 3"/>
          <p:cNvSpPr txBox="1"/>
          <p:nvPr/>
        </p:nvSpPr>
        <p:spPr>
          <a:xfrm>
            <a:off x="1304940" y="2516246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找到／建立粉絲專頁</a:t>
            </a:r>
            <a:endParaRPr lang="en-US" sz="1575" dirty="0"/>
          </a:p>
        </p:txBody>
      </p:sp>
      <p:sp>
        <p:nvSpPr>
          <p:cNvPr id="7" name="Text 4"/>
          <p:cNvSpPr txBox="1"/>
          <p:nvPr/>
        </p:nvSpPr>
        <p:spPr>
          <a:xfrm>
            <a:off x="1304940" y="3183026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修改大頭貼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1304940" y="3849715"/>
            <a:ext cx="136309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修改封面照片</a:t>
            </a:r>
            <a:endParaRPr lang="en-US" sz="1575" dirty="0"/>
          </a:p>
        </p:txBody>
      </p:sp>
      <p:sp>
        <p:nvSpPr>
          <p:cNvPr id="9" name="Text 6"/>
          <p:cNvSpPr txBox="1"/>
          <p:nvPr/>
        </p:nvSpPr>
        <p:spPr>
          <a:xfrm>
            <a:off x="1304940" y="4516496"/>
            <a:ext cx="136309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檢查簡介文字</a:t>
            </a:r>
            <a:endParaRPr lang="en-US" sz="1575" dirty="0"/>
          </a:p>
        </p:txBody>
      </p:sp>
      <p:sp>
        <p:nvSpPr>
          <p:cNvPr id="10" name="Text 7"/>
          <p:cNvSpPr txBox="1"/>
          <p:nvPr/>
        </p:nvSpPr>
        <p:spPr>
          <a:xfrm>
            <a:off x="1304940" y="5183276"/>
            <a:ext cx="295305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檢查聯絡方式（電話或 LINE）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1304940" y="5849965"/>
            <a:ext cx="157505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找到發文的位置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8206191" y="5815035"/>
            <a:ext cx="20900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講師手機請同步投影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手機實作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 · 10:38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22 / 76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654436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發文的時候可以做什麼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035375"/>
            <a:ext cx="3474903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一則貼文的九個功能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1455908" y="1886590"/>
            <a:ext cx="388620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✏️</a:t>
            </a:r>
            <a:endParaRPr lang="en-US" sz="1650" dirty="0"/>
          </a:p>
        </p:txBody>
      </p:sp>
      <p:sp>
        <p:nvSpPr>
          <p:cNvPr id="6" name="Text 3"/>
          <p:cNvSpPr txBox="1"/>
          <p:nvPr/>
        </p:nvSpPr>
        <p:spPr>
          <a:xfrm>
            <a:off x="1394003" y="225801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文字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284708" y="1886590"/>
            <a:ext cx="340980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🖼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3103748" y="2258019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加照片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089642" y="1886590"/>
            <a:ext cx="340980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🗂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810933" y="2258019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多張照片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479591" y="2976281"/>
            <a:ext cx="34116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＠</a:t>
            </a:r>
            <a:endParaRPr lang="en-US" sz="1650" dirty="0"/>
          </a:p>
        </p:txBody>
      </p:sp>
      <p:sp>
        <p:nvSpPr>
          <p:cNvPr id="12" name="Text 9"/>
          <p:cNvSpPr txBox="1"/>
          <p:nvPr/>
        </p:nvSpPr>
        <p:spPr>
          <a:xfrm>
            <a:off x="1200882" y="3347710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標註朋友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260842" y="2976281"/>
            <a:ext cx="388620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📍</a:t>
            </a:r>
            <a:endParaRPr lang="en-US" sz="1650" dirty="0"/>
          </a:p>
        </p:txBody>
      </p:sp>
      <p:sp>
        <p:nvSpPr>
          <p:cNvPr id="14" name="Text 11"/>
          <p:cNvSpPr txBox="1"/>
          <p:nvPr/>
        </p:nvSpPr>
        <p:spPr>
          <a:xfrm>
            <a:off x="3005907" y="3347710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打卡地點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065867" y="2976281"/>
            <a:ext cx="388620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💬</a:t>
            </a:r>
            <a:endParaRPr lang="en-US" sz="1650" dirty="0"/>
          </a:p>
        </p:txBody>
      </p:sp>
      <p:sp>
        <p:nvSpPr>
          <p:cNvPr id="16" name="Text 13"/>
          <p:cNvSpPr txBox="1"/>
          <p:nvPr/>
        </p:nvSpPr>
        <p:spPr>
          <a:xfrm>
            <a:off x="4810933" y="3347710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留言回覆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479591" y="4065971"/>
            <a:ext cx="34116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↗</a:t>
            </a:r>
            <a:endParaRPr lang="en-US" sz="1650" dirty="0"/>
          </a:p>
        </p:txBody>
      </p:sp>
      <p:sp>
        <p:nvSpPr>
          <p:cNvPr id="18" name="Text 15"/>
          <p:cNvSpPr txBox="1"/>
          <p:nvPr/>
        </p:nvSpPr>
        <p:spPr>
          <a:xfrm>
            <a:off x="1200882" y="4437492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分享出去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3260842" y="4065971"/>
            <a:ext cx="388620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🔧</a:t>
            </a:r>
            <a:endParaRPr lang="en-US" sz="1650" dirty="0"/>
          </a:p>
        </p:txBody>
      </p:sp>
      <p:sp>
        <p:nvSpPr>
          <p:cNvPr id="20" name="Text 17"/>
          <p:cNvSpPr txBox="1"/>
          <p:nvPr/>
        </p:nvSpPr>
        <p:spPr>
          <a:xfrm>
            <a:off x="3005907" y="4437492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編輯貼文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5089642" y="4065971"/>
            <a:ext cx="340980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🗑</a:t>
            </a:r>
            <a:endParaRPr lang="en-US" sz="1650" dirty="0"/>
          </a:p>
        </p:txBody>
      </p:sp>
      <p:sp>
        <p:nvSpPr>
          <p:cNvPr id="22" name="Text 19"/>
          <p:cNvSpPr txBox="1"/>
          <p:nvPr/>
        </p:nvSpPr>
        <p:spPr>
          <a:xfrm>
            <a:off x="4810933" y="4437492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刪除貼文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33540" y="5279563"/>
            <a:ext cx="3119841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最常被忘記的是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「打卡地點」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在地客人常常是從地點找到你的。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8064825" y="5815035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發文畫面（示意）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手機實作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 · 10:50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23 / 76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435894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免費曝光的第一課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816925"/>
            <a:ext cx="535490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同一則貼文，可以分享到哪裡？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1019190" y="1925269"/>
            <a:ext cx="11874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 可以分享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019190" y="2315809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7" name="Text 4"/>
          <p:cNvSpPr txBox="1"/>
          <p:nvPr/>
        </p:nvSpPr>
        <p:spPr>
          <a:xfrm>
            <a:off x="1278148" y="2315809"/>
            <a:ext cx="219821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自己的個人 Facebook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1019190" y="2730124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9" name="Text 6"/>
          <p:cNvSpPr txBox="1"/>
          <p:nvPr/>
        </p:nvSpPr>
        <p:spPr>
          <a:xfrm>
            <a:off x="1278148" y="2730124"/>
            <a:ext cx="157505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適合的主題社團</a:t>
            </a:r>
            <a:endParaRPr lang="en-US" sz="1575" dirty="0"/>
          </a:p>
        </p:txBody>
      </p:sp>
      <p:sp>
        <p:nvSpPr>
          <p:cNvPr id="10" name="Text 7"/>
          <p:cNvSpPr txBox="1"/>
          <p:nvPr/>
        </p:nvSpPr>
        <p:spPr>
          <a:xfrm>
            <a:off x="1019190" y="3144439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1278148" y="3144439"/>
            <a:ext cx="157505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相關的地方社團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1019190" y="3558753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3" name="Text 10"/>
          <p:cNvSpPr txBox="1"/>
          <p:nvPr/>
        </p:nvSpPr>
        <p:spPr>
          <a:xfrm>
            <a:off x="1278148" y="3558753"/>
            <a:ext cx="157505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合作夥伴的頁面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1019190" y="4173139"/>
            <a:ext cx="4543471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分享前先想一句：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這則貼文對這個社團的人有用嗎？</a:t>
            </a:r>
            <a:endParaRPr lang="en-US" sz="1575" dirty="0"/>
          </a:p>
        </p:txBody>
      </p:sp>
      <p:sp>
        <p:nvSpPr>
          <p:cNvPr id="15" name="Text 12"/>
          <p:cNvSpPr txBox="1"/>
          <p:nvPr/>
        </p:nvSpPr>
        <p:spPr>
          <a:xfrm>
            <a:off x="6524610" y="1925269"/>
            <a:ext cx="14312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 不要這樣做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524610" y="2315809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7" name="Text 14"/>
          <p:cNvSpPr txBox="1"/>
          <p:nvPr/>
        </p:nvSpPr>
        <p:spPr>
          <a:xfrm>
            <a:off x="6810360" y="2315809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到處貼一模一樣的廣告</a:t>
            </a:r>
            <a:endParaRPr lang="en-US" sz="1575" dirty="0"/>
          </a:p>
        </p:txBody>
      </p:sp>
      <p:sp>
        <p:nvSpPr>
          <p:cNvPr id="18" name="Text 15"/>
          <p:cNvSpPr txBox="1"/>
          <p:nvPr/>
        </p:nvSpPr>
        <p:spPr>
          <a:xfrm>
            <a:off x="6524610" y="2730124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9" name="Text 16"/>
          <p:cNvSpPr txBox="1"/>
          <p:nvPr/>
        </p:nvSpPr>
        <p:spPr>
          <a:xfrm>
            <a:off x="6810360" y="2730124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沒看社團規則就貼</a:t>
            </a:r>
            <a:endParaRPr lang="en-US" sz="1575" dirty="0"/>
          </a:p>
        </p:txBody>
      </p:sp>
      <p:sp>
        <p:nvSpPr>
          <p:cNvPr id="20" name="Text 17"/>
          <p:cNvSpPr txBox="1"/>
          <p:nvPr/>
        </p:nvSpPr>
        <p:spPr>
          <a:xfrm>
            <a:off x="6524610" y="3144439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1" name="Text 18"/>
          <p:cNvSpPr txBox="1"/>
          <p:nvPr/>
        </p:nvSpPr>
        <p:spPr>
          <a:xfrm>
            <a:off x="6810360" y="3144439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跟社團主題完全無關</a:t>
            </a:r>
            <a:endParaRPr lang="en-US" sz="1575" dirty="0"/>
          </a:p>
        </p:txBody>
      </p:sp>
      <p:sp>
        <p:nvSpPr>
          <p:cNvPr id="22" name="Text 19"/>
          <p:cNvSpPr txBox="1"/>
          <p:nvPr/>
        </p:nvSpPr>
        <p:spPr>
          <a:xfrm>
            <a:off x="6524610" y="3558753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3" name="Text 20"/>
          <p:cNvSpPr txBox="1"/>
          <p:nvPr/>
        </p:nvSpPr>
        <p:spPr>
          <a:xfrm>
            <a:off x="6810360" y="3558753"/>
            <a:ext cx="157505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一天洗好幾次版</a:t>
            </a:r>
            <a:endParaRPr lang="en-US" sz="1575" dirty="0"/>
          </a:p>
        </p:txBody>
      </p:sp>
      <p:sp>
        <p:nvSpPr>
          <p:cNvPr id="24" name="Text 21"/>
          <p:cNvSpPr txBox="1"/>
          <p:nvPr/>
        </p:nvSpPr>
        <p:spPr>
          <a:xfrm>
            <a:off x="6524610" y="4173139"/>
            <a:ext cx="411937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後果：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被檢舉、被踢出社團、帳號被限制。</a:t>
            </a:r>
            <a:endParaRPr lang="en-US" sz="1575" dirty="0"/>
          </a:p>
        </p:txBody>
      </p:sp>
      <p:sp>
        <p:nvSpPr>
          <p:cNvPr id="25" name="Text 22"/>
          <p:cNvSpPr txBox="1"/>
          <p:nvPr/>
        </p:nvSpPr>
        <p:spPr>
          <a:xfrm>
            <a:off x="1552560" y="5468844"/>
            <a:ext cx="4331421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在社團裡，你是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，不是老闆。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先參與、先幫忙回答問題，再談自己的東西。</a:t>
            </a:r>
            <a:endParaRPr lang="en-US" sz="1575" dirty="0"/>
          </a:p>
        </p:txBody>
      </p:sp>
      <p:sp>
        <p:nvSpPr>
          <p:cNvPr id="26" name="Text 23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 · 10:58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24 / 76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296253"/>
            <a:ext cx="27036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11:05 – 12:00 ｜ PART 4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1496324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04</a:t>
            </a:r>
            <a:endParaRPr lang="en-US" sz="1125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3039374"/>
            <a:ext cx="3967307" cy="156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 操作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＋品牌案例觀察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876270" y="4982474"/>
            <a:ext cx="450296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先看懂別人怎麼做，再回頭看自己的帳號。</a:t>
            </a:r>
            <a:endParaRPr lang="en-US" sz="1725" dirty="0"/>
          </a:p>
        </p:txBody>
      </p:sp>
      <p:sp>
        <p:nvSpPr>
          <p:cNvPr id="7" name="Text 4"/>
          <p:cNvSpPr txBox="1"/>
          <p:nvPr/>
        </p:nvSpPr>
        <p:spPr>
          <a:xfrm>
            <a:off x="761970" y="6343650"/>
            <a:ext cx="273030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4 · 11:05–12:00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25 / 76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384139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先看，再改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765170"/>
            <a:ext cx="431670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打開 IG，先看這五個地方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962040" y="1778234"/>
            <a:ext cx="33147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</a:t>
            </a:r>
            <a:endParaRPr lang="en-US" sz="1575" dirty="0"/>
          </a:p>
        </p:txBody>
      </p:sp>
      <p:sp>
        <p:nvSpPr>
          <p:cNvPr id="6" name="Text 3"/>
          <p:cNvSpPr txBox="1"/>
          <p:nvPr/>
        </p:nvSpPr>
        <p:spPr>
          <a:xfrm>
            <a:off x="1304940" y="1635313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大頭貼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304940" y="1921063"/>
            <a:ext cx="27159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用商品或本人，不要用風景照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62040" y="2768803"/>
            <a:ext cx="33147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</a:t>
            </a:r>
            <a:endParaRPr lang="en-US" sz="1575" dirty="0"/>
          </a:p>
        </p:txBody>
      </p:sp>
      <p:sp>
        <p:nvSpPr>
          <p:cNvPr id="9" name="Text 6"/>
          <p:cNvSpPr txBox="1"/>
          <p:nvPr/>
        </p:nvSpPr>
        <p:spPr>
          <a:xfrm>
            <a:off x="1304940" y="2625882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名稱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304940" y="2911632"/>
            <a:ext cx="35236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含「做什麼」的關鍵字，別人才搜得到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62040" y="3759373"/>
            <a:ext cx="33147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1304940" y="3616543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自我介紹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304940" y="3902293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你做什麼、賣給誰、在哪裡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62040" y="4750034"/>
            <a:ext cx="33147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</a:t>
            </a:r>
            <a:endParaRPr lang="en-US" sz="1575" dirty="0"/>
          </a:p>
        </p:txBody>
      </p:sp>
      <p:sp>
        <p:nvSpPr>
          <p:cNvPr id="15" name="Text 12"/>
          <p:cNvSpPr txBox="1"/>
          <p:nvPr/>
        </p:nvSpPr>
        <p:spPr>
          <a:xfrm>
            <a:off x="1304940" y="460711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貼文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304940" y="4892863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前九張決定第一印象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962040" y="5740603"/>
            <a:ext cx="33147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⑤</a:t>
            </a:r>
            <a:endParaRPr lang="en-US" sz="1575" dirty="0"/>
          </a:p>
        </p:txBody>
      </p:sp>
      <p:sp>
        <p:nvSpPr>
          <p:cNvPr id="18" name="Text 15"/>
          <p:cNvSpPr txBox="1"/>
          <p:nvPr/>
        </p:nvSpPr>
        <p:spPr>
          <a:xfrm>
            <a:off x="1304940" y="5597682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連結／聯絡方式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304940" y="5883432"/>
            <a:ext cx="27709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LINE、電話、訂購表單放這裡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7228058" y="1095360"/>
            <a:ext cx="3219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228058" y="1676370"/>
            <a:ext cx="3219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7228058" y="2409810"/>
            <a:ext cx="3219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7228058" y="3981480"/>
            <a:ext cx="3219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0447477" y="2686050"/>
            <a:ext cx="3219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⑤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手機實作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4 · 11:05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26 / 76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215122" y="1412931"/>
            <a:ext cx="5771327" cy="1504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394"/>
              </a:lnSpc>
              <a:buNone/>
            </a:pPr>
            <a:r>
              <a:rPr lang="en-US" sz="4350" b="1" spc="-13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三秒鐘內，</a:t>
            </a:r>
            <a:endParaRPr lang="en-US" sz="4350" dirty="0"/>
          </a:p>
          <a:p>
            <a:pPr algn="ctr" indent="0" marL="0">
              <a:lnSpc>
                <a:spcPts val="5394"/>
              </a:lnSpc>
              <a:buNone/>
            </a:pPr>
            <a:r>
              <a:rPr lang="en-US" sz="4350" b="1" spc="-13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我知道你在做什麼嗎？</a:t>
            </a:r>
            <a:endParaRPr lang="en-US" sz="4350" dirty="0"/>
          </a:p>
        </p:txBody>
      </p:sp>
      <p:sp>
        <p:nvSpPr>
          <p:cNvPr id="4" name="Text 1"/>
          <p:cNvSpPr txBox="1"/>
          <p:nvPr/>
        </p:nvSpPr>
        <p:spPr>
          <a:xfrm>
            <a:off x="3285531" y="3449574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比較模糊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2358695" y="3821003"/>
            <a:ext cx="2816992" cy="39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25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「分享生活中的幸福」</a:t>
            </a:r>
            <a:endParaRPr lang="en-US" sz="2025" dirty="0"/>
          </a:p>
        </p:txBody>
      </p:sp>
      <p:sp>
        <p:nvSpPr>
          <p:cNvPr id="6" name="Text 3"/>
          <p:cNvSpPr txBox="1"/>
          <p:nvPr/>
        </p:nvSpPr>
        <p:spPr>
          <a:xfrm>
            <a:off x="2558400" y="4325844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7" name="Text 4"/>
          <p:cNvSpPr txBox="1"/>
          <p:nvPr/>
        </p:nvSpPr>
        <p:spPr>
          <a:xfrm>
            <a:off x="2804465" y="4325844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看完不知道你在做什麼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7952811" y="3449574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比較清楚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753301" y="3821003"/>
            <a:ext cx="3362157" cy="39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2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「台中手作甜點｜預訂制」</a:t>
            </a:r>
            <a:endParaRPr lang="en-US" sz="2025" dirty="0"/>
          </a:p>
        </p:txBody>
      </p:sp>
      <p:sp>
        <p:nvSpPr>
          <p:cNvPr id="10" name="Text 7"/>
          <p:cNvSpPr txBox="1"/>
          <p:nvPr/>
        </p:nvSpPr>
        <p:spPr>
          <a:xfrm>
            <a:off x="6739037" y="4325844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6928226" y="4325844"/>
            <a:ext cx="327126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做什麼、在哪裡、怎麼買，都有了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3026390" y="5406939"/>
            <a:ext cx="6148791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＊今天不深入教文案寫作，那是後面「商品文案設計」課程的內容。</a:t>
            </a:r>
            <a:endParaRPr lang="en-US" sz="1500" dirty="0"/>
          </a:p>
          <a:p>
            <a:pPr algn="ctr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現在只要做到一件事：讓陌生人三秒內看懂。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三秒測試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4 · 11:14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27 / 76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32597"/>
            <a:ext cx="20900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四種內容，四種用途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313536"/>
            <a:ext cx="431670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IG 上你會用到的四種東西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962040" y="3336280"/>
            <a:ext cx="52760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貼文</a:t>
            </a:r>
            <a:endParaRPr lang="en-US" sz="1575" dirty="0"/>
          </a:p>
        </p:txBody>
      </p:sp>
      <p:sp>
        <p:nvSpPr>
          <p:cNvPr id="6" name="Text 3"/>
          <p:cNvSpPr txBox="1"/>
          <p:nvPr/>
        </p:nvSpPr>
        <p:spPr>
          <a:xfrm>
            <a:off x="962040" y="3660160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留下來的作品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62040" y="4050701"/>
            <a:ext cx="231206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會一直留在九宮格裡，是別人認識你的第一印象。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657600" y="3336280"/>
            <a:ext cx="64995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Reels</a:t>
            </a:r>
            <a:endParaRPr lang="en-US" sz="1575" dirty="0"/>
          </a:p>
        </p:txBody>
      </p:sp>
      <p:sp>
        <p:nvSpPr>
          <p:cNvPr id="9" name="Text 6"/>
          <p:cNvSpPr txBox="1"/>
          <p:nvPr/>
        </p:nvSpPr>
        <p:spPr>
          <a:xfrm>
            <a:off x="3657600" y="3660160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短影音／過程／幕後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657600" y="4050701"/>
            <a:ext cx="231206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最容易被陌生人看到的形式。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353160" y="3336280"/>
            <a:ext cx="93058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限時動態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6353160" y="3660160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現在正在發生的事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353160" y="4050701"/>
            <a:ext cx="2177644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24 小時後消失，可以隨手拍、不用完美。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048720" y="3336280"/>
            <a:ext cx="93058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精選限動</a:t>
            </a:r>
            <a:endParaRPr lang="en-US" sz="1575" dirty="0"/>
          </a:p>
        </p:txBody>
      </p:sp>
      <p:sp>
        <p:nvSpPr>
          <p:cNvPr id="15" name="Text 12"/>
          <p:cNvSpPr txBox="1"/>
          <p:nvPr/>
        </p:nvSpPr>
        <p:spPr>
          <a:xfrm>
            <a:off x="9048720" y="3660160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把重要的限動留下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048720" y="4050701"/>
            <a:ext cx="231206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營業時間、訂購方式、客人回饋，放這裡。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533540" y="5274899"/>
            <a:ext cx="682855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初學者建議順序：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先把貼文發穩定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再試限時動態 → 最後才碰 Reels。</a:t>
            </a:r>
            <a:endParaRPr lang="en-US" sz="1575" dirty="0"/>
          </a:p>
        </p:txBody>
      </p:sp>
      <p:sp>
        <p:nvSpPr>
          <p:cNvPr id="18" name="Text 15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4 · 11:22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28 / 76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331775" y="1422075"/>
            <a:ext cx="14236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用一句話記住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1778691" y="3231764"/>
            <a:ext cx="5429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貼文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1520190" y="3565154"/>
            <a:ext cx="1060155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留下作品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4395064" y="3231764"/>
            <a:ext cx="71094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Reels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099347" y="3565154"/>
            <a:ext cx="1302471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讓人看過程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969282" y="3231764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限時動態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920911" y="3565154"/>
            <a:ext cx="1060155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分享現在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9669689" y="3231764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精選限動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378909" y="3565154"/>
            <a:ext cx="1544787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留下重要資訊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162074" y="4530943"/>
            <a:ext cx="3877239" cy="747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四個都可以用，但不用一次全開。</a:t>
            </a:r>
            <a:endParaRPr lang="en-US" sz="1875" dirty="0"/>
          </a:p>
          <a:p>
            <a:pPr algn="ctr" indent="0" marL="0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先選一個你今天做得到的。</a:t>
            </a:r>
            <a:endParaRPr lang="en-US" sz="1875" dirty="0"/>
          </a:p>
        </p:txBody>
      </p:sp>
      <p:sp>
        <p:nvSpPr>
          <p:cNvPr id="13" name="Text 10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快問快答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4 · 11:28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29 / 76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-13076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看真的帳號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367863"/>
            <a:ext cx="460290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我們來看三個真實的小品牌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933328"/>
            <a:ext cx="4695353" cy="747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刻意不看 Nike、Apple。</a:t>
            </a:r>
            <a:endParaRPr lang="en-US" sz="1875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要看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跟你規模差不多、你做得到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的帳號。</a:t>
            </a:r>
            <a:endParaRPr lang="en-US" sz="1875" dirty="0"/>
          </a:p>
        </p:txBody>
      </p:sp>
      <p:sp>
        <p:nvSpPr>
          <p:cNvPr id="6" name="Text 3"/>
          <p:cNvSpPr txBox="1"/>
          <p:nvPr/>
        </p:nvSpPr>
        <p:spPr>
          <a:xfrm>
            <a:off x="962040" y="2133478"/>
            <a:ext cx="73883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案例 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62040" y="2504907"/>
            <a:ext cx="14541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手作飾品 / 烘焙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62040" y="5057638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一人工作室，以作品照為主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62490" y="2133478"/>
            <a:ext cx="74642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案例 B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562490" y="2504907"/>
            <a:ext cx="12542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農產品 / 小農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562490" y="5057638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大量製作過程與產地照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162940" y="2133478"/>
            <a:ext cx="7416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案例 C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162940" y="2504907"/>
            <a:ext cx="14541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個人品牌 / 課程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162940" y="5057638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人出現在畫面裡，有溫度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61970" y="5947349"/>
            <a:ext cx="11041014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＊建議類型：手作飾品、烘焙甜點、農產品、手作工藝、小型個人品牌。 現場也可以直接用手機投影，即時打開帳號給學員看。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案例觀察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4 · 11:34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30 / 76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68096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觀察的方法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149126"/>
            <a:ext cx="3098810" cy="984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看品牌時，</a:t>
            </a:r>
            <a:endParaRPr lang="en-US" sz="2850" dirty="0"/>
          </a:p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不要只看漂不漂亮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2194194"/>
            <a:ext cx="4442887" cy="747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漂亮不一定賣得掉。</a:t>
            </a:r>
            <a:endParaRPr lang="en-US" sz="1875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我們要看的是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有沒有把該說的說清楚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875" dirty="0"/>
          </a:p>
        </p:txBody>
      </p:sp>
      <p:sp>
        <p:nvSpPr>
          <p:cNvPr id="6" name="Text 3"/>
          <p:cNvSpPr txBox="1"/>
          <p:nvPr/>
        </p:nvSpPr>
        <p:spPr>
          <a:xfrm>
            <a:off x="1276320" y="3299064"/>
            <a:ext cx="2110161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我一眼知道她在賣什麼嗎？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283873" y="3441984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大頭貼看得懂嗎？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276320" y="4232483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自介清楚嗎？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283873" y="4232483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有商品照嗎？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276320" y="4880244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有人出現在裡面嗎？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283873" y="4880244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有製作過程嗎？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76320" y="5527914"/>
            <a:ext cx="132185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 Reels 嗎？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283873" y="5527914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有購買方式嗎？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072506" y="3211739"/>
            <a:ext cx="2357232" cy="1221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八個問題裡，</a:t>
            </a:r>
            <a:endParaRPr lang="en-US" sz="1500" dirty="0"/>
          </a:p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如果有五個以上是「✓」，</a:t>
            </a:r>
            <a:endParaRPr lang="en-US" sz="1500" dirty="0"/>
          </a:p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這個帳號就是</a:t>
            </a:r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值得學的對象</a:t>
            </a:r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259501" y="4846411"/>
            <a:ext cx="198324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＝ 講義 2 的檢查表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609509" y="304770"/>
            <a:ext cx="7137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講義 2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4 · 11:40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31 / 76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06810"/>
            <a:ext cx="212259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小組活動 · 15 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287841"/>
            <a:ext cx="3257184" cy="103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每組看一個品牌，</a:t>
            </a:r>
            <a:endParaRPr lang="en-US" sz="3000" dirty="0"/>
          </a:p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回答四個問題。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1942551" y="3550890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19408" y="3989070"/>
            <a:ext cx="189006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75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我最喜歡它哪一點？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633356" y="3550890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610326" y="3989070"/>
            <a:ext cx="229002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75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哪一篇讓我最想停下來？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324161" y="3550890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000829" y="3989070"/>
            <a:ext cx="8905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75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為什麼？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14966" y="3550890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991935" y="3989070"/>
            <a:ext cx="229002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75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有什麼是我也做得到的？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704990" y="5027280"/>
            <a:ext cx="3917747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分組方式：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3–4 人一組，一組看一個帳號。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討論 10 分鐘，每組派一人分享 1 分鐘。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038960" y="5027280"/>
            <a:ext cx="3725631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講師提醒：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 4 題最重要。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一定要問出「我也做得到」的那一件事。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小組活動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4 · 11:45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32 / 76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593525"/>
            <a:ext cx="15868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12:00 – 13:00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1879275"/>
            <a:ext cx="2200961" cy="154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8250" b="1" spc="-41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午休</a:t>
            </a:r>
            <a:endParaRPr lang="en-US" sz="825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2955615"/>
            <a:ext cx="3244383" cy="647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spc="-10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下午開始動手做</a:t>
            </a:r>
            <a:endParaRPr lang="en-US" sz="3450" dirty="0"/>
          </a:p>
        </p:txBody>
      </p:sp>
      <p:sp>
        <p:nvSpPr>
          <p:cNvPr id="6" name="Text 3"/>
          <p:cNvSpPr txBox="1"/>
          <p:nvPr/>
        </p:nvSpPr>
        <p:spPr>
          <a:xfrm>
            <a:off x="876270" y="3984315"/>
            <a:ext cx="4038630" cy="10438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吃飯前先做一件事：</a:t>
            </a:r>
            <a:endParaRPr lang="en-US" sz="1725" dirty="0"/>
          </a:p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想想看，如果今天下午要發一篇貼文，</a:t>
            </a:r>
            <a:endParaRPr lang="en-US" sz="1725" dirty="0"/>
          </a:p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你會發什麼？拍什麼照片？</a:t>
            </a:r>
            <a:endParaRPr lang="en-US" sz="1725" dirty="0"/>
          </a:p>
        </p:txBody>
      </p:sp>
      <p:sp>
        <p:nvSpPr>
          <p:cNvPr id="7" name="Text 4"/>
          <p:cNvSpPr txBox="1"/>
          <p:nvPr/>
        </p:nvSpPr>
        <p:spPr>
          <a:xfrm>
            <a:off x="761970" y="6343650"/>
            <a:ext cx="24241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午休 · 12:00–13:00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33 / 76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296253"/>
            <a:ext cx="27036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13:00 – 13:45 ｜ PART 5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1496324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05</a:t>
            </a:r>
            <a:endParaRPr lang="en-US" sz="1125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3039374"/>
            <a:ext cx="2284628" cy="156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不同平台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怎麼發？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876270" y="4982474"/>
            <a:ext cx="520878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同一個商品，在 FB、IG、LINE 上要換三種寫法。</a:t>
            </a:r>
            <a:endParaRPr lang="en-US" sz="1725" dirty="0"/>
          </a:p>
        </p:txBody>
      </p:sp>
      <p:sp>
        <p:nvSpPr>
          <p:cNvPr id="7" name="Text 4"/>
          <p:cNvSpPr txBox="1"/>
          <p:nvPr/>
        </p:nvSpPr>
        <p:spPr>
          <a:xfrm>
            <a:off x="761970" y="6343650"/>
            <a:ext cx="273030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5 · 13:00–13:45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34 / 76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989905" y="290231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下午的第一個問題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2859237" y="671170"/>
            <a:ext cx="6482913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同一段內容，可以三個平台全部貼嗎？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3215122" y="1265164"/>
            <a:ext cx="5771327" cy="1504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394"/>
              </a:lnSpc>
              <a:buNone/>
            </a:pPr>
            <a:r>
              <a:rPr lang="en-US" sz="4350" b="1" spc="-13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可以，</a:t>
            </a:r>
            <a:endParaRPr lang="en-US" sz="4350" dirty="0"/>
          </a:p>
          <a:p>
            <a:pPr algn="ctr" indent="0" marL="0">
              <a:lnSpc>
                <a:spcPts val="5394"/>
              </a:lnSpc>
              <a:buNone/>
            </a:pPr>
            <a:r>
              <a:rPr lang="en-US" sz="4350" b="1" spc="-13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但不要直接複製貼上。</a:t>
            </a:r>
            <a:endParaRPr lang="en-US" sz="4350" dirty="0"/>
          </a:p>
        </p:txBody>
      </p:sp>
      <p:sp>
        <p:nvSpPr>
          <p:cNvPr id="6" name="Text 3"/>
          <p:cNvSpPr txBox="1"/>
          <p:nvPr/>
        </p:nvSpPr>
        <p:spPr>
          <a:xfrm>
            <a:off x="1957365" y="3854196"/>
            <a:ext cx="107304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</a:t>
            </a:r>
            <a:endParaRPr lang="en-US" sz="1575" dirty="0"/>
          </a:p>
        </p:txBody>
      </p:sp>
      <p:sp>
        <p:nvSpPr>
          <p:cNvPr id="7" name="Text 4"/>
          <p:cNvSpPr txBox="1"/>
          <p:nvPr/>
        </p:nvSpPr>
        <p:spPr>
          <a:xfrm>
            <a:off x="1539758" y="4225717"/>
            <a:ext cx="190826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坐在沙發上，</a:t>
            </a:r>
            <a:endParaRPr lang="en-US" sz="1500" dirty="0"/>
          </a:p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願意看比較長的內容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535778" y="3854196"/>
            <a:ext cx="112965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</a:t>
            </a:r>
            <a:endParaRPr lang="en-US" sz="1575" dirty="0"/>
          </a:p>
        </p:txBody>
      </p:sp>
      <p:sp>
        <p:nvSpPr>
          <p:cNvPr id="9" name="Text 6"/>
          <p:cNvSpPr txBox="1"/>
          <p:nvPr/>
        </p:nvSpPr>
        <p:spPr>
          <a:xfrm>
            <a:off x="4944527" y="4225717"/>
            <a:ext cx="231206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手指一直滑，</a:t>
            </a:r>
            <a:endParaRPr lang="en-US" sz="1500" dirty="0"/>
          </a:p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先看圖片才決定要不要停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418503" y="3854196"/>
            <a:ext cx="57790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8652419" y="4225717"/>
            <a:ext cx="211016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正在忙，</a:t>
            </a:r>
            <a:endParaRPr lang="en-US" sz="1500" dirty="0"/>
          </a:p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只想知道重點跟怎麼買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630613" y="5614507"/>
            <a:ext cx="3483315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因為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使用平台時的情境不一樣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endParaRPr lang="en-US" sz="1575" dirty="0"/>
          </a:p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同一句話在三個地方的效果差很多。</a:t>
            </a:r>
            <a:endParaRPr lang="en-US" sz="1575" dirty="0"/>
          </a:p>
        </p:txBody>
      </p:sp>
      <p:sp>
        <p:nvSpPr>
          <p:cNvPr id="13" name="Text 10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5 · 13:00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35 / 76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68223"/>
            <a:ext cx="9793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教學建議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1238280" y="1249253"/>
            <a:ext cx="2668768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Facebook 貼文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2973537" y="2167128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建議字數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2271187" y="2538557"/>
            <a:ext cx="2367839" cy="73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spc="-1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80 – 200 </a:t>
            </a:r>
            <a:pPr algn="ctr" indent="0" marL="0">
              <a:buNone/>
            </a:pPr>
            <a:r>
              <a:rPr lang="en-US" sz="1800" b="1" spc="-1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字</a:t>
            </a:r>
            <a:endParaRPr lang="en-US" sz="3900" dirty="0"/>
          </a:p>
        </p:txBody>
      </p:sp>
      <p:sp>
        <p:nvSpPr>
          <p:cNvPr id="7" name="Text 4"/>
          <p:cNvSpPr txBox="1"/>
          <p:nvPr/>
        </p:nvSpPr>
        <p:spPr>
          <a:xfrm>
            <a:off x="2657521" y="3310128"/>
            <a:ext cx="159507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搭配 1–5 張照片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761970" y="4081790"/>
            <a:ext cx="1662013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這裡可以 ——</a:t>
            </a:r>
            <a:endParaRPr lang="en-US" sz="1875" dirty="0"/>
          </a:p>
        </p:txBody>
      </p:sp>
      <p:sp>
        <p:nvSpPr>
          <p:cNvPr id="9" name="Text 6"/>
          <p:cNvSpPr txBox="1"/>
          <p:nvPr/>
        </p:nvSpPr>
        <p:spPr>
          <a:xfrm>
            <a:off x="933420" y="4724705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多說一點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636203" y="4724705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分享製作過程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33420" y="5404836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分享心得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636203" y="5404836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完整說明一件事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064014" y="5879501"/>
            <a:ext cx="38694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Facebook：可以把「為什麼」講出來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5 · 13:06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36 / 76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490118"/>
            <a:ext cx="9793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教學建議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1238280" y="871057"/>
            <a:ext cx="276734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Instagram 貼文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2973537" y="1788932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建議字數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2271187" y="2160361"/>
            <a:ext cx="2367839" cy="73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spc="-1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50 – 150 </a:t>
            </a:r>
            <a:pPr algn="ctr" indent="0" marL="0">
              <a:buNone/>
            </a:pPr>
            <a:r>
              <a:rPr lang="en-US" sz="1800" b="1" spc="-1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字</a:t>
            </a:r>
            <a:endParaRPr lang="en-US" sz="3900" dirty="0"/>
          </a:p>
        </p:txBody>
      </p:sp>
      <p:sp>
        <p:nvSpPr>
          <p:cNvPr id="7" name="Text 4"/>
          <p:cNvSpPr txBox="1"/>
          <p:nvPr/>
        </p:nvSpPr>
        <p:spPr>
          <a:xfrm>
            <a:off x="2773650" y="2931932"/>
            <a:ext cx="136309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圖片才是主角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761970" y="3703594"/>
            <a:ext cx="1157082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重點 ——</a:t>
            </a:r>
            <a:endParaRPr lang="en-US" sz="1875" dirty="0"/>
          </a:p>
        </p:txBody>
      </p:sp>
      <p:sp>
        <p:nvSpPr>
          <p:cNvPr id="9" name="Text 6"/>
          <p:cNvSpPr txBox="1"/>
          <p:nvPr/>
        </p:nvSpPr>
        <p:spPr>
          <a:xfrm>
            <a:off x="1010503" y="4346509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304940" y="4356019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圖片先吸引人停下來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10503" y="5055260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304940" y="5064770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第一段要簡單、看得懂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010503" y="5763920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304940" y="5773522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文字補充照片沒講到的事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955566" y="5956584"/>
            <a:ext cx="408608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Instagram：圖大、字少、有 Hashtag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5 · 13:14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37 / 76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66943"/>
            <a:ext cx="9793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教學建議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1238280" y="1247882"/>
            <a:ext cx="2515332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LINE 官方帳號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2973537" y="2165756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0393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建議字數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2418222" y="2537186"/>
            <a:ext cx="2073859" cy="73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spc="-1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30 – 80 </a:t>
            </a:r>
            <a:pPr algn="ctr" indent="0" marL="0">
              <a:buNone/>
            </a:pPr>
            <a:r>
              <a:rPr lang="en-US" sz="1800" b="1" spc="-1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字</a:t>
            </a:r>
            <a:endParaRPr lang="en-US" sz="3900" dirty="0"/>
          </a:p>
        </p:txBody>
      </p:sp>
      <p:sp>
        <p:nvSpPr>
          <p:cNvPr id="7" name="Text 4"/>
          <p:cNvSpPr txBox="1"/>
          <p:nvPr/>
        </p:nvSpPr>
        <p:spPr>
          <a:xfrm>
            <a:off x="2985699" y="3308756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越短越好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1057321" y="4261378"/>
            <a:ext cx="1645920" cy="648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8"/>
              </a:lnSpc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一則訊息，</a:t>
            </a:r>
            <a:endParaRPr lang="en-US" sz="1650" dirty="0"/>
          </a:p>
          <a:p>
            <a:pPr algn="l" indent="0" marL="0">
              <a:lnSpc>
                <a:spcPts val="2558"/>
              </a:lnSpc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只講一件事情。</a:t>
            </a:r>
            <a:endParaRPr lang="en-US" sz="1650" dirty="0"/>
          </a:p>
        </p:txBody>
      </p:sp>
      <p:sp>
        <p:nvSpPr>
          <p:cNvPr id="9" name="Text 6"/>
          <p:cNvSpPr txBox="1"/>
          <p:nvPr/>
        </p:nvSpPr>
        <p:spPr>
          <a:xfrm>
            <a:off x="1204082" y="5406207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新品通知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005724" y="5406207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活動通知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807641" y="5406207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預訂通知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98410" y="5815035"/>
            <a:ext cx="320058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短、清楚、告訴他下一步怎麼做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5 · 13:22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38 / 76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6584"/>
            <a:ext cx="20900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同一件事，三種寫法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609630" y="339882"/>
            <a:ext cx="2109429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手工草莓果醬</a:t>
            </a:r>
            <a:endParaRPr lang="en-US" sz="2550" dirty="0"/>
          </a:p>
        </p:txBody>
      </p:sp>
      <p:sp>
        <p:nvSpPr>
          <p:cNvPr id="5" name="Text 2"/>
          <p:cNvSpPr txBox="1"/>
          <p:nvPr/>
        </p:nvSpPr>
        <p:spPr>
          <a:xfrm>
            <a:off x="809610" y="1068294"/>
            <a:ext cx="112489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09610" y="1487363"/>
            <a:ext cx="3369290" cy="3220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今天早上到大湖收了一批草莓，紅得發亮。</a:t>
            </a:r>
            <a:endParaRPr lang="en-US" sz="1575" dirty="0"/>
          </a:p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草莓果醬很花時間，要一顆一顆去蒂，小火慢慢熬，一鍋大概只能做 20 瓶。 有客人問為什麼不做多一點，因為煮太多鍋，味道就跑掉了。</a:t>
            </a:r>
            <a:endParaRPr lang="en-US" sz="1575" dirty="0"/>
          </a:p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這週三西屯市集，歡迎過來試吃 🍓</a:t>
            </a:r>
            <a:endParaRPr lang="en-US" sz="1575" dirty="0"/>
          </a:p>
        </p:txBody>
      </p:sp>
      <p:sp>
        <p:nvSpPr>
          <p:cNvPr id="7" name="Text 4"/>
          <p:cNvSpPr txBox="1"/>
          <p:nvPr/>
        </p:nvSpPr>
        <p:spPr>
          <a:xfrm>
            <a:off x="809610" y="5070257"/>
            <a:ext cx="244903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約 130 字 · 講過程與原因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492539" y="1068294"/>
            <a:ext cx="11976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492539" y="1487363"/>
            <a:ext cx="2945191" cy="1964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4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把春天裝進一瓶草莓果醬裡 🍓</a:t>
            </a:r>
            <a:endParaRPr lang="en-US" sz="1575" dirty="0"/>
          </a:p>
          <a:p>
            <a:pPr algn="l" indent="0" marL="0">
              <a:lnSpc>
                <a:spcPts val="2614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一鍋只煮 20 瓶，</a:t>
            </a:r>
            <a:endParaRPr lang="en-US" sz="1575" dirty="0"/>
          </a:p>
          <a:p>
            <a:pPr algn="l" indent="0" marL="0">
              <a:lnSpc>
                <a:spcPts val="2614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因為煮太多，味道就跑掉了。</a:t>
            </a:r>
            <a:endParaRPr lang="en-US" sz="1575" dirty="0"/>
          </a:p>
          <a:p>
            <a:pPr algn="l" indent="0" marL="0">
              <a:lnSpc>
                <a:spcPts val="2614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週三 · 西屯市集見</a:t>
            </a:r>
            <a:endParaRPr lang="en-US" sz="1575" dirty="0"/>
          </a:p>
        </p:txBody>
      </p:sp>
      <p:sp>
        <p:nvSpPr>
          <p:cNvPr id="10" name="Text 7"/>
          <p:cNvSpPr txBox="1"/>
          <p:nvPr/>
        </p:nvSpPr>
        <p:spPr>
          <a:xfrm>
            <a:off x="4635368" y="3651016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D435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#台中果醬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890931" y="3651016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D435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#手工果醬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635368" y="4174968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D435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#西屯市集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492539" y="4889297"/>
            <a:ext cx="21279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約 60 字 · 圖片是主角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175559" y="1068294"/>
            <a:ext cx="54068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0393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75559" y="1487363"/>
            <a:ext cx="2521915" cy="1964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4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🍓 草莓果醬本週開放預訂</a:t>
            </a:r>
            <a:endParaRPr lang="en-US" sz="1575" dirty="0"/>
          </a:p>
          <a:p>
            <a:pPr algn="l" indent="0" marL="0">
              <a:lnSpc>
                <a:spcPts val="2614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每瓶 250 元</a:t>
            </a:r>
            <a:endParaRPr lang="en-US" sz="1575" dirty="0"/>
          </a:p>
          <a:p>
            <a:pPr algn="l" indent="0" marL="0">
              <a:lnSpc>
                <a:spcPts val="2614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想預訂請直接回覆</a:t>
            </a:r>
            <a:endParaRPr lang="en-US" sz="1575" dirty="0"/>
          </a:p>
          <a:p>
            <a:pPr algn="l" indent="0" marL="0">
              <a:lnSpc>
                <a:spcPts val="2614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「草莓＋數量」</a:t>
            </a:r>
            <a:endParaRPr lang="en-US" sz="1575" dirty="0"/>
          </a:p>
        </p:txBody>
      </p:sp>
      <p:sp>
        <p:nvSpPr>
          <p:cNvPr id="16" name="Text 13"/>
          <p:cNvSpPr txBox="1"/>
          <p:nvPr/>
        </p:nvSpPr>
        <p:spPr>
          <a:xfrm>
            <a:off x="8175559" y="3822466"/>
            <a:ext cx="23298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約 40 字 · 直接說怎麼買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304940" y="5965637"/>
            <a:ext cx="473522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寫法不同，但講的是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同一件事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：一鍋只煮 20 瓶。</a:t>
            </a:r>
            <a:endParaRPr lang="en-US" sz="1500" dirty="0"/>
          </a:p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先寫最長的那一篇，再刪成短的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，是最省力的做法。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0609509" y="304770"/>
            <a:ext cx="7137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講義 4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5 · 13:28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39 / 76</a:t>
            </a:r>
            <a:endParaRPr lang="en-US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42875" y="993587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記住這一句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581339" y="3070007"/>
            <a:ext cx="5429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圖片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3161081" y="3422416"/>
            <a:ext cx="1383304" cy="8685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240"/>
              </a:lnSpc>
              <a:buNone/>
            </a:pPr>
            <a:r>
              <a:rPr lang="en-US" sz="24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負責讓人</a:t>
            </a:r>
            <a:endParaRPr lang="en-US" sz="2400" dirty="0"/>
          </a:p>
          <a:p>
            <a:pPr algn="ctr" indent="0" marL="0">
              <a:lnSpc>
                <a:spcPts val="3240"/>
              </a:lnSpc>
              <a:buNone/>
            </a:pPr>
            <a:r>
              <a:rPr lang="en-US" sz="24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停下來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8077078" y="3070007"/>
            <a:ext cx="5429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文字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656911" y="3422416"/>
            <a:ext cx="1383304" cy="8685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240"/>
              </a:lnSpc>
              <a:buNone/>
            </a:pPr>
            <a:r>
              <a:rPr lang="en-US" sz="24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負責讓人</a:t>
            </a:r>
            <a:endParaRPr lang="en-US" sz="2400" dirty="0"/>
          </a:p>
          <a:p>
            <a:pPr algn="ctr" indent="0" marL="0">
              <a:lnSpc>
                <a:spcPts val="3240"/>
              </a:lnSpc>
              <a:buNone/>
            </a:pPr>
            <a:r>
              <a:rPr lang="en-US" sz="24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看懂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4414449" y="4959523"/>
            <a:ext cx="3372582" cy="747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所以照片不用很美，</a:t>
            </a:r>
            <a:endParaRPr lang="en-US" sz="1875" dirty="0"/>
          </a:p>
          <a:p>
            <a:pPr algn="ctr" indent="0" marL="0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但一定要看得出來那是什麼</a:t>
            </a:r>
            <a:pPr algn="ctr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875" dirty="0"/>
          </a:p>
        </p:txBody>
      </p:sp>
      <p:sp>
        <p:nvSpPr>
          <p:cNvPr id="9" name="Text 6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5 · 13:35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40 / 76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57524"/>
            <a:ext cx="14236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最常見的錯誤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238555"/>
            <a:ext cx="246558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圖片不是傳單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1941454"/>
            <a:ext cx="3934023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不要把這些</a:t>
            </a:r>
            <a:pPr algn="l" indent="0" marL="0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全部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塞進同一張圖 ——</a:t>
            </a:r>
            <a:endParaRPr lang="en-US" sz="1875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22499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商品名稱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495660" y="262249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價格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254990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電話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495660" y="3254990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地址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887572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故事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495660" y="3887572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優惠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4520062"/>
            <a:ext cx="93634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QR Code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495660" y="4520062"/>
            <a:ext cx="7804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 行字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3540" y="5357378"/>
            <a:ext cx="433142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在手機上，這種圖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縮成一格就什麼都看不到了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22583" y="4724248"/>
            <a:ext cx="225719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在 IG 九宮格裡長這樣 →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5 · 13:39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41 / 76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300929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初學者原則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681960"/>
            <a:ext cx="365302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圖片上只留兩樣東西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1019190" y="1622969"/>
            <a:ext cx="74880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第一樣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019190" y="1994489"/>
            <a:ext cx="1339687" cy="371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-2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 個主標題</a:t>
            </a:r>
            <a:endParaRPr lang="en-US" sz="1950" dirty="0"/>
          </a:p>
        </p:txBody>
      </p:sp>
      <p:sp>
        <p:nvSpPr>
          <p:cNvPr id="7" name="Text 4"/>
          <p:cNvSpPr txBox="1"/>
          <p:nvPr/>
        </p:nvSpPr>
        <p:spPr>
          <a:xfrm>
            <a:off x="1019190" y="2423069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例如：手作草莓果醬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3148828" y="3137581"/>
            <a:ext cx="379202" cy="371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＋</a:t>
            </a:r>
            <a:endParaRPr lang="en-US" sz="1950" dirty="0"/>
          </a:p>
        </p:txBody>
      </p:sp>
      <p:sp>
        <p:nvSpPr>
          <p:cNvPr id="9" name="Text 6"/>
          <p:cNvSpPr txBox="1"/>
          <p:nvPr/>
        </p:nvSpPr>
        <p:spPr>
          <a:xfrm>
            <a:off x="1019190" y="3899550"/>
            <a:ext cx="74880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第二樣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19190" y="4271071"/>
            <a:ext cx="1079815" cy="371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-2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 個重點</a:t>
            </a:r>
            <a:endParaRPr lang="en-US" sz="1950" dirty="0"/>
          </a:p>
        </p:txBody>
      </p:sp>
      <p:sp>
        <p:nvSpPr>
          <p:cNvPr id="11" name="Text 8"/>
          <p:cNvSpPr txBox="1"/>
          <p:nvPr/>
        </p:nvSpPr>
        <p:spPr>
          <a:xfrm>
            <a:off x="1019190" y="4699650"/>
            <a:ext cx="211747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例如：本週限量 20 瓶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1533540" y="5633253"/>
            <a:ext cx="2514051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價格、電話、地址、故事，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全部放在貼文裡就好。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007858" y="3524280"/>
            <a:ext cx="1710294" cy="39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25" b="1" spc="-2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手作草莓果醬</a:t>
            </a:r>
            <a:endParaRPr lang="en-US" sz="2025" dirty="0"/>
          </a:p>
        </p:txBody>
      </p:sp>
      <p:sp>
        <p:nvSpPr>
          <p:cNvPr id="14" name="Text 11"/>
          <p:cNvSpPr txBox="1"/>
          <p:nvPr/>
        </p:nvSpPr>
        <p:spPr>
          <a:xfrm>
            <a:off x="8147761" y="3943350"/>
            <a:ext cx="143057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本週限量 20 瓶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25510" y="4819620"/>
            <a:ext cx="215606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縮成一格還是看得懂 →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609509" y="304770"/>
            <a:ext cx="7137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講義 4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5 · 13:42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42 / 76</a:t>
            </a:r>
            <a:endParaRPr lang="en-US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4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296253"/>
            <a:ext cx="27036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13:45 – 14:25 ｜ PART 6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1496324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06</a:t>
            </a:r>
            <a:endParaRPr lang="en-US" sz="1125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3039374"/>
            <a:ext cx="2932664" cy="156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Hashtag 與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十大關鍵字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876270" y="4982474"/>
            <a:ext cx="380637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讓不認識你的人，有機會搜尋到你。</a:t>
            </a:r>
            <a:endParaRPr lang="en-US" sz="1725" dirty="0"/>
          </a:p>
        </p:txBody>
      </p:sp>
      <p:sp>
        <p:nvSpPr>
          <p:cNvPr id="7" name="Text 4"/>
          <p:cNvSpPr txBox="1"/>
          <p:nvPr/>
        </p:nvSpPr>
        <p:spPr>
          <a:xfrm>
            <a:off x="8733526" y="2181210"/>
            <a:ext cx="1203259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5F1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#台中甜點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114556" y="2895630"/>
            <a:ext cx="1203259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#手作餅乾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733526" y="3609960"/>
            <a:ext cx="1445575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D435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#台中伴手禮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9019276" y="4324380"/>
            <a:ext cx="96094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5744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#下午茶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61970" y="6343650"/>
            <a:ext cx="273030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6 · 13:45–14:25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43 / 76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4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089142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先搞懂它在做什麼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470081"/>
            <a:ext cx="3850904" cy="984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Hashtag 就是</a:t>
            </a:r>
            <a:endParaRPr lang="en-US" sz="2850" dirty="0"/>
          </a:p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幫你的內容「貼標籤」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962040" y="2686690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#台中甜點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2331811" y="2686690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#手作餅乾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701674" y="2686690"/>
            <a:ext cx="121981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#台中伴手禮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71671" y="3486790"/>
            <a:ext cx="2635209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它是在告訴平台：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「這篇內容跟什麼有關？」</a:t>
            </a:r>
            <a:endParaRPr lang="en-US" sz="1575" dirty="0"/>
          </a:p>
        </p:txBody>
      </p:sp>
      <p:sp>
        <p:nvSpPr>
          <p:cNvPr id="9" name="Text 6"/>
          <p:cNvSpPr txBox="1"/>
          <p:nvPr/>
        </p:nvSpPr>
        <p:spPr>
          <a:xfrm>
            <a:off x="761970" y="4478274"/>
            <a:ext cx="3120116" cy="1133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平台知道了，</a:t>
            </a:r>
            <a:endParaRPr lang="en-US" sz="1875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才有辦法把你的內容，</a:t>
            </a:r>
            <a:endParaRPr lang="en-US" sz="1875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推給正在找這種東西的人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875" dirty="0"/>
          </a:p>
        </p:txBody>
      </p:sp>
      <p:sp>
        <p:nvSpPr>
          <p:cNvPr id="10" name="Text 7"/>
          <p:cNvSpPr txBox="1"/>
          <p:nvPr/>
        </p:nvSpPr>
        <p:spPr>
          <a:xfrm>
            <a:off x="7176303" y="5815035"/>
            <a:ext cx="36447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別人搜尋標籤時，你的貼文才會出現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手機實作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6 · 13:45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44 / 76</a:t>
            </a:r>
            <a:endParaRPr lang="en-US" sz="15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4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31063"/>
            <a:ext cx="12372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 不要這樣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1162020" y="1493032"/>
            <a:ext cx="43443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#愛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1826971" y="1493032"/>
            <a:ext cx="6249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#幸福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2682484" y="1493032"/>
            <a:ext cx="6249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#開心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537905" y="1493032"/>
            <a:ext cx="6249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#台灣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393418" y="1493032"/>
            <a:ext cx="6249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#美食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162020" y="1997873"/>
            <a:ext cx="6249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#人生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2017532" y="1997873"/>
            <a:ext cx="71515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#good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2963205" y="1997873"/>
            <a:ext cx="83548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#follow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027566" y="1997873"/>
            <a:ext cx="104616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#like4like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162020" y="2502713"/>
            <a:ext cx="6249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#日常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2017532" y="2502713"/>
            <a:ext cx="6249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#心情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872953" y="2502713"/>
            <a:ext cx="6249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#分享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728466" y="2502713"/>
            <a:ext cx="121981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#開心每一天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162020" y="3007553"/>
            <a:ext cx="6249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#加油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2017532" y="3007553"/>
            <a:ext cx="6249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#美好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19190" y="3655223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0" name="Text 17"/>
          <p:cNvSpPr txBox="1"/>
          <p:nvPr/>
        </p:nvSpPr>
        <p:spPr>
          <a:xfrm>
            <a:off x="1304940" y="3655223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跟你賣的東西完全沒關係</a:t>
            </a:r>
            <a:endParaRPr lang="en-US" sz="1575" dirty="0"/>
          </a:p>
        </p:txBody>
      </p:sp>
      <p:sp>
        <p:nvSpPr>
          <p:cNvPr id="21" name="Text 18"/>
          <p:cNvSpPr txBox="1"/>
          <p:nvPr/>
        </p:nvSpPr>
        <p:spPr>
          <a:xfrm>
            <a:off x="1019190" y="4050518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2" name="Text 19"/>
          <p:cNvSpPr txBox="1"/>
          <p:nvPr/>
        </p:nvSpPr>
        <p:spPr>
          <a:xfrm>
            <a:off x="1304940" y="4050518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來的人不是想買東西的人</a:t>
            </a:r>
            <a:endParaRPr lang="en-US" sz="1575" dirty="0"/>
          </a:p>
        </p:txBody>
      </p:sp>
      <p:sp>
        <p:nvSpPr>
          <p:cNvPr id="23" name="Text 20"/>
          <p:cNvSpPr txBox="1"/>
          <p:nvPr/>
        </p:nvSpPr>
        <p:spPr>
          <a:xfrm>
            <a:off x="1019190" y="4445813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4" name="Text 21"/>
          <p:cNvSpPr txBox="1"/>
          <p:nvPr/>
        </p:nvSpPr>
        <p:spPr>
          <a:xfrm>
            <a:off x="1304940" y="4445813"/>
            <a:ext cx="305930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塞太多還可能被平台判定為灌水</a:t>
            </a:r>
            <a:endParaRPr lang="en-US" sz="1575" dirty="0"/>
          </a:p>
        </p:txBody>
      </p:sp>
      <p:sp>
        <p:nvSpPr>
          <p:cNvPr id="25" name="Text 22"/>
          <p:cNvSpPr txBox="1"/>
          <p:nvPr/>
        </p:nvSpPr>
        <p:spPr>
          <a:xfrm>
            <a:off x="6286500" y="731063"/>
            <a:ext cx="989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 要這樣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6705570" y="1512052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#台中果醬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7989661" y="1512052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#手工果醬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9273753" y="1512052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#草莓果醬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705570" y="2064532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#西屯市集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7989661" y="2064532"/>
            <a:ext cx="121981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#台中伴手禮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9464314" y="2064532"/>
            <a:ext cx="121981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#無添加果醬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6705570" y="2617013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#送禮推薦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6543721" y="3283702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34" name="Text 31"/>
          <p:cNvSpPr txBox="1"/>
          <p:nvPr/>
        </p:nvSpPr>
        <p:spPr>
          <a:xfrm>
            <a:off x="6802679" y="3283702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每一個都跟這篇內容有關</a:t>
            </a:r>
            <a:endParaRPr lang="en-US" sz="1575" dirty="0"/>
          </a:p>
        </p:txBody>
      </p:sp>
      <p:sp>
        <p:nvSpPr>
          <p:cNvPr id="35" name="Text 32"/>
          <p:cNvSpPr txBox="1"/>
          <p:nvPr/>
        </p:nvSpPr>
        <p:spPr>
          <a:xfrm>
            <a:off x="6543721" y="3678997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36" name="Text 33"/>
          <p:cNvSpPr txBox="1"/>
          <p:nvPr/>
        </p:nvSpPr>
        <p:spPr>
          <a:xfrm>
            <a:off x="6802679" y="3678997"/>
            <a:ext cx="263520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是別人真的會拿去搜尋的字</a:t>
            </a:r>
            <a:endParaRPr lang="en-US" sz="1575" dirty="0"/>
          </a:p>
        </p:txBody>
      </p:sp>
      <p:sp>
        <p:nvSpPr>
          <p:cNvPr id="37" name="Text 34"/>
          <p:cNvSpPr txBox="1"/>
          <p:nvPr/>
        </p:nvSpPr>
        <p:spPr>
          <a:xfrm>
            <a:off x="6543721" y="4074292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38" name="Text 35"/>
          <p:cNvSpPr txBox="1"/>
          <p:nvPr/>
        </p:nvSpPr>
        <p:spPr>
          <a:xfrm>
            <a:off x="6802679" y="4074292"/>
            <a:ext cx="232595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5–10 個就夠，不用湊滿</a:t>
            </a:r>
            <a:endParaRPr lang="en-US" sz="1575" dirty="0"/>
          </a:p>
        </p:txBody>
      </p:sp>
      <p:sp>
        <p:nvSpPr>
          <p:cNvPr id="39" name="Text 36"/>
          <p:cNvSpPr txBox="1"/>
          <p:nvPr/>
        </p:nvSpPr>
        <p:spPr>
          <a:xfrm>
            <a:off x="1533540" y="5476616"/>
            <a:ext cx="517952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判斷標準只有一個：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這個標籤，跟這一篇內容有關嗎？</a:t>
            </a:r>
            <a:endParaRPr lang="en-US" sz="1575" dirty="0"/>
          </a:p>
        </p:txBody>
      </p:sp>
      <p:sp>
        <p:nvSpPr>
          <p:cNvPr id="40" name="Text 37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6 · 13:52</a:t>
            </a:r>
            <a:endParaRPr lang="en-US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45 / 76</a:t>
            </a:r>
            <a:endParaRPr lang="en-US" sz="15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4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927726" y="643372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最重要的思考方式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2793401" y="1005291"/>
            <a:ext cx="6614678" cy="1504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394"/>
              </a:lnSpc>
              <a:buNone/>
            </a:pPr>
            <a:r>
              <a:rPr lang="en-US" sz="4350" b="1" spc="-13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不要想「我想寫什麼」，</a:t>
            </a:r>
            <a:endParaRPr lang="en-US" sz="4350" dirty="0"/>
          </a:p>
          <a:p>
            <a:pPr algn="ctr" indent="0" marL="0">
              <a:lnSpc>
                <a:spcPts val="5394"/>
              </a:lnSpc>
              <a:buNone/>
            </a:pPr>
            <a:r>
              <a:rPr lang="en-US" sz="4350" b="1" spc="-13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要想「</a:t>
            </a:r>
            <a:pPr algn="ctr" indent="0" marL="0">
              <a:lnSpc>
                <a:spcPts val="5394"/>
              </a:lnSpc>
              <a:buNone/>
            </a:pPr>
            <a:r>
              <a:rPr lang="en-US" sz="4350" b="1" spc="-13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別人會搜尋什麼</a:t>
            </a:r>
            <a:pPr algn="ctr" indent="0" marL="0">
              <a:lnSpc>
                <a:spcPts val="5394"/>
              </a:lnSpc>
              <a:buNone/>
            </a:pPr>
            <a:r>
              <a:rPr lang="en-US" sz="4350" b="1" spc="-13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」。</a:t>
            </a:r>
            <a:endParaRPr lang="en-US" sz="4350" dirty="0"/>
          </a:p>
        </p:txBody>
      </p:sp>
      <p:sp>
        <p:nvSpPr>
          <p:cNvPr id="5" name="Text 2"/>
          <p:cNvSpPr txBox="1"/>
          <p:nvPr/>
        </p:nvSpPr>
        <p:spPr>
          <a:xfrm>
            <a:off x="3103474" y="3079974"/>
            <a:ext cx="121304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 只想自己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071835" y="3594324"/>
            <a:ext cx="127613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75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#我的鳳梨酥</a:t>
            </a:r>
            <a:endParaRPr lang="en-US" sz="1575" dirty="0"/>
          </a:p>
        </p:txBody>
      </p:sp>
      <p:sp>
        <p:nvSpPr>
          <p:cNvPr id="7" name="Text 4"/>
          <p:cNvSpPr txBox="1"/>
          <p:nvPr/>
        </p:nvSpPr>
        <p:spPr>
          <a:xfrm>
            <a:off x="2286366" y="4156314"/>
            <a:ext cx="284725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全世界只有你會打這幾個字。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8006944" y="3113349"/>
            <a:ext cx="96926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 想客人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694688" y="3599078"/>
            <a:ext cx="8159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#鳳梨酥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786390" y="3599078"/>
            <a:ext cx="121981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#台中伴手禮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276222" y="3599078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#手工烘焙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067946" y="4123030"/>
            <a:ext cx="284725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這些才是別人真的會打的字。</a:t>
            </a:r>
            <a:endParaRPr lang="en-US" sz="1575" dirty="0"/>
          </a:p>
        </p:txBody>
      </p:sp>
      <p:sp>
        <p:nvSpPr>
          <p:cNvPr id="13" name="Text 10"/>
          <p:cNvSpPr txBox="1"/>
          <p:nvPr/>
        </p:nvSpPr>
        <p:spPr>
          <a:xfrm>
            <a:off x="4206514" y="5261366"/>
            <a:ext cx="4331421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練習：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把自己想像成客人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endParaRPr lang="en-US" sz="1575" dirty="0"/>
          </a:p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你想買這個東西的時候，會在搜尋列打什麼？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全班收集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6 · 13:58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46 / 76</a:t>
            </a:r>
            <a:endParaRPr lang="en-US" sz="15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4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477591"/>
            <a:ext cx="25342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今天要帶回家的東西之一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858622"/>
            <a:ext cx="3884828" cy="103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每個人建立</a:t>
            </a:r>
            <a:endParaRPr lang="en-US" sz="3000" dirty="0"/>
          </a:p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「我的 10 個關鍵字」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1000171" y="2454890"/>
            <a:ext cx="584210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548079" y="2502530"/>
            <a:ext cx="69375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3–4 個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00171" y="2902580"/>
            <a:ext cx="2847259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你賣的東西本身叫什麼？</a:t>
            </a:r>
            <a:endParaRPr lang="en-US" sz="1575" dirty="0"/>
          </a:p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包含它的種類、做法、材料。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1143000" y="3903025"/>
            <a:ext cx="8159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#鳳梨酥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2208002" y="3903025"/>
            <a:ext cx="121981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#手工鳳梨酥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4426885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#手作烘焙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606839" y="2454890"/>
            <a:ext cx="584210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地區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154839" y="2502530"/>
            <a:ext cx="69375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2–3 個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606839" y="2902580"/>
            <a:ext cx="2847259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你的客人在哪裡？</a:t>
            </a:r>
            <a:endParaRPr lang="en-US" sz="1575" dirty="0"/>
          </a:p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縣市、區域、常出沒的市集。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4749668" y="3903025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#台中甜點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005231" y="3903025"/>
            <a:ext cx="121981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#台中伴手禮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4749668" y="4426885"/>
            <a:ext cx="6249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#西屯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213689" y="2454890"/>
            <a:ext cx="1770187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使用情境／需求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9893168" y="2502530"/>
            <a:ext cx="69375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3–4 個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213689" y="2902580"/>
            <a:ext cx="2423160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別人在什麼時候需要它？</a:t>
            </a:r>
            <a:endParaRPr lang="en-US" sz="1575" dirty="0"/>
          </a:p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送誰？什麼場合？</a:t>
            </a:r>
            <a:endParaRPr lang="en-US" sz="1575" dirty="0"/>
          </a:p>
        </p:txBody>
      </p:sp>
      <p:sp>
        <p:nvSpPr>
          <p:cNvPr id="20" name="Text 17"/>
          <p:cNvSpPr txBox="1"/>
          <p:nvPr/>
        </p:nvSpPr>
        <p:spPr>
          <a:xfrm>
            <a:off x="8356519" y="3903025"/>
            <a:ext cx="8159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#下午茶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421520" y="3903025"/>
            <a:ext cx="6249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#送禮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356519" y="4426885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#節慶禮盒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33540" y="5427055"/>
            <a:ext cx="4369278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 10 個字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寫一次，可以用一整年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以後每發一篇，從裡面挑 5–8 個適合的就好。</a:t>
            </a:r>
            <a:endParaRPr lang="en-US" sz="1575" dirty="0"/>
          </a:p>
        </p:txBody>
      </p:sp>
      <p:sp>
        <p:nvSpPr>
          <p:cNvPr id="24" name="Text 21"/>
          <p:cNvSpPr txBox="1"/>
          <p:nvPr/>
        </p:nvSpPr>
        <p:spPr>
          <a:xfrm>
            <a:off x="10609509" y="304770"/>
            <a:ext cx="7137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講義 3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6 · 14:04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47 / 76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4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314907"/>
            <a:ext cx="9793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完整範例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695938"/>
            <a:ext cx="3296869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如果我做手作鳳梨酥</a:t>
            </a:r>
            <a:endParaRPr lang="en-US" sz="270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2485614"/>
            <a:ext cx="5505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647840" y="2485614"/>
            <a:ext cx="8159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#鳳梨酥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2750972" y="2485614"/>
            <a:ext cx="121981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#手工鳳梨酥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235044" y="2485614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#手作烘焙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1970" y="3142793"/>
            <a:ext cx="5505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地區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47840" y="3142793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#台中甜點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2941442" y="3142793"/>
            <a:ext cx="121981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#台中伴手禮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1970" y="3800064"/>
            <a:ext cx="5505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spc="15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情境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647840" y="3800064"/>
            <a:ext cx="8159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#下午茶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2750972" y="3800064"/>
            <a:ext cx="6249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#送禮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663544" y="3800064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#節慶禮盒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33540" y="4619183"/>
            <a:ext cx="3816797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注意：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沒有一個標籤是 #好吃 #推薦 #讚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每一個都是「有人會拿去搜尋」的字。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6 · 14:09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48 / 76</a:t>
            </a:r>
            <a:endParaRPr lang="en-US" sz="15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4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663306"/>
            <a:ext cx="16457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三個免費的方法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609630" y="1044336"/>
            <a:ext cx="5434005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想不出來的時候，去這三個地方找</a:t>
            </a:r>
            <a:endParaRPr lang="en-US" sz="2700" dirty="0"/>
          </a:p>
        </p:txBody>
      </p:sp>
      <p:sp>
        <p:nvSpPr>
          <p:cNvPr id="5" name="Text 2"/>
          <p:cNvSpPr txBox="1"/>
          <p:nvPr/>
        </p:nvSpPr>
        <p:spPr>
          <a:xfrm>
            <a:off x="1209660" y="2095988"/>
            <a:ext cx="152375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 搜尋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943021" y="2595982"/>
            <a:ext cx="36960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🔍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57300" y="2595982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鳳梨酥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8721" y="3062691"/>
            <a:ext cx="224851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#鳳梨酥 12.4萬則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28721" y="3405591"/>
            <a:ext cx="217535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#鳳梨酥禮盒 2.1萬則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28721" y="3748491"/>
            <a:ext cx="2257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#土鳳梨酥 8,942 則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28721" y="4339102"/>
            <a:ext cx="332174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打進去，看平台自動跳出哪些相關標籤與則數。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905390" y="2095988"/>
            <a:ext cx="122154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Google 搜尋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667280" y="2605491"/>
            <a:ext cx="36960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🔍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4981560" y="2605491"/>
            <a:ext cx="1146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台中 伴手禮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524360" y="3081802"/>
            <a:ext cx="15961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台中 伴手禮 推薦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4524360" y="3424702"/>
            <a:ext cx="16687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台中 伴手禮 2026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524360" y="3767602"/>
            <a:ext cx="15961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台中 伴手禮 車站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4524360" y="4358122"/>
            <a:ext cx="332174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看「自動完成」跟頁面最下面的「相關搜尋」。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639160" y="2096994"/>
            <a:ext cx="14882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Google Trends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353410" y="2626705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手作餅乾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10391790" y="2626705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手工餅乾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220090" y="3931554"/>
            <a:ext cx="332174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兩個講法哪個比較多人搜？用哪個字就對了。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343071" y="5542178"/>
            <a:ext cx="625001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現在請跟著做一次：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在 IG 搜尋列打進你的商品名稱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，看看跳出什麼。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現場示範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6 · 14:14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49 / 76</a:t>
            </a:r>
            <a:endParaRPr lang="en-US" sz="15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5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263256"/>
            <a:ext cx="176104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動手做 · 8 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644286"/>
            <a:ext cx="4823186" cy="984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請找出</a:t>
            </a:r>
            <a:endParaRPr lang="en-US" sz="2850" dirty="0"/>
          </a:p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跟自己最有關的 10 個關鍵字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1746504"/>
            <a:ext cx="4841291" cy="747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寫在</a:t>
            </a:r>
            <a:pPr algn="l" indent="0" marL="0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講義 3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，或直接打在</a:t>
            </a:r>
            <a:pPr algn="l" indent="0" marL="0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手機的備忘錄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裡。</a:t>
            </a:r>
            <a:endParaRPr lang="en-US" sz="1875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建議兩邊都留一份。</a:t>
            </a:r>
            <a:endParaRPr lang="en-US" sz="1875" dirty="0"/>
          </a:p>
        </p:txBody>
      </p:sp>
      <p:sp>
        <p:nvSpPr>
          <p:cNvPr id="6" name="Text 3"/>
          <p:cNvSpPr txBox="1"/>
          <p:nvPr/>
        </p:nvSpPr>
        <p:spPr>
          <a:xfrm>
            <a:off x="1304940" y="2841864"/>
            <a:ext cx="14008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商品類 3–4 個</a:t>
            </a:r>
            <a:endParaRPr lang="en-US" sz="1575" dirty="0"/>
          </a:p>
        </p:txBody>
      </p:sp>
      <p:sp>
        <p:nvSpPr>
          <p:cNvPr id="7" name="Text 4"/>
          <p:cNvSpPr txBox="1"/>
          <p:nvPr/>
        </p:nvSpPr>
        <p:spPr>
          <a:xfrm>
            <a:off x="1304940" y="3508644"/>
            <a:ext cx="14008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地區類 2–3 個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1304940" y="4175333"/>
            <a:ext cx="203700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情境／需求類 3–4 個</a:t>
            </a:r>
            <a:endParaRPr lang="en-US" sz="1575" dirty="0"/>
          </a:p>
        </p:txBody>
      </p:sp>
      <p:sp>
        <p:nvSpPr>
          <p:cNvPr id="9" name="Text 6"/>
          <p:cNvSpPr txBox="1"/>
          <p:nvPr/>
        </p:nvSpPr>
        <p:spPr>
          <a:xfrm>
            <a:off x="1304940" y="4842114"/>
            <a:ext cx="369527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存進手機備忘錄，取名「我的關鍵字」</a:t>
            </a:r>
            <a:endParaRPr lang="en-US" sz="1575" dirty="0"/>
          </a:p>
        </p:txBody>
      </p:sp>
      <p:sp>
        <p:nvSpPr>
          <p:cNvPr id="10" name="Text 7"/>
          <p:cNvSpPr txBox="1"/>
          <p:nvPr/>
        </p:nvSpPr>
        <p:spPr>
          <a:xfrm>
            <a:off x="1533540" y="5670834"/>
            <a:ext cx="3283885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以後每發一篇，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從這 10 個裡面挑 5–8 個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來用就好。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761884" y="5815035"/>
            <a:ext cx="2978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存在手機裡，發文時直接複製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609509" y="304770"/>
            <a:ext cx="7137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講義 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6 · 14:20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50 / 76</a:t>
            </a:r>
            <a:endParaRPr lang="en-US" sz="15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296253"/>
            <a:ext cx="50398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14:25 – 14:35 休息 ｜ 14:35 – 15:05 ｜ PART 7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1496324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07</a:t>
            </a:r>
            <a:endParaRPr lang="en-US" sz="1125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3039374"/>
            <a:ext cx="2284628" cy="156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Reels 與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限時動態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876270" y="4982474"/>
            <a:ext cx="473522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不用跳舞、不用剪輯、不用露臉，也可以拍。</a:t>
            </a:r>
            <a:endParaRPr lang="en-US" sz="1725" dirty="0"/>
          </a:p>
        </p:txBody>
      </p:sp>
      <p:sp>
        <p:nvSpPr>
          <p:cNvPr id="7" name="Text 4"/>
          <p:cNvSpPr txBox="1"/>
          <p:nvPr/>
        </p:nvSpPr>
        <p:spPr>
          <a:xfrm>
            <a:off x="761970" y="6343650"/>
            <a:ext cx="273030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7 · 14:35–15:05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51 / 76</a:t>
            </a:r>
            <a:endParaRPr lang="en-US" sz="15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824295" y="773034"/>
            <a:ext cx="16457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先講最大的誤會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737061" y="1153973"/>
            <a:ext cx="4727357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很多人以為 Reels 一定要跳舞</a:t>
            </a:r>
            <a:endParaRPr lang="en-US" sz="2700" dirty="0"/>
          </a:p>
        </p:txBody>
      </p:sp>
      <p:sp>
        <p:nvSpPr>
          <p:cNvPr id="5" name="Text 2"/>
          <p:cNvSpPr txBox="1"/>
          <p:nvPr/>
        </p:nvSpPr>
        <p:spPr>
          <a:xfrm>
            <a:off x="4850709" y="1705539"/>
            <a:ext cx="2500152" cy="1152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626"/>
              </a:lnSpc>
              <a:buNone/>
            </a:pPr>
            <a:r>
              <a:rPr lang="en-US" sz="6150" b="1" spc="-18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不用。</a:t>
            </a:r>
            <a:endParaRPr lang="en-US" sz="6150" dirty="0"/>
          </a:p>
        </p:txBody>
      </p:sp>
      <p:sp>
        <p:nvSpPr>
          <p:cNvPr id="6" name="Text 3"/>
          <p:cNvSpPr txBox="1"/>
          <p:nvPr/>
        </p:nvSpPr>
        <p:spPr>
          <a:xfrm>
            <a:off x="2708087" y="4064599"/>
            <a:ext cx="93058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不用跳舞</a:t>
            </a:r>
            <a:endParaRPr lang="en-US" sz="1575" dirty="0"/>
          </a:p>
        </p:txBody>
      </p:sp>
      <p:sp>
        <p:nvSpPr>
          <p:cNvPr id="7" name="Text 4"/>
          <p:cNvSpPr txBox="1"/>
          <p:nvPr/>
        </p:nvSpPr>
        <p:spPr>
          <a:xfrm>
            <a:off x="5635356" y="4064599"/>
            <a:ext cx="93058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不用露臉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8352861" y="4064599"/>
            <a:ext cx="135038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不用剪輯技巧</a:t>
            </a:r>
            <a:endParaRPr lang="en-US" sz="1575" dirty="0"/>
          </a:p>
        </p:txBody>
      </p:sp>
      <p:sp>
        <p:nvSpPr>
          <p:cNvPr id="9" name="Text 6"/>
          <p:cNvSpPr txBox="1"/>
          <p:nvPr/>
        </p:nvSpPr>
        <p:spPr>
          <a:xfrm>
            <a:off x="3897630" y="5131430"/>
            <a:ext cx="4949099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Reels 只是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「會動的照片」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你原本拍照的東西，改成錄 5 秒影片，就是 Reels。</a:t>
            </a:r>
            <a:endParaRPr lang="en-US" sz="1575" dirty="0"/>
          </a:p>
        </p:txBody>
      </p:sp>
      <p:sp>
        <p:nvSpPr>
          <p:cNvPr id="10" name="Text 7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7 · 14:35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52 / 76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47776"/>
            <a:ext cx="20900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六大類，選一個就好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328715"/>
            <a:ext cx="3401568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Reels 可以拍這六種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1724010" y="2398928"/>
            <a:ext cx="33723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724010" y="2713299"/>
            <a:ext cx="8905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商品展示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724010" y="3046689"/>
            <a:ext cx="231206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把成品轉一圈、拿起來、打開包裝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318059" y="2398928"/>
            <a:ext cx="33723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318059" y="2713299"/>
            <a:ext cx="8905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製作過程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318059" y="3046689"/>
            <a:ext cx="231206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從材料到完成，最受歡迎的一種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912108" y="2398928"/>
            <a:ext cx="33723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912108" y="2713299"/>
            <a:ext cx="8905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幕後花絮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912108" y="3046689"/>
            <a:ext cx="231206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工作桌、備料、收攤、失敗的那一鍋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724010" y="4283141"/>
            <a:ext cx="33723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724010" y="4597420"/>
            <a:ext cx="8905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前後對比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724010" y="4930811"/>
            <a:ext cx="2245949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材料 → 成品；空攤位 → 擺好的攤位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318059" y="4283141"/>
            <a:ext cx="33723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⑤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5318059" y="4597420"/>
            <a:ext cx="8905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使用方式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318059" y="4930811"/>
            <a:ext cx="231206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果醬可以怎麼吃、耳環怎麼搭配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912108" y="4283141"/>
            <a:ext cx="33723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⑥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912108" y="4597420"/>
            <a:ext cx="8905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工作日常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912108" y="4930811"/>
            <a:ext cx="211016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今天出貨幾箱、市集人潮、包裝的手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7 · 14:39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53 / 76</a:t>
            </a:r>
            <a:endParaRPr lang="en-US" sz="15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48599"/>
            <a:ext cx="16457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舉例：手作餅乾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329629"/>
            <a:ext cx="3474903" cy="984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這五個畫面接起來，</a:t>
            </a:r>
            <a:endParaRPr lang="en-US" sz="2850" dirty="0"/>
          </a:p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就是一支 Reels。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2396825" y="2841407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2330714" y="4079687"/>
            <a:ext cx="11969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🥣 材料準備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648365" y="3455792"/>
            <a:ext cx="19321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›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982578" y="2841407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118000" y="4079687"/>
            <a:ext cx="7938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👐 揉麵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234117" y="3455792"/>
            <a:ext cx="19321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›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568330" y="2841407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703753" y="4079687"/>
            <a:ext cx="7938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🔥 烘烤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819870" y="3455792"/>
            <a:ext cx="19321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›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154083" y="2841407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289505" y="4079687"/>
            <a:ext cx="7938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✨ 出爐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405622" y="3455792"/>
            <a:ext cx="19321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›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739835" y="2841407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875258" y="4079687"/>
            <a:ext cx="7938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🎁 包裝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52560" y="4955957"/>
            <a:ext cx="4657588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每段拍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3–5 秒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就好，全部加起來大約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15–25 秒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不用配樂、不用字幕，也可以先發出去。</a:t>
            </a:r>
            <a:endParaRPr lang="en-US" sz="1575" dirty="0"/>
          </a:p>
        </p:txBody>
      </p:sp>
      <p:sp>
        <p:nvSpPr>
          <p:cNvPr id="20" name="Text 17"/>
          <p:cNvSpPr txBox="1"/>
          <p:nvPr/>
        </p:nvSpPr>
        <p:spPr>
          <a:xfrm>
            <a:off x="10586009" y="304770"/>
            <a:ext cx="7372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拆五格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7 · 14:44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54 / 76</a:t>
            </a:r>
            <a:endParaRPr lang="en-US" sz="15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5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41157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初學者版本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222187"/>
            <a:ext cx="3144073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 3–5 個片段就好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1058144" y="2063801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409730" y="2068556"/>
            <a:ext cx="5086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材料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58144" y="2787731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409730" y="2792486"/>
            <a:ext cx="5086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製作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58144" y="3511570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409730" y="3516325"/>
            <a:ext cx="5086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成品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58144" y="4235501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409730" y="4240256"/>
            <a:ext cx="5086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包裝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33540" y="5092751"/>
            <a:ext cx="2615275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用手機內建的相機錄，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直接在 IG 裡面接起來就好。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286500" y="114300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現在不用先學這些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562740" y="819120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6" name="Text 13"/>
          <p:cNvSpPr txBox="1"/>
          <p:nvPr/>
        </p:nvSpPr>
        <p:spPr>
          <a:xfrm>
            <a:off x="6848490" y="819120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專業剪輯軟體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562740" y="1299545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8" name="Text 15"/>
          <p:cNvSpPr txBox="1"/>
          <p:nvPr/>
        </p:nvSpPr>
        <p:spPr>
          <a:xfrm>
            <a:off x="6848490" y="1299545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炫技轉場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562740" y="1779971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0" name="Text 17"/>
          <p:cNvSpPr txBox="1"/>
          <p:nvPr/>
        </p:nvSpPr>
        <p:spPr>
          <a:xfrm>
            <a:off x="6848490" y="1779971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高難度特效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6562740" y="2260397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2" name="Text 19"/>
          <p:cNvSpPr txBox="1"/>
          <p:nvPr/>
        </p:nvSpPr>
        <p:spPr>
          <a:xfrm>
            <a:off x="6848490" y="2260397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配音與字幕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562740" y="2740823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4" name="Text 21"/>
          <p:cNvSpPr txBox="1"/>
          <p:nvPr/>
        </p:nvSpPr>
        <p:spPr>
          <a:xfrm>
            <a:off x="6848490" y="2740823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買燈光器材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6562740" y="3335548"/>
            <a:ext cx="271595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這些以後有興趣再學。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先發出去，比拍得漂亮重要。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7404080" y="5229271"/>
            <a:ext cx="2917850" cy="118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最常見的失敗原因不是拍得不好，</a:t>
            </a:r>
            <a:endParaRPr lang="en-US" sz="1500" dirty="0"/>
          </a:p>
          <a:p>
            <a:pPr algn="ctr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而是「想拍到完美，所以一直沒發」。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0554736" y="304770"/>
            <a:ext cx="76855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錄 5 秒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7 · 14:50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55 / 76</a:t>
            </a:r>
            <a:endParaRPr lang="en-US" sz="15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5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696407"/>
            <a:ext cx="176835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24 小時後就消失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077346"/>
            <a:ext cx="3562045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限時動態比較像 ——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1614190"/>
            <a:ext cx="2441448" cy="10438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000" b="1" spc="-9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「今天正在</a:t>
            </a:r>
            <a:endParaRPr lang="en-US" sz="3000" dirty="0"/>
          </a:p>
          <a:p>
            <a:pPr algn="l" indent="0" marL="0">
              <a:lnSpc>
                <a:spcPts val="3720"/>
              </a:lnSpc>
              <a:buNone/>
            </a:pPr>
            <a:r>
              <a:rPr lang="en-US" sz="3000" b="1" spc="-9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發生什麼？」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943021" y="2987619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今天正在製作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650468" y="2987619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今天在擺攤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43021" y="3696279"/>
            <a:ext cx="151342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商品剩最後 3 個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650468" y="3696279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今天收到新材料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43021" y="4405031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客人的回饋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650468" y="4405031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明天新品預告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533540" y="5237592"/>
            <a:ext cx="2917850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因為 24 小時就消失，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所以不用有壓力，隨手拍就好。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509510" y="5815035"/>
            <a:ext cx="2978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隨手拍、加一句話，就可以發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手機實作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7 · 14:55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56 / 76</a:t>
            </a:r>
            <a:endParaRPr lang="en-US" sz="15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5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27954" y="12162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兩種都可以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4175333" y="393192"/>
            <a:ext cx="3850904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因為它們的用途不一樣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2753533" y="4254246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75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精緻商品照</a:t>
            </a:r>
            <a:endParaRPr lang="en-US" sz="1575" dirty="0"/>
          </a:p>
        </p:txBody>
      </p:sp>
      <p:sp>
        <p:nvSpPr>
          <p:cNvPr id="6" name="Text 3"/>
          <p:cNvSpPr txBox="1"/>
          <p:nvPr/>
        </p:nvSpPr>
        <p:spPr>
          <a:xfrm>
            <a:off x="2172889" y="4740067"/>
            <a:ext cx="2312060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放在</a:t>
            </a:r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貼文</a:t>
            </a:r>
            <a:pPr algn="ctr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</a:t>
            </a:r>
            <a:endParaRPr lang="en-US" sz="1500" dirty="0"/>
          </a:p>
          <a:p>
            <a:pPr algn="ctr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要留下來、要被反覆看到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435431" y="3152211"/>
            <a:ext cx="1009132" cy="3395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還在忙 😅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585039" y="1396746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限時動態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72984" y="4254246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75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手機隨手拍的工作桌</a:t>
            </a:r>
            <a:endParaRPr lang="en-US" sz="1575" dirty="0"/>
          </a:p>
        </p:txBody>
      </p:sp>
      <p:sp>
        <p:nvSpPr>
          <p:cNvPr id="10" name="Text 7"/>
          <p:cNvSpPr txBox="1"/>
          <p:nvPr/>
        </p:nvSpPr>
        <p:spPr>
          <a:xfrm>
            <a:off x="7659929" y="4740067"/>
            <a:ext cx="2424897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放在</a:t>
            </a:r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限時動態</a:t>
            </a:r>
            <a:pPr algn="ctr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</a:t>
            </a:r>
            <a:endParaRPr lang="en-US" sz="1500" dirty="0"/>
          </a:p>
          <a:p>
            <a:pPr algn="ctr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只活 24 小時、要的是真實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533540" y="5892576"/>
            <a:ext cx="3059308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很多人反而更喜歡右邊那種，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因為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看得出來是真的人在做事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7 · 15:00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57 / 76</a:t>
            </a:r>
            <a:endParaRPr lang="en-US" sz="15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95528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一次分清楚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176467"/>
            <a:ext cx="2584369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兩個都要發嗎？</a:t>
            </a:r>
            <a:endParaRPr lang="en-US" sz="2700" dirty="0"/>
          </a:p>
        </p:txBody>
      </p:sp>
      <p:sp>
        <p:nvSpPr>
          <p:cNvPr id="5" name="Text 2"/>
          <p:cNvSpPr txBox="1"/>
          <p:nvPr/>
        </p:nvSpPr>
        <p:spPr>
          <a:xfrm>
            <a:off x="1438260" y="2075688"/>
            <a:ext cx="6252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Reels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000171" y="2470983"/>
            <a:ext cx="2211202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給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還不認識你的人</a:t>
            </a:r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看。</a:t>
            </a:r>
            <a:endParaRPr lang="en-US" sz="1575" dirty="0"/>
          </a:p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負責「被看見」。</a:t>
            </a:r>
            <a:endParaRPr lang="en-US" sz="1575" dirty="0"/>
          </a:p>
        </p:txBody>
      </p:sp>
      <p:sp>
        <p:nvSpPr>
          <p:cNvPr id="7" name="Text 4"/>
          <p:cNvSpPr txBox="1"/>
          <p:nvPr/>
        </p:nvSpPr>
        <p:spPr>
          <a:xfrm>
            <a:off x="1438260" y="3714293"/>
            <a:ext cx="8905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限時動態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00171" y="4109588"/>
            <a:ext cx="2529230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給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已經認識你的人</a:t>
            </a:r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看。</a:t>
            </a:r>
            <a:endParaRPr lang="en-US" sz="1575" dirty="0"/>
          </a:p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負責「被喜歡、被信任」。</a:t>
            </a:r>
            <a:endParaRPr lang="en-US" sz="1575" dirty="0"/>
          </a:p>
        </p:txBody>
      </p:sp>
      <p:sp>
        <p:nvSpPr>
          <p:cNvPr id="9" name="Text 6"/>
          <p:cNvSpPr txBox="1"/>
          <p:nvPr/>
        </p:nvSpPr>
        <p:spPr>
          <a:xfrm>
            <a:off x="761970" y="5138562"/>
            <a:ext cx="4506986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對照早上的漏斗：Reels 在最上面，限時動態在中間。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881774" y="1204905"/>
            <a:ext cx="77614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REELS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324960" y="1204905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限時動態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738774" y="1738274"/>
            <a:ext cx="731520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觸及對象</a:t>
            </a:r>
            <a:endParaRPr lang="en-US" sz="1575" dirty="0"/>
          </a:p>
        </p:txBody>
      </p:sp>
      <p:sp>
        <p:nvSpPr>
          <p:cNvPr id="13" name="Text 10"/>
          <p:cNvSpPr txBox="1"/>
          <p:nvPr/>
        </p:nvSpPr>
        <p:spPr>
          <a:xfrm>
            <a:off x="6881774" y="1881195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被更多陌生人看到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9324960" y="1881195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跟目前的粉絲互動</a:t>
            </a:r>
            <a:endParaRPr lang="en-US" sz="1575" dirty="0"/>
          </a:p>
        </p:txBody>
      </p:sp>
      <p:sp>
        <p:nvSpPr>
          <p:cNvPr id="15" name="Text 12"/>
          <p:cNvSpPr txBox="1"/>
          <p:nvPr/>
        </p:nvSpPr>
        <p:spPr>
          <a:xfrm>
            <a:off x="5738774" y="2605126"/>
            <a:ext cx="731520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內容重點</a:t>
            </a:r>
            <a:endParaRPr lang="en-US" sz="1575" dirty="0"/>
          </a:p>
        </p:txBody>
      </p:sp>
      <p:sp>
        <p:nvSpPr>
          <p:cNvPr id="16" name="Text 13"/>
          <p:cNvSpPr txBox="1"/>
          <p:nvPr/>
        </p:nvSpPr>
        <p:spPr>
          <a:xfrm>
            <a:off x="6881774" y="2747955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過程</a:t>
            </a:r>
            <a:endParaRPr lang="en-US" sz="1575" dirty="0"/>
          </a:p>
        </p:txBody>
      </p:sp>
      <p:sp>
        <p:nvSpPr>
          <p:cNvPr id="17" name="Text 14"/>
          <p:cNvSpPr txBox="1"/>
          <p:nvPr/>
        </p:nvSpPr>
        <p:spPr>
          <a:xfrm>
            <a:off x="9324960" y="2747955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即時</a:t>
            </a:r>
            <a:endParaRPr lang="en-US" sz="1575" dirty="0"/>
          </a:p>
        </p:txBody>
      </p:sp>
      <p:sp>
        <p:nvSpPr>
          <p:cNvPr id="18" name="Text 15"/>
          <p:cNvSpPr txBox="1"/>
          <p:nvPr/>
        </p:nvSpPr>
        <p:spPr>
          <a:xfrm>
            <a:off x="5738774" y="3471885"/>
            <a:ext cx="73152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適合放</a:t>
            </a:r>
            <a:endParaRPr lang="en-US" sz="1575" dirty="0"/>
          </a:p>
        </p:txBody>
      </p:sp>
      <p:sp>
        <p:nvSpPr>
          <p:cNvPr id="19" name="Text 16"/>
          <p:cNvSpPr txBox="1"/>
          <p:nvPr/>
        </p:nvSpPr>
        <p:spPr>
          <a:xfrm>
            <a:off x="6881774" y="3471885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商品展示、製作過程</a:t>
            </a:r>
            <a:endParaRPr lang="en-US" sz="1575" dirty="0"/>
          </a:p>
        </p:txBody>
      </p:sp>
      <p:sp>
        <p:nvSpPr>
          <p:cNvPr id="20" name="Text 17"/>
          <p:cNvSpPr txBox="1"/>
          <p:nvPr/>
        </p:nvSpPr>
        <p:spPr>
          <a:xfrm>
            <a:off x="9324960" y="3471885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今天的狀況</a:t>
            </a:r>
            <a:endParaRPr lang="en-US" sz="1575" dirty="0"/>
          </a:p>
        </p:txBody>
      </p:sp>
      <p:sp>
        <p:nvSpPr>
          <p:cNvPr id="21" name="Text 18"/>
          <p:cNvSpPr txBox="1"/>
          <p:nvPr/>
        </p:nvSpPr>
        <p:spPr>
          <a:xfrm>
            <a:off x="5738774" y="4052895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氣質</a:t>
            </a:r>
            <a:endParaRPr lang="en-US" sz="1575" dirty="0"/>
          </a:p>
        </p:txBody>
      </p:sp>
      <p:sp>
        <p:nvSpPr>
          <p:cNvPr id="22" name="Text 19"/>
          <p:cNvSpPr txBox="1"/>
          <p:nvPr/>
        </p:nvSpPr>
        <p:spPr>
          <a:xfrm>
            <a:off x="6881774" y="4052895"/>
            <a:ext cx="136309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幕後、有故事</a:t>
            </a:r>
            <a:endParaRPr lang="en-US" sz="1575" dirty="0"/>
          </a:p>
        </p:txBody>
      </p:sp>
      <p:sp>
        <p:nvSpPr>
          <p:cNvPr id="23" name="Text 20"/>
          <p:cNvSpPr txBox="1"/>
          <p:nvPr/>
        </p:nvSpPr>
        <p:spPr>
          <a:xfrm>
            <a:off x="9324960" y="4052895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提醒、閒聊</a:t>
            </a:r>
            <a:endParaRPr lang="en-US" sz="1575" dirty="0"/>
          </a:p>
        </p:txBody>
      </p:sp>
      <p:sp>
        <p:nvSpPr>
          <p:cNvPr id="24" name="Text 21"/>
          <p:cNvSpPr txBox="1"/>
          <p:nvPr/>
        </p:nvSpPr>
        <p:spPr>
          <a:xfrm>
            <a:off x="5738774" y="4633905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壽命</a:t>
            </a:r>
            <a:endParaRPr lang="en-US" sz="1575" dirty="0"/>
          </a:p>
        </p:txBody>
      </p:sp>
      <p:sp>
        <p:nvSpPr>
          <p:cNvPr id="25" name="Text 22"/>
          <p:cNvSpPr txBox="1"/>
          <p:nvPr/>
        </p:nvSpPr>
        <p:spPr>
          <a:xfrm>
            <a:off x="6881774" y="4633905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會一直留著</a:t>
            </a:r>
            <a:endParaRPr lang="en-US" sz="1575" dirty="0"/>
          </a:p>
        </p:txBody>
      </p:sp>
      <p:sp>
        <p:nvSpPr>
          <p:cNvPr id="26" name="Text 23"/>
          <p:cNvSpPr txBox="1"/>
          <p:nvPr/>
        </p:nvSpPr>
        <p:spPr>
          <a:xfrm>
            <a:off x="9324960" y="4633905"/>
            <a:ext cx="144932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24 小時後消失</a:t>
            </a:r>
            <a:endParaRPr lang="en-US" sz="1575" dirty="0"/>
          </a:p>
        </p:txBody>
      </p:sp>
      <p:sp>
        <p:nvSpPr>
          <p:cNvPr id="27" name="Text 24"/>
          <p:cNvSpPr txBox="1"/>
          <p:nvPr/>
        </p:nvSpPr>
        <p:spPr>
          <a:xfrm>
            <a:off x="5738774" y="5214915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要求</a:t>
            </a:r>
            <a:endParaRPr lang="en-US" sz="1575" dirty="0"/>
          </a:p>
        </p:txBody>
      </p:sp>
      <p:sp>
        <p:nvSpPr>
          <p:cNvPr id="28" name="Text 25"/>
          <p:cNvSpPr txBox="1"/>
          <p:nvPr/>
        </p:nvSpPr>
        <p:spPr>
          <a:xfrm>
            <a:off x="6881774" y="5214915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稍微想一下</a:t>
            </a:r>
            <a:endParaRPr lang="en-US" sz="1575" dirty="0"/>
          </a:p>
        </p:txBody>
      </p:sp>
      <p:sp>
        <p:nvSpPr>
          <p:cNvPr id="29" name="Text 26"/>
          <p:cNvSpPr txBox="1"/>
          <p:nvPr/>
        </p:nvSpPr>
        <p:spPr>
          <a:xfrm>
            <a:off x="9324960" y="5214915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隨手拍就好</a:t>
            </a:r>
            <a:endParaRPr lang="en-US" sz="1575" dirty="0"/>
          </a:p>
        </p:txBody>
      </p:sp>
      <p:sp>
        <p:nvSpPr>
          <p:cNvPr id="30" name="Text 27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7 · 15:02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58 / 76</a:t>
            </a:r>
            <a:endParaRPr lang="en-US" sz="15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5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296253"/>
            <a:ext cx="27036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15:05 – 15:35 ｜ PART 8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1496324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08</a:t>
            </a:r>
            <a:endParaRPr lang="en-US" sz="1125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3039374"/>
            <a:ext cx="3612794" cy="156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 官方帳號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與顧客承接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876270" y="4982474"/>
            <a:ext cx="439616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FB、IG 把人帶來，這裡負責把人留下來。</a:t>
            </a:r>
            <a:endParaRPr lang="en-US" sz="1725" dirty="0"/>
          </a:p>
        </p:txBody>
      </p:sp>
      <p:sp>
        <p:nvSpPr>
          <p:cNvPr id="7" name="Text 4"/>
          <p:cNvSpPr txBox="1"/>
          <p:nvPr/>
        </p:nvSpPr>
        <p:spPr>
          <a:xfrm>
            <a:off x="761970" y="6343650"/>
            <a:ext cx="273030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8 · 15:05–15:35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59 / 76</a:t>
            </a:r>
            <a:endParaRPr lang="en-US" sz="15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6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77057"/>
            <a:ext cx="11407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私人 LINE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1038210" y="1481877"/>
            <a:ext cx="2489820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家人、朋友、個人聯絡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038210" y="3282147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6" name="Text 3"/>
          <p:cNvSpPr txBox="1"/>
          <p:nvPr/>
        </p:nvSpPr>
        <p:spPr>
          <a:xfrm>
            <a:off x="1323960" y="3282147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客人訊息會被家人群組洗掉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38210" y="3686312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1323960" y="3686312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分不清誰是客人、誰是朋友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38210" y="4090568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0" name="Text 7"/>
          <p:cNvSpPr txBox="1"/>
          <p:nvPr/>
        </p:nvSpPr>
        <p:spPr>
          <a:xfrm>
            <a:off x="1323960" y="4090568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沒辦法群發新品通知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38210" y="4494733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1323960" y="4494733"/>
            <a:ext cx="27159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別人加你＝看到你的私人生活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038210" y="4898989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1323960" y="4898989"/>
            <a:ext cx="27159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沒有數據，不知道有幾個客人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86500" y="777057"/>
            <a:ext cx="158502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 官方帳號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562740" y="1481877"/>
            <a:ext cx="2729667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顧客、會員、接單、活動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62740" y="3745565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8" name="Text 15"/>
          <p:cNvSpPr txBox="1"/>
          <p:nvPr/>
        </p:nvSpPr>
        <p:spPr>
          <a:xfrm>
            <a:off x="6821698" y="3745565"/>
            <a:ext cx="29178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客人訊息獨立一個地方，不會漏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562740" y="4149730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0" name="Text 17"/>
          <p:cNvSpPr txBox="1"/>
          <p:nvPr/>
        </p:nvSpPr>
        <p:spPr>
          <a:xfrm>
            <a:off x="6821698" y="4149730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可以一次群發給所有好友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6562740" y="4553986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2" name="Text 19"/>
          <p:cNvSpPr txBox="1"/>
          <p:nvPr/>
        </p:nvSpPr>
        <p:spPr>
          <a:xfrm>
            <a:off x="6821698" y="4553986"/>
            <a:ext cx="33217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可以看到有幾個人加入、幾個人看了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562740" y="4958243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4" name="Text 21"/>
          <p:cNvSpPr txBox="1"/>
          <p:nvPr/>
        </p:nvSpPr>
        <p:spPr>
          <a:xfrm>
            <a:off x="6821698" y="4958243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不會暴露你的私人生活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6562740" y="5362407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6" name="Text 23"/>
          <p:cNvSpPr txBox="1"/>
          <p:nvPr/>
        </p:nvSpPr>
        <p:spPr>
          <a:xfrm>
            <a:off x="6821698" y="5362407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免費就能開，一個人也能用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8 · 15:05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60 / 76</a:t>
            </a:r>
            <a:endParaRPr lang="en-US" sz="15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6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685617"/>
            <a:ext cx="25342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基本功能（今天要會的）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923910" y="1266718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一對一聊天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3631448" y="126671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群發訊息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923910" y="197537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歡迎訊息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631448" y="197537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活動通知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23910" y="2684130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新品通知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631448" y="2684130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優惠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23910" y="3392790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預約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631448" y="3392790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接單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1970" y="4063411"/>
            <a:ext cx="33217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進階功能（今天只要「知道有」）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200882" y="4644512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圖文選單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103748" y="4644512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優惠券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908682" y="4644512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集點卡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61970" y="5248382"/>
            <a:ext cx="5615422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＊這三個今天不教操作。等到你已經有 30–50 個好友，再回來設定就好。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175925" y="1146840"/>
            <a:ext cx="16457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圖文選單長這樣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732898" y="1765981"/>
            <a:ext cx="702991" cy="929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🧺</a:t>
            </a:r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商品目錄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647298" y="1765981"/>
            <a:ext cx="702991" cy="929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📝</a:t>
            </a:r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我要預訂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9561698" y="1765981"/>
            <a:ext cx="702991" cy="929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🕘</a:t>
            </a:r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營業時間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732898" y="3019440"/>
            <a:ext cx="702991" cy="929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📣</a:t>
            </a:r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最新消息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647298" y="3019440"/>
            <a:ext cx="702991" cy="929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📍</a:t>
            </a:r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取貨地點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561698" y="3019440"/>
            <a:ext cx="702991" cy="929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💬</a:t>
            </a:r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聯絡我們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8088051" y="4530029"/>
            <a:ext cx="2211202" cy="885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客人一加入就看到</a:t>
            </a:r>
            <a:endParaRPr lang="en-US" sz="1500" dirty="0"/>
          </a:p>
          <a:p>
            <a:pPr algn="ctr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「我要預訂」</a:t>
            </a:r>
            <a:pPr algn="ctr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，不用問也知道怎麼買。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10182210" y="304770"/>
            <a:ext cx="116110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寫歡迎訊息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8 · 15:11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61 / 76</a:t>
            </a:r>
            <a:endParaRPr lang="en-US" sz="15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6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76127" y="279349"/>
            <a:ext cx="20900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五個入口，一個出口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487339" y="660380"/>
            <a:ext cx="522661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客人是怎麼加到你的 LINE 的？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2425263" y="2130643"/>
            <a:ext cx="102623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979469" y="2130643"/>
            <a:ext cx="10801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655381" y="2130643"/>
            <a:ext cx="8905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市集現場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427488" y="2130643"/>
            <a:ext cx="5086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名片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817651" y="2130643"/>
            <a:ext cx="8905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商品包裝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920740" y="2806934"/>
            <a:ext cx="360091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↓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5781203" y="3454603"/>
            <a:ext cx="1515435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你的 QR Code</a:t>
            </a:r>
            <a:endParaRPr lang="en-US" sz="1650" dirty="0"/>
          </a:p>
        </p:txBody>
      </p:sp>
      <p:sp>
        <p:nvSpPr>
          <p:cNvPr id="12" name="Text 9"/>
          <p:cNvSpPr txBox="1"/>
          <p:nvPr/>
        </p:nvSpPr>
        <p:spPr>
          <a:xfrm>
            <a:off x="4978999" y="3797503"/>
            <a:ext cx="31198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印出來、放大、貼在看得到的地方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920740" y="4397532"/>
            <a:ext cx="360091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↓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109576" y="4988143"/>
            <a:ext cx="2382286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LINE 官方帳號好友 ＋1</a:t>
            </a:r>
            <a:endParaRPr lang="en-US" sz="1650" dirty="0"/>
          </a:p>
        </p:txBody>
      </p:sp>
      <p:sp>
        <p:nvSpPr>
          <p:cNvPr id="15" name="Text 12"/>
          <p:cNvSpPr txBox="1"/>
          <p:nvPr/>
        </p:nvSpPr>
        <p:spPr>
          <a:xfrm>
            <a:off x="3305007" y="5928421"/>
            <a:ext cx="611532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最常見的錯誤：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QR Code 印太小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，或是放在客人看不到的地方。</a:t>
            </a:r>
            <a:endParaRPr lang="en-US" sz="1575" dirty="0"/>
          </a:p>
        </p:txBody>
      </p:sp>
      <p:sp>
        <p:nvSpPr>
          <p:cNvPr id="16" name="Text 13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8 · 15:18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62 / 76</a:t>
            </a:r>
            <a:endParaRPr lang="en-US" sz="15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6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31520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殘酷的事實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112459"/>
            <a:ext cx="2722900" cy="1426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社群上的人，</a:t>
            </a:r>
            <a:endParaRPr lang="en-US" sz="2850" dirty="0"/>
          </a:p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今天看到你，</a:t>
            </a:r>
            <a:endParaRPr lang="en-US" sz="2850" dirty="0"/>
          </a:p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明天就忘了你。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962040" y="2839212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571671" y="2837292"/>
            <a:ext cx="28172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在 IG 看到你的果醬，覺得不錯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62040" y="356698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明天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71671" y="3565063"/>
            <a:ext cx="215542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已經滑過 300 篇貼文了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62040" y="4294754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下週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71671" y="4292834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完全想不起來你叫什麼名字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552560" y="5172944"/>
            <a:ext cx="3589203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 可以讓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已經有興趣的人留下來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下次你有新品，可以直接告訴他。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7161215" y="5815035"/>
            <a:ext cx="34227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半年前加的好友，今天還找得到他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8 · 15:23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63 / 76</a:t>
            </a:r>
            <a:endParaRPr lang="en-US" sz="15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673730"/>
            <a:ext cx="12372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 錯誤示範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1000171" y="1359530"/>
            <a:ext cx="4937211" cy="2562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150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大家好，我是小芳，很高興認識大家！今年冬天特別冷，不知道大家有沒有好好照顧自己呢？ 最近我們家的果醬有了新的口味，是用大湖的草莓做的，草莓是我一大早開車去收的， 回來以後要一顆一顆去蒂，這個過程其實很花時間，大概要兩個小時…… 總之如果有興趣的話歡迎跟我說，我們這週三會在西屯市集擺攤， 攤位大概在中間偏右邊的位置，如果找不到可以打電話給我……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1000171" y="4226540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6" name="Text 3"/>
          <p:cNvSpPr txBox="1"/>
          <p:nvPr/>
        </p:nvSpPr>
        <p:spPr>
          <a:xfrm>
            <a:off x="1285921" y="4226540"/>
            <a:ext cx="268175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整篇 FB 文章直接貼進 LINE</a:t>
            </a:r>
            <a:endParaRPr lang="en-US" sz="1575" dirty="0"/>
          </a:p>
        </p:txBody>
      </p:sp>
      <p:sp>
        <p:nvSpPr>
          <p:cNvPr id="7" name="Text 4"/>
          <p:cNvSpPr txBox="1"/>
          <p:nvPr/>
        </p:nvSpPr>
        <p:spPr>
          <a:xfrm>
            <a:off x="1000171" y="4612325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1285921" y="4612325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看完不知道要做什麼</a:t>
            </a:r>
            <a:endParaRPr lang="en-US" sz="1575" dirty="0"/>
          </a:p>
        </p:txBody>
      </p:sp>
      <p:sp>
        <p:nvSpPr>
          <p:cNvPr id="9" name="Text 6"/>
          <p:cNvSpPr txBox="1"/>
          <p:nvPr/>
        </p:nvSpPr>
        <p:spPr>
          <a:xfrm>
            <a:off x="1000171" y="4998110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0" name="Text 7"/>
          <p:cNvSpPr txBox="1"/>
          <p:nvPr/>
        </p:nvSpPr>
        <p:spPr>
          <a:xfrm>
            <a:off x="1285921" y="4998110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客人手指滑兩下就關掉了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6267480" y="673730"/>
            <a:ext cx="12115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 正確示範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762720" y="1597640"/>
            <a:ext cx="2004639" cy="1771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🍪 本週餅乾開放預訂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原味／巧克力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8/20 前可預訂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👉 回覆「我要預訂」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505590" y="3778849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6764548" y="3778849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一則訊息只講一件事</a:t>
            </a:r>
            <a:endParaRPr lang="en-US" sz="1575" dirty="0"/>
          </a:p>
        </p:txBody>
      </p:sp>
      <p:sp>
        <p:nvSpPr>
          <p:cNvPr id="15" name="Text 12"/>
          <p:cNvSpPr txBox="1"/>
          <p:nvPr/>
        </p:nvSpPr>
        <p:spPr>
          <a:xfrm>
            <a:off x="6505590" y="4164635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6" name="Text 13"/>
          <p:cNvSpPr txBox="1"/>
          <p:nvPr/>
        </p:nvSpPr>
        <p:spPr>
          <a:xfrm>
            <a:off x="6764548" y="4164635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有明確的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下一步動作</a:t>
            </a:r>
            <a:endParaRPr lang="en-US" sz="1575" dirty="0"/>
          </a:p>
        </p:txBody>
      </p:sp>
      <p:sp>
        <p:nvSpPr>
          <p:cNvPr id="17" name="Text 14"/>
          <p:cNvSpPr txBox="1"/>
          <p:nvPr/>
        </p:nvSpPr>
        <p:spPr>
          <a:xfrm>
            <a:off x="6505590" y="4550420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8" name="Text 15"/>
          <p:cNvSpPr txBox="1"/>
          <p:nvPr/>
        </p:nvSpPr>
        <p:spPr>
          <a:xfrm>
            <a:off x="6764548" y="4550420"/>
            <a:ext cx="157505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三秒鐘就能看完</a:t>
            </a:r>
            <a:endParaRPr lang="en-US" sz="1575" dirty="0"/>
          </a:p>
        </p:txBody>
      </p:sp>
      <p:sp>
        <p:nvSpPr>
          <p:cNvPr id="19" name="Text 16"/>
          <p:cNvSpPr txBox="1"/>
          <p:nvPr/>
        </p:nvSpPr>
        <p:spPr>
          <a:xfrm>
            <a:off x="6505590" y="5164806"/>
            <a:ext cx="483223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結構：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做什麼 → 有什麼選擇 → 到什麼時候 → 怎麼回我</a:t>
            </a:r>
            <a:endParaRPr lang="en-US" sz="1575" dirty="0"/>
          </a:p>
        </p:txBody>
      </p:sp>
      <p:sp>
        <p:nvSpPr>
          <p:cNvPr id="20" name="Text 17"/>
          <p:cNvSpPr txBox="1"/>
          <p:nvPr/>
        </p:nvSpPr>
        <p:spPr>
          <a:xfrm>
            <a:off x="10182210" y="304770"/>
            <a:ext cx="116110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寫一則訊息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8 · 15:27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64 / 76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6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552938"/>
            <a:ext cx="7601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動手做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933877"/>
            <a:ext cx="365302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至少要找到這七個地方</a:t>
            </a:r>
            <a:endParaRPr lang="en-US" sz="2700" dirty="0"/>
          </a:p>
        </p:txBody>
      </p:sp>
      <p:sp>
        <p:nvSpPr>
          <p:cNvPr id="5" name="Text 2"/>
          <p:cNvSpPr txBox="1"/>
          <p:nvPr/>
        </p:nvSpPr>
        <p:spPr>
          <a:xfrm>
            <a:off x="1247790" y="1647383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官方帳號首頁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217213" y="1647383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帳號名稱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47790" y="2257014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大頭貼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217213" y="2257014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基本介紹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247790" y="2866553"/>
            <a:ext cx="138595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我的 QR Code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217213" y="2866553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加好友的方式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247790" y="3476183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群發訊息的位置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476390" y="4209623"/>
            <a:ext cx="3408243" cy="885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還沒有官方帳號的人：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用手機下載「LINE 官方帳號」App，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用現有的 LINE 帳號就能建立。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61970" y="5381153"/>
            <a:ext cx="5139111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＊視課堂進度與網路狀況，決定是否現場實際建立帳號。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如果時間不夠，先讓大家把步驟記下來，回家再做。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457664" y="5815035"/>
            <a:ext cx="358691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「分享我的帳號」裡就有 QR Code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手機實作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8 · 15:31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65 / 76</a:t>
            </a:r>
            <a:endParaRPr lang="en-US" sz="15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6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296253"/>
            <a:ext cx="27036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15:35 – 16:00 ｜ PART 9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1496324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</a:t>
            </a:r>
            <a:endParaRPr lang="en-US" sz="1125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3039374"/>
            <a:ext cx="2833177" cy="156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免費曝光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＋成果實作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876270" y="4982474"/>
            <a:ext cx="581146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沒有廣告費也可以。最後 25 分鐘，把今天學的做出來。</a:t>
            </a:r>
            <a:endParaRPr lang="en-US" sz="1725" dirty="0"/>
          </a:p>
        </p:txBody>
      </p:sp>
      <p:sp>
        <p:nvSpPr>
          <p:cNvPr id="7" name="Text 4"/>
          <p:cNvSpPr txBox="1"/>
          <p:nvPr/>
        </p:nvSpPr>
        <p:spPr>
          <a:xfrm>
            <a:off x="761970" y="6343650"/>
            <a:ext cx="273030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9 · 15:35–16:00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66 / 76</a:t>
            </a:r>
            <a:endParaRPr lang="en-US" sz="15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6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174547"/>
            <a:ext cx="20900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十個不用花錢的方法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555577"/>
            <a:ext cx="3474903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免費曝光的十個地方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1064544" y="3006730"/>
            <a:ext cx="149211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 社團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304367" y="3006730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個人帳號分享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49367" y="3006730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顧客主動分享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406914" y="3006730"/>
            <a:ext cx="167783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 Reels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941448" y="3006730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限時動態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354318" y="4187861"/>
            <a:ext cx="91266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Hashtag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405226" y="4187861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地區關鍵字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550317" y="4187861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跟別人合作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552761" y="4187861"/>
            <a:ext cx="138595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市集 QR Code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689074" y="4187861"/>
            <a:ext cx="14033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 好友分享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533540" y="5032949"/>
            <a:ext cx="560362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不用十個都做。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挑兩個，做三個月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，比十個都做一次有效。</a:t>
            </a:r>
            <a:endParaRPr lang="en-US" sz="1575" dirty="0"/>
          </a:p>
        </p:txBody>
      </p:sp>
      <p:sp>
        <p:nvSpPr>
          <p:cNvPr id="16" name="Text 13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9 · 15:35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67 / 76</a:t>
            </a:r>
            <a:endParaRPr lang="en-US" sz="15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6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969593" y="331287"/>
            <a:ext cx="14236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最重要的提醒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884463" y="674187"/>
            <a:ext cx="4432554" cy="2120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626"/>
              </a:lnSpc>
              <a:buNone/>
            </a:pPr>
            <a:r>
              <a:rPr lang="en-US" sz="6150" b="1" spc="-18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曝光 ≠ 喜歡</a:t>
            </a:r>
            <a:endParaRPr lang="en-US" sz="6150" dirty="0"/>
          </a:p>
          <a:p>
            <a:pPr algn="ctr" indent="0" marL="0">
              <a:lnSpc>
                <a:spcPts val="7626"/>
              </a:lnSpc>
              <a:buNone/>
            </a:pPr>
            <a:r>
              <a:rPr lang="en-US" sz="6150" b="1" spc="-18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喜歡 ≠ 購買</a:t>
            </a:r>
            <a:endParaRPr lang="en-US" sz="6150" dirty="0"/>
          </a:p>
        </p:txBody>
      </p:sp>
      <p:sp>
        <p:nvSpPr>
          <p:cNvPr id="5" name="Text 2"/>
          <p:cNvSpPr txBox="1"/>
          <p:nvPr/>
        </p:nvSpPr>
        <p:spPr>
          <a:xfrm>
            <a:off x="5107015" y="3020629"/>
            <a:ext cx="1987266" cy="371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159"/>
              </a:lnSpc>
              <a:buNone/>
            </a:pPr>
            <a:r>
              <a:rPr lang="en-US" sz="19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中間還需要 ——</a:t>
            </a:r>
            <a:endParaRPr lang="en-US" sz="1950" dirty="0"/>
          </a:p>
        </p:txBody>
      </p:sp>
      <p:sp>
        <p:nvSpPr>
          <p:cNvPr id="6" name="Text 3"/>
          <p:cNvSpPr txBox="1"/>
          <p:nvPr/>
        </p:nvSpPr>
        <p:spPr>
          <a:xfrm>
            <a:off x="2348911" y="4631345"/>
            <a:ext cx="645841" cy="39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2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內容</a:t>
            </a:r>
            <a:endParaRPr lang="en-US" sz="2025" dirty="0"/>
          </a:p>
        </p:txBody>
      </p:sp>
      <p:sp>
        <p:nvSpPr>
          <p:cNvPr id="7" name="Text 4"/>
          <p:cNvSpPr txBox="1"/>
          <p:nvPr/>
        </p:nvSpPr>
        <p:spPr>
          <a:xfrm>
            <a:off x="4634911" y="4631345"/>
            <a:ext cx="645841" cy="39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2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品質</a:t>
            </a:r>
            <a:endParaRPr lang="en-US" sz="2025" dirty="0"/>
          </a:p>
        </p:txBody>
      </p:sp>
      <p:sp>
        <p:nvSpPr>
          <p:cNvPr id="8" name="Text 5"/>
          <p:cNvSpPr txBox="1"/>
          <p:nvPr/>
        </p:nvSpPr>
        <p:spPr>
          <a:xfrm>
            <a:off x="6920911" y="4631345"/>
            <a:ext cx="645841" cy="39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2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信任</a:t>
            </a:r>
            <a:endParaRPr lang="en-US" sz="2025" dirty="0"/>
          </a:p>
        </p:txBody>
      </p:sp>
      <p:sp>
        <p:nvSpPr>
          <p:cNvPr id="9" name="Text 6"/>
          <p:cNvSpPr txBox="1"/>
          <p:nvPr/>
        </p:nvSpPr>
        <p:spPr>
          <a:xfrm>
            <a:off x="9206911" y="4631345"/>
            <a:ext cx="645841" cy="39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2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服務</a:t>
            </a:r>
            <a:endParaRPr lang="en-US" sz="2025" dirty="0"/>
          </a:p>
        </p:txBody>
      </p:sp>
      <p:sp>
        <p:nvSpPr>
          <p:cNvPr id="10" name="Text 7"/>
          <p:cNvSpPr txBox="1"/>
          <p:nvPr/>
        </p:nvSpPr>
        <p:spPr>
          <a:xfrm>
            <a:off x="4161892" y="5622006"/>
            <a:ext cx="3877513" cy="747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社群只是</a:t>
            </a:r>
            <a:pPr algn="ctr" indent="0" marL="0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把好東西讓更多人知道</a:t>
            </a:r>
            <a:pPr algn="ctr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875" dirty="0"/>
          </a:p>
          <a:p>
            <a:pPr algn="ctr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它沒有辦法把不好的東西變好。</a:t>
            </a:r>
            <a:endParaRPr lang="en-US" sz="1875" dirty="0"/>
          </a:p>
        </p:txBody>
      </p:sp>
      <p:sp>
        <p:nvSpPr>
          <p:cNvPr id="11" name="Text 8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9 · 15:40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68 / 76</a:t>
            </a:r>
            <a:endParaRPr lang="en-US" sz="15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6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30001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五個最容易踩的雷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211031"/>
            <a:ext cx="2722900" cy="984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這五件事，</a:t>
            </a:r>
            <a:endParaRPr lang="en-US" sz="2850" dirty="0"/>
          </a:p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做了會有反效果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1023945" y="2532339"/>
            <a:ext cx="2933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390620" y="2532339"/>
            <a:ext cx="1490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每天一直賣東西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23945" y="3256178"/>
            <a:ext cx="2933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390620" y="3256178"/>
            <a:ext cx="129049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到處亂貼廣告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23945" y="3980109"/>
            <a:ext cx="2933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390620" y="3980109"/>
            <a:ext cx="16901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每一篇都長得一樣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23945" y="4704039"/>
            <a:ext cx="2933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390620" y="4704039"/>
            <a:ext cx="1490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有人留言不回覆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023945" y="5427878"/>
            <a:ext cx="2933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390620" y="5427878"/>
            <a:ext cx="189006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發了幾天之後就消失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481987" y="2970611"/>
            <a:ext cx="2761854" cy="24559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其中最可惜的是最後一個 ——</a:t>
            </a:r>
            <a:endParaRPr lang="en-US" sz="1500" dirty="0"/>
          </a:p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發了三篇沒有人看，就放棄了。</a:t>
            </a:r>
            <a:endParaRPr lang="en-US" sz="1500" dirty="0"/>
          </a:p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社群是慢慢累積的，</a:t>
            </a:r>
            <a:endParaRPr lang="en-US" sz="1500" dirty="0"/>
          </a:p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前三個月幾乎都沒什麼人看，這很正常。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9 · 15:43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69 / 76</a:t>
            </a:r>
            <a:endParaRPr lang="en-US" sz="15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7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56371"/>
            <a:ext cx="27563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解決「我不知道要發什麼」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337401"/>
            <a:ext cx="460290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你可以發的內容，只有四類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981060" y="3226735"/>
            <a:ext cx="584210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81060" y="3588654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我賣什麼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81060" y="3988704"/>
            <a:ext cx="211016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成品照、新品、口味介紹、包裝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676620" y="3226735"/>
            <a:ext cx="584210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過程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3676620" y="3588654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我是怎麼做的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676620" y="3988704"/>
            <a:ext cx="211016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備料、製作、烘烤、包裝、失敗的那次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372271" y="3226735"/>
            <a:ext cx="357805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人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372271" y="3588654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我是誰／工作日常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372271" y="3988704"/>
            <a:ext cx="211016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為什麼開始做、今天的工作、市集現場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067830" y="3226735"/>
            <a:ext cx="129049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有用的內容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9067830" y="3588654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技巧、知識、使用方式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067830" y="3988704"/>
            <a:ext cx="211016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怎麼保存、怎麼搭配、怎麼挑選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533540" y="5251125"/>
            <a:ext cx="539157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下次不知道要發什麼的時候，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從這四類裡面挑一個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就好。</a:t>
            </a:r>
            <a:endParaRPr lang="en-US" sz="1575" dirty="0"/>
          </a:p>
        </p:txBody>
      </p:sp>
      <p:sp>
        <p:nvSpPr>
          <p:cNvPr id="18" name="Text 15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9 · 15:46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70 / 76</a:t>
            </a:r>
            <a:endParaRPr lang="en-US" sz="15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7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591891"/>
            <a:ext cx="16457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一週四篇的範例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972922"/>
            <a:ext cx="3474903" cy="984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四篇裡面，</a:t>
            </a:r>
            <a:endParaRPr lang="en-US" sz="2850" dirty="0"/>
          </a:p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只有一篇在賣東西。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1019190" y="242754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週一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609710" y="227511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609710" y="2579980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今天新做好的草莓果醬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19190" y="345624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週三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609710" y="330381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幕後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09710" y="3608680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熬果醬的鍋子與一整個下午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19190" y="448494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週五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609710" y="4332519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小技巧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609710" y="4637380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果醬開封後怎麼保存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019190" y="551364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週日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609710" y="5361219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生活／客人分享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609710" y="5666080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客人傳來的早餐照片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387883" y="5643585"/>
            <a:ext cx="2211202" cy="885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讓帳號比較像</a:t>
            </a:r>
            <a:pPr algn="ctr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「一個人」</a:t>
            </a:r>
            <a:pPr algn="ctr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endParaRPr lang="en-US" sz="1500" dirty="0"/>
          </a:p>
          <a:p>
            <a:pPr algn="ctr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不是「一張廣告傳單」。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0182210" y="304770"/>
            <a:ext cx="116110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寫發文計畫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9 · 15:49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71 / 76</a:t>
            </a:r>
            <a:endParaRPr lang="en-US" sz="15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7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550835"/>
            <a:ext cx="30111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今天最後一個任務 · 12 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931774"/>
            <a:ext cx="309881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完成一則真的內容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1573408"/>
            <a:ext cx="3372856" cy="747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選一個平台，</a:t>
            </a:r>
            <a:endParaRPr lang="en-US" sz="1875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發布出去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，或至少</a:t>
            </a:r>
            <a:pPr algn="l" indent="0" marL="0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存成草稿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875" dirty="0"/>
          </a:p>
        </p:txBody>
      </p:sp>
      <p:sp>
        <p:nvSpPr>
          <p:cNvPr id="6" name="Text 3"/>
          <p:cNvSpPr txBox="1"/>
          <p:nvPr/>
        </p:nvSpPr>
        <p:spPr>
          <a:xfrm>
            <a:off x="1181130" y="2621128"/>
            <a:ext cx="107478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30" kern="0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Facebook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2376068" y="2616373"/>
            <a:ext cx="3219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或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099907" y="2621128"/>
            <a:ext cx="113467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30" kern="0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Instagram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1970" y="3211739"/>
            <a:ext cx="16916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至少要包含 ——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304940" y="3735598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一張圖片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1304940" y="4402379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簡短的文字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1304940" y="5069068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符合這個平台的呈現方式</a:t>
            </a:r>
            <a:endParaRPr lang="en-US" sz="1575" dirty="0"/>
          </a:p>
        </p:txBody>
      </p:sp>
      <p:sp>
        <p:nvSpPr>
          <p:cNvPr id="13" name="Text 10"/>
          <p:cNvSpPr txBox="1"/>
          <p:nvPr/>
        </p:nvSpPr>
        <p:spPr>
          <a:xfrm>
            <a:off x="1304940" y="5735848"/>
            <a:ext cx="275618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相關的 Hashtag（IG 適用）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7897124" y="1073231"/>
            <a:ext cx="270790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卡住的時候，照這個順序做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805227" y="1482791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088417" y="1520830"/>
            <a:ext cx="271595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打開手機相簿，挑一張今天或最近拍的照片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805227" y="224302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075981" y="2281062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用一句話說：這是什麼？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7805227" y="2694554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189458" y="2732593"/>
            <a:ext cx="251405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再用一句話說：有什麼特別的？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805227" y="3454786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088417" y="3492825"/>
            <a:ext cx="271595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最後寫：想要的話可以怎麼跟我說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7805227" y="4214927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8067020" y="4253057"/>
            <a:ext cx="2758928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IG 的話，從講義 3 挑 5 個關鍵字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104602" y="5451470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不用寫得好，</a:t>
            </a:r>
            <a:pPr algn="ctr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寫完就好</a:t>
            </a:r>
            <a:pPr algn="ctr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9490466" y="304770"/>
            <a:ext cx="18943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講義 4 · 實際發布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9 · 15:52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72 / 76</a:t>
            </a:r>
            <a:endParaRPr lang="en-US" sz="15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7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28304" y="536387"/>
            <a:ext cx="16457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帶回家的三張紙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423331" y="917418"/>
            <a:ext cx="535490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離開教室前，請確認你有這三個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1773570" y="2025670"/>
            <a:ext cx="14406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寫在講義 3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608704" y="2397191"/>
            <a:ext cx="1770187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我的十大關鍵字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138885" y="2940070"/>
            <a:ext cx="8159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#鳳梨酥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192457" y="2940070"/>
            <a:ext cx="121981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#台中伴手禮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138885" y="3463930"/>
            <a:ext cx="8159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#下午茶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2204161" y="3463930"/>
            <a:ext cx="6249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#送禮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33216" y="3987881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#手作烘焙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2388504" y="3987881"/>
            <a:ext cx="102668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…共 10 個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176284" y="4654570"/>
            <a:ext cx="263520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也要存一份在手機備忘錄。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5380238" y="2025670"/>
            <a:ext cx="14406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寫在講義 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335433" y="2397191"/>
            <a:ext cx="1530248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我的主要平台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4747839" y="2949580"/>
            <a:ext cx="107478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30" kern="0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931347" y="2944825"/>
            <a:ext cx="3219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或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360201" y="2949580"/>
            <a:ext cx="113467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30" kern="0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677065" y="3625870"/>
            <a:ext cx="2847259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只選一個。做熟了再考慮第二個。</a:t>
            </a:r>
            <a:endParaRPr lang="en-US" sz="1575" dirty="0"/>
          </a:p>
        </p:txBody>
      </p:sp>
      <p:sp>
        <p:nvSpPr>
          <p:cNvPr id="20" name="Text 17"/>
          <p:cNvSpPr txBox="1"/>
          <p:nvPr/>
        </p:nvSpPr>
        <p:spPr>
          <a:xfrm>
            <a:off x="8987089" y="2025670"/>
            <a:ext cx="14406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0393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寫在講義 1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702436" y="2397191"/>
            <a:ext cx="2010126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我的顧客聯絡平台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611088" y="2949580"/>
            <a:ext cx="143972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30" kern="0" dirty="0">
                <a:solidFill>
                  <a:srgbClr val="0393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LINE 官方帳號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8283915" y="3625870"/>
            <a:ext cx="2847259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還沒開的人，這週內把它開起來。</a:t>
            </a:r>
            <a:endParaRPr lang="en-US" sz="1575" dirty="0"/>
          </a:p>
        </p:txBody>
      </p:sp>
      <p:sp>
        <p:nvSpPr>
          <p:cNvPr id="24" name="Text 21"/>
          <p:cNvSpPr txBox="1"/>
          <p:nvPr/>
        </p:nvSpPr>
        <p:spPr>
          <a:xfrm>
            <a:off x="3068909" y="5671200"/>
            <a:ext cx="658752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回家後第一件事：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 QR Code 印出來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，貼在你的商品包裝或攤位上。</a:t>
            </a:r>
            <a:endParaRPr lang="en-US" sz="1575" dirty="0"/>
          </a:p>
        </p:txBody>
      </p:sp>
      <p:sp>
        <p:nvSpPr>
          <p:cNvPr id="25" name="Text 22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成果確認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9 · 15:56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73 / 76</a:t>
            </a:r>
            <a:endParaRPr lang="en-US" sz="15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7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0281" y="832561"/>
            <a:ext cx="25342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今天不是要記住所有按鈕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4551243" y="1213500"/>
            <a:ext cx="309881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只要記住這五件事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1681033" y="2359975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57905" y="2807665"/>
            <a:ext cx="129049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知道客人在哪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49879" y="3160075"/>
            <a:ext cx="170627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年紀、地區、平常滑什麼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829873" y="2359975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506450" y="2807665"/>
            <a:ext cx="8905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選對平台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053456" y="3160075"/>
            <a:ext cx="1796796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一個曝光 ＋ 一個聯絡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978622" y="2359975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455402" y="2807665"/>
            <a:ext cx="129049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讓內容值得看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348417" y="3160075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四類內容輪流發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127553" y="2359975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604333" y="2807665"/>
            <a:ext cx="129049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學會基本操作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396399" y="3160075"/>
            <a:ext cx="170627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會發、會改、會回留言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0276302" y="2359975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953061" y="2807665"/>
            <a:ext cx="8905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持續出現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9646097" y="3160075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固定比完美重要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514521" y="4487052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引流讓人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看見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6934170" y="4487052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好內容讓人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喜歡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514521" y="5401452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持續互動讓人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信任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9 · 15:58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74 / 76</a:t>
            </a:r>
            <a:endParaRPr lang="en-US" sz="15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7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58766" y="2429012"/>
            <a:ext cx="7083765" cy="2840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410"/>
              </a:lnSpc>
              <a:buNone/>
            </a:pPr>
            <a:r>
              <a:rPr lang="en-US" sz="3150" b="1" spc="-9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不是因為有人追蹤，</a:t>
            </a:r>
            <a:endParaRPr lang="en-US" sz="3150" dirty="0"/>
          </a:p>
          <a:p>
            <a:pPr algn="ctr" indent="0" marL="0">
              <a:lnSpc>
                <a:spcPts val="4410"/>
              </a:lnSpc>
              <a:buNone/>
            </a:pPr>
            <a:r>
              <a:rPr lang="en-US" sz="3150" b="1" spc="-9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你的東西才變好。</a:t>
            </a:r>
            <a:endParaRPr lang="en-US" sz="3150" dirty="0"/>
          </a:p>
          <a:p>
            <a:pPr algn="ctr" indent="0" marL="0">
              <a:lnSpc>
                <a:spcPts val="4410"/>
              </a:lnSpc>
              <a:buNone/>
            </a:pPr>
            <a:r>
              <a:rPr lang="en-US" sz="3150" b="1" spc="-9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而是因為你</a:t>
            </a:r>
            <a:pPr algn="ctr" indent="0" marL="0">
              <a:lnSpc>
                <a:spcPts val="4410"/>
              </a:lnSpc>
              <a:buNone/>
            </a:pPr>
            <a:r>
              <a:rPr lang="en-US" sz="3150" b="1" spc="-95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持續把好的東西分享出來</a:t>
            </a:r>
            <a:pPr algn="ctr" indent="0" marL="0">
              <a:lnSpc>
                <a:spcPts val="4410"/>
              </a:lnSpc>
              <a:buNone/>
            </a:pPr>
            <a:r>
              <a:rPr lang="en-US" sz="3150" b="1" spc="-9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endParaRPr lang="en-US" sz="3150" dirty="0"/>
          </a:p>
          <a:p>
            <a:pPr algn="ctr" indent="0" marL="0">
              <a:lnSpc>
                <a:spcPts val="4410"/>
              </a:lnSpc>
              <a:buNone/>
            </a:pPr>
            <a:r>
              <a:rPr lang="en-US" sz="3150" b="1" spc="-9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別人才慢慢認識你、喜歡你。</a:t>
            </a:r>
            <a:endParaRPr lang="en-US" sz="3150" dirty="0"/>
          </a:p>
        </p:txBody>
      </p:sp>
      <p:sp>
        <p:nvSpPr>
          <p:cNvPr id="4" name="Text 1"/>
          <p:cNvSpPr txBox="1"/>
          <p:nvPr/>
        </p:nvSpPr>
        <p:spPr>
          <a:xfrm>
            <a:off x="4116903" y="5715000"/>
            <a:ext cx="23635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30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08/16 社群平台操作入門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6728430" y="5715000"/>
            <a:ext cx="132670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30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西屯婦女培力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9 · 16:00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75 / 76</a:t>
            </a:r>
            <a:endParaRPr lang="en-US" sz="15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7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20456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課前請印好，每人一份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101486"/>
            <a:ext cx="2962656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四張 A4 課堂講義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981060" y="2190720"/>
            <a:ext cx="72914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講義 1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981060" y="2552730"/>
            <a:ext cx="135038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我的平台選擇</a:t>
            </a:r>
            <a:endParaRPr lang="en-US" sz="1575" dirty="0"/>
          </a:p>
        </p:txBody>
      </p:sp>
      <p:sp>
        <p:nvSpPr>
          <p:cNvPr id="7" name="Text 4"/>
          <p:cNvSpPr txBox="1"/>
          <p:nvPr/>
        </p:nvSpPr>
        <p:spPr>
          <a:xfrm>
            <a:off x="981060" y="2889321"/>
            <a:ext cx="17312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Slide 12 / 61 使用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43000" y="3451311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我的商品／技能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3822832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我想讓誰看到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4194261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主要曝光平台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4565782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顧客聯絡平台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676620" y="2190720"/>
            <a:ext cx="72914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講義 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676620" y="2552730"/>
            <a:ext cx="140415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IG 品牌觀察表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3676620" y="2889321"/>
            <a:ext cx="17312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Slide 25 / 26 使用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838560" y="3451311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八項檢查清單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838560" y="3822832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我最喜歡哪一點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3838560" y="4194261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我也做得到的一件事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372271" y="2190720"/>
            <a:ext cx="72914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講義 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372271" y="2552730"/>
            <a:ext cx="15602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我的十大關鍵字</a:t>
            </a:r>
            <a:endParaRPr lang="en-US" sz="1575" dirty="0"/>
          </a:p>
        </p:txBody>
      </p:sp>
      <p:sp>
        <p:nvSpPr>
          <p:cNvPr id="20" name="Text 17"/>
          <p:cNvSpPr txBox="1"/>
          <p:nvPr/>
        </p:nvSpPr>
        <p:spPr>
          <a:xfrm>
            <a:off x="6372271" y="2889321"/>
            <a:ext cx="17312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Slide 38 / 41 使用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6534120" y="3451311"/>
            <a:ext cx="113650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 3–4 個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6534120" y="3822832"/>
            <a:ext cx="113650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地區 2–3 個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534120" y="4194261"/>
            <a:ext cx="17422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需求／情境 3–4 個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9067830" y="2190720"/>
            <a:ext cx="72914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講義 4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9067830" y="2552730"/>
            <a:ext cx="198004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我的第一篇社群內容</a:t>
            </a:r>
            <a:endParaRPr lang="en-US" sz="1575" dirty="0"/>
          </a:p>
        </p:txBody>
      </p:sp>
      <p:sp>
        <p:nvSpPr>
          <p:cNvPr id="26" name="Text 23"/>
          <p:cNvSpPr txBox="1"/>
          <p:nvPr/>
        </p:nvSpPr>
        <p:spPr>
          <a:xfrm>
            <a:off x="9067830" y="2889321"/>
            <a:ext cx="21393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Slide 31 / 34 / 60 使用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229771" y="3451311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要發在哪裡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9229771" y="3822832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要放什麼內容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9229771" y="4194261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搭配哪張照片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9229771" y="4565782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使用哪些關鍵字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1533540" y="5487040"/>
            <a:ext cx="92150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四張講義的完整可列印版本，請開啟同一資料夾中的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handouts.html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，用瀏覽器直接列印成 A4。</a:t>
            </a:r>
            <a:endParaRPr lang="en-US" sz="1575" dirty="0"/>
          </a:p>
        </p:txBody>
      </p:sp>
      <p:sp>
        <p:nvSpPr>
          <p:cNvPr id="32" name="Text 29"/>
          <p:cNvSpPr txBox="1"/>
          <p:nvPr/>
        </p:nvSpPr>
        <p:spPr>
          <a:xfrm>
            <a:off x="761970" y="6343650"/>
            <a:ext cx="135102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附錄 · —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76 / 76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76</Slides>
  <Notes>76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7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社群平台操作入門｜西屯婦女培力 08/16</dc:title>
  <dc:subject>PptxGenJS Presentation</dc:subject>
  <dc:creator>PptxGenJS</dc:creator>
  <cp:lastModifiedBy>PptxGenJS</cp:lastModifiedBy>
  <cp:revision>1</cp:revision>
  <dcterms:created xsi:type="dcterms:W3CDTF">2026-08-09T16:35:11Z</dcterms:created>
  <dcterms:modified xsi:type="dcterms:W3CDTF">2026-08-09T16:35:11Z</dcterms:modified>
</cp:coreProperties>
</file>