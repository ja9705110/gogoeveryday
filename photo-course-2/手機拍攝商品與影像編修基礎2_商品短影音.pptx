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開場先確認三件事：手機電量、儲存空間、InShot 有沒有裝好。
· 沒裝 InShot 的請助教立刻協助，不要等到下午才發現。
· 這堂課的主軸是攝影，剪輯只佔最後 40 分鐘——這件事現在就要講清楚，學員才知道重點在哪。
【互動提問】
· 問：有帶商品來的舉手？有裝好 InShot 的舉手？
【學員實作】
· 確認電量、空間、InShot。
【預期看到的差異】
· 學員知道今天是拍片不是學 App。
【進度快：可以補充】
· 請一兩位說自己想拍什麼，後面舉例用得到。
【進度慢：可以刪掉】
· 自我介紹一分鐘帶過。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四樣成果講具體，學員才有安全感。
· 最後那句要講：素材好，剪輯就快。這是今天時間分配的理由。
【互動提問】
· 問：你們拍過影片嗎？最後有剪出來嗎？（多數人拍了一堆沒剪）
【預期看到的差異】
· 學員理解為什麼上午都在「想」。
【進度快：可以補充】
· 問拍了沒剪的原因，多半是「素材亂七八糟不知道從何剪起」。
【進度慢：可以刪掉】
· 只講四張卡片標題。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五步照順序講，每一步都對應今天的一個時段。
· 「跳過前三步直接拍」是幾乎所有人的習慣，要點破。
【互動提問】
· 問：你以前拍影片，是先想好還是先拍再說？
【預期看到的差異】
· 學員接受上午不碰相機這件事。
【進度慢：可以刪掉】
· 直接進下一頁。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四句都是原則，講完就往下，不要展開太久。
· 第三句「不要只拍商品」是今天故事感那一段的伏筆。
· 第四句是整天的順序，下午拍攝時會一直回來提醒。
【互動提問】
· 問：你看過的短影音裡，哪一種會讓你停下來看完？
【預期看到的差異】
· 學員開始意識到影片和照片不一樣：影片要有「事情在發生」。
【進度快：可以補充】
· 舉例：一支只有商品轉圈的影片 vs 一支手在包裝的影片。
【進度慢：可以刪掉】
· 只講第一句和第四句。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這一頁是在跟學員談條件：上午請忍耐，下午都是你的。
· 中高齡學員坐一上午聽課會累，先講明白換來的是什麼，接受度會高很多。
· 強調下午的拍攝是今天最長的一段。
【互動提問】
· 問：可以接受上午先不拿相機嗎？
【預期看到的差異】
· 上午的秩序會好很多。
【進度慢：可以刪掉】
· 一句話帶過。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這一段是整天的地基，不要急著往下。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十一種念過去就好，不要每一種都解釋。
· 重點是讓學員看到「原來有這麼多種可以拍」，而不是只會拍商品照。
· 最後那句「今天只選一種」要講清楚。
【互動提問】
· 問：這十一種裡，哪一種你從來沒想過可以拍？
【學員實作】
· 在講義上圈出兩三種你想拍的。
【預期看到的差異】
· 學員會發現自己一直只拍「商品介紹」這一種。
【進度快：可以補充】
· 每種舉一個你看過的例子。
【進度慢：可以刪掉】
· 只念前六種。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這一頁是今天關於「流量」的第一次講，收尾第 79、80 頁會完整收。
· 中高齡學員最容易第一支沒人看就放棄，這一頁是在打預防針。
· 「三種各拍四次，勝過十一種各拍一次」這句話要講。
【互動提問】
· 問：你有沒有發過影片，結果沒什麼人看？當時什麼感覺？
· 問：你追蹤的帳號，是不是每次都發類似的東西？
【學員實作】
· 先想想哪 2–3 種可以變成你的固定系列。
【預期看到的差異】
· 學員的期待值會調整成「長期累積」，不是「一支爆紅」。
【進度快：可以補充】
· 舉一個學員知道的帳號，分析它固定發哪幾種系列。
【進度慢：可以刪掉】
· 只講最後那句建議做法。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讓學員先對號入座，不知道拍什麼的人有個起點。
· 粗體那一種是建議今天拍的，因為最容易有畫面。
· 沒有實體商品的學員（服務類）要特別照顧到，她們最容易覺得自己沒東西拍。
【互動提問】
· 問：你的商品屬於哪一類？粗體那一種你拍得出來嗎？
【學員實作】
· 選定今天要拍的主題。
【預期看到的差異】
· 卡住的學員有了明確方向。
【進度快：可以補充】
· 請不同類型的學員各說一個自己的點子。
【進度慢：可以刪掉】
· 只講前三列。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左邊那段話要用學員平常說話的語氣念出來，會很有共鳴。
· 右邊最後那句「拍成另外五支」把前一頁的系列觀念接起來。
【互動提問】
· 問：左邊那支影片看完，你記得什麼？
【預期看到的差異】
· 學員理解「講不完」不是問題，是素材。
【進度快：可以補充】
· 把左邊那六件事列出來，變成六支影片的題目。
【進度慢：可以刪掉】
· 只念右邊那句。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三個瞬間都很具體，學員會認出自己拍過的影片。
· 最後那句是本段的結論：這些都是拍之前決定的。
【互動提問】
· 問：你自己滑短影音的時候，什麼情況會直接滑掉？
【預期看到的差異】
· 學員開始重視前 3 秒。
【進度快：可以補充】
· 現場滑一下自己的社群，找一支三秒內看不懂的影片。
【進度慢：可以刪掉】
· 只講第一個瞬間。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給足八分鐘，這是今天最重要的八分鐘。
· 走動時看每個人的第二句——第二句寫不出來的，主題就是還沒想清楚。
· 第二句比第一句重要，它決定影片的結尾要放什麼。
【互動提問】
· 問：有人願意念一下自己的兩句話嗎？
【學員實作】
· 在講義上寫下兩句話。
【預期看到的差異】
· 寫得出兩句的人，後面分鏡會很順；寫不出來的，現在就要處理。
【進度快：可以補充】
· 請三四位念出來，全班一起看清不清楚。
【進度慢：可以刪掉】
· 縮到五分鐘，只寫第一句。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這一頁是給卡住的人的救生索，助教要拿著這一頁去個別協助。
· 「想拍太多」的人最好處理：多的變成下週題材，正好接系列的觀念。
【互動提問】
· 問：現在還卡住的舉手？
【學員實作】
· 卡住的學員由助教一對一協助。
【預期看到的差異】
· 全班都有兩句話才往下走。
【進度慢：可以刪掉】
· 跳過，直接個別處理。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左右對照念，讓學員自己聽出差別。
· 重點：清楚的一句話會直接生出分鏡，模糊的不會。這是下一段的伏筆。
【互動提問】
· 問：你的兩句話比較像左邊還是右邊？
【學員實作】
· 回去修自己的兩句話，改得更具體。
【預期看到的差異】
· 學員會把「我要拍果醬」改成「我要拍果醬的某個過程」。
【進度快：可以補充】
· 用學員的實例現場改一次。
【進度慢：可以刪掉】
· 只念右邊。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強調：這不是編劇課，三段就夠。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三段講完就進範例，不要在抽象概念停留。
· 「完成」這一段最多人漏掉，要特別強調：沒有結尾，觀眾會覺得影片斷掉。
【互動提問】
· 問：你看過那種看完覺得「就這樣？」的影片嗎？那就是沒有完成段。
【預期看到的差異】
· 學員有了一個可以套用的框架。
【進度慢：可以刪掉】
· 直接進範例。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三個例子都用同一個結構講，學員會很快抓到規律。
· 注意每一段標的「畫面」欄，這是下一段景別的伏筆。
【互動提問】
· 問：如果開始那 3 秒拍的是你在調整手機，會怎樣？
【預期看到的差異】
· 學員看到三段各配什麼畫面。
【進度快：可以補充】
· 問學員自己的商品，開始那 3 秒要拍什麼。
【進度慢：可以刪掉】
· 三個範例只講這一個。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試吃類的重點在「反應」不在商品，這一點要講。
· 中高齡學員最怕入鏡，可以只拍手不拍臉，效果一樣好。
【互動提問】
· 問：怕入鏡的舉手？（只拍手也可以，等一下講）
【預期看到的差異】
· 怕鏡頭的學員知道有替代方案。
【進度快：可以補充】
· 示範只拍手的試吃怎麼拍。
【進度慢：可以刪掉】
· 跳過這個範例。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製作過程是最推薦的類型，也是今天多數人會拍的。
· 「過程拆成四五個小鏡頭」是這一頁的重點，接下午的錄影長度那一段。
【互動提問】
· 問：你的商品，製作過程有哪幾個步驟？
【預期看到的差異】
· 學員理解一段過程可以拆成很多鏡頭。
【進度快：可以補充】
· 請學員口頭說出自己的四五個步驟。
【進度慢：可以刪掉】
· 只講「原料→製作→成品」六個字。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八分鐘，走動協助。
· 常見問題：過程那一段寫太籠統（「做果醬」），要引導寫成具體動作（「切草莓、下鍋、攪拌、裝瓶」）。
【互動提問】
· 問：過程那一段，你寫了幾個動作？
【學員實作】
· 寫出三段。
【預期看到的差異】
· 三段寫具體的人，等一下分鏡幾乎自動生成。
【進度快：可以補充】
· 請兩位念自己的三段，全班一起看夠不夠具體。
【進度慢：可以刪掉】
· 只寫開始和完成兩段。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三個檢查一起走一遍，這是進入分鏡前的關卡。
· 第二個檢查最重要：少於三個動作的，過程段一定會很無聊。
【互動提問】
· 問：三個檢查都過的舉手？
【學員實作】
· 自己檢查一次，沒過的補寫。
【預期看到的差異】
· 進入分鏡段時，每個人都有可用的腳本。
【進度慢：可以刪掉】
· 只做第二個檢查。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這一段是攝影的核心，時間給足。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四張並排先讓學員看，不要先講定義。
· 重點：這四張不是「選一張」，是「四張都要拍」。
【互動提問】
· 問：這四張，哪一張最像你平常拍的？（多數是全景或中景）
· 問：如果一支影片從頭到尾都是第一張那種距離，你看得下去嗎？
【預期看到的差異】
· 學員意識到自己拍影片時距離從來沒變過。
【進度快：可以補充】
· 放一支真實短影音，數它換了幾次距離。
【進度慢：可以刪掉】
· 直接進下一頁。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全景的功能是「交代環境」，不是「看清楚商品」。
· 全景放開頭最有效，因為觀眾需要先知道場景。
【互動提問】
· 問：你的工作檯拍成全景好看嗎？（不好看就先整理）
【預期看到的差異】
· 學員知道全景不是隨便拍遠一點。
【進度快：可以補充】
· 提醒全景最容易拍到雜物，開拍前先整理桌面。
【進度慢：可以刪掉】
· 四種景別合併成一頁講。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中景是短影音的主力，多數鏡頭都是中景。
· 「有手就有動作，有動作就有人看」——這句話要講。
【互動提問】
· 問：你的商品，手可以怎麼跟它互動？
【預期看到的差異】
· 學員開始想到把手放進畫面。
【進度快：可以補充】
· 提醒手要乾淨，指甲要整理，這是很多人忽略的。
【進度慢：可以刪掉】
· 與近景合併。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近景和中景最容易混淆：中景有手，近景商品占滿。
· 近景放結尾，讓人記住商品——這跟開頭的全景剛好對稱。
【互動提問】
· 問：中景和近景差在哪裡？（有沒有手）
【預期看到的差異】
· 學員分得出中景和近景。
【進度慢：可以刪掉】
· 與中景合併。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特寫是今天最想讓學員學會的一種，因為最多人沒拍過。
· 特寫要走近拍，不要用手指放大——這是（1）教過的原則。
· 手機最近對焦距離大約 8–10 公分，太近會對不到焦。
【互動提問】
· 問：你的商品，最值得特寫的細節是什麼？
【學員實作】
· 想一個自己商品的特寫點。
【預期看到的差異】
· 學員會開始注意商品的細節，而不只是整體。
【進度快：可以補充】
· 示範一次特寫，讓學員看對焦怎麼點。
【進度慢：可以刪掉】
· 只講「一支影片至少要有一個特寫」。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這一頁把四種景別變成可執行的數量，是進入分鏡前的橋樑。
· 最後那句「五到七個鏡頭」直接接下一段。
【互動提問】
· 問：你打算拍幾個鏡頭？
【預期看到的差異】
· 學員有了具體的鏡頭數目標。
【進度慢：可以刪掉】
· 只講最後那句。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這一頁是本段最實用的一頁，直接給了可複製的做法。
· 「同一個動作拍四次」是很多人沒想過的——他們以為要拍四件不同的事。
【互動提問】
· 問：你的過程裡，哪一個動作可以這樣拆成四個鏡頭？
【預期看到的差異】
· 學員的分鏡表會從三四個鏡頭變成六七個。
【進度快：可以補充】
· 講可以請旁邊的人幫忙重複同一個動作四次。
【進度慢：可以刪掉】
· 只講「同一個動作多拍幾種距離」一句。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刻意只拍照不錄影，因為現在練的是「距離」不是「錄影」。
· 拍完一定要四張排一起看，這是判斷有沒有做到的唯一方法。
· 常見錯誤：四張距離差太少，看起來像同一張。
【互動提問】
· 問：四張排一起，看得出距離不同嗎？
【學員實作】
· 挑一個動作，四種距離各拍一張照片。
【預期看到的差異】
· 學員會發現自己以為變了距離，其實只差一點點。
【進度快：可以補充】
· 請差異最明顯的一位投影出來。
【進度慢：可以刪掉】
· 只拍中景和特寫兩張。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分鏡表是今天的核心產出，下午拍攝完全照它走。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左邊那五步要念得像在講學員自己的故事，會很有共鳴。
· 第 4 步「剪到一半發現少了關鍵鏡頭」是最痛的，因為東西已經收了、材料已經用完了。
【互動提問】
· 問：左邊這五步，你走過幾步？
【預期看到的差異】
· 學員接受花時間寫分鏡表。
【進度慢：可以刪掉】
· 只講左邊第 4 步和右邊第 3 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先說清楚：不用畫圖，寫字就好。很多學員一聽到分鏡就緊張。
· 四欄逐欄解釋，尤其「畫面」那欄就是剛才學的四種距離。
【互動提問】
· 問：這五個鏡頭加起來幾秒？（14 秒，剛好一支短影音）
【預期看到的差異】
· 學員發現分鏡表比想像中簡單。
【進度快：可以補充】
· 講可以加第五欄「備註」寫提醒事項。
【進度慢：可以刪掉】
· 只講四欄的欄名。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這是今天的標準範本，學員照這個格式填自己的就對了。
· 指出距離的分布：全景1、中景2、特寫2、近景1，這是很好的比例。
· 過程佔四個鏡頭，呼應「不要只拍結果」。
【互動提問】
· 問：如果拿掉第 3 和第 5 個特寫，這支影片會變怎樣？（變得很平）
【預期看到的差異】
· 學員有了可以直接模仿的範本。
【進度快：可以補充】
· 把這六個鏡頭換成學員自己的商品，現場示範一次。
【進度慢：可以刪掉】
· 只看表，不解釋比例。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秒數不用精準，這一頁的目的是讓學員知道「大概多久」。
· 最後那句提供一個自我檢查：算出來超過 40 秒就是太多。
【互動提問】
· 問：你的分鏡表加起來幾秒？
【學員實作】
· 把自己分鏡表的秒數加起來。
【預期看到的差異】
· 學員會主動刪掉多餘的鏡頭。
【進度快：可以補充】
· 講實際錄的時候要比計畫多錄一兩秒，好剪。
【進度慢：可以刪掉】
· 只講「每個鏡頭 3 秒左右」。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素材清單和分鏡表的差別要講清楚：一個管畫面，一個管東西和動作。
· 「草莓全下鍋了才想到沒拍完整的草莓」這個例子很具體，學員會記住。
· 清單要比分鏡表多，因為要留備用素材。
【互動提問】
· 問：你的商品，有哪些東西一旦用掉就補不回來？
【預期看到的差異】
· 學員會在拍之前先把東西擺好。
【進度快：可以補充】
· 講「不可逆的動作先拍」：切開、下鍋、拆封這類。
【進度慢：可以刪掉】
· 只講最後那個例子。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十二分鐘，這是上午最長的一次實作，走動協助每一個人。
· 檢查三件事：有沒有五個以上、四種距離有沒有都出現、過程段是不是最多。
· 寫不出來的，直接把果醬範例的六個鏡頭換成她的商品。
【互動提問】
· 問：你的分鏡表裡，特寫有幾個？（至少要一個）
【學員實作】
· 完成 5–8 個鏡頭的分鏡表。
【預期看到的差異】
· 每個人手上都有一張下午可以照著拍的表。
【進度快：可以補充】
· 請兩位投影自己的分鏡表，全班一起看。
【進度慢：可以刪掉】
· 降到 5 個鏡頭就好。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第三點「不可逆的先拍」是實務上最有價值的一句話。
· 午休前提醒：下午要用的東西，午休時先擺好。
【互動提問】
· 問：你的清單裡，哪一項是不可逆的？
【學員實作】
· 完成素材清單，並在不可逆的項目前面畫星號。
【預期看到的差異】
· 下午拍攝時不會發生「東西用掉了才想到沒拍」。
【進度慢：可以刪掉】
· 口頭提醒，不寫清單。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這一段是上午最後一段，也是最能提升成品質感的一段。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這一頁的核心：影片的優勢是「時間」，能拍到過程，照片不行。
· 如果只拍成品，那不如拍照片就好——這句話可以講。
【互動提問】
· 問：你看短影音的時候，會看完的通常是哪一種？
【預期看到的差異】
· 學員理解影片不是「會動的照片」。
【進度快：可以補充】
· 講「懸念」：讓人想知道接下來會怎樣，就會看完。
【進度慢：可以刪掉】
· 只講最後那句。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五個鏡頭排出來，就是一個完整的故事，不需要旁白也看得懂。
· 注意第三個「烘烤」用特寫，因為那是最有懸念的一刻。
【互動提問】
· 問：這五個鏡頭如果只留三個，你會留哪三個？
【預期看到的差異】
· 學員看到「順序本身就是故事」。
【進度快：可以補充】
· 講可以加第六個：有人吃下去的反應。
【進度慢：可以刪掉】
· 只講三個鏡頭。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這一頁是給沒有「烹飪類」商品的學員看的，證明任何商品都有過程。
· 第四個「戴上」是飾品類最重要的鏡頭，讓人想像自己戴的樣子。
【互動提問】
· 問：做飾品、手工藝的舉手？你的組裝過程有哪幾步？
【預期看到的差異】
· 非食品類的學員不再覺得自己沒東西拍。
【進度快：可以補充】
· 問服務類的學員，她們的「過程」是什麼。
【進度慢：可以刪掉】
· 與上一頁合併。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八個來源快速念過，重點在最後那句「只拍手就好」。
· 中高齡女性學員最大的心理障礙就是怕入鏡，這句話會鬆一大口氣。
【互動提問】
· 問：怕入鏡的舉手？（幾乎全班）
【預期看到的差異】
· 原本說「我不要入鏡所以不拍」的學員願意試了。
【進度快：可以補充】
· 示範只拍手的畫面怎麼取景。
【進度慢：可以刪掉】
· 只講「手」這一項。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這是上午的收尾，讓學員自己檢查分鏡表。
· 「下午就照這張表拍，不再改」要明確講，不然下午會有人一直改。
· 午休前提醒：要用的東西午休時先擺好。
【互動提問】
· 問：過程有幾個鏡頭？0–1 個的舉手？（這些人要優先協助）
【學員實作】
· 補完分鏡表，午休時擺好道具。
【預期看到的差異】
· 下午拍攝可以直接開始，不用再花時間規劃。
【進度慢：可以刪掉】
· 口頭提醒即可。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這段是複習，不要重講一次。十分鐘，講完就吃飯。
· 重點只有兩個：錄影中不要變焦、短影音一律直式。
【預期看到的差異】
· 上次沒來的學員也能跟上。
【進度快：可以補充】
· 請上次有來的學員說一句 0.5x 是做什麼用的。
【進度慢：可以刪掉】
· 把 46、47 合併，只講直式那一頁。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三個鏡頭快速帶過，上次課程講過了。
· 真正的重點是最後那句：錄影中變焦是新手最常見的毛病，畫面一定會晃。
· 正確做法是停止錄影、換好鏡頭、重新錄一顆。反正等一下要剪開。
【互動提問】
· 問：上次課程之後，有人用過 0.5x 嗎？
【預期看到的差異】
· 學員錄影時不再邊錄邊放大。
【進度快：可以補充】
· 示範一次「邊錄邊變焦」有多晃，再示範分兩顆錄。
【進度慢：可以刪掉】
· 只講最後那句提醒。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「不要用鏡頭裝，要用腳退」這句要重複兩次，學員會記得。
· 0.5x 的變形在拍一整桌商品時最明顯，邊角的東西會被拉歪。
【互動提問】
· 問：有人拍全家福或一桌菜的時候，覺得旁邊的人變胖了嗎？就是這個原因。
【學員實作】
· 請學員把桌上的東西排成一排，用 0.5x 和 1x 各拍一張比較。
【預期看到的差異】
· 學員知道拍多樣商品要退後，不是按廣角。
【進度快：可以補充】
· 講手機腳架架高一點、往後拉的做法。
【進度慢：可以刪掉】
· 只講口訣，跳過實作。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這一頁講死，不要留討論空間：今天全部直式。
· 中高齡學員習慣把手機打橫（因為以前的相機是橫的），下午一定要一直提醒。
· 助教走動時看到有人橫著拿，直接走過去把手機轉直。
【互動提問】
· 問：平常錄影是直著拿還橫著拿？（多數人會說橫的）
【學員實作】
· 現在把手機直著拿起來，錄五秒鐘試試看。
【預期看到的差異】
· 下午拍攝時橫拍的人變少。
【進度快：可以補充】
· 講如果已經拍成橫的，InShot 可以補救但畫面會被裁掉一半。
【進度慢：可以刪掉】
· 一句話講完：今天全部直式。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下午第一段，先讓大家醒過來。
· 這一段的兩個重點——每顆 3–5 秒、前後各留一秒——是等一下拍攝的操作規則。
【預期看到的差異】
· 學員從「想」切換到「拍」的狀態。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「一鏡到底」是最常見的錯誤，而且是拍了不剪的主因。
· 錄 6–8 秒剪成 3–5 秒，這個數字要講清楚，等一下實作會用到。
【互動提問】
· 問：有人錄過一鏡到底、後來完全沒剪的舉手？
【學員實作】
· 現在錄一顆 6 秒的鏡頭，數 1、2、3、4、5、6 再停。
【預期看到的差異】
· 學員錄的每一段都很短，剪輯時素材整齊。
【進度快：可以補充】
· 講「一顆鏡頭只做一件事」——手只做一個動作。
【進度慢：可以刪掉】
· 只講 3–5 秒這個數字。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這一頁是整個下午最實用的一句話，但學員最容易忘記。
· 示範給大家看：不留一秒的素材，剪出來手是「跳」進畫面的。
· 下午拍攝的時候，助教走動要一直提醒「先停一秒再動」。
【互動提問】
· 問：等一下按下錄影之後，第一件事要做什麼？（答：什麼都不做，數一秒）
【學員實作】
· 練習一次：按錄影 → 數一秒 → 把手伸進去拿商品 → 放回去 → 數一秒 → 停。
【預期看到的差異】
· 素材剪起來乾淨，不用一直微調起點。
【進度快：可以補充】
· 講如果忘了留，InShot 也可以用「分割」補救，但會少半秒。
【進度慢：可以刪掉】
· 只講「前後各留一秒」六個字，然後示範一次。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三種運鏡，這是最好用的一種。
· 一定要強調：靠近是「人往前」不是「手指放大」。
· 示範一次慢慢往前，速度大約三秒走完。
【互動提問】
· 問：這個動作看起來像什麼？（像我們自己走近去看清楚）
【學員實作】
· 對著自己的商品，錄一顆靠近的鏡頭。
【預期看到的差異】
· 學員不再用手指縮放。
【進度快：可以補充】
· 講可以配合對焦：先對遠的，靠近後點一下重新對焦。
【進度慢：可以刪掉】
· 只示範不實作。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離開和靠近是同一個動作反過來，示範一次就好。
· 重點是它適合當結尾——上午寫的第三段「完成」用這個運鏡最好看。
【互動提問】
· 問：你的影片結尾要放什麼畫面？可以用這一招。
【學員實作】
· 錄一顆離開的鏡頭，當作影片結尾。
【預期看到的差異】
· 學員的影片有一個像樣的收尾。
【進度快：可以補充】
· 講可以在退到底時停住一秒，方便加最後一句字幕。
【進度慢：可以刪掉】
· 跟上一頁合併講。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平移是三種裡面最難拍穩的，一定要示範。
· 「手肘夾在身側」這個動作要做給大家看，中高齡學員照做效果很明顯。
· 速度要一直強調慢，新手平移都太快。
【互動提問】
· 問：有帶腳架的舉手？平移用腳架會穩很多。
【學員實作】
· 錄一顆平移的鏡頭，從左到右數五秒。
【預期看到的差異】
· 平移的畫面沒有明顯抖動。
【進度快：可以補充】
· 講也可以上下平移（從桌面往上帶到商品）。
【進度慢：可以刪掉】
· 示範一次，不實作。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八分鐘，三顆鏡頭。助教分頭走動。
· 走動時看三件事：手機有沒有直著拿、有沒有前後留一秒、平移會不會太快。
· 錄完一定要請她們自己回放，這個習慣比什麼都重要。
【互動提問】
· 問：誰的平移最穩？請她示範一次給大家看。
【學員實作】
· 三種運鏡各錄一顆，錄完自己回放。
【預期看到的差異】
· 學員手上有三顆可用的運鏡素材，等一下可以直接用。
【進度快：可以補充】
· 請兩三位把畫面投影出來，全班一起看哪裡會晃。
【進度慢：可以刪掉】
· 減成兩種：靠近和平移。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很短的一段，十分鐘。講完就開始正式拍攝。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「前三秒決定一切」是整個短影音最重要的一件事。
· 中高齡學員很習慣「慢慢鋪陳」，要明講：社群不是這樣看的，三秒沒抓住就滑走了。
· 最好的畫面放第一個——這句話等一下剪輯時會再講一次。
【互動提問】
· 問：你滑手機的時候，一支影片你會看幾秒才決定要不要繼續？
【學員實作】
· 圈出你分鏡表上「最好看的那一顆」，等一下把它放第一個。
【預期看到的差異】
· 學員的影片開頭不再是空景或慢慢走近。
【進度快：可以補充】
· 講前三秒也可以放「問題」：一句字幕「這個要怎麼開？」
【進度慢：可以刪掉】
· 只講前 3 秒那一格。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三個範例對應上午最多人選的三種主題。
· 重點是最後那句：五顆鏡頭就夠了，不要貪多。
· 請學員拿出自己的分鏡表，對照最接近的那一欄。
【互動提問】
· 問：你的分鏡表有幾顆？超過八顆的舉手？（請她們刪到八顆以內）
【學員實作】
· 照最接近的範例，把自己的分鏡表標上秒數。
【預期看到的差異】
· 學員的分鏡表有秒數，總長落在 15–30 秒。
【進度快：可以補充】
· 講如果素材真的很好，可以做到 45 秒，但新手先做 20 秒。
【進度慢：可以刪掉】
· 只講第一個範例。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這是今天的主戲，七十五分鐘。
· 講師和助教全程走動，台上不要再講課。
· 中間有一次全班的中場檢查，其餘時間都在拍。
【預期看到的差異】
· 每個人手上都有一批可以剪的素材。
【進度慢：可以刪掉】
· 最少也要保留 50 分鐘給這一段，寧可刪剪輯。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三分鐘擺場，不要跳過。擺得好，後面每一顆都好看。
· 擦鏡頭這件事一定要講，而且要請大家現在就擦。
· 「先拍一張照試光」是最快的檢查方式。
【互動提問】
· 問：現在請大家擦一下鏡頭。擦完舉手。
【學員實作】
· 擺好五樣東西，拍一張照試光。
【預期看到的差異】
· 素材的畫質整齊，不會有人整支都是霧的。
【進度快：可以補充】
· 講補光燈的位置：放在側邊 45 度，不要正打。
【進度慢：可以刪掉】
· 只講光和擦鏡頭兩項。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這六顆是保底。就算腳本寫得再爛，有這六顆也剪得出一支影片。
· 講完就放人開始拍，台上不要再說話。
· 三十五分鐘，中間第 18 分鐘左右做一次中場檢查。
【互動提問】
· 問：六顆分別是什麼？請一位學員複述一次。
【學員實作】
· 照著六個鏡頭拍完，每顆 6–8 秒。
【預期看到的差異】
· 三十五分鐘後，每個人至少有六段影片在相簿裡。
【進度快：可以補充】
· 拍完的人可以開始換角度重拍第 3、4 顆（最好用的兩顆）。
【進度慢：可以刪掉】
· 刪掉第 5 顆過程，先確保 1–4 顆拍完。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這三分鐘一定要停下來做，不然會有人拍了三十五分鐘全部都是晃的。
· 四項唸一次，讓大家自己回放檢查。
· 看到有人整批都不行，助教過去一對一處理。
【互動提問】
· 問：四項全過的舉手？有一項不過的舉手？（不過的先修那一顆）
【學員實作】
· 回放剛剛拍的六顆，四項自己檢查。
【預期看到的差異】
· 避免整段實作報廢，這是最有價值的三分鐘。
【進度快：可以補充】
· 請一位學員把「晃」和「不晃」的兩顆投影出來對比。
【進度慢：可以刪掉】
· 只檢查「直式」和「會不會晃」兩項。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這一段的觀念要講清楚：好影片是拍出來的，不是剪出來的。
· 很多人以為剪輯可以救，實際上剪輯只能從你拍到的東西裡面挑。
· 三十分鐘全部放給學員拍，講師和助教走動。
【互動提問】
· 問：現在手機裡有幾段影片？少於十段的請繼續拍。
【學員實作】
· 補拍到至少 12–15 段素材。
【預期看到的差異】
· 剪輯時每個人都有得挑，不會出現「只能全部用上」的窘境。
【進度快：可以補充】
· 拍很快的人：換一個完全不同的背景，同樣的商品再拍一輪。
【進度慢：可以刪掉】
· 縮到 20 分鐘，只做第一項（換距離重拍）。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六項唸過去，讓學員自己對。
· 「素材沒拍夠，剪輯會很痛苦」這句要講，讓落後的人願意利用休息時間。
· 助教統計一下有幾個人沒達標，如果超過三分之一，剪輯段要放慢。
【互動提問】
· 問：六項全過的舉手？（記下沒過的人，休息時優先協助）
【學員實作】
· 自我檢查六項，沒過的補拍。
【預期看到的差異】
· 進入剪輯段時，全班素材量接近，進度才跟得上。
【進度快：可以補充】
· 過關的人幫旁邊的人拍，或者當模特兒出借一雙手。
【進度慢：可以刪掉】
· 只檢查前三項。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先講清楚這段只有四十分鐘，所以只教必要的九步。
· 花俏的功能（速度、濾鏡、貼圖）今天不教，不是不能用，是今天沒時間。
· 請大家先打開 InShot，沒裝的舉手，助教立刻處理。
【互動提問】
· 問：InShot 打開了嗎？打開的舉手。
【學員實作】
· 打開 InShot。
【預期看到的差異】
· 全班在同一個畫面上。
【進度慢：可以刪掉】
· 直接跳到第 67 頁開始操作。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介面只講四個位置，講多了學員會慌。
· 「App 會改版」這句一定要講，上次社群課也是這樣講的，學員會安心。
· 如果現場版本跟簡報不一樣，直接抓一位學員的手機投影。
【互動提問】
· 問：找到時間軸的舉手？找到儲存的舉手？
【學員實作】
· 在自己手機上找到這四個位置。
【預期看到的差異】
· 學員知道等一下要按哪裡。
【進度快：可以補充】
· 講畫布功能可以改比例，但我們一開始就設 9:16 所以用不到。
【進度慢：可以刪掉】
· 只指出時間軸和功能列。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這兩步一起做，等全班都完成再往下。
· 9:16 忘了選是最痛的錯誤，要重來。所以停下來等大家。
· 「一次全選」要講，不然學員會一段一段慢慢加。
【互動提問】
· 問：影片都匯進去的舉手？
【學員實作】
· 建立 9:16 專案，把今天拍的全部匯入。
【預期看到的差異】
· 全班在同一個起點，後面才跟得上。
【進度快：可以補充】
· 講可以先在相簿裡把不要的刪掉，匯入會比較乾淨。
【進度慢：可以刪掉】
· 講師示範一次，慢的人看旁邊的。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修剪是整個剪輯裡最花時間的一步，也是最重要的一步。
· 「寧可短，不要拖」要講兩次，學員普遍捨不得剪。
· 如果有人素材太少，就把每段留長一點，不要硬剪到 3 秒。
【互動提問】
· 問：有人捨不得剪的舉手？（幾乎都是）
【學員實作】
· 把每一段都修剪成 3–5 秒。
【預期看到的差異】
· 影片總長從三分鐘變成二十幾秒。
【進度快：可以補充】
· 講「分割」也可以用來讓同一段素材出現兩次。
【進度慢：可以刪掉】
· 只教修剪，不教分割。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這一頁把上午的三段式和下午的剪輯接起來，是整天的收束點。
· 「最好看的放第一個」第二次講了，這次要學員真的動手調。
· 長按拖曳這個動作，中高齡學員常按不夠久，要示範。
【互動提問】
· 問：你的第一顆是哪一段？
【學員實作】
· 把時間軸的順序調成：開始 → 過程 → 完成 → 結尾。
【預期看到的差異】
· 影片有結構，不再是隨機排列。
【進度快：可以補充】
· 講可以先在紙上寫順序，再照著拖。
【進度慢：可以刪掉】
· 只講「最好看的放第一個」。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十分鐘，助教全場走動。
· 最後那句是今天的核心觀念：沒有音樂字幕也看得懂，代表拍攝有做對。
· 看得懂的請她們自己給自己拍拍手。
【互動提問】
· 問：從頭播一次，看得懂在講什麼的舉手？
【學員實作】
· 修剪、排序、播一次。
【預期看到的差異】
· 每個人手上都有一支「毛片」，接下來只是加工。
【進度快：可以補充】
· 請一兩位投影播放，全班一起看順序順不順。
【進度慢：可以刪掉】
· 縮到 6 分鐘，順序沒排完的先往下走。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文字最容易做過頭，講死：只有三個地方。
· 前 3 秒那一句最重要，等於影片的標題。
· 字太小是最常見的問題，手機上看得清楚才算數。
【互動提問】
· 問：你的前 3 秒要放哪一句話？寫在講義上。
【學員實作】
· 加上前 3 秒那一句，其他有時間再加。
【預期看到的差異】
· 影片有標題，不再是純畫面。
【進度快：可以補充】
· 講文字出現的時間長度也可以拖曳調整。
【進度慢：可以刪掉】
· 只加前 3 秒那一句。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音樂版權這件事一定要講，學員很習慣直接用手機裡的流行歌。
· 講具體的後果：被消音、被下架，比講「有版權問題」有用。
· 如果影片有講話的聲音，音樂要更小，或者乾脆不加。
【互動提問】
· 問：有人平常做影片會加流行歌的舉手？
【學員實作】
· 加一首內建音樂，音量調到 50–70%，結尾剪齊。
【預期看到的差異】
· 影片有配樂，而且不會被平台處理掉。
【進度快：可以補充】
· 講可以在影片結尾讓音樂淡出（fade out）。
【進度慢：可以刪掉】
· 直接選第一首推薦音樂，不挑。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這一頁其實是在幫學員省時間，而且結果會比較好看。
· 中高齡學員最喜歡加特效，所以要明講「加了會像十年前的影片」。
· 速度、濾鏡、貼圖、子母畫面今天一律不教。
【互動提問】
· 問：你們看的短影音，有很多轉場特效嗎？
【學員實作】
· 不加轉場（或只在結尾加一個淡出）。
【預期看到的差異】
· 影片乾淨，而且省下五分鐘。
【進度快：可以補充】
· 進度快的班可以示範「速度放慢」用在特寫的效果。
【進度慢：可以刪掉】
· 一句話講完：今天不加轉場。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1080p／30fps 這兩個數字寫在附錄，不用背。
· 「輸出時不要切出去」一定要講，不然一半的人會失敗。
· 輸出要等，可以趁這時候提醒下一頁的檢視點。
【互動提問】
· 問：輸出完成、在相簿裡看得到的舉手？
【學員實作】
· 輸出 1080p／30fps。
【預期看到的差異】
· 每個人的手機相簿裡有一支成品。
【進度快：可以補充】
· 講 InShot 免費版結尾會有片頭 logo，可以在設定裡移除。
【進度慢：可以刪掉】
· 直接用預設值輸出。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十二分鐘，這是最後的衝刺。助教全場走動。
· 一定要講「先輸出目前版本」，不然會有人剪到下課還沒輸出，回家就放棄了。
· 剩最後三分鐘時全班喊一次：現在還沒按輸出的請按輸出。
【互動提問】
· 問：已經輸出完成的舉手？
【學員實作】
· 完成剪輯並輸出。
【預期看到的差異】
· 全班手機裡都有一支影片，這是今天的成果。
【進度快：可以補充】
· 做完的人可以幫旁邊的人，或者開始剪第二支。
【進度慢：可以刪掉】
· 音樂可以不加，直接輸出。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三十個人不可能全部投影，先兩兩互看，再挑 3–5 支。
· 互看時規定「只說喜歡的地方」，中高齡學員被批評一次就不敢再拍了。
· 投影時盡量挑不同商品類型的，讓大家看到多樣性。
【互動提問】
· 問：願意放給大家看的舉手？
【學員實作】
· 兩兩互看，各說一句喜歡的地方。
【預期看到的差異】
· 學員看到別人的成果，回家比較願意繼續拍。
【進度快：可以補充】
· 請被投影的學員說一句「最難的地方是什麼」。
【進度慢：可以刪掉】
· 只做兩兩互看，不投影。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八項唸過去，這一頁附錄有，回家可以照著用。
· 最後那句最重要：不要追求完美，發出去比較重要。
· 前三項是最關鍵的，如果只記三項就記這三項。
【互動提問】
· 問：你的影片八項過幾項？
【學員實作】
· 對照八項檢查自己的影片。
【預期看到的差異】
· 學員有一份回家能用的自我檢查標準。
【進度快：可以補充】
· 請學員挑一項自己最弱的，下一支重點改進。
【進度慢：可以刪掉】
· 只講前三項。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三個問題涵蓋八成的新手影片。
· 最後那句是整天的總結：問題出在拍攝，剪輯救不了。
【互動提問】
· 問：你的影片比較接近哪一個問題？
【學員實作】
· 圈出自己最像的那一個，下一支改進。
【預期看到的差異】
· 學員知道下一支要改什麼，不是茫然地再拍一次。
【進度快：可以補充】
· 補第四個問題：太長。超過一分鐘就沒人看完。
【進度慢：可以刪掉】
· 只講第一個問題。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這一頁接上午第 8 頁埋的伏筆，一定要回頭指一下。
· 重點順序：先安撫（沒流量正常）、再講原因（系列讓人想追蹤）、
· 最後講對自己的好處（不用一直想題材）——這一點對中高齡學員最有說服力。
· 三張系列卡是範例，請學員想自己的三個系列。
【互動提問】
· 問：你的三個系列可以是什麼？跟旁邊的人說一個。
【學員實作】
· 在講義上寫下自己的 2–3 個系列名稱。
【預期看到的差異】
· 學員離開時不是只有一支影片，是有一個可以持續的計畫。
【進度快：可以補充】
· 講同一系列的影片開頭要長得像：同樣的字卡、同樣的第一顆鏡頭。
【進度慢：可以刪掉】
· 只講「選 2–3 種輪流發」這一句。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這張表是給學員回家照抄的，附錄有空白版。
· 「一年五十支」這個數字要講，會讓學員感覺到累積的力量。
· 一週一支不要加碼，中高齡學員答應太多就會全部放棄。
【互動提問】
· 問：你的第 2 週要拍什麼？現在就決定。
【學員實作】
· 填四週計畫表的第 2 週。
【預期看到的差異】
· 學員離開教室時，下一支要拍什麼已經定了。
【進度快：可以補充】
· 講可以先把四支的素材一次拍完，再分四週發。
【進度慢：可以刪掉】
· 只講「一週一支就夠」。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最後這句「八成在按下錄影之前就決定了」慢慢念，念完停三秒。
· 然後把四樣成果數一次給她們聽，讓她們知道今天帶走了什麼。
· 最後一句「拍到第十支就不一樣了」是給她們回家的動力。
· 發回饋單，鼓勵互相追蹤、互加好友——回家後的第一批觀眾就是彼此。
【互動提問】
· 問：回家第一支要什麼時候發？（請她們說一個日期）
【學員實作】
· 互相追蹤、互加 LINE 好友。
【預期看到的差異】
· 學員帶著具體的下一步離開，而不是只帶著一支影片。
【進度快：可以補充】
· 留三分鐘讓大家互相交換帳號。
【進度慢：可以刪掉】
· 直接念最後兩句話結束。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這三頁附錄會單獨印成 A4 發給學員。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素材清單是拍攝時最實用的一張，建議印在分鏡表背面。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這一頁是回家用的，九步驟＋計畫表＋檢查點都在同一張。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image" Target="../media/image-6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image" Target="../media/image-61-6.png"/><Relationship Id="rId7" Type="http://schemas.openxmlformats.org/officeDocument/2006/relationships/image" Target="../media/image-61-7.png"/><Relationship Id="rId8" Type="http://schemas.openxmlformats.org/officeDocument/2006/relationships/image" Target="../media/image-6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" y="1840230"/>
            <a:ext cx="4898532" cy="132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15"/>
              </a:lnSpc>
              <a:buNone/>
            </a:pPr>
            <a:r>
              <a:rPr lang="en-US" sz="4650" b="1" spc="-186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商品短影音</a:t>
            </a:r>
            <a:endParaRPr lang="en-US" sz="4650" dirty="0"/>
          </a:p>
          <a:p>
            <a:pPr algn="l" indent="0" marL="0">
              <a:lnSpc>
                <a:spcPts val="5115"/>
              </a:lnSpc>
              <a:buNone/>
            </a:pPr>
            <a:r>
              <a:rPr lang="en-US" sz="4650" b="1" spc="-186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腳本、拍攝與剪輯</a:t>
            </a:r>
            <a:endParaRPr lang="en-US" sz="4650" dirty="0"/>
          </a:p>
        </p:txBody>
      </p:sp>
      <p:sp>
        <p:nvSpPr>
          <p:cNvPr id="4" name="Text 1"/>
          <p:cNvSpPr txBox="1"/>
          <p:nvPr/>
        </p:nvSpPr>
        <p:spPr>
          <a:xfrm>
            <a:off x="800100" y="3586917"/>
            <a:ext cx="5078578" cy="7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19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今天不是學剪輯 App。</a:t>
            </a:r>
            <a:endParaRPr lang="en-US" sz="1950" dirty="0"/>
          </a:p>
          <a:p>
            <a:pPr algn="l" indent="0" marL="0">
              <a:lnSpc>
                <a:spcPts val="3159"/>
              </a:lnSpc>
              <a:buNone/>
            </a:pPr>
            <a:r>
              <a:rPr lang="en-US" sz="19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你會</a:t>
            </a:r>
            <a:pPr algn="l" indent="0" marL="0">
              <a:lnSpc>
                <a:spcPts val="3159"/>
              </a:lnSpc>
              <a:buNone/>
            </a:pPr>
            <a:r>
              <a:rPr lang="en-US" sz="19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先想清楚要說什麼</a:t>
            </a:r>
            <a:pPr algn="l" indent="0" marL="0">
              <a:lnSpc>
                <a:spcPts val="3159"/>
              </a:lnSpc>
              <a:buNone/>
            </a:pPr>
            <a:r>
              <a:rPr lang="en-US" sz="19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，再拍，最後才剪。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838230" y="4589099"/>
            <a:ext cx="476220" cy="40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43021" y="4684380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409730" y="4589099"/>
            <a:ext cx="476220" cy="40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514521" y="4684380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981230" y="4589099"/>
            <a:ext cx="476220" cy="40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086021" y="4684380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552730" y="4589099"/>
            <a:ext cx="476220" cy="40956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657521" y="4684380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124230" y="4589099"/>
            <a:ext cx="476220" cy="409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229021" y="4684380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</a:t>
            </a:r>
            <a:endParaRPr lang="en-US" sz="1500" dirty="0"/>
          </a:p>
        </p:txBody>
      </p:sp>
      <p:pic>
        <p:nvPicPr>
          <p:cNvPr id="15" name="Image 1" descr="/home/user/gogoeveryday/photo-course-2/export-pptx/build/img/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388" y="1771650"/>
            <a:ext cx="186693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508943"/>
            <a:ext cx="535490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不是學會軟體，是做出一支成品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274387"/>
            <a:ext cx="2519355" cy="2026768"/>
          </a:xfrm>
          <a:prstGeom prst="roundRect">
            <a:avLst>
              <a:gd name="adj" fmla="val 11279"/>
            </a:avLst>
          </a:prstGeom>
          <a:solidFill>
            <a:srgbClr val="FBEEE6"/>
          </a:solidFill>
          <a:ln/>
        </p:spPr>
      </p:sp>
      <p:pic>
        <p:nvPicPr>
          <p:cNvPr id="5" name="Image 1" descr="/home/user/gogoeveryday/photo-course-2/export-pptx/build/img/p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71" y="2512497"/>
            <a:ext cx="381030" cy="3810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2040" y="3083997"/>
            <a:ext cx="1010595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一句主題</a:t>
            </a:r>
            <a:endParaRPr lang="en-US" sz="1725" dirty="0"/>
          </a:p>
        </p:txBody>
      </p:sp>
      <p:sp>
        <p:nvSpPr>
          <p:cNvPr id="7" name="Text 3"/>
          <p:cNvSpPr txBox="1"/>
          <p:nvPr/>
        </p:nvSpPr>
        <p:spPr>
          <a:xfrm>
            <a:off x="962040" y="3484047"/>
            <a:ext cx="231206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一句話說清楚這支影片要幹嘛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490905" y="2274387"/>
            <a:ext cx="2519355" cy="2026768"/>
          </a:xfrm>
          <a:prstGeom prst="roundRect">
            <a:avLst>
              <a:gd name="adj" fmla="val 11279"/>
            </a:avLst>
          </a:prstGeom>
          <a:solidFill>
            <a:srgbClr val="F8E6C9"/>
          </a:solidFill>
          <a:ln/>
        </p:spPr>
      </p:sp>
      <p:pic>
        <p:nvPicPr>
          <p:cNvPr id="9" name="Image 2" descr="/home/user/gogoeveryday/photo-course-2/export-pptx/build/img/p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976" y="2512497"/>
            <a:ext cx="381030" cy="3810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52845" y="3083997"/>
            <a:ext cx="1240475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一張分鏡表</a:t>
            </a:r>
            <a:endParaRPr lang="en-US" sz="1725" dirty="0"/>
          </a:p>
        </p:txBody>
      </p:sp>
      <p:sp>
        <p:nvSpPr>
          <p:cNvPr id="11" name="Text 6"/>
          <p:cNvSpPr txBox="1"/>
          <p:nvPr/>
        </p:nvSpPr>
        <p:spPr>
          <a:xfrm>
            <a:off x="3652845" y="3484047"/>
            <a:ext cx="2301362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5–8 個鏡頭，拍之前就決定好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181710" y="2274387"/>
            <a:ext cx="2519355" cy="2026768"/>
          </a:xfrm>
          <a:prstGeom prst="roundRect">
            <a:avLst>
              <a:gd name="adj" fmla="val 11279"/>
            </a:avLst>
          </a:prstGeom>
          <a:solidFill>
            <a:srgbClr val="DFE8DC"/>
          </a:solidFill>
          <a:ln/>
        </p:spPr>
      </p:sp>
      <p:pic>
        <p:nvPicPr>
          <p:cNvPr id="13" name="Image 3" descr="/home/user/gogoeveryday/photo-course-2/export-pptx/build/img/p2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80" y="2512497"/>
            <a:ext cx="381030" cy="38103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43650" y="3083997"/>
            <a:ext cx="1700144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一批拍好的素材</a:t>
            </a:r>
            <a:endParaRPr lang="en-US" sz="1725" dirty="0"/>
          </a:p>
        </p:txBody>
      </p:sp>
      <p:sp>
        <p:nvSpPr>
          <p:cNvPr id="15" name="Text 9"/>
          <p:cNvSpPr txBox="1"/>
          <p:nvPr/>
        </p:nvSpPr>
        <p:spPr>
          <a:xfrm>
            <a:off x="6343650" y="3484047"/>
            <a:ext cx="231206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六個必備鏡頭，加上補拍的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872515" y="2274387"/>
            <a:ext cx="2519355" cy="2026768"/>
          </a:xfrm>
          <a:prstGeom prst="roundRect">
            <a:avLst>
              <a:gd name="adj" fmla="val 11279"/>
            </a:avLst>
          </a:prstGeom>
          <a:solidFill>
            <a:srgbClr val="F0DFE4"/>
          </a:solidFill>
          <a:ln/>
        </p:spPr>
      </p:sp>
      <p:pic>
        <p:nvPicPr>
          <p:cNvPr id="17" name="Image 4" descr="/home/user/gogoeveryday/photo-course-2/export-pptx/build/img/p2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85" y="2512497"/>
            <a:ext cx="381030" cy="38103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34455" y="3083997"/>
            <a:ext cx="199887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 15–30 秒影片</a:t>
            </a:r>
            <a:endParaRPr lang="en-US" sz="1725" dirty="0"/>
          </a:p>
        </p:txBody>
      </p:sp>
      <p:sp>
        <p:nvSpPr>
          <p:cNvPr id="19" name="Text 12"/>
          <p:cNvSpPr txBox="1"/>
          <p:nvPr/>
        </p:nvSpPr>
        <p:spPr>
          <a:xfrm>
            <a:off x="9034455" y="3484047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剪好、輸出、存在手機裡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800100" y="4463095"/>
            <a:ext cx="10591770" cy="704820"/>
          </a:xfrm>
          <a:prstGeom prst="roundRect">
            <a:avLst>
              <a:gd name="adj" fmla="val 24325"/>
            </a:avLst>
          </a:prstGeom>
          <a:solidFill>
            <a:srgbClr val="F8E6C9"/>
          </a:solidFill>
          <a:ln/>
        </p:spPr>
      </p:sp>
      <p:sp>
        <p:nvSpPr>
          <p:cNvPr id="21" name="Shape 14"/>
          <p:cNvSpPr/>
          <p:nvPr/>
        </p:nvSpPr>
        <p:spPr>
          <a:xfrm>
            <a:off x="800100" y="4463095"/>
            <a:ext cx="47640" cy="704820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2" name="Image 5" descr="/home/user/gogoeveryday/photo-course-2/export-pptx/build/img/p2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60" y="4653564"/>
            <a:ext cx="323880" cy="3238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33540" y="4688952"/>
            <a:ext cx="672276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今天最花時間的是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，不是剪。 素材拍得好，剪輯只要四十分鐘就夠。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836572"/>
            <a:ext cx="4266225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 → 寫 → 畫 → 拍 → 剪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735336"/>
            <a:ext cx="1722090" cy="1104870"/>
          </a:xfrm>
          <a:prstGeom prst="roundRect">
            <a:avLst>
              <a:gd name="adj" fmla="val 15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735336"/>
            <a:ext cx="172209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2512680" y="2735336"/>
            <a:ext cx="18288" cy="110487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830696"/>
            <a:ext cx="17220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735336"/>
            <a:ext cx="18288" cy="110487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98295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392515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這支要拍什麼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588849" y="3116275"/>
            <a:ext cx="41724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3017520" y="2601925"/>
            <a:ext cx="172209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17520" y="2601925"/>
            <a:ext cx="172209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1"/>
          <p:cNvSpPr/>
          <p:nvPr/>
        </p:nvSpPr>
        <p:spPr>
          <a:xfrm>
            <a:off x="4730100" y="2601925"/>
            <a:ext cx="18288" cy="1371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017520" y="3964015"/>
            <a:ext cx="17220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017520" y="2601925"/>
            <a:ext cx="18288" cy="1371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31820" y="284963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</a:t>
            </a:r>
            <a:endParaRPr lang="en-US" sz="1950" dirty="0"/>
          </a:p>
        </p:txBody>
      </p:sp>
      <p:sp>
        <p:nvSpPr>
          <p:cNvPr id="18" name="Text 15"/>
          <p:cNvSpPr txBox="1"/>
          <p:nvPr/>
        </p:nvSpPr>
        <p:spPr>
          <a:xfrm>
            <a:off x="3131820" y="3259196"/>
            <a:ext cx="15043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開始、過程、完成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06269" y="3116275"/>
            <a:ext cx="41724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17"/>
          <p:cNvSpPr/>
          <p:nvPr/>
        </p:nvSpPr>
        <p:spPr>
          <a:xfrm>
            <a:off x="5234849" y="2601925"/>
            <a:ext cx="172209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234849" y="2601925"/>
            <a:ext cx="172209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7428" y="2601925"/>
            <a:ext cx="18288" cy="1371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234849" y="3964015"/>
            <a:ext cx="17220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234849" y="2601925"/>
            <a:ext cx="18288" cy="1371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349149" y="284963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</a:t>
            </a:r>
            <a:endParaRPr lang="en-US" sz="1950" dirty="0"/>
          </a:p>
        </p:txBody>
      </p:sp>
      <p:sp>
        <p:nvSpPr>
          <p:cNvPr id="26" name="Text 23"/>
          <p:cNvSpPr txBox="1"/>
          <p:nvPr/>
        </p:nvSpPr>
        <p:spPr>
          <a:xfrm>
            <a:off x="5349149" y="3259196"/>
            <a:ext cx="1549634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分鏡表 5–8 個鏡頭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023689" y="3116275"/>
            <a:ext cx="41724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7452269" y="2735336"/>
            <a:ext cx="1722090" cy="1104870"/>
          </a:xfrm>
          <a:prstGeom prst="roundRect">
            <a:avLst>
              <a:gd name="adj" fmla="val 15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452269" y="2735336"/>
            <a:ext cx="172209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0" name="Shape 27"/>
          <p:cNvSpPr/>
          <p:nvPr/>
        </p:nvSpPr>
        <p:spPr>
          <a:xfrm>
            <a:off x="9164848" y="2735336"/>
            <a:ext cx="18288" cy="110487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452269" y="3830696"/>
            <a:ext cx="17220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452269" y="2735336"/>
            <a:ext cx="18288" cy="110487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66569" y="298295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</a:t>
            </a:r>
            <a:endParaRPr lang="en-US" sz="1950" dirty="0"/>
          </a:p>
        </p:txBody>
      </p:sp>
      <p:sp>
        <p:nvSpPr>
          <p:cNvPr id="34" name="Text 31"/>
          <p:cNvSpPr txBox="1"/>
          <p:nvPr/>
        </p:nvSpPr>
        <p:spPr>
          <a:xfrm>
            <a:off x="7566569" y="3392515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照分鏡表拍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241018" y="3116275"/>
            <a:ext cx="41724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36" name="Shape 33"/>
          <p:cNvSpPr/>
          <p:nvPr/>
        </p:nvSpPr>
        <p:spPr>
          <a:xfrm>
            <a:off x="9669689" y="2735336"/>
            <a:ext cx="1722090" cy="1104870"/>
          </a:xfrm>
          <a:prstGeom prst="roundRect">
            <a:avLst>
              <a:gd name="adj" fmla="val 155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669689" y="2735336"/>
            <a:ext cx="1722090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38" name="Shape 35"/>
          <p:cNvSpPr/>
          <p:nvPr/>
        </p:nvSpPr>
        <p:spPr>
          <a:xfrm>
            <a:off x="11382268" y="2735336"/>
            <a:ext cx="18288" cy="110487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9669689" y="3830696"/>
            <a:ext cx="17220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9669689" y="2735336"/>
            <a:ext cx="18288" cy="110487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9783989" y="298295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</a:t>
            </a:r>
            <a:endParaRPr lang="en-US" sz="1950" dirty="0"/>
          </a:p>
        </p:txBody>
      </p:sp>
      <p:sp>
        <p:nvSpPr>
          <p:cNvPr id="42" name="Text 39"/>
          <p:cNvSpPr txBox="1"/>
          <p:nvPr/>
        </p:nvSpPr>
        <p:spPr>
          <a:xfrm>
            <a:off x="9783989" y="3392515"/>
            <a:ext cx="1380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InShot 組起來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800100" y="4135465"/>
            <a:ext cx="10591770" cy="704820"/>
          </a:xfrm>
          <a:prstGeom prst="roundRect">
            <a:avLst>
              <a:gd name="adj" fmla="val 24325"/>
            </a:avLst>
          </a:prstGeom>
          <a:solidFill>
            <a:srgbClr val="FBEEE6"/>
          </a:solidFill>
          <a:ln/>
        </p:spPr>
      </p:sp>
      <p:sp>
        <p:nvSpPr>
          <p:cNvPr id="44" name="Shape 41"/>
          <p:cNvSpPr/>
          <p:nvPr/>
        </p:nvSpPr>
        <p:spPr>
          <a:xfrm>
            <a:off x="800100" y="4135465"/>
            <a:ext cx="47640" cy="704820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45" name="Image 1" descr="/home/user/gogoeveryday/photo-course-2/export-pptx/build/img/p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326026"/>
            <a:ext cx="323880" cy="32388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1533540" y="4361414"/>
            <a:ext cx="969108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最常見的失敗：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跳過前面三步，直接拿手機開始拍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拍了一堆素材，回來發現剪不出一支完整的影片。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40820"/>
            <a:ext cx="436543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這四句話，今天會一直回來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192365"/>
            <a:ext cx="5214915" cy="1436157"/>
          </a:xfrm>
          <a:prstGeom prst="roundRect">
            <a:avLst>
              <a:gd name="adj" fmla="val 15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192365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005505" y="2192365"/>
            <a:ext cx="18288" cy="143615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619012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192365"/>
            <a:ext cx="47640" cy="1436157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38210" y="2430475"/>
            <a:ext cx="2969605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影片不是拿起手機就開始拍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38210" y="2830525"/>
            <a:ext cx="4937211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是先想好要說什麼。想清楚的人，拍二十分鐘就夠；沒想清楚的，拍兩小時也剪不出來。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76955" y="2192365"/>
            <a:ext cx="5214915" cy="1436157"/>
          </a:xfrm>
          <a:prstGeom prst="roundRect">
            <a:avLst>
              <a:gd name="adj" fmla="val 15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6955" y="2192365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1382360" y="2192365"/>
            <a:ext cx="18288" cy="143615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176955" y="3619012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176955" y="2192365"/>
            <a:ext cx="47640" cy="1436157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15065" y="2430475"/>
            <a:ext cx="3209635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一支短影片，先講清楚一件事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15065" y="2830525"/>
            <a:ext cx="4937211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十五秒講三件事，觀眾一件都記不住。想講很多，就拍很多支。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0100" y="3790462"/>
            <a:ext cx="5214915" cy="1436157"/>
          </a:xfrm>
          <a:prstGeom prst="roundRect">
            <a:avLst>
              <a:gd name="adj" fmla="val 15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0100" y="3790462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005505" y="3790462"/>
            <a:ext cx="18288" cy="143615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00100" y="5217201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00100" y="3790462"/>
            <a:ext cx="47640" cy="1436157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38210" y="4028664"/>
            <a:ext cx="4408962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不要只拍商品，也要拍商品正在發生什麼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038210" y="4428714"/>
            <a:ext cx="473522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商品轉一圈沒有人想看。手在做、東西在動、過程在跑，才有人停下來。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76955" y="3790462"/>
            <a:ext cx="5214915" cy="1436157"/>
          </a:xfrm>
          <a:prstGeom prst="roundRect">
            <a:avLst>
              <a:gd name="adj" fmla="val 159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76955" y="3790462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382360" y="3790462"/>
            <a:ext cx="18288" cy="143615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176955" y="5217201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176955" y="3790462"/>
            <a:ext cx="47640" cy="1436157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15065" y="4028664"/>
            <a:ext cx="3209635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先想、再寫、再拍，最後才剪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15065" y="4428714"/>
            <a:ext cx="4735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剪輯救不回沒拍到的鏡頭。今天的順序就是這句話。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572036"/>
            <a:ext cx="5114971" cy="3523183"/>
          </a:xfrm>
          <a:prstGeom prst="roundRect">
            <a:avLst>
              <a:gd name="adj" fmla="val 6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800100" y="1572036"/>
            <a:ext cx="5114971" cy="5715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5" name="Shape 2"/>
          <p:cNvSpPr/>
          <p:nvPr/>
        </p:nvSpPr>
        <p:spPr>
          <a:xfrm>
            <a:off x="5905470" y="1572036"/>
            <a:ext cx="18288" cy="3523183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5085710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1572036"/>
            <a:ext cx="18288" cy="3523183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38210" y="1895917"/>
            <a:ext cx="215185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上午 全部在「想」</a:t>
            </a:r>
            <a:endParaRPr lang="en-US" sz="1575" dirty="0"/>
          </a:p>
        </p:txBody>
      </p:sp>
      <p:sp>
        <p:nvSpPr>
          <p:cNvPr id="9" name="Text 6"/>
          <p:cNvSpPr txBox="1"/>
          <p:nvPr/>
        </p:nvSpPr>
        <p:spPr>
          <a:xfrm>
            <a:off x="1238280" y="2267438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這支影片要拍什麼</a:t>
            </a:r>
            <a:endParaRPr lang="en-US" sz="1575" dirty="0"/>
          </a:p>
        </p:txBody>
      </p:sp>
      <p:sp>
        <p:nvSpPr>
          <p:cNvPr id="10" name="Text 7"/>
          <p:cNvSpPr txBox="1"/>
          <p:nvPr/>
        </p:nvSpPr>
        <p:spPr>
          <a:xfrm>
            <a:off x="1238280" y="2691262"/>
            <a:ext cx="242316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開始、過程、完成怎麼分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1238280" y="3115086"/>
            <a:ext cx="263520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遠、中、近、特寫各拍什麼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1238280" y="3539002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分鏡表與素材清單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1238280" y="3962827"/>
            <a:ext cx="15750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怎麼拍出故事感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1076340" y="4386743"/>
            <a:ext cx="45624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38210" y="4567702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上午不碰相機。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76990" y="1783994"/>
            <a:ext cx="5114971" cy="3099359"/>
          </a:xfrm>
          <a:prstGeom prst="roundRect">
            <a:avLst>
              <a:gd name="adj" fmla="val 73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76990" y="1783994"/>
            <a:ext cx="5114971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82360" y="1783994"/>
            <a:ext cx="18288" cy="30993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76990" y="4873843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276990" y="1783994"/>
            <a:ext cx="18288" cy="30993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515100" y="2107875"/>
            <a:ext cx="215185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 全部在「做」</a:t>
            </a:r>
            <a:endParaRPr lang="en-US" sz="1575" dirty="0"/>
          </a:p>
        </p:txBody>
      </p:sp>
      <p:sp>
        <p:nvSpPr>
          <p:cNvPr id="22" name="Text 19"/>
          <p:cNvSpPr txBox="1"/>
          <p:nvPr/>
        </p:nvSpPr>
        <p:spPr>
          <a:xfrm>
            <a:off x="6715171" y="2479304"/>
            <a:ext cx="199906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錄影長度與三種運鏡</a:t>
            </a:r>
            <a:endParaRPr lang="en-US" sz="1575" dirty="0"/>
          </a:p>
        </p:txBody>
      </p:sp>
      <p:sp>
        <p:nvSpPr>
          <p:cNvPr id="23" name="Text 20"/>
          <p:cNvSpPr txBox="1"/>
          <p:nvPr/>
        </p:nvSpPr>
        <p:spPr>
          <a:xfrm>
            <a:off x="6715171" y="2903220"/>
            <a:ext cx="284725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正式拍攝（今天最長的一段）</a:t>
            </a:r>
            <a:endParaRPr lang="en-US" sz="1575" dirty="0"/>
          </a:p>
        </p:txBody>
      </p:sp>
      <p:sp>
        <p:nvSpPr>
          <p:cNvPr id="24" name="Text 21"/>
          <p:cNvSpPr txBox="1"/>
          <p:nvPr/>
        </p:nvSpPr>
        <p:spPr>
          <a:xfrm>
            <a:off x="6715171" y="3327044"/>
            <a:ext cx="208144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InShot 剪輯九個步驟</a:t>
            </a:r>
            <a:endParaRPr lang="en-US" sz="1575" dirty="0"/>
          </a:p>
        </p:txBody>
      </p:sp>
      <p:sp>
        <p:nvSpPr>
          <p:cNvPr id="25" name="Text 22"/>
          <p:cNvSpPr txBox="1"/>
          <p:nvPr/>
        </p:nvSpPr>
        <p:spPr>
          <a:xfrm>
            <a:off x="6715171" y="3750960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輸出、成果放映、檢視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6553230" y="4174785"/>
            <a:ext cx="45624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15100" y="4355744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下午幾乎不聽課。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211580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830891"/>
            <a:ext cx="2284628" cy="134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這支影片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要拍什麼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69201"/>
            <a:ext cx="357411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先決定主題，再決定怎麼拍。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主題不清楚，後面每一步都會卡。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1328623"/>
            <a:ext cx="513719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你的商品，可以拍成這十一種影片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866473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1571" y="2028414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商品介紹</a:t>
            </a:r>
            <a:endParaRPr lang="en-US" sz="1575" dirty="0"/>
          </a:p>
        </p:txBody>
      </p:sp>
      <p:sp>
        <p:nvSpPr>
          <p:cNvPr id="6" name="Text 3"/>
          <p:cNvSpPr txBox="1"/>
          <p:nvPr/>
        </p:nvSpPr>
        <p:spPr>
          <a:xfrm>
            <a:off x="771571" y="2323673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商品是什麼？特色在哪裡？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00471" y="1866473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4280" y="2028414"/>
            <a:ext cx="15750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試吃／試用心得</a:t>
            </a:r>
            <a:endParaRPr lang="en-US" sz="1575" dirty="0"/>
          </a:p>
        </p:txBody>
      </p:sp>
      <p:sp>
        <p:nvSpPr>
          <p:cNvPr id="9" name="Text 6"/>
          <p:cNvSpPr txBox="1"/>
          <p:nvPr/>
        </p:nvSpPr>
        <p:spPr>
          <a:xfrm>
            <a:off x="3524280" y="2323673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吃起來、用起來什麼感覺？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3180" y="1866473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76990" y="2028414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使用方式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6276990" y="2323673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怎麼用？怎麼搭配？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905890" y="1866473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29700" y="2028414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製作過程</a:t>
            </a:r>
            <a:endParaRPr lang="en-US" sz="1575" dirty="0"/>
          </a:p>
        </p:txBody>
      </p:sp>
      <p:sp>
        <p:nvSpPr>
          <p:cNvPr id="15" name="Text 12"/>
          <p:cNvSpPr txBox="1"/>
          <p:nvPr/>
        </p:nvSpPr>
        <p:spPr>
          <a:xfrm>
            <a:off x="9029700" y="2323673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從原料到完成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7670" y="2828514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1571" y="2990362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幕後花絮</a:t>
            </a:r>
            <a:endParaRPr lang="en-US" sz="1575" dirty="0"/>
          </a:p>
        </p:txBody>
      </p:sp>
      <p:sp>
        <p:nvSpPr>
          <p:cNvPr id="18" name="Text 15"/>
          <p:cNvSpPr txBox="1"/>
          <p:nvPr/>
        </p:nvSpPr>
        <p:spPr>
          <a:xfrm>
            <a:off x="771571" y="3285714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平常看不到的準備工作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00471" y="2828514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24280" y="2990362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前後對比</a:t>
            </a:r>
            <a:endParaRPr lang="en-US" sz="1575" dirty="0"/>
          </a:p>
        </p:txBody>
      </p:sp>
      <p:sp>
        <p:nvSpPr>
          <p:cNvPr id="21" name="Text 18"/>
          <p:cNvSpPr txBox="1"/>
          <p:nvPr/>
        </p:nvSpPr>
        <p:spPr>
          <a:xfrm>
            <a:off x="3524280" y="3285714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使用前後、原料與成品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53180" y="2828514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76990" y="2990362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開箱</a:t>
            </a:r>
            <a:endParaRPr lang="en-US" sz="1575" dirty="0"/>
          </a:p>
        </p:txBody>
      </p:sp>
      <p:sp>
        <p:nvSpPr>
          <p:cNvPr id="24" name="Text 21"/>
          <p:cNvSpPr txBox="1"/>
          <p:nvPr/>
        </p:nvSpPr>
        <p:spPr>
          <a:xfrm>
            <a:off x="6276990" y="3285714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從收到、打開到看見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905890" y="2828514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9700" y="2990362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商品細節</a:t>
            </a:r>
            <a:endParaRPr lang="en-US" sz="1575" dirty="0"/>
          </a:p>
        </p:txBody>
      </p:sp>
      <p:sp>
        <p:nvSpPr>
          <p:cNvPr id="27" name="Text 24"/>
          <p:cNvSpPr txBox="1"/>
          <p:nvPr/>
        </p:nvSpPr>
        <p:spPr>
          <a:xfrm>
            <a:off x="9029700" y="3285714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材質、紋理、包裝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7670" y="3790462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1571" y="3952403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顧客情境</a:t>
            </a:r>
            <a:endParaRPr lang="en-US" sz="1575" dirty="0"/>
          </a:p>
        </p:txBody>
      </p:sp>
      <p:sp>
        <p:nvSpPr>
          <p:cNvPr id="30" name="Text 27"/>
          <p:cNvSpPr txBox="1"/>
          <p:nvPr/>
        </p:nvSpPr>
        <p:spPr>
          <a:xfrm>
            <a:off x="771571" y="4247662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什麼時候適合用？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3400471" y="3790462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24280" y="3952403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常見問題</a:t>
            </a:r>
            <a:endParaRPr lang="en-US" sz="1575" dirty="0"/>
          </a:p>
        </p:txBody>
      </p:sp>
      <p:sp>
        <p:nvSpPr>
          <p:cNvPr id="33" name="Text 30"/>
          <p:cNvSpPr txBox="1"/>
          <p:nvPr/>
        </p:nvSpPr>
        <p:spPr>
          <a:xfrm>
            <a:off x="3524280" y="4247662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回答一個客人常問的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153180" y="3790462"/>
            <a:ext cx="2638410" cy="847740"/>
          </a:xfrm>
          <a:prstGeom prst="roundRect">
            <a:avLst>
              <a:gd name="adj" fmla="val 2696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76990" y="3952403"/>
            <a:ext cx="93899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推薦理由</a:t>
            </a:r>
            <a:endParaRPr lang="en-US" sz="1575" dirty="0"/>
          </a:p>
        </p:txBody>
      </p:sp>
      <p:sp>
        <p:nvSpPr>
          <p:cNvPr id="36" name="Text 33"/>
          <p:cNvSpPr txBox="1"/>
          <p:nvPr/>
        </p:nvSpPr>
        <p:spPr>
          <a:xfrm>
            <a:off x="6276990" y="4247662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為什麼推薦這個商品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7670" y="4742993"/>
            <a:ext cx="10896630" cy="557693"/>
          </a:xfrm>
          <a:prstGeom prst="roundRect">
            <a:avLst>
              <a:gd name="adj" fmla="val 30743"/>
            </a:avLst>
          </a:prstGeom>
          <a:solidFill>
            <a:srgbClr val="FBEEE6"/>
          </a:solidFill>
          <a:ln/>
        </p:spPr>
      </p:sp>
      <p:sp>
        <p:nvSpPr>
          <p:cNvPr id="38" name="Shape 35"/>
          <p:cNvSpPr/>
          <p:nvPr/>
        </p:nvSpPr>
        <p:spPr>
          <a:xfrm>
            <a:off x="647670" y="4742993"/>
            <a:ext cx="47640" cy="557693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9" name="Image 1" descr="/home/user/gogoeveryday/photo-course-2/export-pptx/build/img/p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4888382"/>
            <a:ext cx="266730" cy="266730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285921" y="4895423"/>
            <a:ext cx="496747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只選一種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來拍。貪心想全部拍，一種都拍不好。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89740"/>
            <a:ext cx="650275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想要流量，靠的是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很多支影片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，不是一支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241377"/>
            <a:ext cx="3416198" cy="177329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241377"/>
            <a:ext cx="3416198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06789" y="2241377"/>
            <a:ext cx="18288" cy="177329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005072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241377"/>
            <a:ext cx="18288" cy="177329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2040" y="2508016"/>
            <a:ext cx="261993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一支影片沒流量，很正常</a:t>
            </a:r>
            <a:endParaRPr lang="en-US" sz="1725" dirty="0"/>
          </a:p>
        </p:txBody>
      </p:sp>
      <p:sp>
        <p:nvSpPr>
          <p:cNvPr id="10" name="Text 7"/>
          <p:cNvSpPr txBox="1"/>
          <p:nvPr/>
        </p:nvSpPr>
        <p:spPr>
          <a:xfrm>
            <a:off x="962040" y="2908066"/>
            <a:ext cx="3119841" cy="845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不要因為第一支只有二十個人看就放棄。流量是累積來的，不是一支爆出來的。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87748" y="2241377"/>
            <a:ext cx="3416381" cy="177329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7748" y="2241377"/>
            <a:ext cx="341638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3" name="Shape 10"/>
          <p:cNvSpPr/>
          <p:nvPr/>
        </p:nvSpPr>
        <p:spPr>
          <a:xfrm>
            <a:off x="7794620" y="2241377"/>
            <a:ext cx="18288" cy="177329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387748" y="4005072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387748" y="2241377"/>
            <a:ext cx="18288" cy="177329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49689" y="2508016"/>
            <a:ext cx="284972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觀眾要知道下次看得到什麼</a:t>
            </a:r>
            <a:endParaRPr lang="en-US" sz="1725" dirty="0"/>
          </a:p>
        </p:txBody>
      </p:sp>
      <p:sp>
        <p:nvSpPr>
          <p:cNvPr id="17" name="Text 14"/>
          <p:cNvSpPr txBox="1"/>
          <p:nvPr/>
        </p:nvSpPr>
        <p:spPr>
          <a:xfrm>
            <a:off x="4549689" y="2908066"/>
            <a:ext cx="3119841" cy="845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同一種主題持續拍，就變成一個「系列」。有系列，別人才會追蹤你。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975580" y="2241377"/>
            <a:ext cx="3416198" cy="177329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75580" y="2241377"/>
            <a:ext cx="3416198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82268" y="2241377"/>
            <a:ext cx="18288" cy="177329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975580" y="4005072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975580" y="2241377"/>
            <a:ext cx="18288" cy="177329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137520" y="2508016"/>
            <a:ext cx="2389876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系列對你自己好處更大</a:t>
            </a:r>
            <a:endParaRPr lang="en-US" sz="1725" dirty="0"/>
          </a:p>
        </p:txBody>
      </p:sp>
      <p:sp>
        <p:nvSpPr>
          <p:cNvPr id="24" name="Text 21"/>
          <p:cNvSpPr txBox="1"/>
          <p:nvPr/>
        </p:nvSpPr>
        <p:spPr>
          <a:xfrm>
            <a:off x="8137520" y="2908066"/>
            <a:ext cx="3119841" cy="845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定了系列，就不用每次重新想題材——照著同一個格式換商品拍就好。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0100" y="4176522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26" name="Shape 23"/>
          <p:cNvSpPr/>
          <p:nvPr/>
        </p:nvSpPr>
        <p:spPr>
          <a:xfrm>
            <a:off x="800100" y="4176522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7" name="Image 1" descr="/home/user/gogoeveryday/photo-course-2/export-pptx/build/img/p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524634"/>
            <a:ext cx="264444" cy="30477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474104" y="4395612"/>
            <a:ext cx="10162733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建議做法：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從十一種裡挑 2–3 種當固定系列，輪流發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十一種各拍一次，不如三種各拍四次。收尾時我們會排一個月的計畫。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761878"/>
            <a:ext cx="513719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不知道拍什麼，先看你的商品類型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299728"/>
            <a:ext cx="142875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7670" y="1728307"/>
            <a:ext cx="14287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2950" y="1404518"/>
            <a:ext cx="94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你的商品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76420" y="1299728"/>
            <a:ext cx="670557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076420" y="1728307"/>
            <a:ext cx="67055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71700" y="1404518"/>
            <a:ext cx="1375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最好拍的三種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82080" y="1299728"/>
            <a:ext cx="276222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782080" y="1728307"/>
            <a:ext cx="27622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877270" y="1404518"/>
            <a:ext cx="737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7670" y="1737909"/>
            <a:ext cx="142875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47670" y="2480859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2950" y="1995038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食品、烘焙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076420" y="1737909"/>
            <a:ext cx="670557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076420" y="2480859"/>
            <a:ext cx="67055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171700" y="1995038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製作過程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／試吃心得／商品細節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782080" y="1737909"/>
            <a:ext cx="276222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782080" y="2480859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877270" y="1852209"/>
            <a:ext cx="271595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有火、有攪拌、有出爐，畫面本身就會動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7670" y="2490368"/>
            <a:ext cx="142875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47670" y="3233318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2950" y="2747498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手作、飾品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076420" y="2490368"/>
            <a:ext cx="670557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76420" y="3233318"/>
            <a:ext cx="67055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171700" y="2747498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製作過程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／商品細節／使用方式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782080" y="2490368"/>
            <a:ext cx="276222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782080" y="3233318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877270" y="2604668"/>
            <a:ext cx="271595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手的動作最好看，細節撐得起特寫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47670" y="3242828"/>
            <a:ext cx="14287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47670" y="3700028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42950" y="3357128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農產品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2076420" y="3242828"/>
            <a:ext cx="670557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076420" y="3700028"/>
            <a:ext cx="67055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171700" y="3357128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前後對比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／製作過程／顧客情境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782080" y="3242828"/>
            <a:ext cx="276222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8782080" y="3700028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877270" y="3357128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從田裡到餐桌，落差最大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7670" y="3709538"/>
            <a:ext cx="142875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7670" y="4452488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2950" y="3823838"/>
            <a:ext cx="130247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保養、生活用品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2076420" y="3709538"/>
            <a:ext cx="670557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076420" y="4452488"/>
            <a:ext cx="67055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171700" y="3966759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使用方式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／前後對比／常見問題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8782080" y="3709538"/>
            <a:ext cx="276222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8782080" y="4452488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877270" y="3966759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怎麼用最多人問，也最好示範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742950" y="4719218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服務類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2171700" y="4719218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幕後花絮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／顧客情境／推薦理由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8877270" y="4576298"/>
            <a:ext cx="271595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沒有實體商品，就拍你在做什麼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7670" y="5309738"/>
            <a:ext cx="10896630" cy="557693"/>
          </a:xfrm>
          <a:prstGeom prst="roundRect">
            <a:avLst>
              <a:gd name="adj" fmla="val 30743"/>
            </a:avLst>
          </a:prstGeom>
          <a:solidFill>
            <a:srgbClr val="FBEEE6"/>
          </a:solidFill>
          <a:ln/>
        </p:spPr>
      </p:sp>
      <p:sp>
        <p:nvSpPr>
          <p:cNvPr id="53" name="Shape 50"/>
          <p:cNvSpPr/>
          <p:nvPr/>
        </p:nvSpPr>
        <p:spPr>
          <a:xfrm>
            <a:off x="647670" y="5309738"/>
            <a:ext cx="47640" cy="557693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54" name="Image 1" descr="/home/user/gogoeveryday/photo-course-2/export-pptx/build/img/p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5455128"/>
            <a:ext cx="266730" cy="26673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1285921" y="5462168"/>
            <a:ext cx="454347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粗體那一種是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最容易上手的起點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。今天就拍它。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983242"/>
            <a:ext cx="5124480" cy="2700955"/>
          </a:xfrm>
          <a:prstGeom prst="roundRect">
            <a:avLst>
              <a:gd name="adj" fmla="val 8464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1019190" y="2240463"/>
            <a:ext cx="1223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 想講太多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19190" y="2611892"/>
            <a:ext cx="4967478" cy="87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「我要介紹我的果醬，講一下怎麼做的，還有草莓是哪裡來的， 然後說一下怎麼吃，再講包裝很漂亮可以送禮，最後說現在有優惠⋯⋯」</a:t>
            </a:r>
            <a:endParaRPr lang="en-US" sz="1575" dirty="0"/>
          </a:p>
        </p:txBody>
      </p:sp>
      <p:sp>
        <p:nvSpPr>
          <p:cNvPr id="6" name="Shape 3"/>
          <p:cNvSpPr/>
          <p:nvPr/>
        </p:nvSpPr>
        <p:spPr>
          <a:xfrm>
            <a:off x="1057321" y="3686221"/>
            <a:ext cx="461013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19190" y="3867180"/>
            <a:ext cx="4791456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結果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：十五秒塞六件事， 觀眾看完一件都沒記住，也不知道你在賣什麼。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7480" y="2143262"/>
            <a:ext cx="5124480" cy="2380915"/>
          </a:xfrm>
          <a:prstGeom prst="roundRect">
            <a:avLst>
              <a:gd name="adj" fmla="val 9601"/>
            </a:avLst>
          </a:prstGeom>
          <a:solidFill>
            <a:srgbClr val="DFE8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86571" y="2400483"/>
            <a:ext cx="1223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只講一件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86571" y="2771912"/>
            <a:ext cx="4543471" cy="55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「這支只講一件事：</a:t>
            </a:r>
            <a:pPr algn="l" indent="0" marL="0">
              <a:lnSpc>
                <a:spcPts val="2520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我的草莓果醬是怎麼熬出來的</a:t>
            </a:r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。」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6524610" y="3526201"/>
            <a:ext cx="461013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86571" y="3707160"/>
            <a:ext cx="4791456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結果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：觀眾看完記得「這個人自己熬果醬」。 其他五件事？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拍成另外五支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——這就是系列。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363151" y="1777868"/>
            <a:ext cx="347490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觀眾滑走的三個瞬間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1238280" y="2543312"/>
            <a:ext cx="3111429" cy="1502908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238280" y="2543312"/>
            <a:ext cx="3111429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340108" y="2543312"/>
            <a:ext cx="18288" cy="150290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238280" y="4036710"/>
            <a:ext cx="311142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238280" y="2543312"/>
            <a:ext cx="18288" cy="150290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93159" y="2829062"/>
            <a:ext cx="241118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秒看不懂在拍什麼</a:t>
            </a:r>
            <a:endParaRPr lang="en-US" sz="1725" dirty="0"/>
          </a:p>
        </p:txBody>
      </p:sp>
      <p:sp>
        <p:nvSpPr>
          <p:cNvPr id="10" name="Text 7"/>
          <p:cNvSpPr txBox="1"/>
          <p:nvPr/>
        </p:nvSpPr>
        <p:spPr>
          <a:xfrm>
            <a:off x="1339779" y="3229112"/>
            <a:ext cx="291785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畫面一開始是天花板、是桌子、是你在調整手機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40179" y="2543312"/>
            <a:ext cx="3111520" cy="1502908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0179" y="2543312"/>
            <a:ext cx="311152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642189" y="2543312"/>
            <a:ext cx="18288" cy="150290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540179" y="4036710"/>
            <a:ext cx="31115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40179" y="2543312"/>
            <a:ext cx="18288" cy="150290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35636" y="2829062"/>
            <a:ext cx="1930207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講到一半換了話題</a:t>
            </a:r>
            <a:endParaRPr lang="en-US" sz="1725" dirty="0"/>
          </a:p>
        </p:txBody>
      </p:sp>
      <p:sp>
        <p:nvSpPr>
          <p:cNvPr id="17" name="Text 14"/>
          <p:cNvSpPr txBox="1"/>
          <p:nvPr/>
        </p:nvSpPr>
        <p:spPr>
          <a:xfrm>
            <a:off x="4742627" y="3229112"/>
            <a:ext cx="2715951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本來在講怎麼做，突然講到包裝，觀眾跟不上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42169" y="2543312"/>
            <a:ext cx="3111429" cy="1502908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842169" y="2543312"/>
            <a:ext cx="3111429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20" name="Shape 17"/>
          <p:cNvSpPr/>
          <p:nvPr/>
        </p:nvSpPr>
        <p:spPr>
          <a:xfrm>
            <a:off x="10944088" y="2543312"/>
            <a:ext cx="18288" cy="150290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842169" y="4036710"/>
            <a:ext cx="311142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842169" y="2543312"/>
            <a:ext cx="18288" cy="150290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437535" y="2829062"/>
            <a:ext cx="1930207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看完不知道要幹嘛</a:t>
            </a:r>
            <a:endParaRPr lang="en-US" sz="1725" dirty="0"/>
          </a:p>
        </p:txBody>
      </p:sp>
      <p:sp>
        <p:nvSpPr>
          <p:cNvPr id="24" name="Text 21"/>
          <p:cNvSpPr txBox="1"/>
          <p:nvPr/>
        </p:nvSpPr>
        <p:spPr>
          <a:xfrm>
            <a:off x="7943759" y="3229112"/>
            <a:ext cx="291785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沒有結尾，最後一個畫面是你伸手去關手機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867662" y="4208160"/>
            <a:ext cx="8456737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6" name="Shape 23"/>
          <p:cNvSpPr/>
          <p:nvPr/>
        </p:nvSpPr>
        <p:spPr>
          <a:xfrm>
            <a:off x="1867662" y="4208160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7" name="Image 1" descr="/home/user/gogoeveryday/photo-course-2/export-pptx/build/img/p1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922" y="4401190"/>
            <a:ext cx="304770" cy="30477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355677" y="4427159"/>
            <a:ext cx="799487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這三個問題，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都是在拍之前就決定的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不是剪輯能救的。所以我們現在要先想清楚。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25835" y="1072043"/>
            <a:ext cx="1733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八分鐘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423331" y="1472093"/>
            <a:ext cx="535490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寫下這兩句，今天就照這兩句拍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619220" y="2237445"/>
            <a:ext cx="8953530" cy="1209660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19220" y="2237445"/>
            <a:ext cx="895353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563240" y="2237445"/>
            <a:ext cx="18288" cy="12096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619220" y="3437595"/>
            <a:ext cx="895353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619220" y="2237445"/>
            <a:ext cx="57150" cy="120966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04970" y="2494666"/>
            <a:ext cx="1787103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我今天要拍的是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904970" y="2885206"/>
            <a:ext cx="454310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＿＿＿＿＿＿＿＿＿＿＿＿＿＿＿＿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619220" y="3551895"/>
            <a:ext cx="8953530" cy="1209660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19220" y="3551895"/>
            <a:ext cx="895353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563240" y="3551895"/>
            <a:ext cx="18288" cy="12096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619220" y="4752045"/>
            <a:ext cx="895353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619220" y="3551895"/>
            <a:ext cx="57150" cy="120966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904970" y="3809116"/>
            <a:ext cx="2271735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我希望觀眾看完知道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904970" y="4199656"/>
            <a:ext cx="454310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＿＿＿＿＿＿＿＿＿＿＿＿＿＿＿＿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2605126" y="4923495"/>
            <a:ext cx="698181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20" name="Shape 17"/>
          <p:cNvSpPr/>
          <p:nvPr/>
        </p:nvSpPr>
        <p:spPr>
          <a:xfrm>
            <a:off x="2605126" y="4923495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1" name="Image 1" descr="/home/user/gogoeveryday/photo-course-2/export-pptx/build/img/p1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85" y="5126126"/>
            <a:ext cx="285750" cy="28575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117830" y="5142586"/>
            <a:ext cx="645173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兩句都要寫。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只有第一句的人，通常拍到一半就不知道要拍什麼了。</a:t>
            </a:r>
            <a:endParaRPr lang="en-US" sz="15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26485"/>
            <a:ext cx="436543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卡住的三種情況，這樣處理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978030"/>
            <a:ext cx="10591770" cy="895380"/>
          </a:xfrm>
          <a:prstGeom prst="roundRect">
            <a:avLst>
              <a:gd name="adj" fmla="val 14890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978030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1382360" y="1978030"/>
            <a:ext cx="18288" cy="8953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2863901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978030"/>
            <a:ext cx="47640" cy="8953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0171" y="2149480"/>
            <a:ext cx="164573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想不到要拍什麼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2752710" y="2168591"/>
            <a:ext cx="43540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回去看第 9 頁的商品類型對照，選粗體那一種。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真的沒想法就拍「製作過程」——最不會失敗。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0100" y="2978201"/>
            <a:ext cx="10591770" cy="609630"/>
          </a:xfrm>
          <a:prstGeom prst="roundRect">
            <a:avLst>
              <a:gd name="adj" fmla="val 21869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800100" y="2978201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1382360" y="2978201"/>
            <a:ext cx="18288" cy="6096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" y="3578230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" y="2978201"/>
            <a:ext cx="47640" cy="60963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0171" y="3149651"/>
            <a:ext cx="164573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想拍的東西太多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2752710" y="3168670"/>
            <a:ext cx="57449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把它們列出來，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今天只拍第一個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，其他寫在旁邊當下週的題材。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0100" y="3692530"/>
            <a:ext cx="10591770" cy="895380"/>
          </a:xfrm>
          <a:prstGeom prst="roundRect">
            <a:avLst>
              <a:gd name="adj" fmla="val 14890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800100" y="3692530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382360" y="3692530"/>
            <a:ext cx="18288" cy="8953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00100" y="4578401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00100" y="3692530"/>
            <a:ext cx="47640" cy="89538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00171" y="3863980"/>
            <a:ext cx="164573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第二句寫不出來</a:t>
            </a:r>
            <a:endParaRPr lang="en-US" sz="1650" dirty="0"/>
          </a:p>
        </p:txBody>
      </p:sp>
      <p:sp>
        <p:nvSpPr>
          <p:cNvPr id="24" name="Text 21"/>
          <p:cNvSpPr txBox="1"/>
          <p:nvPr/>
        </p:nvSpPr>
        <p:spPr>
          <a:xfrm>
            <a:off x="2752710" y="3883091"/>
            <a:ext cx="51391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問自己：如果客人看完只記得一句話，你希望是哪一句？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那句就是答案。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0100" y="4749851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6" name="Shape 23"/>
          <p:cNvSpPr/>
          <p:nvPr/>
        </p:nvSpPr>
        <p:spPr>
          <a:xfrm>
            <a:off x="800100" y="4749851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7" name="Image 1" descr="/home/user/gogoeveryday/photo-course-2/export-pptx/build/img/p1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952390"/>
            <a:ext cx="285750" cy="28575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495410" y="4968941"/>
            <a:ext cx="841897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寫不出來不是你的問題，是這一步本來就最難。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但這一步跳過去，後面每一步都會更難。</a:t>
            </a:r>
            <a:endParaRPr lang="en-US" sz="15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612727"/>
            <a:ext cx="472159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同樣是果醬，兩種寫法差很多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519172"/>
            <a:ext cx="5153010" cy="1334384"/>
          </a:xfrm>
          <a:prstGeom prst="roundRect">
            <a:avLst>
              <a:gd name="adj" fmla="val 11423"/>
            </a:avLst>
          </a:prstGeom>
          <a:solidFill>
            <a:srgbClr val="FDF1EF"/>
          </a:solidFill>
          <a:ln w="9525">
            <a:solidFill>
              <a:srgbClr val="E6B3A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3021" y="2719243"/>
            <a:ext cx="2847259" cy="93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模糊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「我要拍我的果醬。」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「我希望大家覺得很好吃。」</a:t>
            </a:r>
            <a:endParaRPr lang="en-US" sz="1575" dirty="0"/>
          </a:p>
        </p:txBody>
      </p:sp>
      <p:sp>
        <p:nvSpPr>
          <p:cNvPr id="6" name="Shape 3"/>
          <p:cNvSpPr/>
          <p:nvPr/>
        </p:nvSpPr>
        <p:spPr>
          <a:xfrm>
            <a:off x="800100" y="3958346"/>
            <a:ext cx="5153010" cy="941192"/>
          </a:xfrm>
          <a:prstGeom prst="roundRect">
            <a:avLst>
              <a:gd name="adj" fmla="val 24288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2040" y="4158417"/>
            <a:ext cx="4937211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拍的時候會卡：果醬的什麼？放在桌上拍嗎？拍多久？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什麼都可以，就等於什麼都不知道。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8860" y="2364273"/>
            <a:ext cx="5153010" cy="1644366"/>
          </a:xfrm>
          <a:prstGeom prst="roundRect">
            <a:avLst>
              <a:gd name="adj" fmla="val 9270"/>
            </a:avLst>
          </a:prstGeom>
          <a:solidFill>
            <a:srgbClr val="F0F6EE"/>
          </a:solidFill>
          <a:ln w="9525">
            <a:solidFill>
              <a:srgbClr val="B9CD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81780" y="2564343"/>
            <a:ext cx="5007894" cy="124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清楚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「我要拍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草莓果醬從下鍋到裝瓶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的過程。」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「我希望觀眾看完知道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這是我自己熬的，不是買現成的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。」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6238860" y="4113428"/>
            <a:ext cx="5153010" cy="941192"/>
          </a:xfrm>
          <a:prstGeom prst="roundRect">
            <a:avLst>
              <a:gd name="adj" fmla="val 24288"/>
            </a:avLst>
          </a:prstGeom>
          <a:solidFill>
            <a:srgbClr val="DFE8D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4313499"/>
            <a:ext cx="4937211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拍什麼馬上就有答案：草莓下鍋、攪拌、裝瓶、貼標。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連結尾要拍什麼都決定了。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573591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92810"/>
            <a:ext cx="2833177" cy="61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三段式腳本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307190"/>
            <a:ext cx="334194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不用學正式劇本格式。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只要三段：開始、過程、完成。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1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568379"/>
            <a:ext cx="3850904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一支短影片，就這三段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333732"/>
            <a:ext cx="3149651" cy="1921977"/>
          </a:xfrm>
          <a:prstGeom prst="roundRect">
            <a:avLst>
              <a:gd name="adj" fmla="val 8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333732"/>
            <a:ext cx="3149651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3940241" y="2333732"/>
            <a:ext cx="18288" cy="192197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246199"/>
            <a:ext cx="314965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333732"/>
            <a:ext cx="18288" cy="192197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2040" y="2648102"/>
            <a:ext cx="70299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962040" y="3114812"/>
            <a:ext cx="242316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先讓人知道今天要看什麼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962040" y="3489990"/>
            <a:ext cx="2132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秒決定觀眾留不留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045031" y="3109051"/>
            <a:ext cx="43626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521251" y="2333732"/>
            <a:ext cx="3149651" cy="1921977"/>
          </a:xfrm>
          <a:prstGeom prst="roundRect">
            <a:avLst>
              <a:gd name="adj" fmla="val 8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1251" y="2333732"/>
            <a:ext cx="3149651" cy="5715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5" name="Shape 12"/>
          <p:cNvSpPr/>
          <p:nvPr/>
        </p:nvSpPr>
        <p:spPr>
          <a:xfrm>
            <a:off x="7661392" y="2333732"/>
            <a:ext cx="18288" cy="192197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521251" y="4246199"/>
            <a:ext cx="314965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521251" y="2333732"/>
            <a:ext cx="18288" cy="192197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83191" y="2648102"/>
            <a:ext cx="70299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4683191" y="3114812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主要內容、動作、特色</a:t>
            </a:r>
            <a:endParaRPr lang="en-US" sz="1575" dirty="0"/>
          </a:p>
        </p:txBody>
      </p:sp>
      <p:sp>
        <p:nvSpPr>
          <p:cNvPr id="20" name="Text 17"/>
          <p:cNvSpPr txBox="1"/>
          <p:nvPr/>
        </p:nvSpPr>
        <p:spPr>
          <a:xfrm>
            <a:off x="4683191" y="3489990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這一段最長，也最好看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766182" y="3109051"/>
            <a:ext cx="43626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8242402" y="2333732"/>
            <a:ext cx="3149651" cy="1921977"/>
          </a:xfrm>
          <a:prstGeom prst="roundRect">
            <a:avLst>
              <a:gd name="adj" fmla="val 8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42402" y="2333732"/>
            <a:ext cx="3149651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Shape 21"/>
          <p:cNvSpPr/>
          <p:nvPr/>
        </p:nvSpPr>
        <p:spPr>
          <a:xfrm>
            <a:off x="11382543" y="2333732"/>
            <a:ext cx="18288" cy="192197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242402" y="4246199"/>
            <a:ext cx="314965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242402" y="2333732"/>
            <a:ext cx="18288" cy="192197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404342" y="2648102"/>
            <a:ext cx="702991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2250" dirty="0"/>
          </a:p>
        </p:txBody>
      </p:sp>
      <p:sp>
        <p:nvSpPr>
          <p:cNvPr id="28" name="Text 25"/>
          <p:cNvSpPr txBox="1"/>
          <p:nvPr/>
        </p:nvSpPr>
        <p:spPr>
          <a:xfrm>
            <a:off x="8404342" y="3114812"/>
            <a:ext cx="2847259" cy="51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留下印象、完成畫面或一句重點</a:t>
            </a:r>
            <a:endParaRPr lang="en-US" sz="1575" dirty="0"/>
          </a:p>
        </p:txBody>
      </p:sp>
      <p:sp>
        <p:nvSpPr>
          <p:cNvPr id="29" name="Text 26"/>
          <p:cNvSpPr txBox="1"/>
          <p:nvPr/>
        </p:nvSpPr>
        <p:spPr>
          <a:xfrm>
            <a:off x="8404342" y="3769980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沒有結尾，觀眾會覺得斷掉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0100" y="4417649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31" name="Shape 28"/>
          <p:cNvSpPr/>
          <p:nvPr/>
        </p:nvSpPr>
        <p:spPr>
          <a:xfrm>
            <a:off x="800100" y="4417649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2" name="Image 1" descr="/home/user/gogoeveryday/photo-course-2/export-pptx/build/img/p1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610679"/>
            <a:ext cx="304770" cy="30477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514521" y="4636740"/>
            <a:ext cx="629866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口訣就三個字：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開始、過程、完成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接下來三頁看三個實際例子。</a:t>
            </a:r>
            <a:endParaRPr lang="en-US" sz="15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36001"/>
            <a:ext cx="5096500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商品介紹：完整 → 特色 → 情境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487546"/>
            <a:ext cx="341638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06880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3910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</a:t>
            </a:r>
            <a:endParaRPr lang="en-US" sz="1650" dirty="0"/>
          </a:p>
        </p:txBody>
      </p:sp>
      <p:pic>
        <p:nvPicPr>
          <p:cNvPr id="10" name="Image 1" descr="/home/user/gogoeveryday/photo-course-2/export-pptx/build/img/p1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0" y="2087575"/>
            <a:ext cx="1257300" cy="2238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23910" y="4440326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桌上的完整商品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3910" y="4754606"/>
            <a:ext cx="133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 · 3 秒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87931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387931" y="1487546"/>
            <a:ext cx="3416381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9471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7931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8793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11741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</a:t>
            </a:r>
            <a:endParaRPr lang="en-US" sz="1650" dirty="0"/>
          </a:p>
        </p:txBody>
      </p:sp>
      <p:pic>
        <p:nvPicPr>
          <p:cNvPr id="19" name="Image 2" descr="/home/user/gogoeveryday/photo-course-2/export-pptx/build/img/p1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780" y="2087575"/>
            <a:ext cx="1257300" cy="22383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11741" y="4440326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手拿起來、轉一面、指出特色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11741" y="4754606"/>
            <a:ext cx="1942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中景＋近景 · 8 秒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975671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975671" y="1487546"/>
            <a:ext cx="341638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Shape 19"/>
          <p:cNvSpPr/>
          <p:nvPr/>
        </p:nvSpPr>
        <p:spPr>
          <a:xfrm>
            <a:off x="11382543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975671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797567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481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650" dirty="0"/>
          </a:p>
        </p:txBody>
      </p:sp>
      <p:pic>
        <p:nvPicPr>
          <p:cNvPr id="28" name="Image 3" descr="/home/user/gogoeveryday/photo-course-2/export-pptx/build/img/p17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611" y="2087575"/>
            <a:ext cx="1257300" cy="22383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099481" y="4440326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商品放在使用情境裡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099481" y="4754606"/>
            <a:ext cx="133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 · 4 秒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00100" y="5354726"/>
            <a:ext cx="10591770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32" name="Shape 26"/>
          <p:cNvSpPr/>
          <p:nvPr/>
        </p:nvSpPr>
        <p:spPr>
          <a:xfrm>
            <a:off x="800100" y="5354726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3" name="Image 4" descr="/home/user/gogoeveryday/photo-course-2/export-pptx/build/img/p17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21" y="5509626"/>
            <a:ext cx="266730" cy="26673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38260" y="5516575"/>
            <a:ext cx="5345125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總長約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。開始那 3 秒就要讓人看出這是什麼東西。</a:t>
            </a:r>
            <a:endParaRPr lang="en-US" sz="15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36001"/>
            <a:ext cx="5096500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試吃心得：拿起 → 試吃 → 推薦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487546"/>
            <a:ext cx="341638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06880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3910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</a:t>
            </a:r>
            <a:endParaRPr lang="en-US" sz="1650" dirty="0"/>
          </a:p>
        </p:txBody>
      </p:sp>
      <p:pic>
        <p:nvPicPr>
          <p:cNvPr id="10" name="Image 1" descr="/home/user/gogoeveryday/photo-course-2/export-pptx/build/img/p1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0" y="2087575"/>
            <a:ext cx="1257300" cy="2238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23910" y="4440326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手拿起商品，鏡頭帶到臉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3910" y="4754606"/>
            <a:ext cx="133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 · 3 秒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87931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387931" y="1487546"/>
            <a:ext cx="3416381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9471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7931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8793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11741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</a:t>
            </a:r>
            <a:endParaRPr lang="en-US" sz="1650" dirty="0"/>
          </a:p>
        </p:txBody>
      </p:sp>
      <p:pic>
        <p:nvPicPr>
          <p:cNvPr id="19" name="Image 2" descr="/home/user/gogoeveryday/photo-course-2/export-pptx/build/img/p1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780" y="2087575"/>
            <a:ext cx="1257300" cy="22383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11741" y="4440326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打開、聞、吃，臉上的反應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11741" y="4754606"/>
            <a:ext cx="2054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近景＋特寫 · 12 秒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975671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975671" y="1487546"/>
            <a:ext cx="341638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Shape 19"/>
          <p:cNvSpPr/>
          <p:nvPr/>
        </p:nvSpPr>
        <p:spPr>
          <a:xfrm>
            <a:off x="11382543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975671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797567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481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650" dirty="0"/>
          </a:p>
        </p:txBody>
      </p:sp>
      <p:pic>
        <p:nvPicPr>
          <p:cNvPr id="28" name="Image 3" descr="/home/user/gogoeveryday/photo-course-2/export-pptx/build/img/p18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611" y="2087575"/>
            <a:ext cx="1257300" cy="22383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099481" y="4440326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比一個手勢，或說一句心得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099481" y="4754606"/>
            <a:ext cx="133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 · 5 秒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00100" y="5354726"/>
            <a:ext cx="10591770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32" name="Shape 26"/>
          <p:cNvSpPr/>
          <p:nvPr/>
        </p:nvSpPr>
        <p:spPr>
          <a:xfrm>
            <a:off x="800100" y="5354726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3" name="Image 4" descr="/home/user/gogoeveryday/photo-course-2/export-pptx/build/img/p18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21" y="5509626"/>
            <a:ext cx="266730" cy="26673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38260" y="5516575"/>
            <a:ext cx="510930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總長約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。過程那一段的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反應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是重點，不是商品。</a:t>
            </a:r>
            <a:endParaRPr lang="en-US" sz="15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36001"/>
            <a:ext cx="5096500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製作過程：原料 → 製作 → 成品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487546"/>
            <a:ext cx="341638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06880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3910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</a:t>
            </a:r>
            <a:endParaRPr lang="en-US" sz="1650" dirty="0"/>
          </a:p>
        </p:txBody>
      </p:sp>
      <p:pic>
        <p:nvPicPr>
          <p:cNvPr id="10" name="Image 1" descr="/home/user/gogoeveryday/photo-course-2/export-pptx/build/img/p1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0" y="2087575"/>
            <a:ext cx="1257300" cy="2238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23910" y="4440326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桌上攤開的原料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3910" y="4754606"/>
            <a:ext cx="133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 · 3 秒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87931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387931" y="1487546"/>
            <a:ext cx="3416381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9471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7931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8793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11741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</a:t>
            </a:r>
            <a:endParaRPr lang="en-US" sz="1650" dirty="0"/>
          </a:p>
        </p:txBody>
      </p:sp>
      <p:pic>
        <p:nvPicPr>
          <p:cNvPr id="19" name="Image 2" descr="/home/user/gogoeveryday/photo-course-2/export-pptx/build/img/p1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780" y="2087575"/>
            <a:ext cx="1257300" cy="22383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11741" y="4440326"/>
            <a:ext cx="3321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切、攪、下鍋、裝瓶（多個短鏡頭）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11741" y="4754606"/>
            <a:ext cx="2054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近景＋特寫 · 15 秒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975671" y="1487546"/>
            <a:ext cx="3416381" cy="3705240"/>
          </a:xfrm>
          <a:prstGeom prst="roundRect">
            <a:avLst>
              <a:gd name="adj" fmla="val 4462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975671" y="1487546"/>
            <a:ext cx="341638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Shape 19"/>
          <p:cNvSpPr/>
          <p:nvPr/>
        </p:nvSpPr>
        <p:spPr>
          <a:xfrm>
            <a:off x="11382543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975671" y="518327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7975671" y="1487546"/>
            <a:ext cx="18288" cy="3705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099481" y="171614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650" dirty="0"/>
          </a:p>
        </p:txBody>
      </p:sp>
      <p:pic>
        <p:nvPicPr>
          <p:cNvPr id="28" name="Image 3" descr="/home/user/gogoeveryday/photo-course-2/export-pptx/build/img/p1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611" y="2087575"/>
            <a:ext cx="1257300" cy="22383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099481" y="4440326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完成的商品，貼上標籤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099481" y="4754606"/>
            <a:ext cx="133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 · 4 秒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00100" y="5354726"/>
            <a:ext cx="10591770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32" name="Shape 26"/>
          <p:cNvSpPr/>
          <p:nvPr/>
        </p:nvSpPr>
        <p:spPr>
          <a:xfrm>
            <a:off x="800100" y="5354726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3" name="Image 4" descr="/home/user/gogoeveryday/photo-course-2/export-pptx/build/img/p19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21" y="5509626"/>
            <a:ext cx="266730" cy="26673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38260" y="5516575"/>
            <a:ext cx="682937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總長約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。過程那一段可以拆成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四五個 3 秒的小鏡頭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，節奏才會好。</a:t>
            </a:r>
            <a:endParaRPr lang="en-US" sz="15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80531" y="1229136"/>
            <a:ext cx="1733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八分鐘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799241" y="1629186"/>
            <a:ext cx="4602907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照著你的兩句話，寫出三段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524030" y="2394631"/>
            <a:ext cx="9144000" cy="666780"/>
          </a:xfrm>
          <a:prstGeom prst="roundRect">
            <a:avLst>
              <a:gd name="adj" fmla="val 342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24030" y="2394631"/>
            <a:ext cx="9144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658521" y="2394631"/>
            <a:ext cx="18288" cy="666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524030" y="3051901"/>
            <a:ext cx="9144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524030" y="2394631"/>
            <a:ext cx="57150" cy="6667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71650" y="259470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628900" y="2594701"/>
            <a:ext cx="429164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＿＿＿＿＿＿＿＿＿＿＿＿＿＿ 約 3 秒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524030" y="3166201"/>
            <a:ext cx="9144000" cy="666780"/>
          </a:xfrm>
          <a:prstGeom prst="roundRect">
            <a:avLst>
              <a:gd name="adj" fmla="val 342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24030" y="3166201"/>
            <a:ext cx="9144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658521" y="3166201"/>
            <a:ext cx="18288" cy="666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524030" y="3823381"/>
            <a:ext cx="9144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524030" y="3166201"/>
            <a:ext cx="57150" cy="66678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771650" y="336618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628900" y="3366181"/>
            <a:ext cx="4821448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＿＿＿＿＿＿＿＿＿＿＿＿＿＿ 約 10–15 秒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24030" y="3937681"/>
            <a:ext cx="9144000" cy="666780"/>
          </a:xfrm>
          <a:prstGeom prst="roundRect">
            <a:avLst>
              <a:gd name="adj" fmla="val 342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524030" y="3937681"/>
            <a:ext cx="9144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0658521" y="3937681"/>
            <a:ext cx="18288" cy="666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24030" y="4594951"/>
            <a:ext cx="9144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524030" y="3937681"/>
            <a:ext cx="57150" cy="66678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771650" y="413775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2628900" y="4137751"/>
            <a:ext cx="429164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＿＿＿＿＿＿＿＿＿＿＿＿＿＿ 約 4 秒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2577236" y="4766401"/>
            <a:ext cx="7037497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7" name="Shape 24"/>
          <p:cNvSpPr/>
          <p:nvPr/>
        </p:nvSpPr>
        <p:spPr>
          <a:xfrm>
            <a:off x="2577236" y="4766401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1" descr="/home/user/gogoeveryday/photo-course-2/export-pptx/build/img/p2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496" y="4968941"/>
            <a:ext cx="285750" cy="28575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088295" y="4985400"/>
            <a:ext cx="651061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每一段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一句話就好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，不要寫成作文。 這三句話等一下要變成分鏡表。</a:t>
            </a:r>
            <a:endParaRPr lang="en-US" sz="15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75333" y="1444386"/>
            <a:ext cx="3850904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三個檢查，過了才往下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1238280" y="2209830"/>
            <a:ext cx="3111429" cy="2169871"/>
          </a:xfrm>
          <a:prstGeom prst="roundRect">
            <a:avLst>
              <a:gd name="adj" fmla="val 105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612989" y="2428921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2680015" y="249558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43345" y="2905140"/>
            <a:ext cx="291062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開始那一段，3 秒內看得出在拍什麼嗎？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339779" y="3581430"/>
            <a:ext cx="2917850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看不出來，就換一個更明顯的畫面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40179" y="2209830"/>
            <a:ext cx="3111520" cy="2169871"/>
          </a:xfrm>
          <a:prstGeom prst="roundRect">
            <a:avLst>
              <a:gd name="adj" fmla="val 105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14888" y="2428921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D99A4E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81913" y="249558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35678" y="2905140"/>
            <a:ext cx="272985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過程那一段，有幾個具體動作？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4944527" y="3581430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少於三個，影片會很單調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42169" y="2209830"/>
            <a:ext cx="3111429" cy="2169871"/>
          </a:xfrm>
          <a:prstGeom prst="roundRect">
            <a:avLst>
              <a:gd name="adj" fmla="val 105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216969" y="2428921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5F7A63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283995" y="249558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37759" y="2905140"/>
            <a:ext cx="272985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完成那一段，有東西可以拍嗎？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7943759" y="3581430"/>
            <a:ext cx="2917850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沒有的話，補一個「成品放好」的畫面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105120" y="4541642"/>
            <a:ext cx="5981730" cy="691012"/>
          </a:xfrm>
          <a:prstGeom prst="roundRect">
            <a:avLst>
              <a:gd name="adj" fmla="val 24811"/>
            </a:avLst>
          </a:prstGeom>
          <a:solidFill>
            <a:srgbClr val="DFE8DC"/>
          </a:solidFill>
          <a:ln/>
        </p:spPr>
      </p:sp>
      <p:sp>
        <p:nvSpPr>
          <p:cNvPr id="20" name="Shape 17"/>
          <p:cNvSpPr/>
          <p:nvPr/>
        </p:nvSpPr>
        <p:spPr>
          <a:xfrm>
            <a:off x="3105120" y="4541642"/>
            <a:ext cx="47640" cy="69101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21" name="Image 1" descr="/home/user/gogoeveryday/photo-course-2/export-pptx/build/img/p2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71" y="4744182"/>
            <a:ext cx="285750" cy="28575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647907" y="4760732"/>
            <a:ext cx="539157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三個都過了，你的腳本就完成了。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接下來把它畫成分鏡。</a:t>
            </a:r>
            <a:endParaRPr lang="en-US" sz="15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211580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830891"/>
            <a:ext cx="2833177" cy="134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遠、中、近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69201"/>
            <a:ext cx="4735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同一件事情，多拍幾種距離，影片才有變化。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這是短影音和照片最大的不同。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2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849362" y="1108893"/>
            <a:ext cx="6502573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同一罐果醬、同一個位置，只有</a:t>
            </a:r>
            <a:pPr algn="ctr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距離不同</a:t>
            </a:r>
            <a:endParaRPr lang="en-US" sz="2700" dirty="0"/>
          </a:p>
        </p:txBody>
      </p:sp>
      <p:pic>
        <p:nvPicPr>
          <p:cNvPr id="4" name="Image 1" descr="/home/user/gogoeveryday/photo-course-2/export-pptx/build/img/p2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10" y="1860530"/>
            <a:ext cx="2343150" cy="2857500"/>
          </a:xfrm>
          <a:prstGeom prst="rect">
            <a:avLst/>
          </a:prstGeom>
        </p:spPr>
      </p:pic>
      <p:pic>
        <p:nvPicPr>
          <p:cNvPr id="5" name="Image 2" descr="/home/user/gogoeveryday/photo-course-2/export-pptx/build/img/p2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10" y="1860530"/>
            <a:ext cx="2343150" cy="2857500"/>
          </a:xfrm>
          <a:prstGeom prst="rect">
            <a:avLst/>
          </a:prstGeom>
        </p:spPr>
      </p:pic>
      <p:pic>
        <p:nvPicPr>
          <p:cNvPr id="6" name="Image 3" descr="/home/user/gogoeveryday/photo-course-2/export-pptx/build/img/p23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10" y="1860530"/>
            <a:ext cx="2343150" cy="2857500"/>
          </a:xfrm>
          <a:prstGeom prst="rect">
            <a:avLst/>
          </a:prstGeom>
        </p:spPr>
      </p:pic>
      <p:pic>
        <p:nvPicPr>
          <p:cNvPr id="7" name="Image 4" descr="/home/user/gogoeveryday/photo-course-2/export-pptx/build/img/p23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310" y="1860530"/>
            <a:ext cx="2343150" cy="28575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4056187" y="4918009"/>
            <a:ext cx="4089105" cy="59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四張都是同一支影片可以用的畫面。</a:t>
            </a:r>
            <a:endParaRPr lang="en-US" sz="1650" dirty="0"/>
          </a:p>
          <a:p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一支影片只有一種距離，看三秒就膩了。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-2/export-pptx/build/img/p2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35" y="1524030"/>
            <a:ext cx="2857500" cy="36194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38860" y="976762"/>
            <a:ext cx="2940619" cy="82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讓人看見整個場面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238860" y="2356134"/>
            <a:ext cx="963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最適合拍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276990" y="288950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6276990" y="288950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288950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76990" y="339434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76990" y="2889504"/>
            <a:ext cx="38130" cy="51435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8440" y="3032333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工作環境、你的工作檯</a:t>
            </a:r>
            <a:endParaRPr lang="en-US" sz="1575" dirty="0"/>
          </a:p>
        </p:txBody>
      </p:sp>
      <p:sp>
        <p:nvSpPr>
          <p:cNvPr id="12" name="Shape 8"/>
          <p:cNvSpPr/>
          <p:nvPr/>
        </p:nvSpPr>
        <p:spPr>
          <a:xfrm>
            <a:off x="6276990" y="350864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76990" y="350864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350864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76990" y="401348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76990" y="3508644"/>
            <a:ext cx="38130" cy="51435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48440" y="3651474"/>
            <a:ext cx="115104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整桌的商品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6276990" y="412778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6990" y="412778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11382360" y="412778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276990" y="4632533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76990" y="4127784"/>
            <a:ext cx="38130" cy="51435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8440" y="4270614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完整的包裝與周邊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6276990" y="4803983"/>
            <a:ext cx="5114971" cy="886694"/>
          </a:xfrm>
          <a:prstGeom prst="roundRect">
            <a:avLst>
              <a:gd name="adj" fmla="val 19336"/>
            </a:avLst>
          </a:prstGeom>
          <a:solidFill>
            <a:srgbClr val="FBEEE6"/>
          </a:solidFill>
          <a:ln/>
        </p:spPr>
      </p:sp>
      <p:sp>
        <p:nvSpPr>
          <p:cNvPr id="25" name="Shape 21"/>
          <p:cNvSpPr/>
          <p:nvPr/>
        </p:nvSpPr>
        <p:spPr>
          <a:xfrm>
            <a:off x="6276990" y="4803983"/>
            <a:ext cx="47640" cy="8866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6" name="Image 2" descr="/home/user/gogoeveryday/photo-course-2/export-pptx/build/img/p2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5114056"/>
            <a:ext cx="227686" cy="26673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76197" y="4965924"/>
            <a:ext cx="4543471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全景通常放在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開頭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，用來交代「這是在哪裡、有什麼」。</a:t>
            </a:r>
            <a:endParaRPr lang="en-US" sz="15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-2/export-pptx/build/img/p2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35" y="1524030"/>
            <a:ext cx="2857500" cy="36194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38860" y="976762"/>
            <a:ext cx="2940619" cy="82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看得到動作在發生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238860" y="2356134"/>
            <a:ext cx="963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最適合拍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276990" y="288950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6276990" y="288950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288950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76990" y="339434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76990" y="2889504"/>
            <a:ext cx="38130" cy="514350"/>
          </a:xfrm>
          <a:prstGeom prst="rect">
            <a:avLst/>
          </a:prstGeom>
          <a:solidFill>
            <a:srgbClr val="C9743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8440" y="3032333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手在操作、包裝、攪拌</a:t>
            </a:r>
            <a:endParaRPr lang="en-US" sz="1575" dirty="0"/>
          </a:p>
        </p:txBody>
      </p:sp>
      <p:sp>
        <p:nvSpPr>
          <p:cNvPr id="12" name="Shape 8"/>
          <p:cNvSpPr/>
          <p:nvPr/>
        </p:nvSpPr>
        <p:spPr>
          <a:xfrm>
            <a:off x="6276990" y="350864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76990" y="350864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350864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76990" y="401348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76990" y="3508644"/>
            <a:ext cx="38130" cy="514350"/>
          </a:xfrm>
          <a:prstGeom prst="rect">
            <a:avLst/>
          </a:prstGeom>
          <a:solidFill>
            <a:srgbClr val="C9743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48440" y="3651474"/>
            <a:ext cx="15750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使用方式的示範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6276990" y="412778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6990" y="412778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11382360" y="412778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276990" y="4632533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76990" y="4127784"/>
            <a:ext cx="38130" cy="514350"/>
          </a:xfrm>
          <a:prstGeom prst="rect">
            <a:avLst/>
          </a:prstGeom>
          <a:solidFill>
            <a:srgbClr val="C9743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8440" y="4270614"/>
            <a:ext cx="15750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商品和人的關係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6276990" y="4803983"/>
            <a:ext cx="5114971" cy="886694"/>
          </a:xfrm>
          <a:prstGeom prst="roundRect">
            <a:avLst>
              <a:gd name="adj" fmla="val 19336"/>
            </a:avLst>
          </a:prstGeom>
          <a:solidFill>
            <a:srgbClr val="FBEEE6"/>
          </a:solidFill>
          <a:ln/>
        </p:spPr>
      </p:sp>
      <p:sp>
        <p:nvSpPr>
          <p:cNvPr id="25" name="Shape 21"/>
          <p:cNvSpPr/>
          <p:nvPr/>
        </p:nvSpPr>
        <p:spPr>
          <a:xfrm>
            <a:off x="6276990" y="4803983"/>
            <a:ext cx="47640" cy="8866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6" name="Image 2" descr="/home/user/gogoeveryday/photo-course-2/export-pptx/build/img/p25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5114056"/>
            <a:ext cx="219365" cy="26673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67784" y="4965924"/>
            <a:ext cx="4543471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中景是短影音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用得最多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的距離。有手、有動作，畫面才活。</a:t>
            </a:r>
            <a:endParaRPr lang="en-US" sz="15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-2/export-pptx/build/img/p2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35" y="1523848"/>
            <a:ext cx="2857500" cy="36194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38860" y="1131661"/>
            <a:ext cx="2228118" cy="82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商品占滿畫面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238860" y="2511034"/>
            <a:ext cx="963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最適合拍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276990" y="3044403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6276990" y="3044403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3044403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76990" y="354924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76990" y="3044403"/>
            <a:ext cx="38130" cy="514350"/>
          </a:xfrm>
          <a:prstGeom prst="rect">
            <a:avLst/>
          </a:prstGeom>
          <a:solidFill>
            <a:srgbClr val="6A916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8440" y="3187324"/>
            <a:ext cx="199906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商品主體的完整樣子</a:t>
            </a:r>
            <a:endParaRPr lang="en-US" sz="1575" dirty="0"/>
          </a:p>
        </p:txBody>
      </p:sp>
      <p:sp>
        <p:nvSpPr>
          <p:cNvPr id="12" name="Shape 8"/>
          <p:cNvSpPr/>
          <p:nvPr/>
        </p:nvSpPr>
        <p:spPr>
          <a:xfrm>
            <a:off x="6276990" y="366354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76990" y="366354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366354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76990" y="416838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76990" y="3663544"/>
            <a:ext cx="38130" cy="514350"/>
          </a:xfrm>
          <a:prstGeom prst="rect">
            <a:avLst/>
          </a:prstGeom>
          <a:solidFill>
            <a:srgbClr val="6A916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48440" y="3806464"/>
            <a:ext cx="15750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包裝正面、標籤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6276990" y="4282684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6990" y="428268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11382360" y="4282684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276990" y="4787524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76990" y="4282684"/>
            <a:ext cx="38130" cy="514350"/>
          </a:xfrm>
          <a:prstGeom prst="rect">
            <a:avLst/>
          </a:prstGeom>
          <a:solidFill>
            <a:srgbClr val="6A916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8440" y="4425513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商品的顏色與形狀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6276990" y="4958974"/>
            <a:ext cx="5114971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25" name="Shape 21"/>
          <p:cNvSpPr/>
          <p:nvPr/>
        </p:nvSpPr>
        <p:spPr>
          <a:xfrm>
            <a:off x="6276990" y="4958974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6" name="Image 2" descr="/home/user/gogoeveryday/photo-course-2/export-pptx/build/img/p2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5113873"/>
            <a:ext cx="266730" cy="26673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915150" y="5120914"/>
            <a:ext cx="454347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近景適合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結尾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，讓觀眾最後記住商品長什麼樣。</a:t>
            </a:r>
            <a:endParaRPr lang="en-US" sz="15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-2/export-pptx/build/img/p2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35" y="1524030"/>
            <a:ext cx="2857500" cy="36194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38860" y="667238"/>
            <a:ext cx="2228118" cy="82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只給一個細節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238860" y="2046519"/>
            <a:ext cx="9632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最適合拍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6276990" y="2579980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6276990" y="2579980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2579980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76990" y="3084728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76990" y="2579980"/>
            <a:ext cx="38130" cy="514350"/>
          </a:xfrm>
          <a:prstGeom prst="rect">
            <a:avLst/>
          </a:prstGeom>
          <a:solidFill>
            <a:srgbClr val="7B5A8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48440" y="2722809"/>
            <a:ext cx="242316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食物的切面、拉絲、流動</a:t>
            </a:r>
            <a:endParaRPr lang="en-US" sz="1575" dirty="0"/>
          </a:p>
        </p:txBody>
      </p:sp>
      <p:sp>
        <p:nvSpPr>
          <p:cNvPr id="12" name="Shape 8"/>
          <p:cNvSpPr/>
          <p:nvPr/>
        </p:nvSpPr>
        <p:spPr>
          <a:xfrm>
            <a:off x="6276990" y="3199028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76990" y="3199028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3199028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76990" y="3703869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76990" y="3199028"/>
            <a:ext cx="38130" cy="514350"/>
          </a:xfrm>
          <a:prstGeom prst="rect">
            <a:avLst/>
          </a:prstGeom>
          <a:solidFill>
            <a:srgbClr val="7B5A8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48440" y="3341949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飾品的紋理與扣環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6276990" y="3818169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276990" y="3818169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11382360" y="3818169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276990" y="4323009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76990" y="3818169"/>
            <a:ext cx="38130" cy="514350"/>
          </a:xfrm>
          <a:prstGeom prst="rect">
            <a:avLst/>
          </a:prstGeom>
          <a:solidFill>
            <a:srgbClr val="7B5A8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8440" y="3961089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標籤、封口、材質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6276990" y="4437309"/>
            <a:ext cx="5114971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6276990" y="4437309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11382360" y="4437309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6276990" y="4942149"/>
            <a:ext cx="51149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6276990" y="4437309"/>
            <a:ext cx="38130" cy="514350"/>
          </a:xfrm>
          <a:prstGeom prst="rect">
            <a:avLst/>
          </a:prstGeom>
          <a:solidFill>
            <a:srgbClr val="7B5A86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448440" y="4580230"/>
            <a:ext cx="157505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手部的細微動作</a:t>
            </a:r>
            <a:endParaRPr lang="en-US" sz="1575" dirty="0"/>
          </a:p>
        </p:txBody>
      </p:sp>
      <p:sp>
        <p:nvSpPr>
          <p:cNvPr id="30" name="Shape 26"/>
          <p:cNvSpPr/>
          <p:nvPr/>
        </p:nvSpPr>
        <p:spPr>
          <a:xfrm>
            <a:off x="6276990" y="5113599"/>
            <a:ext cx="5114971" cy="886694"/>
          </a:xfrm>
          <a:prstGeom prst="roundRect">
            <a:avLst>
              <a:gd name="adj" fmla="val 19336"/>
            </a:avLst>
          </a:prstGeom>
          <a:solidFill>
            <a:srgbClr val="FBEEE6"/>
          </a:solidFill>
          <a:ln/>
        </p:spPr>
      </p:sp>
      <p:sp>
        <p:nvSpPr>
          <p:cNvPr id="31" name="Shape 27"/>
          <p:cNvSpPr/>
          <p:nvPr/>
        </p:nvSpPr>
        <p:spPr>
          <a:xfrm>
            <a:off x="6276990" y="5113599"/>
            <a:ext cx="47640" cy="8866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2" name="Image 2" descr="/home/user/gogoeveryday/photo-course-2/export-pptx/build/img/p2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5423581"/>
            <a:ext cx="179771" cy="26673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828191" y="5275539"/>
            <a:ext cx="4543471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最有說服力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的畫面，也是最多人沒拍的。一支影片至少要有一個。</a:t>
            </a:r>
            <a:endParaRPr lang="en-US" sz="15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55070"/>
            <a:ext cx="3296869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觀眾心裡的四個問題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906615"/>
            <a:ext cx="123828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2411456"/>
            <a:ext cx="12382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2530" y="2068556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距離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38380" y="1906615"/>
            <a:ext cx="285750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038380" y="2411456"/>
            <a:ext cx="28575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90720" y="2068556"/>
            <a:ext cx="116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回答的問題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5880" y="1906615"/>
            <a:ext cx="180978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895880" y="2411456"/>
            <a:ext cx="18097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48220" y="2068556"/>
            <a:ext cx="94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通常放在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05570" y="1906615"/>
            <a:ext cx="468630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705570" y="2411456"/>
            <a:ext cx="46863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0" y="2068556"/>
            <a:ext cx="15892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一支影片要幾個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" y="2420965"/>
            <a:ext cx="123828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" y="2973446"/>
            <a:ext cx="12382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2530" y="2582906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2038380" y="2420965"/>
            <a:ext cx="285750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038380" y="2973446"/>
            <a:ext cx="2857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190720" y="2582906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這是在哪裡？有什麼？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4895880" y="2420965"/>
            <a:ext cx="180978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895880" y="2973446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48220" y="2582906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開頭</a:t>
            </a:r>
            <a:endParaRPr lang="en-US" sz="1575" dirty="0"/>
          </a:p>
        </p:txBody>
      </p:sp>
      <p:sp>
        <p:nvSpPr>
          <p:cNvPr id="25" name="Shape 22"/>
          <p:cNvSpPr/>
          <p:nvPr/>
        </p:nvSpPr>
        <p:spPr>
          <a:xfrm>
            <a:off x="6705570" y="2420965"/>
            <a:ext cx="468630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705570" y="2973446"/>
            <a:ext cx="46863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58000" y="2582906"/>
            <a:ext cx="49834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個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800100" y="2982956"/>
            <a:ext cx="123828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" y="3535436"/>
            <a:ext cx="12382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52530" y="3144896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2038380" y="2982956"/>
            <a:ext cx="285750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038380" y="3535436"/>
            <a:ext cx="2857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190720" y="3144896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正在發生什麼事？</a:t>
            </a:r>
            <a:endParaRPr lang="en-US" sz="1575" dirty="0"/>
          </a:p>
        </p:txBody>
      </p:sp>
      <p:sp>
        <p:nvSpPr>
          <p:cNvPr id="34" name="Shape 31"/>
          <p:cNvSpPr/>
          <p:nvPr/>
        </p:nvSpPr>
        <p:spPr>
          <a:xfrm>
            <a:off x="4895880" y="2982956"/>
            <a:ext cx="180978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895880" y="3535436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048220" y="3144896"/>
            <a:ext cx="115104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過程，最多</a:t>
            </a:r>
            <a:endParaRPr lang="en-US" sz="1575" dirty="0"/>
          </a:p>
        </p:txBody>
      </p:sp>
      <p:sp>
        <p:nvSpPr>
          <p:cNvPr id="37" name="Shape 34"/>
          <p:cNvSpPr/>
          <p:nvPr/>
        </p:nvSpPr>
        <p:spPr>
          <a:xfrm>
            <a:off x="6705570" y="2982956"/>
            <a:ext cx="468630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705570" y="3535436"/>
            <a:ext cx="46863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858000" y="3144896"/>
            <a:ext cx="72082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個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800100" y="3544946"/>
            <a:ext cx="123828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00100" y="4097426"/>
            <a:ext cx="12382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52530" y="3706886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1575" dirty="0"/>
          </a:p>
        </p:txBody>
      </p:sp>
      <p:sp>
        <p:nvSpPr>
          <p:cNvPr id="43" name="Shape 40"/>
          <p:cNvSpPr/>
          <p:nvPr/>
        </p:nvSpPr>
        <p:spPr>
          <a:xfrm>
            <a:off x="2038380" y="3544946"/>
            <a:ext cx="285750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038380" y="4097426"/>
            <a:ext cx="2857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190720" y="3706886"/>
            <a:ext cx="199906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這個商品長什麼樣？</a:t>
            </a:r>
            <a:endParaRPr lang="en-US" sz="1575" dirty="0"/>
          </a:p>
        </p:txBody>
      </p:sp>
      <p:sp>
        <p:nvSpPr>
          <p:cNvPr id="46" name="Shape 43"/>
          <p:cNvSpPr/>
          <p:nvPr/>
        </p:nvSpPr>
        <p:spPr>
          <a:xfrm>
            <a:off x="4895880" y="3544946"/>
            <a:ext cx="180978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895880" y="4097426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048220" y="3706886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結尾</a:t>
            </a:r>
            <a:endParaRPr lang="en-US" sz="1575" dirty="0"/>
          </a:p>
        </p:txBody>
      </p:sp>
      <p:sp>
        <p:nvSpPr>
          <p:cNvPr id="49" name="Shape 46"/>
          <p:cNvSpPr/>
          <p:nvPr/>
        </p:nvSpPr>
        <p:spPr>
          <a:xfrm>
            <a:off x="6705570" y="3544946"/>
            <a:ext cx="4686300" cy="56199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705570" y="4097426"/>
            <a:ext cx="46863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858000" y="3706886"/>
            <a:ext cx="72082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1–2 個</a:t>
            </a:r>
            <a:endParaRPr lang="en-US" sz="1575" dirty="0"/>
          </a:p>
        </p:txBody>
      </p:sp>
      <p:sp>
        <p:nvSpPr>
          <p:cNvPr id="52" name="Text 49"/>
          <p:cNvSpPr txBox="1"/>
          <p:nvPr/>
        </p:nvSpPr>
        <p:spPr>
          <a:xfrm>
            <a:off x="952530" y="4268876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75" dirty="0"/>
          </a:p>
        </p:txBody>
      </p:sp>
      <p:sp>
        <p:nvSpPr>
          <p:cNvPr id="53" name="Text 50"/>
          <p:cNvSpPr txBox="1"/>
          <p:nvPr/>
        </p:nvSpPr>
        <p:spPr>
          <a:xfrm>
            <a:off x="2190720" y="4268876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細節到底好不好？</a:t>
            </a:r>
            <a:endParaRPr lang="en-US" sz="1575" dirty="0"/>
          </a:p>
        </p:txBody>
      </p:sp>
      <p:sp>
        <p:nvSpPr>
          <p:cNvPr id="54" name="Text 51"/>
          <p:cNvSpPr txBox="1"/>
          <p:nvPr/>
        </p:nvSpPr>
        <p:spPr>
          <a:xfrm>
            <a:off x="5048220" y="4268876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過程中間穿插</a:t>
            </a:r>
            <a:endParaRPr lang="en-US" sz="1575" dirty="0"/>
          </a:p>
        </p:txBody>
      </p:sp>
      <p:sp>
        <p:nvSpPr>
          <p:cNvPr id="55" name="Text 52"/>
          <p:cNvSpPr txBox="1"/>
          <p:nvPr/>
        </p:nvSpPr>
        <p:spPr>
          <a:xfrm>
            <a:off x="6858000" y="4268876"/>
            <a:ext cx="96277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至少 1 個</a:t>
            </a:r>
            <a:endParaRPr lang="en-US" sz="1575" dirty="0"/>
          </a:p>
        </p:txBody>
      </p:sp>
      <p:sp>
        <p:nvSpPr>
          <p:cNvPr id="56" name="Shape 53"/>
          <p:cNvSpPr/>
          <p:nvPr/>
        </p:nvSpPr>
        <p:spPr>
          <a:xfrm>
            <a:off x="800100" y="4821265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57" name="Shape 54"/>
          <p:cNvSpPr/>
          <p:nvPr/>
        </p:nvSpPr>
        <p:spPr>
          <a:xfrm>
            <a:off x="800100" y="4821265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58" name="Image 1" descr="/home/user/gogoeveryday/photo-course-2/export-pptx/build/img/p2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014295"/>
            <a:ext cx="304770" cy="304770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1514521" y="5040356"/>
            <a:ext cx="7358725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最後一欄加起來大約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五到七個鏡頭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 這剛好就是等一下分鏡表要填的數量。</a:t>
            </a:r>
            <a:endParaRPr lang="en-US" sz="15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93203" y="1261323"/>
            <a:ext cx="7214982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「包裝商品」這一個動作，可以拍成四個鏡頭</a:t>
            </a:r>
            <a:endParaRPr lang="en-US" sz="2700" dirty="0"/>
          </a:p>
        </p:txBody>
      </p:sp>
      <p:pic>
        <p:nvPicPr>
          <p:cNvPr id="4" name="Image 1" descr="/home/user/gogoeveryday/photo-course-2/export-pptx/build/img/p2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30" y="2012869"/>
            <a:ext cx="2343150" cy="2552730"/>
          </a:xfrm>
          <a:prstGeom prst="rect">
            <a:avLst/>
          </a:prstGeom>
        </p:spPr>
      </p:pic>
      <p:pic>
        <p:nvPicPr>
          <p:cNvPr id="5" name="Image 2" descr="/home/user/gogoeveryday/photo-course-2/export-pptx/build/img/p2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20" y="2012869"/>
            <a:ext cx="2343150" cy="2552730"/>
          </a:xfrm>
          <a:prstGeom prst="rect">
            <a:avLst/>
          </a:prstGeom>
        </p:spPr>
      </p:pic>
      <p:pic>
        <p:nvPicPr>
          <p:cNvPr id="6" name="Image 3" descr="/home/user/gogoeveryday/photo-course-2/export-pptx/build/img/p2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12869"/>
            <a:ext cx="2343150" cy="2552730"/>
          </a:xfrm>
          <a:prstGeom prst="rect">
            <a:avLst/>
          </a:prstGeom>
        </p:spPr>
      </p:pic>
      <p:pic>
        <p:nvPicPr>
          <p:cNvPr id="7" name="Image 4" descr="/home/user/gogoeveryday/photo-course-2/export-pptx/build/img/p29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80" y="2012869"/>
            <a:ext cx="2343150" cy="255273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3834079" y="4765670"/>
            <a:ext cx="4533321" cy="59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不要只錄一段十秒的包裝過程。</a:t>
            </a:r>
            <a:endParaRPr lang="en-US" sz="1650" dirty="0"/>
          </a:p>
          <a:p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同一個動作拆成四個鏡頭，剪起來才有節奏。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37849" y="2116379"/>
            <a:ext cx="4041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六分鐘 · 今天第一次拿相機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11331" y="2516429"/>
            <a:ext cx="4978817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挑一個動作，拍四張照片就好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2856311" y="3281782"/>
            <a:ext cx="948324" cy="4476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2957261" y="3396082"/>
            <a:ext cx="755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全景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18936" y="3281782"/>
            <a:ext cx="948324" cy="4476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019885" y="3396082"/>
            <a:ext cx="755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中景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81560" y="3281782"/>
            <a:ext cx="948324" cy="4476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082510" y="3396082"/>
            <a:ext cx="755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近景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44184" y="3281782"/>
            <a:ext cx="948324" cy="44769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145134" y="3396082"/>
            <a:ext cx="755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特寫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06808" y="3281782"/>
            <a:ext cx="2228850" cy="447690"/>
          </a:xfrm>
          <a:prstGeom prst="roundRect">
            <a:avLst>
              <a:gd name="adj" fmla="val 50000"/>
            </a:avLst>
          </a:prstGeom>
          <a:solidFill>
            <a:srgbClr val="DFE8D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170999" y="3396082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57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拍照就好，先不要錄影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056748" y="3929543"/>
            <a:ext cx="6088258" cy="59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這一次</a:t>
            </a:r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只拍照片</a:t>
            </a:r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，練習距離的感覺。</a:t>
            </a:r>
            <a:endParaRPr lang="en-US" sz="1650" dirty="0"/>
          </a:p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四張排在一起看：</a:t>
            </a:r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如果四張長得很像，代表距離沒有真的變。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211580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830891"/>
            <a:ext cx="2284628" cy="134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分鏡與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素材清單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69201"/>
            <a:ext cx="31096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拍之前就決定要拍哪些畫面。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這是今天最重要的一張表。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3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959742"/>
            <a:ext cx="5124480" cy="2747955"/>
          </a:xfrm>
          <a:prstGeom prst="roundRect">
            <a:avLst>
              <a:gd name="adj" fmla="val 8319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1019190" y="2216963"/>
            <a:ext cx="1659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 多數人的做法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19190" y="2569373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75" dirty="0"/>
          </a:p>
        </p:txBody>
      </p:sp>
      <p:sp>
        <p:nvSpPr>
          <p:cNvPr id="6" name="Text 3"/>
          <p:cNvSpPr txBox="1"/>
          <p:nvPr/>
        </p:nvSpPr>
        <p:spPr>
          <a:xfrm>
            <a:off x="1244773" y="2578882"/>
            <a:ext cx="263520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拿起手機，看到什麼拍什麼</a:t>
            </a:r>
            <a:endParaRPr lang="en-US" sz="1575" dirty="0"/>
          </a:p>
        </p:txBody>
      </p:sp>
      <p:sp>
        <p:nvSpPr>
          <p:cNvPr id="7" name="Text 4"/>
          <p:cNvSpPr txBox="1"/>
          <p:nvPr/>
        </p:nvSpPr>
        <p:spPr>
          <a:xfrm>
            <a:off x="1019190" y="2974177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75" dirty="0"/>
          </a:p>
        </p:txBody>
      </p:sp>
      <p:sp>
        <p:nvSpPr>
          <p:cNvPr id="8" name="Text 5"/>
          <p:cNvSpPr txBox="1"/>
          <p:nvPr/>
        </p:nvSpPr>
        <p:spPr>
          <a:xfrm>
            <a:off x="1244773" y="2983687"/>
            <a:ext cx="263520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拍了二三十段，每段都很長</a:t>
            </a:r>
            <a:endParaRPr lang="en-US" sz="1575" dirty="0"/>
          </a:p>
        </p:txBody>
      </p:sp>
      <p:sp>
        <p:nvSpPr>
          <p:cNvPr id="9" name="Text 6"/>
          <p:cNvSpPr txBox="1"/>
          <p:nvPr/>
        </p:nvSpPr>
        <p:spPr>
          <a:xfrm>
            <a:off x="1019190" y="3378982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75" dirty="0"/>
          </a:p>
        </p:txBody>
      </p:sp>
      <p:sp>
        <p:nvSpPr>
          <p:cNvPr id="10" name="Text 7"/>
          <p:cNvSpPr txBox="1"/>
          <p:nvPr/>
        </p:nvSpPr>
        <p:spPr>
          <a:xfrm>
            <a:off x="1244773" y="3388492"/>
            <a:ext cx="353031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打開剪輯 App，不知道從哪一段開始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1019190" y="3783787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1244773" y="3793297"/>
            <a:ext cx="263520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剪到一半發現少了關鍵鏡頭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1019190" y="4188592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75" dirty="0"/>
          </a:p>
        </p:txBody>
      </p:sp>
      <p:sp>
        <p:nvSpPr>
          <p:cNvPr id="14" name="Text 11"/>
          <p:cNvSpPr txBox="1"/>
          <p:nvPr/>
        </p:nvSpPr>
        <p:spPr>
          <a:xfrm>
            <a:off x="1244773" y="4198102"/>
            <a:ext cx="53154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放棄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6267480" y="1959742"/>
            <a:ext cx="5124480" cy="2747955"/>
          </a:xfrm>
          <a:prstGeom prst="roundRect">
            <a:avLst>
              <a:gd name="adj" fmla="val 8319"/>
            </a:avLst>
          </a:prstGeom>
          <a:solidFill>
            <a:srgbClr val="DFE8D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86571" y="2216963"/>
            <a:ext cx="1877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今天要學的做法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86571" y="2569373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75" dirty="0"/>
          </a:p>
        </p:txBody>
      </p:sp>
      <p:sp>
        <p:nvSpPr>
          <p:cNvPr id="18" name="Text 15"/>
          <p:cNvSpPr txBox="1"/>
          <p:nvPr/>
        </p:nvSpPr>
        <p:spPr>
          <a:xfrm>
            <a:off x="6712153" y="2578882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先寫三段腳本</a:t>
            </a:r>
            <a:endParaRPr lang="en-US" sz="1575" dirty="0"/>
          </a:p>
        </p:txBody>
      </p:sp>
      <p:sp>
        <p:nvSpPr>
          <p:cNvPr id="19" name="Text 16"/>
          <p:cNvSpPr txBox="1"/>
          <p:nvPr/>
        </p:nvSpPr>
        <p:spPr>
          <a:xfrm>
            <a:off x="6486571" y="2974177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75" dirty="0"/>
          </a:p>
        </p:txBody>
      </p:sp>
      <p:sp>
        <p:nvSpPr>
          <p:cNvPr id="20" name="Text 17"/>
          <p:cNvSpPr txBox="1"/>
          <p:nvPr/>
        </p:nvSpPr>
        <p:spPr>
          <a:xfrm>
            <a:off x="6712153" y="2983687"/>
            <a:ext cx="289489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拆成 5–8 個鏡頭，寫進分鏡表</a:t>
            </a:r>
            <a:endParaRPr lang="en-US" sz="1575" dirty="0"/>
          </a:p>
        </p:txBody>
      </p:sp>
      <p:sp>
        <p:nvSpPr>
          <p:cNvPr id="21" name="Text 18"/>
          <p:cNvSpPr txBox="1"/>
          <p:nvPr/>
        </p:nvSpPr>
        <p:spPr>
          <a:xfrm>
            <a:off x="6486571" y="3378982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75" dirty="0"/>
          </a:p>
        </p:txBody>
      </p:sp>
      <p:sp>
        <p:nvSpPr>
          <p:cNvPr id="22" name="Text 19"/>
          <p:cNvSpPr txBox="1"/>
          <p:nvPr/>
        </p:nvSpPr>
        <p:spPr>
          <a:xfrm>
            <a:off x="6712153" y="3388492"/>
            <a:ext cx="263520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照表拍，拍完一個打一個勾</a:t>
            </a:r>
            <a:endParaRPr lang="en-US" sz="1575" dirty="0"/>
          </a:p>
        </p:txBody>
      </p:sp>
      <p:sp>
        <p:nvSpPr>
          <p:cNvPr id="23" name="Text 20"/>
          <p:cNvSpPr txBox="1"/>
          <p:nvPr/>
        </p:nvSpPr>
        <p:spPr>
          <a:xfrm>
            <a:off x="6486571" y="3783787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75" dirty="0"/>
          </a:p>
        </p:txBody>
      </p:sp>
      <p:sp>
        <p:nvSpPr>
          <p:cNvPr id="24" name="Text 21"/>
          <p:cNvSpPr txBox="1"/>
          <p:nvPr/>
        </p:nvSpPr>
        <p:spPr>
          <a:xfrm>
            <a:off x="6712153" y="3793297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拍完就知道素材是齊的</a:t>
            </a:r>
            <a:endParaRPr lang="en-US" sz="1575" dirty="0"/>
          </a:p>
        </p:txBody>
      </p:sp>
      <p:sp>
        <p:nvSpPr>
          <p:cNvPr id="25" name="Text 22"/>
          <p:cNvSpPr txBox="1"/>
          <p:nvPr/>
        </p:nvSpPr>
        <p:spPr>
          <a:xfrm>
            <a:off x="6486571" y="4188592"/>
            <a:ext cx="24277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75" dirty="0"/>
          </a:p>
        </p:txBody>
      </p:sp>
      <p:sp>
        <p:nvSpPr>
          <p:cNvPr id="26" name="Text 23"/>
          <p:cNvSpPr txBox="1"/>
          <p:nvPr/>
        </p:nvSpPr>
        <p:spPr>
          <a:xfrm>
            <a:off x="6712153" y="4198102"/>
            <a:ext cx="221120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剪輯只要照順序接起來</a:t>
            </a:r>
            <a:endParaRPr lang="en-US" sz="15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97849"/>
            <a:ext cx="3296869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四欄就夠，不用畫圖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649486"/>
            <a:ext cx="1358798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2154326"/>
            <a:ext cx="13587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2530" y="1811426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158898" y="1649486"/>
            <a:ext cx="4703582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158898" y="2154326"/>
            <a:ext cx="470358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11329" y="1811426"/>
            <a:ext cx="116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我要拍什麼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62481" y="1649486"/>
            <a:ext cx="2612989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62481" y="2154326"/>
            <a:ext cx="261298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14820" y="1811426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475470" y="1649486"/>
            <a:ext cx="1916491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475470" y="2154326"/>
            <a:ext cx="191649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27809" y="1811426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秒數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" y="2163836"/>
            <a:ext cx="1358798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" y="2706715"/>
            <a:ext cx="135879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365565" y="231617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158898" y="2163836"/>
            <a:ext cx="4703582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158898" y="2706715"/>
            <a:ext cx="470358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311329" y="2325776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完整商品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62481" y="2163836"/>
            <a:ext cx="261298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62481" y="2706715"/>
            <a:ext cx="261298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014820" y="2325776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475470" y="2163836"/>
            <a:ext cx="1916491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475470" y="2706715"/>
            <a:ext cx="191649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27809" y="2325776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秒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0100" y="2716225"/>
            <a:ext cx="1358798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" y="3259196"/>
            <a:ext cx="135879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365565" y="2868656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2158898" y="2716225"/>
            <a:ext cx="4703582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158898" y="3259196"/>
            <a:ext cx="470358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311329" y="2878165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手拿商品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862481" y="2716225"/>
            <a:ext cx="261298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862481" y="3259196"/>
            <a:ext cx="261298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014820" y="2878165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475470" y="2716225"/>
            <a:ext cx="1916491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9475470" y="3259196"/>
            <a:ext cx="191649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27809" y="2878165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00100" y="3268706"/>
            <a:ext cx="1358798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00100" y="3811676"/>
            <a:ext cx="135879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365565" y="3421136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2158898" y="3268706"/>
            <a:ext cx="4703582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158898" y="3811676"/>
            <a:ext cx="470358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311329" y="3430646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商品細節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862481" y="3268706"/>
            <a:ext cx="261298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862481" y="3811676"/>
            <a:ext cx="261298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014820" y="3430646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9475470" y="3268706"/>
            <a:ext cx="1916491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9475470" y="3811676"/>
            <a:ext cx="191649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627809" y="3430646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秒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800100" y="3821186"/>
            <a:ext cx="1358798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00100" y="4364065"/>
            <a:ext cx="135879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365565" y="397352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158898" y="3821186"/>
            <a:ext cx="4703582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2158898" y="4364065"/>
            <a:ext cx="470358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2311329" y="3983126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使用／製作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862481" y="3821186"/>
            <a:ext cx="261298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862481" y="4364065"/>
            <a:ext cx="261298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014820" y="3983126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9475470" y="3821186"/>
            <a:ext cx="1916491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475470" y="4364065"/>
            <a:ext cx="191649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627809" y="3983126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秒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1365565" y="4526006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2311329" y="4535515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完成畫面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7014820" y="4535515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1500" dirty="0"/>
          </a:p>
        </p:txBody>
      </p:sp>
      <p:sp>
        <p:nvSpPr>
          <p:cNvPr id="67" name="Text 64"/>
          <p:cNvSpPr txBox="1"/>
          <p:nvPr/>
        </p:nvSpPr>
        <p:spPr>
          <a:xfrm>
            <a:off x="9627809" y="4535515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800100" y="5078486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69" name="Shape 66"/>
          <p:cNvSpPr/>
          <p:nvPr/>
        </p:nvSpPr>
        <p:spPr>
          <a:xfrm>
            <a:off x="800100" y="5078486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70" name="Image 1" descr="/home/user/gogoeveryday/photo-course-2/export-pptx/build/img/p3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271516"/>
            <a:ext cx="304770" cy="304770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1514521" y="5297576"/>
            <a:ext cx="841897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分鏡不用畫得漂亮，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能看懂就好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重點是拍之前你就知道要拍幾個、拍什麼、每個多久。</a:t>
            </a:r>
            <a:endParaRPr lang="en-US" sz="15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1105784"/>
            <a:ext cx="4335628" cy="371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475" b="1" spc="-4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主題：草莓果醬從下鍋到裝瓶</a:t>
            </a:r>
            <a:endParaRPr lang="en-US" sz="2475" dirty="0"/>
          </a:p>
        </p:txBody>
      </p:sp>
      <p:sp>
        <p:nvSpPr>
          <p:cNvPr id="4" name="Shape 1"/>
          <p:cNvSpPr/>
          <p:nvPr/>
        </p:nvSpPr>
        <p:spPr>
          <a:xfrm>
            <a:off x="647670" y="1632021"/>
            <a:ext cx="1397752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7670" y="2060692"/>
            <a:ext cx="139775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2950" y="1736811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45513" y="1632021"/>
            <a:ext cx="4838822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045513" y="2060692"/>
            <a:ext cx="483882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40702" y="1736811"/>
            <a:ext cx="116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我要拍什麼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84335" y="1632021"/>
            <a:ext cx="2688245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84335" y="2060692"/>
            <a:ext cx="268824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79615" y="1736811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572671" y="1632021"/>
            <a:ext cx="1971721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572671" y="2060692"/>
            <a:ext cx="19717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67860" y="1736811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秒數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7670" y="2070202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7670" y="2527402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232611" y="218450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045513" y="2070202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045513" y="2527402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140702" y="2184502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桌上攤開的草莓與砂糖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84335" y="2070202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84335" y="2527402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79615" y="2184502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572671" y="2070202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572671" y="2527402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67860" y="2184502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7670" y="2536911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47670" y="2994111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232611" y="265121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2045513" y="2536911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045513" y="2994111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140702" y="2651211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手把草莓倒進鍋裡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884335" y="2536911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884335" y="2994111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979615" y="2651211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572671" y="2536911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9572671" y="2994111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667860" y="2651211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7670" y="3003621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7670" y="3460821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232611" y="311792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2045513" y="3003621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045513" y="3460821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140702" y="3117921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鍋裡冒泡、木匙攪拌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884335" y="3003621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884335" y="3460821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979615" y="3117921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9572671" y="3003621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9572671" y="3460821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667860" y="3117921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秒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7670" y="3470331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7670" y="3927531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232611" y="358463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045513" y="3470331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2045513" y="3927531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2140702" y="3584631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果醬從鍋裡舀進玻璃瓶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884335" y="3470331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884335" y="3927531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6979615" y="3584631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9572671" y="3470331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572671" y="3927531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667860" y="3584631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秒</a:t>
            </a:r>
            <a:endParaRPr lang="en-US" sz="1500" dirty="0"/>
          </a:p>
        </p:txBody>
      </p:sp>
      <p:sp>
        <p:nvSpPr>
          <p:cNvPr id="64" name="Shape 61"/>
          <p:cNvSpPr/>
          <p:nvPr/>
        </p:nvSpPr>
        <p:spPr>
          <a:xfrm>
            <a:off x="647670" y="3937132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647670" y="4394332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1232611" y="405143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2045513" y="3937132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2045513" y="4394332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2140702" y="4051432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瓶口的果醬質地</a:t>
            </a:r>
            <a:endParaRPr lang="en-US" sz="1500" dirty="0"/>
          </a:p>
        </p:txBody>
      </p:sp>
      <p:sp>
        <p:nvSpPr>
          <p:cNvPr id="70" name="Shape 67"/>
          <p:cNvSpPr/>
          <p:nvPr/>
        </p:nvSpPr>
        <p:spPr>
          <a:xfrm>
            <a:off x="6884335" y="3937132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6884335" y="4394332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6979615" y="4051432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9572671" y="3937132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9572671" y="4394332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9667860" y="4051432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1232611" y="451814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77" name="Text 74"/>
          <p:cNvSpPr txBox="1"/>
          <p:nvPr/>
        </p:nvSpPr>
        <p:spPr>
          <a:xfrm>
            <a:off x="2140702" y="4518142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貼上標籤的完成品</a:t>
            </a:r>
            <a:endParaRPr lang="en-US" sz="1500" dirty="0"/>
          </a:p>
        </p:txBody>
      </p:sp>
      <p:sp>
        <p:nvSpPr>
          <p:cNvPr id="78" name="Text 75"/>
          <p:cNvSpPr txBox="1"/>
          <p:nvPr/>
        </p:nvSpPr>
        <p:spPr>
          <a:xfrm>
            <a:off x="6979615" y="4518142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1500" dirty="0"/>
          </a:p>
        </p:txBody>
      </p:sp>
      <p:sp>
        <p:nvSpPr>
          <p:cNvPr id="79" name="Text 76"/>
          <p:cNvSpPr txBox="1"/>
          <p:nvPr/>
        </p:nvSpPr>
        <p:spPr>
          <a:xfrm>
            <a:off x="9667860" y="4518142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80" name="Shape 77"/>
          <p:cNvSpPr/>
          <p:nvPr/>
        </p:nvSpPr>
        <p:spPr>
          <a:xfrm>
            <a:off x="647670" y="4965832"/>
            <a:ext cx="10896630" cy="557693"/>
          </a:xfrm>
          <a:prstGeom prst="roundRect">
            <a:avLst>
              <a:gd name="adj" fmla="val 30743"/>
            </a:avLst>
          </a:prstGeom>
          <a:solidFill>
            <a:srgbClr val="F8E6C9"/>
          </a:solidFill>
          <a:ln/>
        </p:spPr>
      </p:sp>
      <p:sp>
        <p:nvSpPr>
          <p:cNvPr id="81" name="Shape 78"/>
          <p:cNvSpPr/>
          <p:nvPr/>
        </p:nvSpPr>
        <p:spPr>
          <a:xfrm>
            <a:off x="647670" y="4965832"/>
            <a:ext cx="47640" cy="557693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82" name="Image 1" descr="/home/user/gogoeveryday/photo-course-2/export-pptx/build/img/p3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5111222"/>
            <a:ext cx="266730" cy="266730"/>
          </a:xfrm>
          <a:prstGeom prst="rect">
            <a:avLst/>
          </a:prstGeom>
        </p:spPr>
      </p:pic>
      <p:sp>
        <p:nvSpPr>
          <p:cNvPr id="83" name="Text 79"/>
          <p:cNvSpPr txBox="1"/>
          <p:nvPr/>
        </p:nvSpPr>
        <p:spPr>
          <a:xfrm>
            <a:off x="1285921" y="5118171"/>
            <a:ext cx="877321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· 全景 1、中景 2、特寫 2、近景 1 ·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四種距離都有，而且過程佔了四個鏡頭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75497"/>
            <a:ext cx="4009278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不用精準，抓個大概就好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027042"/>
            <a:ext cx="3416198" cy="2202058"/>
          </a:xfrm>
          <a:prstGeom prst="roundRect">
            <a:avLst>
              <a:gd name="adj" fmla="val 10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027042"/>
            <a:ext cx="3416198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6" name="Shape 3"/>
          <p:cNvSpPr/>
          <p:nvPr/>
        </p:nvSpPr>
        <p:spPr>
          <a:xfrm>
            <a:off x="4206789" y="2027042"/>
            <a:ext cx="18288" cy="220205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219590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027042"/>
            <a:ext cx="18288" cy="220205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2040" y="2331811"/>
            <a:ext cx="968167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秒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962040" y="2808122"/>
            <a:ext cx="3119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靜態畫面：完整商品、成品、包裝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0171" y="3230941"/>
            <a:ext cx="301614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2040" y="3411901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看清楚就夠了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7748" y="2027042"/>
            <a:ext cx="3416381" cy="2202058"/>
          </a:xfrm>
          <a:prstGeom prst="roundRect">
            <a:avLst>
              <a:gd name="adj" fmla="val 10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7748" y="2027042"/>
            <a:ext cx="3416381" cy="47640"/>
          </a:xfrm>
          <a:prstGeom prst="rect">
            <a:avLst/>
          </a:prstGeom>
          <a:solidFill>
            <a:srgbClr val="C9743F"/>
          </a:solidFill>
          <a:ln/>
        </p:spPr>
      </p:sp>
      <p:sp>
        <p:nvSpPr>
          <p:cNvPr id="15" name="Shape 12"/>
          <p:cNvSpPr/>
          <p:nvPr/>
        </p:nvSpPr>
        <p:spPr>
          <a:xfrm>
            <a:off x="7794620" y="2027042"/>
            <a:ext cx="18288" cy="220205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387748" y="4219590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387748" y="2027042"/>
            <a:ext cx="18288" cy="220205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49689" y="2331811"/>
            <a:ext cx="968167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3–5 秒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4549689" y="2808122"/>
            <a:ext cx="3119841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有動作的畫面：攪拌、包裝、倒東西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87819" y="3539460"/>
            <a:ext cx="301633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49689" y="3720419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要讓動作走完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975580" y="2027042"/>
            <a:ext cx="3416198" cy="2202058"/>
          </a:xfrm>
          <a:prstGeom prst="roundRect">
            <a:avLst>
              <a:gd name="adj" fmla="val 10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975580" y="2027042"/>
            <a:ext cx="3416198" cy="47640"/>
          </a:xfrm>
          <a:prstGeom prst="rect">
            <a:avLst/>
          </a:prstGeom>
          <a:solidFill>
            <a:srgbClr val="7B5A86"/>
          </a:solidFill>
          <a:ln/>
        </p:spPr>
      </p:sp>
      <p:sp>
        <p:nvSpPr>
          <p:cNvPr id="24" name="Shape 21"/>
          <p:cNvSpPr/>
          <p:nvPr/>
        </p:nvSpPr>
        <p:spPr>
          <a:xfrm>
            <a:off x="11382268" y="2027042"/>
            <a:ext cx="18288" cy="220205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975580" y="4219590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975580" y="2027042"/>
            <a:ext cx="18288" cy="220205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137520" y="2331811"/>
            <a:ext cx="968167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秒</a:t>
            </a:r>
            <a:endParaRPr lang="en-US" sz="2250" dirty="0"/>
          </a:p>
        </p:txBody>
      </p:sp>
      <p:sp>
        <p:nvSpPr>
          <p:cNvPr id="28" name="Text 25"/>
          <p:cNvSpPr txBox="1"/>
          <p:nvPr/>
        </p:nvSpPr>
        <p:spPr>
          <a:xfrm>
            <a:off x="8137520" y="2808122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特寫：細節、紋理、質地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175559" y="3230941"/>
            <a:ext cx="301614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137520" y="3411901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太久會膩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0100" y="4391040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" y="4391040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3" name="Image 1" descr="/home/user/gogoeveryday/photo-course-2/export-pptx/build/img/p3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739152"/>
            <a:ext cx="304770" cy="30477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514521" y="4610130"/>
            <a:ext cx="5957316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六個鏡頭 × 平均 3 秒＝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，剛好。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如果你算出來超過 40 秒，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代表鏡頭太多或每個太長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，回去刪。</a:t>
            </a:r>
            <a:endParaRPr lang="en-US" sz="15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890979"/>
            <a:ext cx="3296869" cy="82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分鏡表管「畫面」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素材清單管「東西」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3098902"/>
            <a:ext cx="4543471" cy="56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分鏡表告訴你要拍哪些畫面，</a:t>
            </a:r>
            <a:endParaRPr lang="en-US" sz="1575" dirty="0"/>
          </a:p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素材清單告訴你</a:t>
            </a:r>
            <a:pPr algn="l" indent="0" marL="0">
              <a:lnSpc>
                <a:spcPts val="2552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要準備哪些東西、做哪些動作</a:t>
            </a:r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800100" y="3870747"/>
            <a:ext cx="5871088" cy="905805"/>
          </a:xfrm>
          <a:prstGeom prst="roundRect">
            <a:avLst>
              <a:gd name="adj" fmla="val 18928"/>
            </a:avLst>
          </a:prstGeom>
          <a:solidFill>
            <a:srgbClr val="FBEEE6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3870747"/>
            <a:ext cx="47640" cy="905805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7" name="Image 1" descr="/home/user/gogoeveryday/photo-course-2/export-pptx/build/img/p3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180728"/>
            <a:ext cx="204368" cy="2857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5898" y="4042197"/>
            <a:ext cx="5238506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沒列清單最常見的下場：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草莓已經全部下鍋了， 才想到忘記拍「完整的草莓」。</a:t>
            </a:r>
            <a:endParaRPr lang="en-US" sz="1575" dirty="0"/>
          </a:p>
        </p:txBody>
      </p:sp>
      <p:sp>
        <p:nvSpPr>
          <p:cNvPr id="9" name="Shape 5"/>
          <p:cNvSpPr/>
          <p:nvPr/>
        </p:nvSpPr>
        <p:spPr>
          <a:xfrm>
            <a:off x="7052219" y="461955"/>
            <a:ext cx="4339560" cy="5743621"/>
          </a:xfrm>
          <a:prstGeom prst="roundRect">
            <a:avLst>
              <a:gd name="adj" fmla="val 5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052219" y="461955"/>
            <a:ext cx="433956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1" name="Shape 7"/>
          <p:cNvSpPr/>
          <p:nvPr/>
        </p:nvSpPr>
        <p:spPr>
          <a:xfrm>
            <a:off x="11382268" y="461955"/>
            <a:ext cx="18288" cy="57436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7052219" y="6195974"/>
            <a:ext cx="43395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7052219" y="461955"/>
            <a:ext cx="18288" cy="57436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252289" y="700065"/>
            <a:ext cx="2053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手工果醬 素材清單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290328" y="103345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52269" y="116677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6149" y="1166774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完整的草莓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290328" y="159544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52269" y="172876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6149" y="1728765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清洗草莓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290328" y="215743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452269" y="229075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76149" y="2290755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切草莓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290328" y="2719426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269" y="285274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776149" y="2852745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下鍋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7290328" y="3281324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452269" y="341473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76149" y="3414735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攪拌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7290328" y="384331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452269" y="397672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776149" y="3976726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裝瓶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7290328" y="440530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452269" y="453862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776149" y="4538624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貼標籤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7290328" y="496729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7452269" y="510061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776149" y="5100615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完成的商品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7290328" y="5529285"/>
            <a:ext cx="3863249" cy="495330"/>
          </a:xfrm>
          <a:prstGeom prst="roundRect">
            <a:avLst>
              <a:gd name="adj" fmla="val 2691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7452269" y="566260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776149" y="5662605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手拿商品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00429" y="680862"/>
            <a:ext cx="4486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十二分鐘 · 今天最重要的一張表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840297" y="1071402"/>
            <a:ext cx="4520702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把你的三段，拆成 5–8 個鏡頭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1238280" y="1609253"/>
            <a:ext cx="1246327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238280" y="2037923"/>
            <a:ext cx="1246327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33470" y="1714043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484516" y="1609253"/>
            <a:ext cx="4314414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484516" y="2037923"/>
            <a:ext cx="431441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579797" y="1714043"/>
            <a:ext cx="116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我要拍什麼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98930" y="1609253"/>
            <a:ext cx="2396917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798930" y="2037923"/>
            <a:ext cx="2396917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94210" y="1714043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195755" y="1609253"/>
            <a:ext cx="1757934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195755" y="2037923"/>
            <a:ext cx="175793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291036" y="1714043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秒數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38280" y="2047433"/>
            <a:ext cx="124632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238280" y="2504633"/>
            <a:ext cx="124632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747418" y="216173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484516" y="2047433"/>
            <a:ext cx="431441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484516" y="2504633"/>
            <a:ext cx="431441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798930" y="2047433"/>
            <a:ext cx="239691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798930" y="2504633"/>
            <a:ext cx="239691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195755" y="2047433"/>
            <a:ext cx="175793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195755" y="2504633"/>
            <a:ext cx="175793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238280" y="2514143"/>
            <a:ext cx="124632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238280" y="2971343"/>
            <a:ext cx="124632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747418" y="262844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2484516" y="2514143"/>
            <a:ext cx="431441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484516" y="2971343"/>
            <a:ext cx="431441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798930" y="2514143"/>
            <a:ext cx="239691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798930" y="2971343"/>
            <a:ext cx="239691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9195755" y="2514143"/>
            <a:ext cx="175793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9195755" y="2971343"/>
            <a:ext cx="175793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238280" y="2980853"/>
            <a:ext cx="124632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238280" y="3438053"/>
            <a:ext cx="124632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747418" y="309515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484516" y="2980853"/>
            <a:ext cx="431441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2484516" y="3438053"/>
            <a:ext cx="431441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798930" y="2980853"/>
            <a:ext cx="239691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798930" y="3438053"/>
            <a:ext cx="239691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9195755" y="2980853"/>
            <a:ext cx="175793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9195755" y="3438053"/>
            <a:ext cx="175793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238280" y="3447562"/>
            <a:ext cx="124632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238280" y="3904762"/>
            <a:ext cx="124632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747418" y="356186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2484516" y="3447562"/>
            <a:ext cx="431441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2484516" y="3904762"/>
            <a:ext cx="431441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798930" y="3447562"/>
            <a:ext cx="239691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798930" y="3904762"/>
            <a:ext cx="239691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9195755" y="3447562"/>
            <a:ext cx="175793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9195755" y="3904762"/>
            <a:ext cx="175793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1238280" y="3914364"/>
            <a:ext cx="124632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1238280" y="4371564"/>
            <a:ext cx="124632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747418" y="4028664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2484516" y="3914364"/>
            <a:ext cx="431441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2484516" y="4371564"/>
            <a:ext cx="431441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798930" y="3914364"/>
            <a:ext cx="239691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798930" y="4371564"/>
            <a:ext cx="239691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195755" y="3914364"/>
            <a:ext cx="175793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195755" y="4371564"/>
            <a:ext cx="175793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1238280" y="4381073"/>
            <a:ext cx="124632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1238280" y="4838273"/>
            <a:ext cx="124632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747418" y="449537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2484516" y="4381073"/>
            <a:ext cx="431441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2484516" y="4838273"/>
            <a:ext cx="431441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798930" y="4381073"/>
            <a:ext cx="2396917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798930" y="4838273"/>
            <a:ext cx="2396917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195755" y="4381073"/>
            <a:ext cx="175793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195755" y="4838273"/>
            <a:ext cx="175793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747418" y="496208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2785902" y="5409773"/>
            <a:ext cx="6620165" cy="557693"/>
          </a:xfrm>
          <a:prstGeom prst="roundRect">
            <a:avLst>
              <a:gd name="adj" fmla="val 30743"/>
            </a:avLst>
          </a:prstGeom>
          <a:solidFill>
            <a:srgbClr val="F8E6C9"/>
          </a:solidFill>
          <a:ln/>
        </p:spPr>
      </p:sp>
      <p:sp>
        <p:nvSpPr>
          <p:cNvPr id="73" name="Shape 70"/>
          <p:cNvSpPr/>
          <p:nvPr/>
        </p:nvSpPr>
        <p:spPr>
          <a:xfrm>
            <a:off x="2785902" y="5409773"/>
            <a:ext cx="47640" cy="557693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74" name="Image 1" descr="/home/user/gogoeveryday/photo-course-2/export-pptx/build/img/p3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23" y="5555163"/>
            <a:ext cx="266730" cy="266730"/>
          </a:xfrm>
          <a:prstGeom prst="rect">
            <a:avLst/>
          </a:prstGeom>
        </p:spPr>
      </p:pic>
      <p:sp>
        <p:nvSpPr>
          <p:cNvPr id="75" name="Text 71"/>
          <p:cNvSpPr txBox="1"/>
          <p:nvPr/>
        </p:nvSpPr>
        <p:spPr>
          <a:xfrm>
            <a:off x="3249503" y="5562112"/>
            <a:ext cx="616927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卡住的話回頭看第 34 頁的果醬範例，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照它的格式換成你的商品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25835" y="1606418"/>
            <a:ext cx="1733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六分鐘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423331" y="2006468"/>
            <a:ext cx="535490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下午要用到的東西，全部列出來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238280" y="2771912"/>
            <a:ext cx="3111429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38280" y="2771912"/>
            <a:ext cx="3111429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" name="Shape 4"/>
          <p:cNvSpPr/>
          <p:nvPr/>
        </p:nvSpPr>
        <p:spPr>
          <a:xfrm>
            <a:off x="4340108" y="2771912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238280" y="4217670"/>
            <a:ext cx="311142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238280" y="2771912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093519" y="3038643"/>
            <a:ext cx="141037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要準備的東西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1440729" y="3429183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商品、原料、道具、包裝材料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40179" y="2771912"/>
            <a:ext cx="3111520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0179" y="2771912"/>
            <a:ext cx="311152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642189" y="2771912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40179" y="4217670"/>
            <a:ext cx="31115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540179" y="2771912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05420" y="3038643"/>
            <a:ext cx="119045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要做的動作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4843577" y="3429183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切、攪、包、拿、放、打開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842169" y="2771912"/>
            <a:ext cx="3111429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842169" y="2771912"/>
            <a:ext cx="3111429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1" name="Shape 18"/>
          <p:cNvSpPr/>
          <p:nvPr/>
        </p:nvSpPr>
        <p:spPr>
          <a:xfrm>
            <a:off x="10944088" y="2771912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842169" y="4217670"/>
            <a:ext cx="311142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842169" y="2771912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97407" y="3038643"/>
            <a:ext cx="141037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不可逆的先拍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7943759" y="3429183"/>
            <a:ext cx="291785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切開、下鍋、拆封——做了就回不去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705070" y="4389120"/>
            <a:ext cx="678183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7" name="Shape 24"/>
          <p:cNvSpPr/>
          <p:nvPr/>
        </p:nvSpPr>
        <p:spPr>
          <a:xfrm>
            <a:off x="2705070" y="4389120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1" descr="/home/user/gogoeveryday/photo-course-2/export-pptx/build/img/p3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421" y="4591660"/>
            <a:ext cx="285750" cy="28575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223900" y="4608210"/>
            <a:ext cx="62396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第三欄最重要。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不可逆的動作，一定要先確認鏡頭準備好了再做。</a:t>
            </a:r>
            <a:endParaRPr lang="en-US" sz="15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573591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92810"/>
            <a:ext cx="1736263" cy="61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故事感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307190"/>
            <a:ext cx="427088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商品影片不要只有商品轉一圈。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有人、有手、有過程，才有人看得下去。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3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274180" y="835670"/>
            <a:ext cx="3653028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同一罐果醬，兩種拍法</a:t>
            </a:r>
            <a:endParaRPr lang="en-US" sz="2700" dirty="0"/>
          </a:p>
        </p:txBody>
      </p:sp>
      <p:pic>
        <p:nvPicPr>
          <p:cNvPr id="4" name="Image 1" descr="/home/user/gogoeveryday/photo-course-2/export-pptx/build/img/p4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587216"/>
            <a:ext cx="1904970" cy="339087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445459" y="5092476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好看，但沒有人想看完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673120" y="3249320"/>
            <a:ext cx="474391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</a:t>
            </a:r>
            <a:endParaRPr lang="en-US" sz="2700" dirty="0"/>
          </a:p>
        </p:txBody>
      </p:sp>
      <p:pic>
        <p:nvPicPr>
          <p:cNvPr id="7" name="Image 2" descr="/home/user/gogoeveryday/photo-course-2/export-pptx/build/img/p4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670" y="1587216"/>
            <a:ext cx="1904970" cy="339087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53490" y="5092476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會讓人想知道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接下來會怎樣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2994203" y="5530566"/>
            <a:ext cx="621298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短影音跟照片最大的差別：</a:t>
            </a:r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照片показ結果，影片показ過程。</a:t>
            </a:r>
            <a:endParaRPr lang="en-US" sz="1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52952"/>
            <a:ext cx="6146414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從原料到包裝，五個鏡頭就是一個故事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4A7FA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2836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76340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原料</a:t>
            </a:r>
            <a:endParaRPr lang="en-US" sz="1650" dirty="0"/>
          </a:p>
        </p:txBody>
      </p:sp>
      <p:pic>
        <p:nvPicPr>
          <p:cNvPr id="7" name="Image 1" descr="/home/user/gogoeveryday/photo-course-2/export-pptx/build/img/p4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66509"/>
            <a:ext cx="1771650" cy="3152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70" y="5204948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麵粉、奶油攤在檯面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61970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945191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C9743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977926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21340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整形</a:t>
            </a:r>
            <a:endParaRPr lang="en-US" sz="1650" dirty="0"/>
          </a:p>
        </p:txBody>
      </p:sp>
      <p:pic>
        <p:nvPicPr>
          <p:cNvPr id="13" name="Image 2" descr="/home/user/gogoeveryday/photo-course-2/export-pptx/build/img/p4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191" y="1966509"/>
            <a:ext cx="1771650" cy="3152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07060" y="5204948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手在壓模、排盤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907060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090190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D99A4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122926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366431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烘烤</a:t>
            </a:r>
            <a:endParaRPr lang="en-US" sz="1650" dirty="0"/>
          </a:p>
        </p:txBody>
      </p:sp>
      <p:pic>
        <p:nvPicPr>
          <p:cNvPr id="19" name="Image 3" descr="/home/user/gogoeveryday/photo-course-2/export-pptx/build/img/p41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90" y="1966509"/>
            <a:ext cx="1771650" cy="3152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2151" y="5204948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烤箱裡上色的過程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052151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235281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6A916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268017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511522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出爐</a:t>
            </a:r>
            <a:endParaRPr lang="en-US" sz="1650" dirty="0"/>
          </a:p>
        </p:txBody>
      </p:sp>
      <p:pic>
        <p:nvPicPr>
          <p:cNvPr id="25" name="Image 4" descr="/home/user/gogoeveryday/photo-course-2/export-pptx/build/img/p41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281" y="1966509"/>
            <a:ext cx="1771650" cy="3152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97151" y="5204948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熱氣、剛出爐的樣子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197151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9380372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7B5A86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9413108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656521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包裝</a:t>
            </a:r>
            <a:endParaRPr lang="en-US" sz="1650" dirty="0"/>
          </a:p>
        </p:txBody>
      </p:sp>
      <p:pic>
        <p:nvPicPr>
          <p:cNvPr id="31" name="Image 5" descr="/home/user/gogoeveryday/photo-course-2/export-pptx/build/img/p41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372" y="1966509"/>
            <a:ext cx="1771650" cy="3152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42242" y="5204948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裝袋、綁帶、貼標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342242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52952"/>
            <a:ext cx="5077755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沒有火、沒有熱氣，一樣有故事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4A7FA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32836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76340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材料</a:t>
            </a:r>
            <a:endParaRPr lang="en-US" sz="1650" dirty="0"/>
          </a:p>
        </p:txBody>
      </p:sp>
      <p:pic>
        <p:nvPicPr>
          <p:cNvPr id="7" name="Image 1" descr="/home/user/gogoeveryday/photo-course-2/export-pptx/build/img/p4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66509"/>
            <a:ext cx="1771650" cy="3152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970" y="5204948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珠子、線材、工具攤開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61970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945191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C9743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977926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21340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組裝</a:t>
            </a:r>
            <a:endParaRPr lang="en-US" sz="1650" dirty="0"/>
          </a:p>
        </p:txBody>
      </p:sp>
      <p:pic>
        <p:nvPicPr>
          <p:cNvPr id="13" name="Image 2" descr="/home/user/gogoeveryday/photo-course-2/export-pptx/build/img/p4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191" y="1966509"/>
            <a:ext cx="1771650" cy="3152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07060" y="5204948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手在穿線、扣環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907060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中景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090190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7B5A8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122926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366431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</a:t>
            </a:r>
            <a:endParaRPr lang="en-US" sz="1650" dirty="0"/>
          </a:p>
        </p:txBody>
      </p:sp>
      <p:pic>
        <p:nvPicPr>
          <p:cNvPr id="19" name="Image 3" descr="/home/user/gogoeveryday/photo-course-2/export-pptx/build/img/p42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90" y="1966509"/>
            <a:ext cx="1771650" cy="3152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2151" y="5204948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扣環、紋路、光澤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052151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7235281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6A916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268017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511522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戴上</a:t>
            </a:r>
            <a:endParaRPr lang="en-US" sz="1650" dirty="0"/>
          </a:p>
        </p:txBody>
      </p:sp>
      <p:pic>
        <p:nvPicPr>
          <p:cNvPr id="25" name="Image 4" descr="/home/user/gogoeveryday/photo-course-2/export-pptx/build/img/p42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281" y="1966509"/>
            <a:ext cx="1771650" cy="3152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97151" y="5204948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戴在手上或脖子上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197151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9380372" y="1623609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D99A4E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9413108" y="1633118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656521" y="1614007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650" dirty="0"/>
          </a:p>
        </p:txBody>
      </p:sp>
      <p:pic>
        <p:nvPicPr>
          <p:cNvPr id="31" name="Image 5" descr="/home/user/gogoeveryday/photo-course-2/export-pptx/build/img/p42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372" y="1966509"/>
            <a:ext cx="1771650" cy="3152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42242" y="5204948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放回盒子裡的樣子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342242" y="5557357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近景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21801"/>
            <a:ext cx="4009278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八個地方可以找到故事感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173346"/>
            <a:ext cx="2547976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217334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338474" y="2173346"/>
            <a:ext cx="18288" cy="9144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07823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173346"/>
            <a:ext cx="38130" cy="91440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71550" y="2344796"/>
            <a:ext cx="350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</a:t>
            </a:r>
            <a:endParaRPr lang="en-US" sz="1725" dirty="0"/>
          </a:p>
        </p:txBody>
      </p:sp>
      <p:sp>
        <p:nvSpPr>
          <p:cNvPr id="10" name="Text 7"/>
          <p:cNvSpPr txBox="1"/>
          <p:nvPr/>
        </p:nvSpPr>
        <p:spPr>
          <a:xfrm>
            <a:off x="971550" y="2678186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有人在畫面裡，不用露臉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81395" y="2173346"/>
            <a:ext cx="2547976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481395" y="217334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019770" y="2173346"/>
            <a:ext cx="18288" cy="9144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481395" y="307823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81395" y="2173346"/>
            <a:ext cx="38130" cy="914400"/>
          </a:xfrm>
          <a:prstGeom prst="rect">
            <a:avLst/>
          </a:prstGeom>
          <a:solidFill>
            <a:srgbClr val="C974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2845" y="2344796"/>
            <a:ext cx="350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</a:t>
            </a:r>
            <a:endParaRPr lang="en-US" sz="1725" dirty="0"/>
          </a:p>
        </p:txBody>
      </p:sp>
      <p:sp>
        <p:nvSpPr>
          <p:cNvPr id="17" name="Text 14"/>
          <p:cNvSpPr txBox="1"/>
          <p:nvPr/>
        </p:nvSpPr>
        <p:spPr>
          <a:xfrm>
            <a:off x="3652845" y="2678186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手的動作最好拍也最好看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62690" y="2173346"/>
            <a:ext cx="2547976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162690" y="217334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701065" y="2173346"/>
            <a:ext cx="18288" cy="9144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162690" y="307823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162690" y="2173346"/>
            <a:ext cx="38130" cy="91440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34140" y="2344796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製作</a:t>
            </a:r>
            <a:endParaRPr lang="en-US" sz="1725" dirty="0"/>
          </a:p>
        </p:txBody>
      </p:sp>
      <p:sp>
        <p:nvSpPr>
          <p:cNvPr id="24" name="Text 21"/>
          <p:cNvSpPr txBox="1"/>
          <p:nvPr/>
        </p:nvSpPr>
        <p:spPr>
          <a:xfrm>
            <a:off x="6334140" y="2678186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正在做的過程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843985" y="2173346"/>
            <a:ext cx="2547976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843985" y="217334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382360" y="2173346"/>
            <a:ext cx="18288" cy="9144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843985" y="307823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843985" y="2173346"/>
            <a:ext cx="38130" cy="91440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015435" y="2344796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</a:t>
            </a:r>
            <a:endParaRPr lang="en-US" sz="1725" dirty="0"/>
          </a:p>
        </p:txBody>
      </p:sp>
      <p:sp>
        <p:nvSpPr>
          <p:cNvPr id="31" name="Text 28"/>
          <p:cNvSpPr txBox="1"/>
          <p:nvPr/>
        </p:nvSpPr>
        <p:spPr>
          <a:xfrm>
            <a:off x="9015435" y="2678186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倒、切、攪、拉、撒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00100" y="3221065"/>
            <a:ext cx="2547976" cy="1171621"/>
          </a:xfrm>
          <a:prstGeom prst="roundRect">
            <a:avLst>
              <a:gd name="adj" fmla="val 19511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00100" y="3221065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338474" y="3221065"/>
            <a:ext cx="18288" cy="11716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800100" y="438317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800100" y="3221065"/>
            <a:ext cx="38130" cy="1171621"/>
          </a:xfrm>
          <a:prstGeom prst="rect">
            <a:avLst/>
          </a:prstGeom>
          <a:solidFill>
            <a:srgbClr val="6A916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71550" y="3392515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前後</a:t>
            </a:r>
            <a:endParaRPr lang="en-US" sz="1725" dirty="0"/>
          </a:p>
        </p:txBody>
      </p:sp>
      <p:sp>
        <p:nvSpPr>
          <p:cNvPr id="38" name="Text 35"/>
          <p:cNvSpPr txBox="1"/>
          <p:nvPr/>
        </p:nvSpPr>
        <p:spPr>
          <a:xfrm>
            <a:off x="971550" y="3725906"/>
            <a:ext cx="2323948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原料 vs 成品、使用前 vs 後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3481395" y="3221065"/>
            <a:ext cx="2547976" cy="1171621"/>
          </a:xfrm>
          <a:prstGeom prst="roundRect">
            <a:avLst>
              <a:gd name="adj" fmla="val 19511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481395" y="3221065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019770" y="3221065"/>
            <a:ext cx="18288" cy="11716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3481395" y="438317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3481395" y="3221065"/>
            <a:ext cx="38130" cy="1171621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652845" y="3392515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空間</a:t>
            </a:r>
            <a:endParaRPr lang="en-US" sz="1725" dirty="0"/>
          </a:p>
        </p:txBody>
      </p:sp>
      <p:sp>
        <p:nvSpPr>
          <p:cNvPr id="45" name="Text 42"/>
          <p:cNvSpPr txBox="1"/>
          <p:nvPr/>
        </p:nvSpPr>
        <p:spPr>
          <a:xfrm>
            <a:off x="3652845" y="3725906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工作檯、廚房、店裡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162690" y="3221065"/>
            <a:ext cx="2547976" cy="1171621"/>
          </a:xfrm>
          <a:prstGeom prst="roundRect">
            <a:avLst>
              <a:gd name="adj" fmla="val 19511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162690" y="3221065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701065" y="3221065"/>
            <a:ext cx="18288" cy="11716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162690" y="438317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162690" y="3221065"/>
            <a:ext cx="38130" cy="1171621"/>
          </a:xfrm>
          <a:prstGeom prst="rect">
            <a:avLst/>
          </a:prstGeom>
          <a:solidFill>
            <a:srgbClr val="7B5A86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334140" y="3392515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</a:t>
            </a:r>
            <a:endParaRPr lang="en-US" sz="1725" dirty="0"/>
          </a:p>
        </p:txBody>
      </p:sp>
      <p:sp>
        <p:nvSpPr>
          <p:cNvPr id="52" name="Text 49"/>
          <p:cNvSpPr txBox="1"/>
          <p:nvPr/>
        </p:nvSpPr>
        <p:spPr>
          <a:xfrm>
            <a:off x="6334140" y="3725906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紋理、切面、質地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8843985" y="3221065"/>
            <a:ext cx="2547976" cy="1171621"/>
          </a:xfrm>
          <a:prstGeom prst="roundRect">
            <a:avLst>
              <a:gd name="adj" fmla="val 19511"/>
            </a:avLst>
          </a:prstGeom>
          <a:solidFill>
            <a:srgbClr val="FFFFFF">
              <a:alpha val="62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843985" y="3221065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11382360" y="3221065"/>
            <a:ext cx="18288" cy="11716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843985" y="4383176"/>
            <a:ext cx="25479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843985" y="3221065"/>
            <a:ext cx="38130" cy="1171621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9015435" y="3392515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725" dirty="0"/>
          </a:p>
        </p:txBody>
      </p:sp>
      <p:sp>
        <p:nvSpPr>
          <p:cNvPr id="59" name="Text 56"/>
          <p:cNvSpPr txBox="1"/>
          <p:nvPr/>
        </p:nvSpPr>
        <p:spPr>
          <a:xfrm>
            <a:off x="9015435" y="3725906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包好、放好、擺上桌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800100" y="4554626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61" name="Shape 58"/>
          <p:cNvSpPr/>
          <p:nvPr/>
        </p:nvSpPr>
        <p:spPr>
          <a:xfrm>
            <a:off x="800100" y="4554626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62" name="Image 1" descr="/home/user/gogoeveryday/photo-course-2/export-pptx/build/img/p4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747656"/>
            <a:ext cx="304770" cy="304770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1514521" y="4773625"/>
            <a:ext cx="863093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最容易做到的是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「手」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怕入鏡的人，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整支影片只拍手就好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——效果一樣，而且不用化妝。</a:t>
            </a:r>
            <a:endParaRPr lang="en-US" sz="15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993746" y="1563624"/>
            <a:ext cx="1733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互動 · 三分鐘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2859237" y="1963674"/>
            <a:ext cx="648291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回去看你的分鏡表，</a:t>
            </a:r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過程有幾個鏡頭？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971264" y="2729027"/>
            <a:ext cx="2622774" cy="1540947"/>
          </a:xfrm>
          <a:prstGeom prst="roundRect">
            <a:avLst>
              <a:gd name="adj" fmla="val 14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71264" y="2729027"/>
            <a:ext cx="2622774" cy="47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4"/>
          <p:cNvSpPr/>
          <p:nvPr/>
        </p:nvSpPr>
        <p:spPr>
          <a:xfrm>
            <a:off x="4584527" y="2729027"/>
            <a:ext cx="18288" cy="154094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971264" y="4260464"/>
            <a:ext cx="262277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971264" y="2729027"/>
            <a:ext cx="18288" cy="154094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861706" y="3014777"/>
            <a:ext cx="85130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-20" kern="0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0–1 個</a:t>
            </a:r>
            <a:endParaRPr lang="en-US" sz="1950" dirty="0"/>
          </a:p>
        </p:txBody>
      </p:sp>
      <p:sp>
        <p:nvSpPr>
          <p:cNvPr id="11" name="Text 8"/>
          <p:cNvSpPr txBox="1"/>
          <p:nvPr/>
        </p:nvSpPr>
        <p:spPr>
          <a:xfrm>
            <a:off x="2131192" y="3452957"/>
            <a:ext cx="231206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過程太少，影片會很平。</a:t>
            </a:r>
            <a:endParaRPr lang="en-US" sz="15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回去加兩個動作的鏡頭。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84507" y="2729027"/>
            <a:ext cx="2622774" cy="1540947"/>
          </a:xfrm>
          <a:prstGeom prst="roundRect">
            <a:avLst>
              <a:gd name="adj" fmla="val 14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84507" y="2729027"/>
            <a:ext cx="2622774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4" name="Shape 11"/>
          <p:cNvSpPr/>
          <p:nvPr/>
        </p:nvSpPr>
        <p:spPr>
          <a:xfrm>
            <a:off x="7397770" y="2729027"/>
            <a:ext cx="18288" cy="154094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784507" y="4260464"/>
            <a:ext cx="262277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784507" y="2729027"/>
            <a:ext cx="18288" cy="154094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675041" y="3014777"/>
            <a:ext cx="85130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-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個</a:t>
            </a:r>
            <a:endParaRPr lang="en-US" sz="1950" dirty="0"/>
          </a:p>
        </p:txBody>
      </p:sp>
      <p:sp>
        <p:nvSpPr>
          <p:cNvPr id="18" name="Text 15"/>
          <p:cNvSpPr txBox="1"/>
          <p:nvPr/>
        </p:nvSpPr>
        <p:spPr>
          <a:xfrm>
            <a:off x="4944527" y="3452957"/>
            <a:ext cx="231206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剛剛好。</a:t>
            </a:r>
            <a:endParaRPr lang="en-US" sz="15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這支影片會有東西可看。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597841" y="2729027"/>
            <a:ext cx="2622774" cy="1540947"/>
          </a:xfrm>
          <a:prstGeom prst="roundRect">
            <a:avLst>
              <a:gd name="adj" fmla="val 14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97841" y="2729027"/>
            <a:ext cx="2622774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1" name="Shape 18"/>
          <p:cNvSpPr/>
          <p:nvPr/>
        </p:nvSpPr>
        <p:spPr>
          <a:xfrm>
            <a:off x="10211105" y="2729027"/>
            <a:ext cx="18288" cy="154094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597841" y="4260464"/>
            <a:ext cx="262277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597841" y="2729027"/>
            <a:ext cx="18288" cy="154094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371789" y="3014777"/>
            <a:ext cx="108429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-20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個以上</a:t>
            </a:r>
            <a:endParaRPr lang="en-US" sz="1950" dirty="0"/>
          </a:p>
        </p:txBody>
      </p:sp>
      <p:sp>
        <p:nvSpPr>
          <p:cNvPr id="25" name="Text 22"/>
          <p:cNvSpPr txBox="1"/>
          <p:nvPr/>
        </p:nvSpPr>
        <p:spPr>
          <a:xfrm>
            <a:off x="7690561" y="3452957"/>
            <a:ext cx="2447026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很好，但注意總長。</a:t>
            </a:r>
            <a:endParaRPr lang="en-US" sz="1500" dirty="0"/>
          </a:p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超過 30 秒就刪掉一兩個。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305190" y="4431914"/>
            <a:ext cx="558168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7" name="Shape 24"/>
          <p:cNvSpPr/>
          <p:nvPr/>
        </p:nvSpPr>
        <p:spPr>
          <a:xfrm>
            <a:off x="3305190" y="4431914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1" descr="/home/user/gogoeveryday/photo-course-2/export-pptx/build/img/p4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4634545"/>
            <a:ext cx="285750" cy="28575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859957" y="4651004"/>
            <a:ext cx="496747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午休前把分鏡表補好。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下午就照這張表拍，不再改。</a:t>
            </a:r>
            <a:endParaRPr lang="en-US" sz="15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573591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92810"/>
            <a:ext cx="3896167" cy="61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鏡頭與直式</a:t>
            </a:r>
            <a:pPr algn="l" indent="0" marL="0">
              <a:buNone/>
            </a:pPr>
            <a:r>
              <a:rPr lang="en-US" sz="21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（複習）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307190"/>
            <a:ext cx="4735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這一段上次課程教過，今天只花十分鐘複習，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並補充「錄影的時候」有什麼不一樣。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4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1111728"/>
            <a:ext cx="379156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三個鏡頭，用途完全不同</a:t>
            </a:r>
            <a:endParaRPr lang="en-US" sz="2550" dirty="0"/>
          </a:p>
        </p:txBody>
      </p:sp>
      <p:sp>
        <p:nvSpPr>
          <p:cNvPr id="4" name="Text 1"/>
          <p:cNvSpPr txBox="1"/>
          <p:nvPr/>
        </p:nvSpPr>
        <p:spPr>
          <a:xfrm>
            <a:off x="1581180" y="1649578"/>
            <a:ext cx="1289487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0.5x 廣角</a:t>
            </a:r>
            <a:endParaRPr lang="en-US" sz="1800" dirty="0"/>
          </a:p>
        </p:txBody>
      </p:sp>
      <p:pic>
        <p:nvPicPr>
          <p:cNvPr id="5" name="Image 1" descr="/home/user/gogoeveryday/photo-course-2/export-pptx/build/img/p4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20" y="2021098"/>
            <a:ext cx="2762220" cy="190497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81180" y="4030858"/>
            <a:ext cx="291785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裝得下整個桌面、整個空間。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但邊邊會變形，商品會被拉長。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4629150" y="1649578"/>
            <a:ext cx="1087404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1x 主力</a:t>
            </a:r>
            <a:endParaRPr lang="en-US" sz="1800" dirty="0"/>
          </a:p>
        </p:txBody>
      </p:sp>
      <p:pic>
        <p:nvPicPr>
          <p:cNvPr id="8" name="Image 2" descr="/home/user/gogoeveryday/photo-course-2/export-pptx/build/img/p4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80" y="2021098"/>
            <a:ext cx="2762220" cy="190497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29150" y="4030858"/>
            <a:ext cx="3119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形狀最正確，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九成的畫面用這個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677120" y="1649578"/>
            <a:ext cx="1087404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2x 望遠</a:t>
            </a:r>
            <a:endParaRPr lang="en-US" sz="1800" dirty="0"/>
          </a:p>
        </p:txBody>
      </p:sp>
      <p:pic>
        <p:nvPicPr>
          <p:cNvPr id="11" name="Image 3" descr="/home/user/gogoeveryday/photo-course-2/export-pptx/build/img/p46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0" y="2021098"/>
            <a:ext cx="2762220" cy="190497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677120" y="4030858"/>
            <a:ext cx="311984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壓縮背景、突顯單一商品。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畫質會下降，光不夠時會有顆粒。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647670" y="4649998"/>
            <a:ext cx="10896630" cy="867674"/>
          </a:xfrm>
          <a:prstGeom prst="roundRect">
            <a:avLst>
              <a:gd name="adj" fmla="val 19760"/>
            </a:avLst>
          </a:prstGeom>
          <a:solidFill>
            <a:srgbClr val="F8E6C9"/>
          </a:solidFill>
          <a:ln/>
        </p:spPr>
      </p:sp>
      <p:sp>
        <p:nvSpPr>
          <p:cNvPr id="14" name="Shape 8"/>
          <p:cNvSpPr/>
          <p:nvPr/>
        </p:nvSpPr>
        <p:spPr>
          <a:xfrm>
            <a:off x="647670" y="4649998"/>
            <a:ext cx="47640" cy="86767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5" name="Image 4" descr="/home/user/gogoeveryday/photo-course-2/export-pptx/build/img/p46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" y="4940960"/>
            <a:ext cx="249997" cy="28575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69187" y="4802429"/>
            <a:ext cx="10539192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錄影的時候多一條規則：不要錄到一半才變焦。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畫面會晃、會重新對焦、聲音也會錄到手指的摩擦聲。要換就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停下來，重錄一顆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50301"/>
            <a:ext cx="5298765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一次拍好幾樣東西，用 1x 退後拍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2765237" y="1611356"/>
            <a:ext cx="1251356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0.5x 靠近拍</a:t>
            </a:r>
            <a:endParaRPr lang="en-US" sz="1650" dirty="0"/>
          </a:p>
        </p:txBody>
      </p:sp>
      <p:pic>
        <p:nvPicPr>
          <p:cNvPr id="5" name="Image 1" descr="/home/user/gogoeveryday/photo-course-2/export-pptx/build/img/p4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63765"/>
            <a:ext cx="3810030" cy="2381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31944" y="4449836"/>
            <a:ext cx="291785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裝得下，但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邊邊的東西被拉歪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看起來大小關係不對。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166506" y="1611356"/>
            <a:ext cx="128820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1x 退兩步拍</a:t>
            </a:r>
            <a:endParaRPr lang="en-US" sz="1650" dirty="0"/>
          </a:p>
        </p:txBody>
      </p:sp>
      <p:pic>
        <p:nvPicPr>
          <p:cNvPr id="8" name="Image 2" descr="/home/user/gogoeveryday/photo-course-2/export-pptx/build/img/p4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40" y="1963765"/>
            <a:ext cx="3810030" cy="23812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250643" y="4449836"/>
            <a:ext cx="311984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一樣裝得下，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形狀是對的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誰大誰小、誰前誰後都看得出來。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800100" y="5126126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DFE8DC"/>
          </a:solidFill>
          <a:ln/>
        </p:spPr>
      </p:sp>
      <p:sp>
        <p:nvSpPr>
          <p:cNvPr id="11" name="Shape 6"/>
          <p:cNvSpPr/>
          <p:nvPr/>
        </p:nvSpPr>
        <p:spPr>
          <a:xfrm>
            <a:off x="800100" y="5126126"/>
            <a:ext cx="47640" cy="69101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2" name="Image 3" descr="/home/user/gogoeveryday/photo-course-2/export-pptx/build/img/p47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60" y="5328666"/>
            <a:ext cx="285750" cy="2857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95410" y="5345125"/>
            <a:ext cx="640509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口訣：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不要用鏡頭裝，要用腳退。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人退兩步，比按 0.5x 好看很多。</a:t>
            </a:r>
            <a:endParaRPr lang="en-US" sz="15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557235"/>
            <a:ext cx="543409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短影音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只拍直式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，這件事不用猶豫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3588380" y="1327800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在手機上打開，長這樣</a:t>
            </a:r>
            <a:endParaRPr lang="en-US" sz="1500" dirty="0"/>
          </a:p>
        </p:txBody>
      </p:sp>
      <p:pic>
        <p:nvPicPr>
          <p:cNvPr id="5" name="Image 1" descr="/home/user/gogoeveryday/photo-course-2/export-pptx/build/img/p4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221" y="1642171"/>
            <a:ext cx="1504920" cy="261939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20764" y="4366351"/>
            <a:ext cx="144539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直式 9:16 ✓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3790279" y="4690140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佔滿整個手機畫面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318230" y="1327800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同一支影片，橫著拍</a:t>
            </a:r>
            <a:endParaRPr lang="en-US" sz="1500" dirty="0"/>
          </a:p>
        </p:txBody>
      </p:sp>
      <p:pic>
        <p:nvPicPr>
          <p:cNvPr id="9" name="Image 2" descr="/home/user/gogoeveryday/photo-course-2/export-pptx/build/img/p4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71" y="1642171"/>
            <a:ext cx="1504920" cy="261939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49664" y="4366351"/>
            <a:ext cx="144539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橫式 16:9 ✗</a:t>
            </a:r>
            <a:endParaRPr lang="en-US" sz="1650" dirty="0"/>
          </a:p>
        </p:txBody>
      </p:sp>
      <p:sp>
        <p:nvSpPr>
          <p:cNvPr id="11" name="Text 6"/>
          <p:cNvSpPr txBox="1"/>
          <p:nvPr/>
        </p:nvSpPr>
        <p:spPr>
          <a:xfrm>
            <a:off x="5914339" y="4690140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上下一大片黑邊，沒人想看完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00100" y="5109301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13" name="Shape 8"/>
          <p:cNvSpPr/>
          <p:nvPr/>
        </p:nvSpPr>
        <p:spPr>
          <a:xfrm>
            <a:off x="800100" y="5109301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4" name="Image 3" descr="/home/user/gogoeveryday/photo-course-2/export-pptx/build/img/p48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60" y="5466923"/>
            <a:ext cx="219639" cy="28575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29390" y="5328300"/>
            <a:ext cx="10041118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Reels、限時動態、TikTok、YouTube Shorts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全部都是直式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今天下午拍的每一顆鏡頭，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手機都要直著拿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——這是今天唯一不能違反的規則。</a:t>
            </a:r>
            <a:endParaRPr lang="en-US" sz="15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211580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830891"/>
            <a:ext cx="2284628" cy="134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錄影長度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與運鏡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69201"/>
            <a:ext cx="427088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上午想清楚了，下午開始動手。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先講兩件會直接影響「好不好剪」的事。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4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81130"/>
            <a:ext cx="3653028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不要一鏡到底錄兩分鐘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932676"/>
            <a:ext cx="10591770" cy="1285921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93267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1382360" y="1932676"/>
            <a:ext cx="18288" cy="12859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208995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932676"/>
            <a:ext cx="57150" cy="1285921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9" name="Image 1" descr="/home/user/gogoeveryday/photo-course-2/export-pptx/build/img/p5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30" y="2132747"/>
            <a:ext cx="304770" cy="30477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5900" y="2132747"/>
            <a:ext cx="2056486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一鏡到底錄 2 分鐘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85900" y="2494666"/>
            <a:ext cx="3927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剪的時候要看兩分鐘才找得到能用的三秒。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而且中途一定會晃、會失焦、會有雜音。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0100" y="3323295"/>
            <a:ext cx="10591770" cy="1000171"/>
          </a:xfrm>
          <a:prstGeom prst="roundRect">
            <a:avLst>
              <a:gd name="adj" fmla="val 13330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800100" y="3323295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3323295"/>
            <a:ext cx="18288" cy="10001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00100" y="431395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00100" y="3323295"/>
            <a:ext cx="57150" cy="1000171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7" name="Image 2" descr="/home/user/gogoeveryday/photo-course-2/export-pptx/build/img/p5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30" y="3523366"/>
            <a:ext cx="304770" cy="30477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5900" y="3523366"/>
            <a:ext cx="286509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分成 6–8 顆，每顆 3–5 秒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485900" y="3885286"/>
            <a:ext cx="49372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每顆都是完整可用的素材，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直接排順序就是一支影片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00100" y="4485406"/>
            <a:ext cx="520065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21" name="Shape 16"/>
          <p:cNvSpPr/>
          <p:nvPr/>
        </p:nvSpPr>
        <p:spPr>
          <a:xfrm>
            <a:off x="800100" y="4485406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2" name="Image 3" descr="/home/user/gogoeveryday/photo-course-2/export-pptx/build/img/p5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60" y="4843028"/>
            <a:ext cx="285750" cy="28575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95410" y="4704497"/>
            <a:ext cx="3024104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：看得清楚的最短時間。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：再長觀眾就開始滑走了。</a:t>
            </a:r>
            <a:endParaRPr lang="en-US" sz="1575" dirty="0"/>
          </a:p>
        </p:txBody>
      </p:sp>
      <p:sp>
        <p:nvSpPr>
          <p:cNvPr id="24" name="Shape 18"/>
          <p:cNvSpPr/>
          <p:nvPr/>
        </p:nvSpPr>
        <p:spPr>
          <a:xfrm>
            <a:off x="6191220" y="4485406"/>
            <a:ext cx="5200650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25" name="Shape 19"/>
          <p:cNvSpPr/>
          <p:nvPr/>
        </p:nvSpPr>
        <p:spPr>
          <a:xfrm>
            <a:off x="6191220" y="4485406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26" name="Image 4" descr="/home/user/gogoeveryday/photo-course-2/export-pptx/build/img/p50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71" y="4843028"/>
            <a:ext cx="285750" cy="28575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86621" y="4704497"/>
            <a:ext cx="2470892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實際錄的時候錄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6–8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剪掉頭尾剛好剩 3–5 秒。</a:t>
            </a:r>
            <a:endParaRPr lang="en-US" sz="157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48191"/>
            <a:ext cx="1201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好剪的關鍵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1738732"/>
            <a:ext cx="11002061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按下錄影 → 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停一秒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開始動作 → 動作做完 → 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再停一秒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才按停止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00100" y="2490368"/>
            <a:ext cx="10591770" cy="1371600"/>
          </a:xfrm>
          <a:prstGeom prst="roundRect">
            <a:avLst>
              <a:gd name="adj" fmla="val 9720"/>
            </a:avLst>
          </a:prstGeom>
          <a:solidFill>
            <a:srgbClr val="FFFFFF">
              <a:alpha val="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610" y="2499878"/>
            <a:ext cx="2417674" cy="1352580"/>
          </a:xfrm>
          <a:prstGeom prst="rect">
            <a:avLst/>
          </a:prstGeom>
          <a:solidFill>
            <a:srgbClr val="F8E6C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16476" y="2699857"/>
            <a:ext cx="81363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1 秒</a:t>
            </a:r>
            <a:endParaRPr lang="en-US" sz="1725" dirty="0"/>
          </a:p>
        </p:txBody>
      </p:sp>
      <p:sp>
        <p:nvSpPr>
          <p:cNvPr id="8" name="Text 5"/>
          <p:cNvSpPr txBox="1"/>
          <p:nvPr/>
        </p:nvSpPr>
        <p:spPr>
          <a:xfrm>
            <a:off x="1371966" y="3071378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手還沒進畫面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85056" y="3357128"/>
            <a:ext cx="666780" cy="361920"/>
          </a:xfrm>
          <a:prstGeom prst="roundRect">
            <a:avLst>
              <a:gd name="adj" fmla="val 50000"/>
            </a:avLst>
          </a:prstGeom>
          <a:solidFill>
            <a:srgbClr val="D99A4E"/>
          </a:solidFill>
          <a:ln w="9525">
            <a:solidFill>
              <a:srgbClr val="D99A4E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766987" y="3423788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留白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27375" y="2499878"/>
            <a:ext cx="5737311" cy="1352580"/>
          </a:xfrm>
          <a:prstGeom prst="rect">
            <a:avLst/>
          </a:prstGeom>
          <a:solidFill>
            <a:srgbClr val="DFE8D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48727" y="2699857"/>
            <a:ext cx="1304026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中間 3–5 秒</a:t>
            </a:r>
            <a:endParaRPr lang="en-US" sz="1725" dirty="0"/>
          </a:p>
        </p:txBody>
      </p:sp>
      <p:sp>
        <p:nvSpPr>
          <p:cNvPr id="13" name="Text 10"/>
          <p:cNvSpPr txBox="1"/>
          <p:nvPr/>
        </p:nvSpPr>
        <p:spPr>
          <a:xfrm>
            <a:off x="5348508" y="3071378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動作在這裡發生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67360" y="3357128"/>
            <a:ext cx="857250" cy="361920"/>
          </a:xfrm>
          <a:prstGeom prst="roundRect">
            <a:avLst>
              <a:gd name="adj" fmla="val 50000"/>
            </a:avLst>
          </a:prstGeom>
          <a:solidFill>
            <a:srgbClr val="5F7A63"/>
          </a:solidFill>
          <a:ln w="9525">
            <a:solidFill>
              <a:srgbClr val="5F7A63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749290" y="3423788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要用的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64686" y="2499878"/>
            <a:ext cx="2417674" cy="1352580"/>
          </a:xfrm>
          <a:prstGeom prst="rect">
            <a:avLst/>
          </a:prstGeom>
          <a:solidFill>
            <a:srgbClr val="F8E6C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71461" y="2699857"/>
            <a:ext cx="81363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 1 秒</a:t>
            </a:r>
            <a:endParaRPr lang="en-US" sz="1725" dirty="0"/>
          </a:p>
        </p:txBody>
      </p:sp>
      <p:sp>
        <p:nvSpPr>
          <p:cNvPr id="18" name="Text 15"/>
          <p:cNvSpPr txBox="1"/>
          <p:nvPr/>
        </p:nvSpPr>
        <p:spPr>
          <a:xfrm>
            <a:off x="9627900" y="3071378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手已經離開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40041" y="3357128"/>
            <a:ext cx="666780" cy="361920"/>
          </a:xfrm>
          <a:prstGeom prst="roundRect">
            <a:avLst>
              <a:gd name="adj" fmla="val 50000"/>
            </a:avLst>
          </a:prstGeom>
          <a:solidFill>
            <a:srgbClr val="D99A4E"/>
          </a:solidFill>
          <a:ln w="9525">
            <a:solidFill>
              <a:srgbClr val="D99A4E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921972" y="3423788"/>
            <a:ext cx="512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留白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61970" y="4042928"/>
            <a:ext cx="73152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</a:t>
            </a:r>
            <a:endParaRPr lang="en-US" sz="1575" dirty="0"/>
          </a:p>
        </p:txBody>
      </p:sp>
      <p:sp>
        <p:nvSpPr>
          <p:cNvPr id="22" name="Text 19"/>
          <p:cNvSpPr txBox="1"/>
          <p:nvPr/>
        </p:nvSpPr>
        <p:spPr>
          <a:xfrm>
            <a:off x="2152680" y="4052438"/>
            <a:ext cx="7966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剪的時候需要一點「可以切的餘地」。前後沒留，就會剪到手還在動、動作被切掉一半。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61970" y="4433468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最常見的失敗</a:t>
            </a:r>
            <a:endParaRPr lang="en-US" sz="1575" dirty="0"/>
          </a:p>
        </p:txBody>
      </p:sp>
      <p:sp>
        <p:nvSpPr>
          <p:cNvPr id="24" name="Text 21"/>
          <p:cNvSpPr txBox="1"/>
          <p:nvPr/>
        </p:nvSpPr>
        <p:spPr>
          <a:xfrm>
            <a:off x="2152680" y="4442978"/>
            <a:ext cx="57449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按下錄影的同時手就伸進去——剪出來永遠有一格是手的殘影。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61970" y="4824009"/>
            <a:ext cx="1363096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多錄一點不吃虧</a:t>
            </a:r>
            <a:endParaRPr lang="en-US" sz="1575" dirty="0"/>
          </a:p>
        </p:txBody>
      </p:sp>
      <p:sp>
        <p:nvSpPr>
          <p:cNvPr id="26" name="Text 23"/>
          <p:cNvSpPr txBox="1"/>
          <p:nvPr/>
        </p:nvSpPr>
        <p:spPr>
          <a:xfrm>
            <a:off x="2152680" y="4833518"/>
            <a:ext cx="352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手機容量不是問題，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素材少才是問題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14893"/>
            <a:ext cx="1105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運鏡 1 / 3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1414943"/>
            <a:ext cx="202393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靠近 </a:t>
            </a:r>
            <a:pPr algn="l" indent="0" marL="0">
              <a:lnSpc>
                <a:spcPts val="3477"/>
              </a:lnSpc>
              <a:buNone/>
            </a:pPr>
            <a:r>
              <a:rPr lang="en-US" sz="1767" b="1" spc="-57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Push In</a:t>
            </a:r>
            <a:endParaRPr lang="en-US" sz="2850" dirty="0"/>
          </a:p>
        </p:txBody>
      </p:sp>
      <p:pic>
        <p:nvPicPr>
          <p:cNvPr id="5" name="Image 1" descr="/home/user/gogoeveryday/photo-course-2/export-pptx/build/img/p5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55" y="2223181"/>
            <a:ext cx="4000500" cy="25527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38860" y="2180295"/>
            <a:ext cx="5153010" cy="1266810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238860" y="21802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2180295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38860" y="34375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38860" y="2180295"/>
            <a:ext cx="57150" cy="126681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67460" y="2370856"/>
            <a:ext cx="120152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什麼時候用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6467460" y="2723266"/>
            <a:ext cx="475762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要讓觀眾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注意某個細節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：質地、封口、logo、切面。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也適合當影片的第一顆，把注意力抓進來。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38860" y="3551895"/>
            <a:ext cx="5153010" cy="1266810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38860" y="35518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1382360" y="3551895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38860" y="48091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6238860" y="3551895"/>
            <a:ext cx="57150" cy="126681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67460" y="3742456"/>
            <a:ext cx="76014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怎麼做</a:t>
            </a:r>
            <a:endParaRPr lang="en-US" sz="1650" dirty="0"/>
          </a:p>
        </p:txBody>
      </p:sp>
      <p:sp>
        <p:nvSpPr>
          <p:cNvPr id="19" name="Text 15"/>
          <p:cNvSpPr txBox="1"/>
          <p:nvPr/>
        </p:nvSpPr>
        <p:spPr>
          <a:xfrm>
            <a:off x="6467460" y="4094866"/>
            <a:ext cx="37256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整台慢慢往前移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，不要用手指放大。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兩隻手拿穩，用腳往前走半步最穩。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00100" y="4980645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1" name="Shape 17"/>
          <p:cNvSpPr/>
          <p:nvPr/>
        </p:nvSpPr>
        <p:spPr>
          <a:xfrm>
            <a:off x="800100" y="4980645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2" name="Image 2" descr="/home/user/gogoeveryday/photo-course-2/export-pptx/build/img/p5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60" y="5183276"/>
            <a:ext cx="285750" cy="28575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95410" y="5199736"/>
            <a:ext cx="814794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最常見的錯：用手指縮放代替移動。畫質會掉，而且會晃。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要動的是手機，不是手指。</a:t>
            </a:r>
            <a:endParaRPr lang="en-US" sz="157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14893"/>
            <a:ext cx="1105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運鏡 2 / 3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1414943"/>
            <a:ext cx="2069013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離開 </a:t>
            </a:r>
            <a:pPr algn="l" indent="0" marL="0">
              <a:lnSpc>
                <a:spcPts val="3477"/>
              </a:lnSpc>
              <a:buNone/>
            </a:pPr>
            <a:r>
              <a:rPr lang="en-US" sz="1767" b="1" spc="-57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Pull Out</a:t>
            </a:r>
            <a:endParaRPr lang="en-US" sz="2850" dirty="0"/>
          </a:p>
        </p:txBody>
      </p:sp>
      <p:pic>
        <p:nvPicPr>
          <p:cNvPr id="5" name="Image 1" descr="/home/user/gogoeveryday/photo-course-2/export-pptx/build/img/p5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55" y="2223181"/>
            <a:ext cx="4000500" cy="25527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38860" y="2180295"/>
            <a:ext cx="5153010" cy="1266810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238860" y="21802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2180295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38860" y="34375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38860" y="2180295"/>
            <a:ext cx="57150" cy="126681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67460" y="2370856"/>
            <a:ext cx="120152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什麼時候用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6467460" y="2723266"/>
            <a:ext cx="41294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從一個細節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退出來看到全貌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，很適合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當結尾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「原來這是一整個做好的商品」的感覺。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38860" y="3551895"/>
            <a:ext cx="5153010" cy="1266810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38860" y="35518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1382360" y="3551895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38860" y="48091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6238860" y="3551895"/>
            <a:ext cx="57150" cy="126681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67460" y="3742456"/>
            <a:ext cx="76014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怎麼做</a:t>
            </a:r>
            <a:endParaRPr lang="en-US" sz="1650" dirty="0"/>
          </a:p>
        </p:txBody>
      </p:sp>
      <p:sp>
        <p:nvSpPr>
          <p:cNvPr id="19" name="Text 15"/>
          <p:cNvSpPr txBox="1"/>
          <p:nvPr/>
        </p:nvSpPr>
        <p:spPr>
          <a:xfrm>
            <a:off x="6467460" y="4094866"/>
            <a:ext cx="453332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從特寫開始，手機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慢慢往後退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，退到看得見全部。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退的時候盡量走直線，不要邊退邊轉。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00100" y="4980645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1" name="Shape 17"/>
          <p:cNvSpPr/>
          <p:nvPr/>
        </p:nvSpPr>
        <p:spPr>
          <a:xfrm>
            <a:off x="800100" y="4980645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2" name="Image 2" descr="/home/user/gogoeveryday/photo-course-2/export-pptx/build/img/p5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60" y="5183276"/>
            <a:ext cx="285750" cy="28575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95410" y="5199736"/>
            <a:ext cx="496747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退太快會像失誤。三秒退完就好，寧可慢也不要快。</a:t>
            </a:r>
            <a:endParaRPr lang="en-US" sz="15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14893"/>
            <a:ext cx="1105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運鏡 3 / 3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1414943"/>
            <a:ext cx="1632021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平移 </a:t>
            </a:r>
            <a:pPr algn="l" indent="0" marL="0">
              <a:lnSpc>
                <a:spcPts val="3477"/>
              </a:lnSpc>
              <a:buNone/>
            </a:pPr>
            <a:r>
              <a:rPr lang="en-US" sz="1767" b="1" spc="-57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Pan</a:t>
            </a:r>
            <a:endParaRPr lang="en-US" sz="2850" dirty="0"/>
          </a:p>
        </p:txBody>
      </p:sp>
      <p:pic>
        <p:nvPicPr>
          <p:cNvPr id="5" name="Image 1" descr="/home/user/gogoeveryday/photo-course-2/export-pptx/build/img/p5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55" y="2223181"/>
            <a:ext cx="4000500" cy="25527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38860" y="2180295"/>
            <a:ext cx="5153010" cy="1266810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238860" y="21802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1382360" y="2180295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38860" y="34375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238860" y="2180295"/>
            <a:ext cx="57150" cy="126681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67460" y="2370856"/>
            <a:ext cx="120152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什麼時候用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6467460" y="2723266"/>
            <a:ext cx="47352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介紹好幾樣東西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，或者從左到右看過整個桌面。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適合開場，讓人知道「這裡有什麼」。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38860" y="3551895"/>
            <a:ext cx="5153010" cy="1266810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38860" y="35518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1382360" y="3551895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38860" y="480919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6238860" y="3551895"/>
            <a:ext cx="57150" cy="126681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67460" y="3742456"/>
            <a:ext cx="76014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怎麼做</a:t>
            </a:r>
            <a:endParaRPr lang="en-US" sz="1650" dirty="0"/>
          </a:p>
        </p:txBody>
      </p:sp>
      <p:sp>
        <p:nvSpPr>
          <p:cNvPr id="19" name="Text 15"/>
          <p:cNvSpPr txBox="1"/>
          <p:nvPr/>
        </p:nvSpPr>
        <p:spPr>
          <a:xfrm>
            <a:off x="6467460" y="4094866"/>
            <a:ext cx="37256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身體不動，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手臂帶著手機平平地移過去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速度要慢——比你以為的還要更慢。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00100" y="4980645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1" name="Shape 17"/>
          <p:cNvSpPr/>
          <p:nvPr/>
        </p:nvSpPr>
        <p:spPr>
          <a:xfrm>
            <a:off x="800100" y="4980645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2" name="Image 2" descr="/home/user/gogoeveryday/photo-course-2/export-pptx/build/img/p5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60" y="5183276"/>
            <a:ext cx="285750" cy="28575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95410" y="5199736"/>
            <a:ext cx="7723845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平移最容易晃。手肘夾在身側、手臂當支點，比手腕轉穩十倍。有腳架就用腳架。</a:t>
            </a:r>
            <a:endParaRPr lang="en-US" sz="15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25835" y="805495"/>
            <a:ext cx="1733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八分鐘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423331" y="1205545"/>
            <a:ext cx="5354909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用你自己的商品，</a:t>
            </a:r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三種各錄一顆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590690" y="1970898"/>
            <a:ext cx="2876520" cy="2747040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90690" y="1970898"/>
            <a:ext cx="287652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" name="Shape 4"/>
          <p:cNvSpPr/>
          <p:nvPr/>
        </p:nvSpPr>
        <p:spPr>
          <a:xfrm>
            <a:off x="4457700" y="1970898"/>
            <a:ext cx="18288" cy="27470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590690" y="4708520"/>
            <a:ext cx="28765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590690" y="1970898"/>
            <a:ext cx="18288" cy="27470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1646" y="2189988"/>
            <a:ext cx="58421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靠近</a:t>
            </a:r>
            <a:endParaRPr lang="en-US" sz="1800" dirty="0"/>
          </a:p>
        </p:txBody>
      </p:sp>
      <p:pic>
        <p:nvPicPr>
          <p:cNvPr id="11" name="Image 1" descr="/home/user/gogoeveryday/photo-course-2/export-pptx/build/img/p5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30" y="2561509"/>
            <a:ext cx="2552730" cy="1600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24426" y="4285518"/>
            <a:ext cx="181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從全部 → 一個細節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57771" y="1970898"/>
            <a:ext cx="2876520" cy="2747040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57771" y="1970898"/>
            <a:ext cx="287652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15" name="Shape 11"/>
          <p:cNvSpPr/>
          <p:nvPr/>
        </p:nvSpPr>
        <p:spPr>
          <a:xfrm>
            <a:off x="7524780" y="1970898"/>
            <a:ext cx="18288" cy="27470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657771" y="4708520"/>
            <a:ext cx="28765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657771" y="1970898"/>
            <a:ext cx="18288" cy="27470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808635" y="2189988"/>
            <a:ext cx="58421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離開</a:t>
            </a:r>
            <a:endParaRPr lang="en-US" sz="1800" dirty="0"/>
          </a:p>
        </p:txBody>
      </p:sp>
      <p:pic>
        <p:nvPicPr>
          <p:cNvPr id="19" name="Image 2" descr="/home/user/gogoeveryday/photo-course-2/export-pptx/build/img/p55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20" y="2561509"/>
            <a:ext cx="2552730" cy="1600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91415" y="4285518"/>
            <a:ext cx="181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從一個細節 → 全部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724760" y="1970898"/>
            <a:ext cx="2876520" cy="2747040"/>
          </a:xfrm>
          <a:prstGeom prst="roundRect">
            <a:avLst>
              <a:gd name="adj" fmla="val 8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24760" y="1970898"/>
            <a:ext cx="2876520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23" name="Shape 18"/>
          <p:cNvSpPr/>
          <p:nvPr/>
        </p:nvSpPr>
        <p:spPr>
          <a:xfrm>
            <a:off x="10591770" y="1970898"/>
            <a:ext cx="18288" cy="27470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724760" y="4708520"/>
            <a:ext cx="28765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724760" y="1970898"/>
            <a:ext cx="18288" cy="27470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875715" y="2189988"/>
            <a:ext cx="584210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平移</a:t>
            </a:r>
            <a:endParaRPr lang="en-US" sz="1800" dirty="0"/>
          </a:p>
        </p:txBody>
      </p:sp>
      <p:pic>
        <p:nvPicPr>
          <p:cNvPr id="27" name="Image 3" descr="/home/user/gogoeveryday/photo-course-2/export-pptx/build/img/p55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2561509"/>
            <a:ext cx="2552730" cy="1600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460395" y="4285518"/>
            <a:ext cx="141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從左邊 → 右邊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1095360" y="4879970"/>
            <a:ext cx="1000125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30" name="Shape 24"/>
          <p:cNvSpPr/>
          <p:nvPr/>
        </p:nvSpPr>
        <p:spPr>
          <a:xfrm>
            <a:off x="1095360" y="4879970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1" name="Image 4" descr="/home/user/gogoeveryday/photo-course-2/export-pptx/build/img/p55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20" y="5237592"/>
            <a:ext cx="255941" cy="28575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65361" y="5098969"/>
            <a:ext cx="9526676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每顆錄 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6–8 秒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，前後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各留一秒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，手機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直著拿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錄完馬上回放看有沒有晃——晃就重錄，現在重錄比回家重拍容易。</a:t>
            </a:r>
            <a:endParaRPr lang="en-US" sz="157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211580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830891"/>
            <a:ext cx="2833177" cy="134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15–30 秒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怎麼組起來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69201"/>
            <a:ext cx="334194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鏡頭都會拍了，接下來是順序。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把上午的三段式，換算成秒數。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5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52545"/>
            <a:ext cx="494260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 20 秒的影片，時間這樣分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004090"/>
            <a:ext cx="10591770" cy="2247870"/>
          </a:xfrm>
          <a:prstGeom prst="roundRect">
            <a:avLst>
              <a:gd name="adj" fmla="val 6781"/>
            </a:avLst>
          </a:prstGeom>
          <a:solidFill>
            <a:srgbClr val="FFFFFF">
              <a:alpha val="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9610" y="2013600"/>
            <a:ext cx="1692646" cy="2228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809610" y="2013600"/>
            <a:ext cx="1692646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68821" y="2251801"/>
            <a:ext cx="78364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367760" y="2566081"/>
            <a:ext cx="5856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908365" y="2985150"/>
            <a:ext cx="1504371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最好看的那一顆</a:t>
            </a:r>
            <a:endParaRPr lang="en-US" sz="150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或者一句話字幕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8365" y="3566251"/>
            <a:ext cx="1504371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決定人家滑不滑走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502256" y="2013600"/>
            <a:ext cx="5019690" cy="2228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502256" y="2013600"/>
            <a:ext cx="5019690" cy="5715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41530" y="2251801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中間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4511558" y="2566081"/>
            <a:ext cx="101041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8–12 秒</a:t>
            </a:r>
            <a:endParaRPr lang="en-US" sz="1950" dirty="0"/>
          </a:p>
        </p:txBody>
      </p:sp>
      <p:sp>
        <p:nvSpPr>
          <p:cNvPr id="15" name="Text 12"/>
          <p:cNvSpPr txBox="1"/>
          <p:nvPr/>
        </p:nvSpPr>
        <p:spPr>
          <a:xfrm>
            <a:off x="4163720" y="2985150"/>
            <a:ext cx="1706270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過程、動作、細節</a:t>
            </a:r>
            <a:endParaRPr lang="en-US" sz="150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顆鏡頭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163720" y="3566251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影片的內容在這裡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21946" y="2013600"/>
            <a:ext cx="2167860" cy="2228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521946" y="2013600"/>
            <a:ext cx="2167860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35305" y="2251801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後面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8178302" y="2566081"/>
            <a:ext cx="86438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3–4 秒</a:t>
            </a:r>
            <a:endParaRPr lang="en-US" sz="1950" dirty="0"/>
          </a:p>
        </p:txBody>
      </p:sp>
      <p:sp>
        <p:nvSpPr>
          <p:cNvPr id="21" name="Text 18"/>
          <p:cNvSpPr txBox="1"/>
          <p:nvPr/>
        </p:nvSpPr>
        <p:spPr>
          <a:xfrm>
            <a:off x="8060345" y="2985150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完成的畫面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959395" y="3309031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讓人看到結果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689714" y="2013600"/>
            <a:ext cx="1692646" cy="2228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9689714" y="2013600"/>
            <a:ext cx="1692646" cy="5715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265512" y="2251801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結尾</a:t>
            </a:r>
            <a:endParaRPr lang="en-US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10108601" y="2566081"/>
            <a:ext cx="86438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秒</a:t>
            </a:r>
            <a:endParaRPr lang="en-US" sz="1950" dirty="0"/>
          </a:p>
        </p:txBody>
      </p:sp>
      <p:sp>
        <p:nvSpPr>
          <p:cNvPr id="27" name="Text 24"/>
          <p:cNvSpPr txBox="1"/>
          <p:nvPr/>
        </p:nvSpPr>
        <p:spPr>
          <a:xfrm>
            <a:off x="9889510" y="2985150"/>
            <a:ext cx="13024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一句話：怎麼買、</a:t>
            </a:r>
            <a:endParaRPr lang="en-US" sz="150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下一支拍什麼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788561" y="3823381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告訴人家下一步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00100" y="4413900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30" name="Shape 27"/>
          <p:cNvSpPr/>
          <p:nvPr/>
        </p:nvSpPr>
        <p:spPr>
          <a:xfrm>
            <a:off x="800100" y="4413900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1" name="Image 1" descr="/home/user/gogoeveryday/photo-course-2/export-pptx/build/img/p5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762012"/>
            <a:ext cx="294528" cy="30477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504188" y="4632990"/>
            <a:ext cx="10197937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秒決定一切。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不要把最好的畫面留到最後——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留到最後就沒人看得到了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把你最滿意的那一顆，放第一個。</a:t>
            </a:r>
            <a:endParaRPr lang="en-US" sz="15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1366662"/>
            <a:ext cx="379156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三個範例，照著抄就可以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885493"/>
            <a:ext cx="3530681" cy="2714671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7670" y="1885493"/>
            <a:ext cx="3530681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168841" y="1885493"/>
            <a:ext cx="18288" cy="2714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7670" y="4590562"/>
            <a:ext cx="35306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7670" y="1885493"/>
            <a:ext cx="18288" cy="2714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0590" y="2104583"/>
            <a:ext cx="101973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商品介紹</a:t>
            </a:r>
            <a:endParaRPr lang="en-US" sz="1725" dirty="0"/>
          </a:p>
        </p:txBody>
      </p:sp>
      <p:sp>
        <p:nvSpPr>
          <p:cNvPr id="10" name="Text 7"/>
          <p:cNvSpPr txBox="1"/>
          <p:nvPr/>
        </p:nvSpPr>
        <p:spPr>
          <a:xfrm>
            <a:off x="3260568" y="2142714"/>
            <a:ext cx="831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 20 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8721" y="2485614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8721" y="2485614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0590" y="257129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400221" y="2571293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商品特寫，一句字幕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8721" y="2876062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28721" y="2876062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0590" y="296183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秒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400221" y="2961833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商品全景，看得出大小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28721" y="326660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28721" y="326660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0590" y="335237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秒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00221" y="3352373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手拿起來、轉一圈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28721" y="365714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28721" y="365714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90590" y="3742914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400221" y="3742914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使用的樣子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28721" y="404768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28721" y="404768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90590" y="4133362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秒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400221" y="4133362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完成畫面＋怎麼買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330781" y="1885493"/>
            <a:ext cx="3530681" cy="2714671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330781" y="1885493"/>
            <a:ext cx="3530681" cy="5715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33" name="Shape 30"/>
          <p:cNvSpPr/>
          <p:nvPr/>
        </p:nvSpPr>
        <p:spPr>
          <a:xfrm>
            <a:off x="7851861" y="1885493"/>
            <a:ext cx="18288" cy="2714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330781" y="4590562"/>
            <a:ext cx="35306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330781" y="1885493"/>
            <a:ext cx="18288" cy="2714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473611" y="2104583"/>
            <a:ext cx="101973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製作過程</a:t>
            </a:r>
            <a:endParaRPr lang="en-US" sz="1725" dirty="0"/>
          </a:p>
        </p:txBody>
      </p:sp>
      <p:sp>
        <p:nvSpPr>
          <p:cNvPr id="37" name="Text 34"/>
          <p:cNvSpPr txBox="1"/>
          <p:nvPr/>
        </p:nvSpPr>
        <p:spPr>
          <a:xfrm>
            <a:off x="6943588" y="2142714"/>
            <a:ext cx="831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 25 秒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4511741" y="2485614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511741" y="2485614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473611" y="257129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83241" y="2571293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原料排開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511741" y="2876062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511741" y="2876062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473611" y="296183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秒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5083241" y="2961833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第一個動作（切、倒）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4511741" y="326660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511741" y="326660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473611" y="335237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秒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5083241" y="3352373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第二個動作（攪、煮）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4511741" y="365714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511741" y="365714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473611" y="3742914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秒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5083241" y="3742914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關鍵的一刻（特寫）</a:t>
            </a:r>
            <a:endParaRPr lang="en-US" sz="1500" dirty="0"/>
          </a:p>
        </p:txBody>
      </p:sp>
      <p:sp>
        <p:nvSpPr>
          <p:cNvPr id="54" name="Shape 51"/>
          <p:cNvSpPr/>
          <p:nvPr/>
        </p:nvSpPr>
        <p:spPr>
          <a:xfrm>
            <a:off x="4511741" y="404768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4511741" y="404768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473611" y="4133362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秒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5083241" y="4133362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完成品＋包起來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8013802" y="1885493"/>
            <a:ext cx="3530681" cy="2714671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</p:spPr>
      </p:sp>
      <p:sp>
        <p:nvSpPr>
          <p:cNvPr id="59" name="Shape 56"/>
          <p:cNvSpPr/>
          <p:nvPr/>
        </p:nvSpPr>
        <p:spPr>
          <a:xfrm>
            <a:off x="8013802" y="1885493"/>
            <a:ext cx="3530681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60" name="Shape 57"/>
          <p:cNvSpPr/>
          <p:nvPr/>
        </p:nvSpPr>
        <p:spPr>
          <a:xfrm>
            <a:off x="11534882" y="1885493"/>
            <a:ext cx="18288" cy="2714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013802" y="4590562"/>
            <a:ext cx="35306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013802" y="1885493"/>
            <a:ext cx="18288" cy="2714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156631" y="2104583"/>
            <a:ext cx="101973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試吃心得</a:t>
            </a:r>
            <a:endParaRPr lang="en-US" sz="1725" dirty="0"/>
          </a:p>
        </p:txBody>
      </p:sp>
      <p:sp>
        <p:nvSpPr>
          <p:cNvPr id="64" name="Text 61"/>
          <p:cNvSpPr txBox="1"/>
          <p:nvPr/>
        </p:nvSpPr>
        <p:spPr>
          <a:xfrm>
            <a:off x="10626608" y="2142714"/>
            <a:ext cx="831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 18 秒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194761" y="2485614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194761" y="2485614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8156631" y="257129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秒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8766261" y="2571293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商品在手上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8194761" y="2876062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8194761" y="2876062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8156631" y="296183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秒</a:t>
            </a:r>
            <a:endParaRPr lang="en-US" sz="1500" dirty="0"/>
          </a:p>
        </p:txBody>
      </p:sp>
      <p:sp>
        <p:nvSpPr>
          <p:cNvPr id="72" name="Text 69"/>
          <p:cNvSpPr txBox="1"/>
          <p:nvPr/>
        </p:nvSpPr>
        <p:spPr>
          <a:xfrm>
            <a:off x="8766261" y="2961833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打開、拿出來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8194761" y="326660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8194761" y="326660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156631" y="3352373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秒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8766261" y="3352373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吃／用的那一刻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8194761" y="365714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8194761" y="365714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156631" y="3742914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秒</a:t>
            </a:r>
            <a:endParaRPr lang="en-US" sz="1500" dirty="0"/>
          </a:p>
        </p:txBody>
      </p:sp>
      <p:sp>
        <p:nvSpPr>
          <p:cNvPr id="80" name="Text 77"/>
          <p:cNvSpPr txBox="1"/>
          <p:nvPr/>
        </p:nvSpPr>
        <p:spPr>
          <a:xfrm>
            <a:off x="8766261" y="3742914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表情或反應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194761" y="4047683"/>
            <a:ext cx="3168670" cy="3905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2" name="Shape 79"/>
          <p:cNvSpPr/>
          <p:nvPr/>
        </p:nvSpPr>
        <p:spPr>
          <a:xfrm>
            <a:off x="8194761" y="4047683"/>
            <a:ext cx="31686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8156631" y="4133362"/>
            <a:ext cx="480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秒</a:t>
            </a:r>
            <a:endParaRPr lang="en-US" sz="1500" dirty="0"/>
          </a:p>
        </p:txBody>
      </p:sp>
      <p:sp>
        <p:nvSpPr>
          <p:cNvPr id="84" name="Text 81"/>
          <p:cNvSpPr txBox="1"/>
          <p:nvPr/>
        </p:nvSpPr>
        <p:spPr>
          <a:xfrm>
            <a:off x="8766261" y="4133362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一句評語</a:t>
            </a:r>
            <a:endParaRPr lang="en-US" sz="1500" dirty="0"/>
          </a:p>
        </p:txBody>
      </p:sp>
      <p:sp>
        <p:nvSpPr>
          <p:cNvPr id="85" name="Shape 82"/>
          <p:cNvSpPr/>
          <p:nvPr/>
        </p:nvSpPr>
        <p:spPr>
          <a:xfrm>
            <a:off x="647670" y="4704862"/>
            <a:ext cx="10896630" cy="557693"/>
          </a:xfrm>
          <a:prstGeom prst="roundRect">
            <a:avLst>
              <a:gd name="adj" fmla="val 30743"/>
            </a:avLst>
          </a:prstGeom>
          <a:solidFill>
            <a:srgbClr val="DFE8DC"/>
          </a:solidFill>
          <a:ln/>
        </p:spPr>
      </p:sp>
      <p:sp>
        <p:nvSpPr>
          <p:cNvPr id="86" name="Shape 83"/>
          <p:cNvSpPr/>
          <p:nvPr/>
        </p:nvSpPr>
        <p:spPr>
          <a:xfrm>
            <a:off x="647670" y="4704862"/>
            <a:ext cx="47640" cy="557693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87" name="Image 1" descr="/home/user/gogoeveryday/photo-course-2/export-pptx/build/img/p5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4850343"/>
            <a:ext cx="266730" cy="266730"/>
          </a:xfrm>
          <a:prstGeom prst="rect">
            <a:avLst/>
          </a:prstGeom>
        </p:spPr>
      </p:pic>
      <p:sp>
        <p:nvSpPr>
          <p:cNvPr id="88" name="Text 84"/>
          <p:cNvSpPr txBox="1"/>
          <p:nvPr/>
        </p:nvSpPr>
        <p:spPr>
          <a:xfrm>
            <a:off x="1285921" y="4857293"/>
            <a:ext cx="785414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看得出來嗎？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每一種都是 5 顆鏡頭左右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這就是為什麼上午的分鏡表要寫 5–8 個。</a:t>
            </a:r>
            <a:endParaRPr lang="en-US" sz="15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573591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92810"/>
            <a:ext cx="2284628" cy="61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正式拍攝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307190"/>
            <a:ext cx="334194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今天最重要、時間最長的一段。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照著你的分鏡表，把素材拍完。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5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62090"/>
            <a:ext cx="472159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開始拍之前，先花三分鐘擺好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113636"/>
            <a:ext cx="2011589" cy="2028871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113636"/>
            <a:ext cx="2011589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2802179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132997"/>
            <a:ext cx="201158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9" name="Image 1" descr="/home/user/gogoeveryday/photo-course-2/export-pptx/build/img/p6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889" y="2332726"/>
            <a:ext cx="361920" cy="361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25859" y="2828056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</a:t>
            </a:r>
            <a:endParaRPr lang="en-US" sz="1725" dirty="0"/>
          </a:p>
        </p:txBody>
      </p:sp>
      <p:sp>
        <p:nvSpPr>
          <p:cNvPr id="11" name="Text 7"/>
          <p:cNvSpPr txBox="1"/>
          <p:nvPr/>
        </p:nvSpPr>
        <p:spPr>
          <a:xfrm>
            <a:off x="957468" y="3180466"/>
            <a:ext cx="17062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擦乾淨、標籤轉正面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945008" y="2113636"/>
            <a:ext cx="2011680" cy="2028871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45008" y="2113636"/>
            <a:ext cx="201168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0"/>
          <p:cNvSpPr/>
          <p:nvPr/>
        </p:nvSpPr>
        <p:spPr>
          <a:xfrm>
            <a:off x="4947178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2945008" y="4132997"/>
            <a:ext cx="20116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2945008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17" name="Image 2" descr="/home/user/gogoeveryday/photo-course-2/export-pptx/build/img/p6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97" y="2332726"/>
            <a:ext cx="361920" cy="3619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70767" y="2828056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725" dirty="0"/>
          </a:p>
        </p:txBody>
      </p:sp>
      <p:sp>
        <p:nvSpPr>
          <p:cNvPr id="19" name="Text 14"/>
          <p:cNvSpPr txBox="1"/>
          <p:nvPr/>
        </p:nvSpPr>
        <p:spPr>
          <a:xfrm>
            <a:off x="3102376" y="3180466"/>
            <a:ext cx="17062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素色布、木桌、白牆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把雜物移開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090099" y="2113636"/>
            <a:ext cx="2011680" cy="2028871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90099" y="2113636"/>
            <a:ext cx="201168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2" name="Shape 17"/>
          <p:cNvSpPr/>
          <p:nvPr/>
        </p:nvSpPr>
        <p:spPr>
          <a:xfrm>
            <a:off x="7092269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5090099" y="4132997"/>
            <a:ext cx="20116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5090099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25" name="Image 3" descr="/home/user/gogoeveryday/photo-course-2/export-pptx/build/img/p6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888" y="2332726"/>
            <a:ext cx="361920" cy="3619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925312" y="2828056"/>
            <a:ext cx="350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</a:t>
            </a:r>
            <a:endParaRPr lang="en-US" sz="1725" dirty="0"/>
          </a:p>
        </p:txBody>
      </p:sp>
      <p:sp>
        <p:nvSpPr>
          <p:cNvPr id="27" name="Text 21"/>
          <p:cNvSpPr txBox="1"/>
          <p:nvPr/>
        </p:nvSpPr>
        <p:spPr>
          <a:xfrm>
            <a:off x="5247467" y="3180466"/>
            <a:ext cx="17062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靠窗，人不要背對窗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關掉頭頂的黃燈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235099" y="2113636"/>
            <a:ext cx="2011680" cy="2028871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35099" y="2113636"/>
            <a:ext cx="2011680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30" name="Shape 24"/>
          <p:cNvSpPr/>
          <p:nvPr/>
        </p:nvSpPr>
        <p:spPr>
          <a:xfrm>
            <a:off x="9237360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7235099" y="4132997"/>
            <a:ext cx="20116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7235099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33" name="Image 4" descr="/home/user/gogoeveryday/photo-course-2/export-pptx/build/img/p60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979" y="2332726"/>
            <a:ext cx="361920" cy="3619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960858" y="2828056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道具</a:t>
            </a:r>
            <a:endParaRPr lang="en-US" sz="1725" dirty="0"/>
          </a:p>
        </p:txBody>
      </p:sp>
      <p:sp>
        <p:nvSpPr>
          <p:cNvPr id="35" name="Text 28"/>
          <p:cNvSpPr txBox="1"/>
          <p:nvPr/>
        </p:nvSpPr>
        <p:spPr>
          <a:xfrm>
            <a:off x="7493417" y="3180466"/>
            <a:ext cx="15043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1–3 樣就好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盤子、布、葉子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9380190" y="2113636"/>
            <a:ext cx="2011589" cy="2028871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380190" y="2113636"/>
            <a:ext cx="2011589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8" name="Shape 31"/>
          <p:cNvSpPr/>
          <p:nvPr/>
        </p:nvSpPr>
        <p:spPr>
          <a:xfrm>
            <a:off x="11382268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Shape 32"/>
          <p:cNvSpPr/>
          <p:nvPr/>
        </p:nvSpPr>
        <p:spPr>
          <a:xfrm>
            <a:off x="9380190" y="4132997"/>
            <a:ext cx="201158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0" name="Shape 33"/>
          <p:cNvSpPr/>
          <p:nvPr/>
        </p:nvSpPr>
        <p:spPr>
          <a:xfrm>
            <a:off x="9380190" y="2113636"/>
            <a:ext cx="18288" cy="2028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41" name="Image 5" descr="/home/user/gogoeveryday/photo-course-2/export-pptx/build/img/p60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978" y="2332726"/>
            <a:ext cx="361920" cy="3619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0105949" y="2828056"/>
            <a:ext cx="5695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</a:t>
            </a:r>
            <a:endParaRPr lang="en-US" sz="1725" dirty="0"/>
          </a:p>
        </p:txBody>
      </p:sp>
      <p:sp>
        <p:nvSpPr>
          <p:cNvPr id="43" name="Text 35"/>
          <p:cNvSpPr txBox="1"/>
          <p:nvPr/>
        </p:nvSpPr>
        <p:spPr>
          <a:xfrm>
            <a:off x="9638508" y="3180466"/>
            <a:ext cx="15043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直著拿、擦鏡頭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清出儲存空間</a:t>
            </a:r>
            <a:endParaRPr lang="en-US" sz="1500" dirty="0"/>
          </a:p>
        </p:txBody>
      </p:sp>
      <p:sp>
        <p:nvSpPr>
          <p:cNvPr id="44" name="Shape 36"/>
          <p:cNvSpPr/>
          <p:nvPr/>
        </p:nvSpPr>
        <p:spPr>
          <a:xfrm>
            <a:off x="800100" y="4304447"/>
            <a:ext cx="521016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45" name="Shape 37"/>
          <p:cNvSpPr/>
          <p:nvPr/>
        </p:nvSpPr>
        <p:spPr>
          <a:xfrm>
            <a:off x="800100" y="4304447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46" name="Image 6" descr="/home/user/gogoeveryday/photo-course-2/export-pptx/build/img/p60-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60" y="4662068"/>
            <a:ext cx="210038" cy="28575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419697" y="4523445"/>
            <a:ext cx="4602450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最容易忘記：擦鏡頭。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手機鏡頭上的指紋，會讓整支影片霧霧的。</a:t>
            </a:r>
            <a:endParaRPr lang="en-US" sz="1575" dirty="0"/>
          </a:p>
        </p:txBody>
      </p:sp>
      <p:sp>
        <p:nvSpPr>
          <p:cNvPr id="48" name="Shape 39"/>
          <p:cNvSpPr/>
          <p:nvPr/>
        </p:nvSpPr>
        <p:spPr>
          <a:xfrm>
            <a:off x="6181710" y="4304447"/>
            <a:ext cx="5210160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49" name="Shape 40"/>
          <p:cNvSpPr/>
          <p:nvPr/>
        </p:nvSpPr>
        <p:spPr>
          <a:xfrm>
            <a:off x="6181710" y="4304447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50" name="Image 7" descr="/home/user/gogoeveryday/photo-course-2/export-pptx/build/img/p60-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6970" y="4662068"/>
            <a:ext cx="285750" cy="28575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877020" y="4523445"/>
            <a:ext cx="3483315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擺好之後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先拍一張照試光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太暗就往窗邊移，不要直接開始錄。</a:t>
            </a:r>
            <a:endParaRPr lang="en-US" sz="157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980968"/>
            <a:ext cx="2634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總實作 A · 三十五分鐘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609630" y="1371417"/>
            <a:ext cx="5810098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不管你的主題是什麼，</a:t>
            </a:r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這六顆一定要有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647670" y="1904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0895" y="19045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5380" y="1909359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完整商品</a:t>
            </a:r>
            <a:endParaRPr lang="en-US" sz="1500" dirty="0"/>
          </a:p>
        </p:txBody>
      </p:sp>
      <p:pic>
        <p:nvPicPr>
          <p:cNvPr id="8" name="Image 1" descr="/home/user/gogoeveryday/photo-course-2/export-pptx/build/img/p6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70" y="2214128"/>
            <a:ext cx="1676370" cy="22288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09630" y="4519148"/>
            <a:ext cx="1908261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看得出來這是什麼、有多大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481224" y="1904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504450" y="19045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728935" y="1909359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商品＋手</a:t>
            </a:r>
            <a:endParaRPr lang="en-US" sz="1500" dirty="0"/>
          </a:p>
        </p:txBody>
      </p:sp>
      <p:pic>
        <p:nvPicPr>
          <p:cNvPr id="13" name="Image 2" descr="/home/user/gogoeveryday/photo-course-2/export-pptx/build/img/p6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224" y="2214128"/>
            <a:ext cx="1676370" cy="22288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443185" y="4519148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有人在用它、在做它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314871" y="1904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338005" y="19045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62490" y="1909359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商品主角</a:t>
            </a:r>
            <a:endParaRPr lang="en-US" sz="1500" dirty="0"/>
          </a:p>
        </p:txBody>
      </p:sp>
      <p:pic>
        <p:nvPicPr>
          <p:cNvPr id="18" name="Image 3" descr="/home/user/gogoeveryday/photo-course-2/export-pptx/build/img/p61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71" y="2214128"/>
            <a:ext cx="1676370" cy="22288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276740" y="4519148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商品填滿畫面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148426" y="1904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171560" y="19045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396045" y="1909359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一個細節</a:t>
            </a:r>
            <a:endParaRPr lang="en-US" sz="1500" dirty="0"/>
          </a:p>
        </p:txBody>
      </p:sp>
      <p:pic>
        <p:nvPicPr>
          <p:cNvPr id="23" name="Image 4" descr="/home/user/gogoeveryday/photo-course-2/export-pptx/build/img/p61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426" y="2214128"/>
            <a:ext cx="1676370" cy="222885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110295" y="4519148"/>
            <a:ext cx="1908261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質地、切面、扣環、紋路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7981980" y="1904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005206" y="19045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0" y="1909359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過程或幕後</a:t>
            </a:r>
            <a:endParaRPr lang="en-US" sz="1500" dirty="0"/>
          </a:p>
        </p:txBody>
      </p:sp>
      <p:pic>
        <p:nvPicPr>
          <p:cNvPr id="28" name="Image 5" descr="/home/user/gogoeveryday/photo-course-2/export-pptx/build/img/p61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980" y="2214128"/>
            <a:ext cx="1676370" cy="222885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943850" y="4519148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正在做的那一刻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9815535" y="19045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9838761" y="19045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0063155" y="1909359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完成畫面</a:t>
            </a:r>
            <a:endParaRPr lang="en-US" sz="1500" dirty="0"/>
          </a:p>
        </p:txBody>
      </p:sp>
      <p:pic>
        <p:nvPicPr>
          <p:cNvPr id="33" name="Image 6" descr="/home/user/gogoeveryday/photo-course-2/export-pptx/build/img/p61-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5535" y="2214128"/>
            <a:ext cx="1676370" cy="222885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777405" y="4519148"/>
            <a:ext cx="1908261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包好、擺好、可以帶走了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647670" y="5128778"/>
            <a:ext cx="10896630" cy="538582"/>
          </a:xfrm>
          <a:prstGeom prst="roundRect">
            <a:avLst>
              <a:gd name="adj" fmla="val 31834"/>
            </a:avLst>
          </a:prstGeom>
          <a:solidFill>
            <a:srgbClr val="F8E6C9"/>
          </a:solidFill>
          <a:ln/>
        </p:spPr>
      </p:sp>
      <p:sp>
        <p:nvSpPr>
          <p:cNvPr id="36" name="Shape 27"/>
          <p:cNvSpPr/>
          <p:nvPr/>
        </p:nvSpPr>
        <p:spPr>
          <a:xfrm>
            <a:off x="647670" y="5128778"/>
            <a:ext cx="47640" cy="53858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7" name="Image 7" descr="/home/user/gogoeveryday/photo-course-2/export-pptx/build/img/p61-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90" y="5264658"/>
            <a:ext cx="266730" cy="26673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285921" y="5271607"/>
            <a:ext cx="846652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每顆錄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6–8 秒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，前後各留一秒，直式。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六顆拍完再回來看這一頁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，不要邊拍邊改分鏡表。</a:t>
            </a:r>
            <a:endParaRPr lang="en-US" sz="157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45306" y="1615836"/>
            <a:ext cx="217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全班暫停 · 三分鐘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987333" y="2015886"/>
            <a:ext cx="4226997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停一下，</a:t>
            </a:r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回放你剛剛拍的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800100" y="2781330"/>
            <a:ext cx="2533620" cy="1436522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0100" y="2781330"/>
            <a:ext cx="2533620" cy="47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4"/>
          <p:cNvSpPr/>
          <p:nvPr/>
        </p:nvSpPr>
        <p:spPr>
          <a:xfrm>
            <a:off x="332421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4208252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46342" y="3038460"/>
            <a:ext cx="1050463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會晃嗎？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16630" y="3438510"/>
            <a:ext cx="2110161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晃就重錄。手肘夾住身體、或者靠著桌邊。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86150" y="2781330"/>
            <a:ext cx="2533620" cy="1436522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6150" y="2781330"/>
            <a:ext cx="253362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01026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86150" y="4208252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48615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92545" y="3038460"/>
            <a:ext cx="1530248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對到焦了嗎？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601639" y="3438510"/>
            <a:ext cx="2312060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商品糊糊的就重錄。錄之前先點一下商品。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2781330"/>
            <a:ext cx="2533620" cy="1436522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2781330"/>
            <a:ext cx="253362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1" name="Shape 18"/>
          <p:cNvSpPr/>
          <p:nvPr/>
        </p:nvSpPr>
        <p:spPr>
          <a:xfrm>
            <a:off x="869631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172200" y="4208252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17220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18442" y="3038460"/>
            <a:ext cx="1050463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夠亮嗎？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287689" y="3438510"/>
            <a:ext cx="2312060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暗就往窗邊移一點，不要用手機自己調亮。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858250" y="2781330"/>
            <a:ext cx="2533620" cy="1436522"/>
          </a:xfrm>
          <a:prstGeom prst="roundRect">
            <a:avLst>
              <a:gd name="adj" fmla="val 15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858250" y="2781330"/>
            <a:ext cx="253362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8236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858250" y="4208252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858250" y="2781330"/>
            <a:ext cx="18288" cy="143652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604492" y="3038460"/>
            <a:ext cx="1050463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直式嗎？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73739" y="3438510"/>
            <a:ext cx="2312060" cy="53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橫的全部重錄。這一項沒有商量。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777136" y="4379702"/>
            <a:ext cx="8637697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34" name="Shape 31"/>
          <p:cNvSpPr/>
          <p:nvPr/>
        </p:nvSpPr>
        <p:spPr>
          <a:xfrm>
            <a:off x="1777136" y="4379702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5" name="Image 1" descr="/home/user/gogoeveryday/photo-course-2/export-pptx/build/img/p6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396" y="4582241"/>
            <a:ext cx="285750" cy="28575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2240189" y="4598792"/>
            <a:ext cx="820683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現在重錄，比回家重拍容易一百倍。 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四項有一項不過就重錄那一顆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——不用全部重來。</a:t>
            </a:r>
            <a:endParaRPr lang="en-US" sz="157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392460"/>
            <a:ext cx="2419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總實作 B · 三十分鐘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783001"/>
            <a:ext cx="579034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六顆只是保底。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現在把素材變成兩倍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00100" y="1534546"/>
            <a:ext cx="3429000" cy="35966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0100" y="1534546"/>
            <a:ext cx="342900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" name="Shape 4"/>
          <p:cNvSpPr/>
          <p:nvPr/>
        </p:nvSpPr>
        <p:spPr>
          <a:xfrm>
            <a:off x="4219590" y="1534546"/>
            <a:ext cx="18288" cy="35966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5121646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1534546"/>
            <a:ext cx="18288" cy="35966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3021" y="1753636"/>
            <a:ext cx="2978475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同一個動作，換距離再拍一次</a:t>
            </a:r>
            <a:endParaRPr lang="en-US" sz="1650" dirty="0"/>
          </a:p>
        </p:txBody>
      </p:sp>
      <p:pic>
        <p:nvPicPr>
          <p:cNvPr id="11" name="Image 1" descr="/home/user/gogoeveryday/photo-course-2/export-pptx/build/img/p6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80" y="2121225"/>
            <a:ext cx="1638330" cy="19049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43021" y="4140586"/>
            <a:ext cx="3119841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剛剛拍過的動作，退遠一點再拍一次、湊近一點再拍一次。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剪的時候就有三種可以挑。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381530" y="1534546"/>
            <a:ext cx="3429000" cy="35966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81530" y="1534546"/>
            <a:ext cx="342900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5" name="Shape 11"/>
          <p:cNvSpPr/>
          <p:nvPr/>
        </p:nvSpPr>
        <p:spPr>
          <a:xfrm>
            <a:off x="7801021" y="1534546"/>
            <a:ext cx="18288" cy="35966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1530" y="5121646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4381530" y="1534546"/>
            <a:ext cx="18288" cy="35966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524360" y="1753636"/>
            <a:ext cx="1645737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過程再多拍兩個</a:t>
            </a:r>
            <a:endParaRPr lang="en-US" sz="1650" dirty="0"/>
          </a:p>
        </p:txBody>
      </p:sp>
      <p:pic>
        <p:nvPicPr>
          <p:cNvPr id="19" name="Image 2" descr="/home/user/gogoeveryday/photo-course-2/export-pptx/build/img/p6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20" y="2121225"/>
            <a:ext cx="1638330" cy="190497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24360" y="4140586"/>
            <a:ext cx="271595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倒、切、攪、包、擦、放。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比靜止的商品好看太多。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962870" y="1534546"/>
            <a:ext cx="3429000" cy="35966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962870" y="1534546"/>
            <a:ext cx="342900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3" name="Shape 18"/>
          <p:cNvSpPr/>
          <p:nvPr/>
        </p:nvSpPr>
        <p:spPr>
          <a:xfrm>
            <a:off x="11382360" y="1534546"/>
            <a:ext cx="18288" cy="35966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962870" y="5121646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962870" y="1534546"/>
            <a:ext cx="18288" cy="35966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105790" y="1753636"/>
            <a:ext cx="1423629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加上三種運鏡</a:t>
            </a:r>
            <a:endParaRPr lang="en-US" sz="1650" dirty="0"/>
          </a:p>
        </p:txBody>
      </p:sp>
      <p:pic>
        <p:nvPicPr>
          <p:cNvPr id="27" name="Image 3" descr="/home/user/gogoeveryday/photo-course-2/export-pptx/build/img/p63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2121225"/>
            <a:ext cx="1638330" cy="190497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105790" y="4140586"/>
            <a:ext cx="271595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剛剛練的靠近、離開、平移，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各挑一個地方用上去。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800100" y="5293096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30" name="Shape 24"/>
          <p:cNvSpPr/>
          <p:nvPr/>
        </p:nvSpPr>
        <p:spPr>
          <a:xfrm>
            <a:off x="800100" y="5293096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1" name="Image 4" descr="/home/user/gogoeveryday/photo-course-2/export-pptx/build/img/p63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60" y="5641208"/>
            <a:ext cx="221468" cy="30477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31127" y="5512186"/>
            <a:ext cx="10327142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這三十分鐘是今天最有價值的三十分鐘。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素材多一倍，剪的時候才有得挑。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拍得多的人，剪出來一定比較好看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 這是攝影決定的，不是剪輯決定的。</a:t>
            </a:r>
            <a:endParaRPr lang="en-US" sz="157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871423"/>
            <a:ext cx="345506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六項都打勾，才算拍完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390162"/>
            <a:ext cx="10896630" cy="533370"/>
          </a:xfrm>
          <a:prstGeom prst="roundRect">
            <a:avLst>
              <a:gd name="adj" fmla="val 2143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8721" y="1514064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5F7A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0476" y="154259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09660" y="1542593"/>
            <a:ext cx="171678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素材有 12 段以上</a:t>
            </a:r>
            <a:endParaRPr lang="en-US" sz="1575" dirty="0"/>
          </a:p>
        </p:txBody>
      </p:sp>
      <p:sp>
        <p:nvSpPr>
          <p:cNvPr id="8" name="Text 5"/>
          <p:cNvSpPr txBox="1"/>
          <p:nvPr/>
        </p:nvSpPr>
        <p:spPr>
          <a:xfrm>
            <a:off x="4486321" y="1542593"/>
            <a:ext cx="305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少於 12 段，剪的時候會不夠用。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7670" y="2028414"/>
            <a:ext cx="10896630" cy="533370"/>
          </a:xfrm>
          <a:prstGeom prst="roundRect">
            <a:avLst>
              <a:gd name="adj" fmla="val 2143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8721" y="2152223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5F7A6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0476" y="218075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09660" y="2180753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六個必備鏡頭都有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4486321" y="2180753"/>
            <a:ext cx="37256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全景、中景、近景、特寫、過程、完成。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7670" y="2666573"/>
            <a:ext cx="10896630" cy="533370"/>
          </a:xfrm>
          <a:prstGeom prst="roundRect">
            <a:avLst>
              <a:gd name="adj" fmla="val 2143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8721" y="2790383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5F7A6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0476" y="2818912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09660" y="2818912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每段都是直式</a:t>
            </a:r>
            <a:endParaRPr lang="en-US" sz="1575" dirty="0"/>
          </a:p>
        </p:txBody>
      </p:sp>
      <p:sp>
        <p:nvSpPr>
          <p:cNvPr id="18" name="Text 15"/>
          <p:cNvSpPr txBox="1"/>
          <p:nvPr/>
        </p:nvSpPr>
        <p:spPr>
          <a:xfrm>
            <a:off x="4486321" y="2818912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橫的不能用，現在還來得及補。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7670" y="3304733"/>
            <a:ext cx="10896630" cy="533370"/>
          </a:xfrm>
          <a:prstGeom prst="roundRect">
            <a:avLst>
              <a:gd name="adj" fmla="val 2143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8721" y="3428543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5F7A6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0476" y="3457164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09660" y="3457164"/>
            <a:ext cx="247089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每段 6–8 秒，前後有留白</a:t>
            </a:r>
            <a:endParaRPr lang="en-US" sz="1575" dirty="0"/>
          </a:p>
        </p:txBody>
      </p:sp>
      <p:sp>
        <p:nvSpPr>
          <p:cNvPr id="23" name="Text 20"/>
          <p:cNvSpPr txBox="1"/>
          <p:nvPr/>
        </p:nvSpPr>
        <p:spPr>
          <a:xfrm>
            <a:off x="4486321" y="3457164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太短的剪不動，要重錄。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47670" y="3942893"/>
            <a:ext cx="10896630" cy="533370"/>
          </a:xfrm>
          <a:prstGeom prst="roundRect">
            <a:avLst>
              <a:gd name="adj" fmla="val 2143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8721" y="4066703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5F7A6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0476" y="409532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209660" y="4095323"/>
            <a:ext cx="284725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回放過，沒有明顯晃動或糊掉</a:t>
            </a:r>
            <a:endParaRPr lang="en-US" sz="1575" dirty="0"/>
          </a:p>
        </p:txBody>
      </p:sp>
      <p:sp>
        <p:nvSpPr>
          <p:cNvPr id="28" name="Text 25"/>
          <p:cNvSpPr txBox="1"/>
          <p:nvPr/>
        </p:nvSpPr>
        <p:spPr>
          <a:xfrm>
            <a:off x="4486321" y="4095323"/>
            <a:ext cx="3119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有一兩顆不行沒關係，刪掉就好。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47670" y="4581053"/>
            <a:ext cx="10896630" cy="533370"/>
          </a:xfrm>
          <a:prstGeom prst="roundRect">
            <a:avLst>
              <a:gd name="adj" fmla="val 2143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8721" y="4704862"/>
            <a:ext cx="285750" cy="285750"/>
          </a:xfrm>
          <a:prstGeom prst="roundRect">
            <a:avLst>
              <a:gd name="adj" fmla="val 26656"/>
            </a:avLst>
          </a:prstGeom>
          <a:solidFill>
            <a:srgbClr val="FFFFFF">
              <a:alpha val="0"/>
            </a:srgbClr>
          </a:solidFill>
          <a:ln w="19050">
            <a:solidFill>
              <a:srgbClr val="5F7A6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80476" y="4733483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09660" y="4733483"/>
            <a:ext cx="263520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最滿意的那一顆已經圈起來</a:t>
            </a:r>
            <a:endParaRPr lang="en-US" sz="1575" dirty="0"/>
          </a:p>
        </p:txBody>
      </p:sp>
      <p:sp>
        <p:nvSpPr>
          <p:cNvPr id="33" name="Text 30"/>
          <p:cNvSpPr txBox="1"/>
          <p:nvPr/>
        </p:nvSpPr>
        <p:spPr>
          <a:xfrm>
            <a:off x="4486321" y="4733483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等一下它要放影片的第一個。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7670" y="5219212"/>
            <a:ext cx="10896630" cy="538582"/>
          </a:xfrm>
          <a:prstGeom prst="roundRect">
            <a:avLst>
              <a:gd name="adj" fmla="val 31834"/>
            </a:avLst>
          </a:prstGeom>
          <a:solidFill>
            <a:srgbClr val="DFE8DC"/>
          </a:solidFill>
          <a:ln/>
        </p:spPr>
      </p:sp>
      <p:sp>
        <p:nvSpPr>
          <p:cNvPr id="35" name="Shape 32"/>
          <p:cNvSpPr/>
          <p:nvPr/>
        </p:nvSpPr>
        <p:spPr>
          <a:xfrm>
            <a:off x="647670" y="5219212"/>
            <a:ext cx="47640" cy="53858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36" name="Image 1" descr="/home/user/gogoeveryday/photo-course-2/export-pptx/build/img/p6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5355092"/>
            <a:ext cx="266730" cy="26673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285921" y="5362133"/>
            <a:ext cx="905493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全部打勾的人可以先休息。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還沒好的，休息時間繼續拍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 素材沒拍夠，等一下剪輯會很痛苦。</a:t>
            </a:r>
            <a:endParaRPr lang="en-US" sz="157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211580"/>
            <a:ext cx="1624066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830891"/>
            <a:ext cx="3381543" cy="1343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把拍好的素材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組成一支影片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69201"/>
            <a:ext cx="427088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剪輯只有九個步驟，四十分鐘做完。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今天不追求花俏，只求「能看、能發」。</a:t>
            </a:r>
            <a:endParaRPr lang="en-US" sz="1725" dirty="0"/>
          </a:p>
        </p:txBody>
      </p:sp>
      <p:pic>
        <p:nvPicPr>
          <p:cNvPr id="6" name="Image 1" descr="/home/user/gogoeveryday/photo-course-2/export-pptx/build/img/p6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569305"/>
            <a:ext cx="579034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畫面上東西很多，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但你只會用到四個</a:t>
            </a:r>
            <a:endParaRPr lang="en-US" sz="2700" dirty="0"/>
          </a:p>
        </p:txBody>
      </p:sp>
      <p:pic>
        <p:nvPicPr>
          <p:cNvPr id="4" name="Image 1" descr="/home/user/gogoeveryday/photo-course-2/export-pptx/build/img/p6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26" y="1320851"/>
            <a:ext cx="2209830" cy="407667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57971" y="1701881"/>
            <a:ext cx="5133990" cy="542971"/>
          </a:xfrm>
          <a:prstGeom prst="roundRect">
            <a:avLst>
              <a:gd name="adj" fmla="val 21051"/>
            </a:avLst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6257971" y="170188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1382360" y="1701881"/>
            <a:ext cx="18288" cy="5429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257971" y="223525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57971" y="1701881"/>
            <a:ext cx="47640" cy="542971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38930" y="1854220"/>
            <a:ext cx="115104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上面：預覽</a:t>
            </a:r>
            <a:endParaRPr lang="en-US" sz="1575" dirty="0"/>
          </a:p>
        </p:txBody>
      </p:sp>
      <p:sp>
        <p:nvSpPr>
          <p:cNvPr id="11" name="Text 7"/>
          <p:cNvSpPr txBox="1"/>
          <p:nvPr/>
        </p:nvSpPr>
        <p:spPr>
          <a:xfrm>
            <a:off x="7791420" y="1854220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影片長什麼樣子，隨時看這裡。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57971" y="2349551"/>
            <a:ext cx="5133990" cy="819120"/>
          </a:xfrm>
          <a:prstGeom prst="roundRect">
            <a:avLst>
              <a:gd name="adj" fmla="val 13954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57971" y="234955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2349551"/>
            <a:ext cx="18288" cy="8191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57971" y="315916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57971" y="2349551"/>
            <a:ext cx="47640" cy="81912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38930" y="2501981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中間：時間軸</a:t>
            </a:r>
            <a:endParaRPr lang="en-US" sz="1575" dirty="0"/>
          </a:p>
        </p:txBody>
      </p:sp>
      <p:sp>
        <p:nvSpPr>
          <p:cNvPr id="18" name="Text 14"/>
          <p:cNvSpPr txBox="1"/>
          <p:nvPr/>
        </p:nvSpPr>
        <p:spPr>
          <a:xfrm>
            <a:off x="7791420" y="2501981"/>
            <a:ext cx="251405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你的每一段影片排成一條。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點一下就選中那一段。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57971" y="3273461"/>
            <a:ext cx="5133990" cy="10953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257971" y="327346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11382360" y="3273461"/>
            <a:ext cx="18288" cy="10953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57971" y="435931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257971" y="3273461"/>
            <a:ext cx="47640" cy="109536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38930" y="3425891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下面：功能列</a:t>
            </a:r>
            <a:endParaRPr lang="en-US" sz="1575" dirty="0"/>
          </a:p>
        </p:txBody>
      </p:sp>
      <p:sp>
        <p:nvSpPr>
          <p:cNvPr id="25" name="Text 21"/>
          <p:cNvSpPr txBox="1"/>
          <p:nvPr/>
        </p:nvSpPr>
        <p:spPr>
          <a:xfrm>
            <a:off x="7791420" y="3425891"/>
            <a:ext cx="3321741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剪輯、文字、貼圖、音樂、濾鏡、畫布。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今天用到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剪輯、文字、音樂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三個。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257971" y="4473611"/>
            <a:ext cx="5133990" cy="542971"/>
          </a:xfrm>
          <a:prstGeom prst="roundRect">
            <a:avLst>
              <a:gd name="adj" fmla="val 21051"/>
            </a:avLst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6257971" y="4473611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11382360" y="4473611"/>
            <a:ext cx="18288" cy="5429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6257971" y="5006980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6257971" y="4473611"/>
            <a:ext cx="47640" cy="542971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438930" y="4626041"/>
            <a:ext cx="136309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右上角：儲存</a:t>
            </a:r>
            <a:endParaRPr lang="en-US" sz="1575" dirty="0"/>
          </a:p>
        </p:txBody>
      </p:sp>
      <p:sp>
        <p:nvSpPr>
          <p:cNvPr id="32" name="Text 28"/>
          <p:cNvSpPr txBox="1"/>
          <p:nvPr/>
        </p:nvSpPr>
        <p:spPr>
          <a:xfrm>
            <a:off x="7791420" y="4626041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剪好之後按這裡輸出。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800100" y="5559461"/>
            <a:ext cx="10591770" cy="538582"/>
          </a:xfrm>
          <a:prstGeom prst="roundRect">
            <a:avLst>
              <a:gd name="adj" fmla="val 31834"/>
            </a:avLst>
          </a:prstGeom>
          <a:solidFill>
            <a:srgbClr val="FBEEE6"/>
          </a:solidFill>
          <a:ln/>
        </p:spPr>
      </p:sp>
      <p:sp>
        <p:nvSpPr>
          <p:cNvPr id="34" name="Shape 30"/>
          <p:cNvSpPr/>
          <p:nvPr/>
        </p:nvSpPr>
        <p:spPr>
          <a:xfrm>
            <a:off x="800100" y="5559461"/>
            <a:ext cx="47640" cy="53858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5" name="Image 2" descr="/home/user/gogoeveryday/photo-course-2/export-pptx/build/img/p6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21" y="5695340"/>
            <a:ext cx="266730" cy="26673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438260" y="5702381"/>
            <a:ext cx="846597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 會改版，位置可能跟這張圖不完全一樣。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重點是知道要找什麼，不是背按鈕在哪裡。</a:t>
            </a:r>
            <a:endParaRPr lang="en-US" sz="157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64615"/>
            <a:ext cx="4445173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開頭兩步，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9:16 一定要先設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016161"/>
            <a:ext cx="5172121" cy="253362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016161"/>
            <a:ext cx="5172121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5962620" y="2016161"/>
            <a:ext cx="18288" cy="25336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540270"/>
            <a:ext cx="51721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016161"/>
            <a:ext cx="18288" cy="25336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0171" y="2282891"/>
            <a:ext cx="2891424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建立專案，比例選 9:16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8210" y="2778130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926" y="276862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3960" y="2768620"/>
            <a:ext cx="2390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打開 InShot，選「影片」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38210" y="3092501"/>
            <a:ext cx="4695810" cy="4190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38210" y="3092501"/>
            <a:ext cx="46958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38210" y="3197291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51926" y="318778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3960" y="3187781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按「新建」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038210" y="3511570"/>
            <a:ext cx="4695810" cy="4190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38210" y="3511570"/>
            <a:ext cx="46958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38210" y="3616361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51926" y="360685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3960" y="3606851"/>
            <a:ext cx="196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比例選 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9:16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（直式）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38210" y="3930731"/>
            <a:ext cx="4695810" cy="4190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038210" y="3930731"/>
            <a:ext cx="46958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38210" y="4035430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51926" y="402592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23960" y="4025920"/>
            <a:ext cx="31198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這一步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之後不能改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，一定要先選對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219840" y="2016161"/>
            <a:ext cx="5172121" cy="253362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19840" y="2016161"/>
            <a:ext cx="5172121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30" name="Shape 27"/>
          <p:cNvSpPr/>
          <p:nvPr/>
        </p:nvSpPr>
        <p:spPr>
          <a:xfrm>
            <a:off x="11382360" y="2016161"/>
            <a:ext cx="18288" cy="25336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219840" y="4540270"/>
            <a:ext cx="51721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219840" y="2016161"/>
            <a:ext cx="18288" cy="25336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19820" y="2282891"/>
            <a:ext cx="2339035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匯入今天拍的影片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6457950" y="2778130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5F7A6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71666" y="276862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743700" y="2768620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從相簿裡選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57950" y="3092501"/>
            <a:ext cx="4695810" cy="4190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457950" y="3092501"/>
            <a:ext cx="46958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457950" y="3197291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5F7A6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471666" y="318778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6743700" y="3187781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把今天拍的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全部選進來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6457950" y="3511570"/>
            <a:ext cx="4695810" cy="4190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457950" y="3511570"/>
            <a:ext cx="46958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57950" y="3616361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5F7A63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471666" y="3606851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6743700" y="3606851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順序亂沒關係，等一下再排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6457950" y="3930731"/>
            <a:ext cx="4695810" cy="4190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57950" y="3930731"/>
            <a:ext cx="46958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457950" y="4035430"/>
            <a:ext cx="209580" cy="209580"/>
          </a:xfrm>
          <a:prstGeom prst="roundRect">
            <a:avLst>
              <a:gd name="adj" fmla="val 50000"/>
            </a:avLst>
          </a:prstGeom>
          <a:solidFill>
            <a:srgbClr val="5F7A6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471666" y="402592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6743700" y="4025920"/>
            <a:ext cx="352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不確定要不要用的也先選，刪比補容易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800100" y="4711720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53" name="Shape 50"/>
          <p:cNvSpPr/>
          <p:nvPr/>
        </p:nvSpPr>
        <p:spPr>
          <a:xfrm>
            <a:off x="800100" y="4711720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54" name="Image 1" descr="/home/user/gogoeveryday/photo-course-2/export-pptx/build/img/p6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904750"/>
            <a:ext cx="304770" cy="30477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1514521" y="4930811"/>
            <a:ext cx="10174437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最常見的錯誤：忘記選 9:16，剪到一半才發現是方形的。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現在請大家一起做這兩步，做完舉手，我等大家。</a:t>
            </a:r>
            <a:endParaRPr lang="en-US" sz="157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664494"/>
            <a:ext cx="513755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把每一段，剪成最精彩的 3–5 秒</a:t>
            </a:r>
            <a:endParaRPr lang="en-US" sz="2700" dirty="0"/>
          </a:p>
        </p:txBody>
      </p:sp>
      <p:pic>
        <p:nvPicPr>
          <p:cNvPr id="4" name="Image 1" descr="/home/user/gogoeveryday/photo-course-2/export-pptx/build/img/p6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24" y="1416131"/>
            <a:ext cx="2019270" cy="373377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38860" y="1658996"/>
            <a:ext cx="5153010" cy="1571671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238860" y="1658996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1382360" y="1658996"/>
            <a:ext cx="18288" cy="1571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238860" y="322106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38860" y="1658996"/>
            <a:ext cx="57150" cy="1571671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67460" y="1849465"/>
            <a:ext cx="2013143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修剪：切掉頭尾</a:t>
            </a:r>
            <a:endParaRPr lang="en-US" sz="1725" dirty="0"/>
          </a:p>
        </p:txBody>
      </p:sp>
      <p:sp>
        <p:nvSpPr>
          <p:cNvPr id="11" name="Text 7"/>
          <p:cNvSpPr txBox="1"/>
          <p:nvPr/>
        </p:nvSpPr>
        <p:spPr>
          <a:xfrm>
            <a:off x="6467460" y="2220986"/>
            <a:ext cx="433142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點一段 → 選「剪輯」→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拖曳兩端的把手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把前面那一秒的留白、後面那一秒的留白切掉，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留下 3–5 秒動作最完整的部分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8860" y="3335365"/>
            <a:ext cx="5153010" cy="1571671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38860" y="3335365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3335365"/>
            <a:ext cx="18288" cy="15716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38860" y="4897526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38860" y="3335365"/>
            <a:ext cx="57150" cy="1571671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67460" y="3525926"/>
            <a:ext cx="154871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分割與刪除</a:t>
            </a:r>
            <a:endParaRPr lang="en-US" sz="1725" dirty="0"/>
          </a:p>
        </p:txBody>
      </p:sp>
      <p:sp>
        <p:nvSpPr>
          <p:cNvPr id="18" name="Text 14"/>
          <p:cNvSpPr txBox="1"/>
          <p:nvPr/>
        </p:nvSpPr>
        <p:spPr>
          <a:xfrm>
            <a:off x="6467460" y="3897356"/>
            <a:ext cx="46681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中間有一段不要（晃到、手擋住）：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把游標移到那裡 → 按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「分割」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選中間那塊 →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刪除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00100" y="5311841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DFE8DC"/>
          </a:solidFill>
          <a:ln/>
        </p:spPr>
      </p:sp>
      <p:sp>
        <p:nvSpPr>
          <p:cNvPr id="20" name="Shape 16"/>
          <p:cNvSpPr/>
          <p:nvPr/>
        </p:nvSpPr>
        <p:spPr>
          <a:xfrm>
            <a:off x="800100" y="5311841"/>
            <a:ext cx="47640" cy="69101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21" name="Image 2" descr="/home/user/gogoeveryday/photo-course-2/export-pptx/build/img/p6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60" y="5514381"/>
            <a:ext cx="285750" cy="28575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5410" y="5530931"/>
            <a:ext cx="693471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剪的原則只有一個：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寧可短，不要拖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看的人不會嫌太短，只會嫌太長。</a:t>
            </a:r>
            <a:endParaRPr lang="en-US" sz="157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719255"/>
            <a:ext cx="4009278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順序就是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上午寫的三段式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470800"/>
            <a:ext cx="2200321" cy="1314450"/>
          </a:xfrm>
          <a:prstGeom prst="roundRect">
            <a:avLst>
              <a:gd name="adj" fmla="val 10143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2470800"/>
            <a:ext cx="2200321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299082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775740"/>
            <a:ext cx="22003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610716" y="271851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52784" y="3089940"/>
            <a:ext cx="15043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最好看的那一顆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或商品全景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076590" y="297088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3476640" y="2470800"/>
            <a:ext cx="2200321" cy="1314450"/>
          </a:xfrm>
          <a:prstGeom prst="roundRect">
            <a:avLst>
              <a:gd name="adj" fmla="val 10143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6640" y="2470800"/>
            <a:ext cx="2200321" cy="5715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736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76640" y="3775740"/>
            <a:ext cx="22003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47664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287164" y="271851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過程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829324" y="3089940"/>
            <a:ext cx="15043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2–3 顆動作鏡頭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倒、切、攪、包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753130" y="297088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6153180" y="2470800"/>
            <a:ext cx="2200321" cy="1314450"/>
          </a:xfrm>
          <a:prstGeom prst="roundRect">
            <a:avLst>
              <a:gd name="adj" fmla="val 10143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153180" y="2470800"/>
            <a:ext cx="2200321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2" name="Shape 19"/>
          <p:cNvSpPr/>
          <p:nvPr/>
        </p:nvSpPr>
        <p:spPr>
          <a:xfrm>
            <a:off x="834390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153180" y="3775740"/>
            <a:ext cx="22003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15318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63705" y="271851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606814" y="3089940"/>
            <a:ext cx="13024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成品的近景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或包好的樣子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429671" y="2970886"/>
            <a:ext cx="3791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8829721" y="2470800"/>
            <a:ext cx="2562240" cy="1314450"/>
          </a:xfrm>
          <a:prstGeom prst="roundRect">
            <a:avLst>
              <a:gd name="adj" fmla="val 10143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8829721" y="2470800"/>
            <a:ext cx="2562240" cy="5715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0" name="Shape 27"/>
          <p:cNvSpPr/>
          <p:nvPr/>
        </p:nvSpPr>
        <p:spPr>
          <a:xfrm>
            <a:off x="11382360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8829721" y="3775740"/>
            <a:ext cx="25622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829721" y="2470800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821205" y="2718511"/>
            <a:ext cx="588691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結尾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9363365" y="3089940"/>
            <a:ext cx="1504371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一句話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怎麼買、下次見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00100" y="3990533"/>
            <a:ext cx="521016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00100" y="3990533"/>
            <a:ext cx="52101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000750" y="3990533"/>
            <a:ext cx="18288" cy="9144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800100" y="4895423"/>
            <a:ext cx="52101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800100" y="3990533"/>
            <a:ext cx="47640" cy="914400"/>
          </a:xfrm>
          <a:prstGeom prst="rect">
            <a:avLst/>
          </a:prstGeom>
          <a:solidFill>
            <a:srgbClr val="7A6A5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000171" y="4171493"/>
            <a:ext cx="73152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怎麼調</a:t>
            </a:r>
            <a:endParaRPr lang="en-US" sz="1575" dirty="0"/>
          </a:p>
        </p:txBody>
      </p:sp>
      <p:sp>
        <p:nvSpPr>
          <p:cNvPr id="41" name="Text 38"/>
          <p:cNvSpPr txBox="1"/>
          <p:nvPr/>
        </p:nvSpPr>
        <p:spPr>
          <a:xfrm>
            <a:off x="1000171" y="4485864"/>
            <a:ext cx="4533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在時間軸上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長按一段不放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，拖到你要的位置放開。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6181710" y="3947190"/>
            <a:ext cx="521016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43" name="Shape 40"/>
          <p:cNvSpPr/>
          <p:nvPr/>
        </p:nvSpPr>
        <p:spPr>
          <a:xfrm>
            <a:off x="6181710" y="3947190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44" name="Image 1" descr="/home/user/gogoeveryday/photo-course-2/export-pptx/build/img/p6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70" y="4304812"/>
            <a:ext cx="285750" cy="285750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6877020" y="4166281"/>
            <a:ext cx="4331421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最好看的那一顆，放第一個。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不要留到最後——留到最後就沒人看得到了。</a:t>
            </a:r>
            <a:endParaRPr lang="en-US" sz="157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816352" y="1572402"/>
            <a:ext cx="1733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十分鐘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2671237" y="1972452"/>
            <a:ext cx="685900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修剪完、排好順序，</a:t>
            </a:r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先不要加文字和音樂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685788" y="2737805"/>
            <a:ext cx="2813152" cy="1213409"/>
          </a:xfrm>
          <a:prstGeom prst="roundRect">
            <a:avLst>
              <a:gd name="adj" fmla="val 18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685788" y="2737805"/>
            <a:ext cx="2813152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" name="Shape 4"/>
          <p:cNvSpPr/>
          <p:nvPr/>
        </p:nvSpPr>
        <p:spPr>
          <a:xfrm>
            <a:off x="4489430" y="2737805"/>
            <a:ext cx="18288" cy="121340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685788" y="3941704"/>
            <a:ext cx="281315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685788" y="2737805"/>
            <a:ext cx="18288" cy="121340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02312" y="3033156"/>
            <a:ext cx="13893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b="1" spc="-19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每段 3–5 秒</a:t>
            </a:r>
            <a:endParaRPr lang="en-US" sz="1875" dirty="0"/>
          </a:p>
        </p:txBody>
      </p:sp>
      <p:sp>
        <p:nvSpPr>
          <p:cNvPr id="11" name="Text 8"/>
          <p:cNvSpPr txBox="1"/>
          <p:nvPr/>
        </p:nvSpPr>
        <p:spPr>
          <a:xfrm>
            <a:off x="2243938" y="3442716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頭尾的留白都切掉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89409" y="2737805"/>
            <a:ext cx="2813152" cy="1213409"/>
          </a:xfrm>
          <a:prstGeom prst="roundRect">
            <a:avLst>
              <a:gd name="adj" fmla="val 18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9409" y="2737805"/>
            <a:ext cx="2813152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3051" y="2737805"/>
            <a:ext cx="18288" cy="121340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89409" y="3941704"/>
            <a:ext cx="281315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689409" y="2737805"/>
            <a:ext cx="18288" cy="121340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305715" y="3033156"/>
            <a:ext cx="15901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b="1" spc="-19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順序照三段式</a:t>
            </a:r>
            <a:endParaRPr lang="en-US" sz="1875" dirty="0"/>
          </a:p>
        </p:txBody>
      </p:sp>
      <p:sp>
        <p:nvSpPr>
          <p:cNvPr id="18" name="Text 15"/>
          <p:cNvSpPr txBox="1"/>
          <p:nvPr/>
        </p:nvSpPr>
        <p:spPr>
          <a:xfrm>
            <a:off x="4776368" y="3442716"/>
            <a:ext cx="2648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開始 → 過程 → 完成 → 結尾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693030" y="2737805"/>
            <a:ext cx="2813152" cy="1213409"/>
          </a:xfrm>
          <a:prstGeom prst="roundRect">
            <a:avLst>
              <a:gd name="adj" fmla="val 18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693030" y="2737805"/>
            <a:ext cx="2813152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1" name="Shape 18"/>
          <p:cNvSpPr/>
          <p:nvPr/>
        </p:nvSpPr>
        <p:spPr>
          <a:xfrm>
            <a:off x="10496672" y="2737805"/>
            <a:ext cx="18288" cy="121340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693030" y="3941704"/>
            <a:ext cx="281315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693030" y="2737805"/>
            <a:ext cx="18288" cy="121340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71845" y="3033156"/>
            <a:ext cx="16651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b="1" spc="-19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 15–30 秒</a:t>
            </a:r>
            <a:endParaRPr lang="en-US" sz="1875" dirty="0"/>
          </a:p>
        </p:txBody>
      </p:sp>
      <p:sp>
        <p:nvSpPr>
          <p:cNvPr id="25" name="Text 22"/>
          <p:cNvSpPr txBox="1"/>
          <p:nvPr/>
        </p:nvSpPr>
        <p:spPr>
          <a:xfrm>
            <a:off x="8251271" y="3442716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超過就再刪一兩段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95360" y="4113154"/>
            <a:ext cx="1000125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27" name="Shape 24"/>
          <p:cNvSpPr/>
          <p:nvPr/>
        </p:nvSpPr>
        <p:spPr>
          <a:xfrm>
            <a:off x="1095360" y="4113154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1" descr="/home/user/gogoeveryday/photo-course-2/export-pptx/build/img/p7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20" y="4470776"/>
            <a:ext cx="284561" cy="28575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709562" y="4332244"/>
            <a:ext cx="9267078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排好之後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從頭播一次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這時候它已經是一支影片了——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沒有文字沒有音樂，也看得懂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，那才叫拍得好。</a:t>
            </a:r>
            <a:endParaRPr lang="en-US" sz="157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995782"/>
            <a:ext cx="472168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文字只加三個地方，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多了會亂</a:t>
            </a:r>
            <a:endParaRPr lang="en-US" sz="2700" dirty="0"/>
          </a:p>
        </p:txBody>
      </p:sp>
      <p:pic>
        <p:nvPicPr>
          <p:cNvPr id="4" name="Image 1" descr="/home/user/gogoeveryday/photo-course-2/export-pptx/build/img/p7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24" y="1842607"/>
            <a:ext cx="2019270" cy="373377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38860" y="1747418"/>
            <a:ext cx="5153010" cy="1114471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6238860" y="1747418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1382360" y="1747418"/>
            <a:ext cx="18288" cy="11144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238860" y="2852288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38860" y="1747418"/>
            <a:ext cx="47640" cy="1114471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19820" y="1909359"/>
            <a:ext cx="1386779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秒：一句話</a:t>
            </a:r>
            <a:endParaRPr lang="en-US" sz="1575" dirty="0"/>
          </a:p>
        </p:txBody>
      </p:sp>
      <p:sp>
        <p:nvSpPr>
          <p:cNvPr id="11" name="Text 7"/>
          <p:cNvSpPr txBox="1"/>
          <p:nvPr/>
        </p:nvSpPr>
        <p:spPr>
          <a:xfrm>
            <a:off x="7810530" y="1909359"/>
            <a:ext cx="2312060" cy="78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最重要的一句。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「熬三小時的草莓果醬」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「這個要怎麼開？」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8860" y="2966588"/>
            <a:ext cx="5153010" cy="83823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38860" y="2966588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2966588"/>
            <a:ext cx="18288" cy="8382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38860" y="379530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38860" y="2966588"/>
            <a:ext cx="47640" cy="83823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19820" y="3128528"/>
            <a:ext cx="1363096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中間：一兩個小標</a:t>
            </a:r>
            <a:endParaRPr lang="en-US" sz="1575" dirty="0"/>
          </a:p>
        </p:txBody>
      </p:sp>
      <p:sp>
        <p:nvSpPr>
          <p:cNvPr id="18" name="Text 14"/>
          <p:cNvSpPr txBox="1"/>
          <p:nvPr/>
        </p:nvSpPr>
        <p:spPr>
          <a:xfrm>
            <a:off x="7810530" y="3128528"/>
            <a:ext cx="211016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「加糖」「小火慢煮」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不用每一段都加。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38860" y="3909609"/>
            <a:ext cx="5153010" cy="83823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238860" y="390960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11382360" y="3909609"/>
            <a:ext cx="18288" cy="8382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38860" y="4738238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238860" y="3909609"/>
            <a:ext cx="47640" cy="83823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19820" y="4071457"/>
            <a:ext cx="1363096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結尾：怎麼找到你</a:t>
            </a:r>
            <a:endParaRPr lang="en-US" sz="1575" dirty="0"/>
          </a:p>
        </p:txBody>
      </p:sp>
      <p:sp>
        <p:nvSpPr>
          <p:cNvPr id="25" name="Text 21"/>
          <p:cNvSpPr txBox="1"/>
          <p:nvPr/>
        </p:nvSpPr>
        <p:spPr>
          <a:xfrm>
            <a:off x="7810530" y="4071457"/>
            <a:ext cx="271595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「私訊訂購」「每週三出貨」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或你的店名。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238860" y="4852538"/>
            <a:ext cx="5153010" cy="819120"/>
          </a:xfrm>
          <a:prstGeom prst="roundRect">
            <a:avLst>
              <a:gd name="adj" fmla="val 20931"/>
            </a:avLst>
          </a:prstGeom>
          <a:solidFill>
            <a:srgbClr val="FBEEE6"/>
          </a:solidFill>
          <a:ln/>
        </p:spPr>
      </p:sp>
      <p:sp>
        <p:nvSpPr>
          <p:cNvPr id="27" name="Shape 23"/>
          <p:cNvSpPr/>
          <p:nvPr/>
        </p:nvSpPr>
        <p:spPr>
          <a:xfrm>
            <a:off x="6238860" y="4852538"/>
            <a:ext cx="47640" cy="819120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2" descr="/home/user/gogoeveryday/photo-course-2/export-pptx/build/img/p7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5138288"/>
            <a:ext cx="173370" cy="2476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745620" y="4995459"/>
            <a:ext cx="4791456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字要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、要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白底黑字或加陰影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 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不要壓在商品上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。放上方或下方的空白處。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16553"/>
            <a:ext cx="421492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InShot 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內建的音樂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就好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068098"/>
            <a:ext cx="3416198" cy="18097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068098"/>
            <a:ext cx="3416198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06789" y="2068098"/>
            <a:ext cx="18288" cy="1809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868369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068098"/>
            <a:ext cx="18288" cy="1809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9" name="Image 1" descr="/home/user/gogoeveryday/photo-course-2/export-pptx/build/img/p7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60" y="2306208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3021" y="2782519"/>
            <a:ext cx="78867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選音樂</a:t>
            </a:r>
            <a:endParaRPr lang="en-US" sz="1725" dirty="0"/>
          </a:p>
        </p:txBody>
      </p:sp>
      <p:sp>
        <p:nvSpPr>
          <p:cNvPr id="11" name="Text 7"/>
          <p:cNvSpPr txBox="1"/>
          <p:nvPr/>
        </p:nvSpPr>
        <p:spPr>
          <a:xfrm>
            <a:off x="943021" y="3144439"/>
            <a:ext cx="332174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按「音樂」→「音效」或內建曲庫。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選一首輕快、沒有人聲的。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87748" y="2068098"/>
            <a:ext cx="3416381" cy="18097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7748" y="2068098"/>
            <a:ext cx="3416381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10"/>
          <p:cNvSpPr/>
          <p:nvPr/>
        </p:nvSpPr>
        <p:spPr>
          <a:xfrm>
            <a:off x="7794620" y="2068098"/>
            <a:ext cx="18288" cy="1809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387748" y="3868369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7748" y="2068098"/>
            <a:ext cx="18288" cy="1809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17" name="Image 2" descr="/home/user/gogoeveryday/photo-course-2/export-pptx/build/img/p7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08" y="2306208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30669" y="2782519"/>
            <a:ext cx="78867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調音量</a:t>
            </a:r>
            <a:endParaRPr lang="en-US" sz="1725" dirty="0"/>
          </a:p>
        </p:txBody>
      </p:sp>
      <p:sp>
        <p:nvSpPr>
          <p:cNvPr id="19" name="Text 14"/>
          <p:cNvSpPr txBox="1"/>
          <p:nvPr/>
        </p:nvSpPr>
        <p:spPr>
          <a:xfrm>
            <a:off x="4530669" y="3144439"/>
            <a:ext cx="2514051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原本的環境音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轉小或關掉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音樂大約 50–70%。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975580" y="2068098"/>
            <a:ext cx="3416198" cy="18097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75580" y="2068098"/>
            <a:ext cx="3416198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2" name="Shape 17"/>
          <p:cNvSpPr/>
          <p:nvPr/>
        </p:nvSpPr>
        <p:spPr>
          <a:xfrm>
            <a:off x="11382268" y="2068098"/>
            <a:ext cx="18288" cy="1809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975580" y="3868369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975580" y="2068098"/>
            <a:ext cx="18288" cy="18097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25" name="Image 3" descr="/home/user/gogoeveryday/photo-course-2/export-pptx/build/img/p72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39" y="2306208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18409" y="2782519"/>
            <a:ext cx="101973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對到結尾</a:t>
            </a:r>
            <a:endParaRPr lang="en-US" sz="1725" dirty="0"/>
          </a:p>
        </p:txBody>
      </p:sp>
      <p:sp>
        <p:nvSpPr>
          <p:cNvPr id="27" name="Text 21"/>
          <p:cNvSpPr txBox="1"/>
          <p:nvPr/>
        </p:nvSpPr>
        <p:spPr>
          <a:xfrm>
            <a:off x="8118409" y="3144439"/>
            <a:ext cx="2312060" cy="50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音樂比影片長，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拖到影片結尾把它剪掉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800100" y="4039819"/>
            <a:ext cx="10591770" cy="1311067"/>
          </a:xfrm>
          <a:prstGeom prst="roundRect">
            <a:avLst>
              <a:gd name="adj" fmla="val 13077"/>
            </a:avLst>
          </a:prstGeom>
          <a:solidFill>
            <a:srgbClr val="F8E6C9"/>
          </a:solidFill>
          <a:ln/>
        </p:spPr>
      </p:sp>
      <p:sp>
        <p:nvSpPr>
          <p:cNvPr id="29" name="Shape 23"/>
          <p:cNvSpPr/>
          <p:nvPr/>
        </p:nvSpPr>
        <p:spPr>
          <a:xfrm>
            <a:off x="800100" y="4039819"/>
            <a:ext cx="47640" cy="1311067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0" name="Image 4" descr="/home/user/gogoeveryday/photo-course-2/export-pptx/build/img/p72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60" y="4542831"/>
            <a:ext cx="246431" cy="30477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56091" y="4258909"/>
            <a:ext cx="10198120" cy="85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不要自己去抓流行歌來用。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InShot 內建的音樂多半可以商用，流行歌發到 Facebook、Instagram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可能被消音，甚至整支影片被下架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有人聲的歌也會蓋掉你的字幕，內建的純音樂最安全。</a:t>
            </a:r>
            <a:endParaRPr lang="en-US" sz="157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612270"/>
            <a:ext cx="4365437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不加轉場，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比亂加轉場好看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363815"/>
            <a:ext cx="5172121" cy="1838310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363815"/>
            <a:ext cx="5172121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6" name="Shape 3"/>
          <p:cNvSpPr/>
          <p:nvPr/>
        </p:nvSpPr>
        <p:spPr>
          <a:xfrm>
            <a:off x="5962620" y="2363815"/>
            <a:ext cx="18288" cy="18383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192615"/>
            <a:ext cx="51721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363815"/>
            <a:ext cx="18288" cy="18383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0171" y="2630546"/>
            <a:ext cx="1787103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直接切（建議）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00171" y="3040106"/>
            <a:ext cx="41294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一顆接一顆，什麼效果都不加。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你在社群上看到的短影音，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九成都是直接切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38210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C05F3C"/>
          </a:solidFill>
          <a:ln/>
        </p:spPr>
      </p:sp>
      <p:sp>
        <p:nvSpPr>
          <p:cNvPr id="12" name="Shape 9"/>
          <p:cNvSpPr/>
          <p:nvPr/>
        </p:nvSpPr>
        <p:spPr>
          <a:xfrm>
            <a:off x="2231227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D99A4E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4245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5F7A63"/>
          </a:solidFill>
          <a:ln/>
        </p:spPr>
      </p:sp>
      <p:sp>
        <p:nvSpPr>
          <p:cNvPr id="14" name="Shape 11"/>
          <p:cNvSpPr/>
          <p:nvPr/>
        </p:nvSpPr>
        <p:spPr>
          <a:xfrm>
            <a:off x="4617263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8A5A6D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9840" y="2363815"/>
            <a:ext cx="5172121" cy="1838310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9840" y="2363815"/>
            <a:ext cx="5172121" cy="57150"/>
          </a:xfrm>
          <a:prstGeom prst="rect">
            <a:avLst/>
          </a:prstGeom>
          <a:solidFill>
            <a:srgbClr val="7A6A5D"/>
          </a:solidFill>
          <a:ln/>
        </p:spPr>
      </p:sp>
      <p:sp>
        <p:nvSpPr>
          <p:cNvPr id="17" name="Shape 14"/>
          <p:cNvSpPr/>
          <p:nvPr/>
        </p:nvSpPr>
        <p:spPr>
          <a:xfrm>
            <a:off x="11382360" y="2363815"/>
            <a:ext cx="18288" cy="18383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19840" y="4192615"/>
            <a:ext cx="51721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19840" y="2363815"/>
            <a:ext cx="18288" cy="18383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19820" y="2630546"/>
            <a:ext cx="1787103" cy="27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要加也只加一種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19820" y="3040106"/>
            <a:ext cx="47352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最多用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「淡入淡出」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，而且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只用在最後一個接縫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旋轉、翻頁、閃光那些，加了會很像十年前的影片。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57950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C05F3C"/>
          </a:solidFill>
          <a:ln/>
        </p:spPr>
      </p:sp>
      <p:sp>
        <p:nvSpPr>
          <p:cNvPr id="23" name="Shape 20"/>
          <p:cNvSpPr/>
          <p:nvPr/>
        </p:nvSpPr>
        <p:spPr>
          <a:xfrm>
            <a:off x="7650968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D99A4E"/>
          </a:solidFill>
          <a:ln/>
        </p:spPr>
      </p:sp>
      <p:sp>
        <p:nvSpPr>
          <p:cNvPr id="24" name="Shape 21"/>
          <p:cNvSpPr/>
          <p:nvPr/>
        </p:nvSpPr>
        <p:spPr>
          <a:xfrm>
            <a:off x="8843985" y="3678265"/>
            <a:ext cx="1116848" cy="323880"/>
          </a:xfrm>
          <a:prstGeom prst="roundRect">
            <a:avLst>
              <a:gd name="adj" fmla="val 17645"/>
            </a:avLst>
          </a:prstGeom>
          <a:solidFill>
            <a:srgbClr val="5F7A63"/>
          </a:solidFill>
          <a:ln/>
        </p:spPr>
      </p:sp>
      <p:pic>
        <p:nvPicPr>
          <p:cNvPr id="25" name="Image 1" descr="/home/user/gogoeveryday/photo-course-2/export-pptx/build/img/p7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003" y="3678265"/>
            <a:ext cx="1116848" cy="3238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00100" y="4364065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7" name="Shape 23"/>
          <p:cNvSpPr/>
          <p:nvPr/>
        </p:nvSpPr>
        <p:spPr>
          <a:xfrm>
            <a:off x="800100" y="4364065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2" descr="/home/user/gogoeveryday/photo-course-2/export-pptx/build/img/p7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60" y="4566605"/>
            <a:ext cx="285750" cy="28575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95410" y="4583156"/>
            <a:ext cx="8418972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同一句話也適用於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速度、濾鏡、貼圖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 今天全部不用。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效果加得少，影片反而比較專業。</a:t>
            </a:r>
            <a:endParaRPr lang="en-US" sz="157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40755"/>
            <a:ext cx="5434005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按右上角「儲存」，設定選這兩個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589227"/>
            <a:ext cx="5153010" cy="1009680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589227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943600" y="1589227"/>
            <a:ext cx="18288" cy="10096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2589306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589227"/>
            <a:ext cx="57150" cy="10096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28700" y="1817827"/>
            <a:ext cx="760141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解析度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1790670" y="1760677"/>
            <a:ext cx="949879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1080p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028700" y="2160727"/>
            <a:ext cx="352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再高檔案太大，上傳很久；再低會糊。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0100" y="2703606"/>
            <a:ext cx="5153010" cy="1009680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0100" y="2703606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0" y="2703606"/>
            <a:ext cx="18288" cy="10096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" y="3703777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00100" y="2703606"/>
            <a:ext cx="57150" cy="100968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28700" y="2932206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幀率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1581180" y="2875056"/>
            <a:ext cx="882213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30fps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1028700" y="3275106"/>
            <a:ext cx="3905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夠用了。60fps 檔案大一倍，看不出差別。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0100" y="3818077"/>
            <a:ext cx="5153010" cy="1311067"/>
          </a:xfrm>
          <a:prstGeom prst="roundRect">
            <a:avLst>
              <a:gd name="adj" fmla="val 13077"/>
            </a:avLst>
          </a:prstGeom>
          <a:solidFill>
            <a:srgbClr val="DFE8DC"/>
          </a:solidFill>
          <a:ln/>
        </p:spPr>
      </p:sp>
      <p:sp>
        <p:nvSpPr>
          <p:cNvPr id="21" name="Shape 18"/>
          <p:cNvSpPr/>
          <p:nvPr/>
        </p:nvSpPr>
        <p:spPr>
          <a:xfrm>
            <a:off x="800100" y="3818077"/>
            <a:ext cx="47640" cy="1311067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22" name="Image 1" descr="/home/user/gogoeveryday/photo-course-2/export-pptx/build/img/p7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330598"/>
            <a:ext cx="240944" cy="28575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450604" y="4037076"/>
            <a:ext cx="3471885" cy="85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輸出完會自動存進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手機相簿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從相簿就可以直接發到 Facebook、Instagram、LINE。</a:t>
            </a:r>
            <a:endParaRPr lang="en-US" sz="1575" dirty="0"/>
          </a:p>
        </p:txBody>
      </p:sp>
      <p:pic>
        <p:nvPicPr>
          <p:cNvPr id="24" name="Image 2" descr="/home/user/gogoeveryday/photo-course-2/export-pptx/build/img/p7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776" y="1492301"/>
            <a:ext cx="2019270" cy="373377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00100" y="5388011"/>
            <a:ext cx="10591770" cy="538582"/>
          </a:xfrm>
          <a:prstGeom prst="roundRect">
            <a:avLst>
              <a:gd name="adj" fmla="val 31834"/>
            </a:avLst>
          </a:prstGeom>
          <a:solidFill>
            <a:srgbClr val="FBEEE6"/>
          </a:solidFill>
          <a:ln/>
        </p:spPr>
      </p:sp>
      <p:sp>
        <p:nvSpPr>
          <p:cNvPr id="26" name="Shape 21"/>
          <p:cNvSpPr/>
          <p:nvPr/>
        </p:nvSpPr>
        <p:spPr>
          <a:xfrm>
            <a:off x="800100" y="5388011"/>
            <a:ext cx="47640" cy="53858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7" name="Image 3" descr="/home/user/gogoeveryday/photo-course-2/export-pptx/build/img/p74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321" y="5523890"/>
            <a:ext cx="266730" cy="26673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38260" y="5530931"/>
            <a:ext cx="62396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輸出要等一到三分鐘，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不要中途切出去或關螢幕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，會失敗要重來。</a:t>
            </a:r>
            <a:endParaRPr lang="en-US" sz="15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55438" y="1419697"/>
            <a:ext cx="19553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十二分鐘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2295327" y="1819747"/>
            <a:ext cx="7610826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加文字、加音樂、輸出。</a:t>
            </a:r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今天的成品就完成了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2466960" y="2585100"/>
            <a:ext cx="3524280" cy="533370"/>
          </a:xfrm>
          <a:prstGeom prst="roundRect">
            <a:avLst>
              <a:gd name="adj" fmla="val 24996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47920" y="273753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19862" y="2737531"/>
            <a:ext cx="1834744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每段修剪成 3–5 秒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6200821" y="2585100"/>
            <a:ext cx="3524280" cy="533370"/>
          </a:xfrm>
          <a:prstGeom prst="roundRect">
            <a:avLst>
              <a:gd name="adj" fmla="val 24996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81780" y="273753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18976" y="2737531"/>
            <a:ext cx="305930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順序是開始→過程→完成→結尾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2466960" y="3232861"/>
            <a:ext cx="3524280" cy="533370"/>
          </a:xfrm>
          <a:prstGeom prst="roundRect">
            <a:avLst>
              <a:gd name="adj" fmla="val 24996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47920" y="338520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0594" y="3385200"/>
            <a:ext cx="181087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秒加了一句話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6200821" y="3232861"/>
            <a:ext cx="3524280" cy="533370"/>
          </a:xfrm>
          <a:prstGeom prst="roundRect">
            <a:avLst>
              <a:gd name="adj" fmla="val 24996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81780" y="338520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55003" y="3385200"/>
            <a:ext cx="178710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加了一首內建音樂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2466960" y="3880531"/>
            <a:ext cx="3524280" cy="533370"/>
          </a:xfrm>
          <a:prstGeom prst="roundRect">
            <a:avLst>
              <a:gd name="adj" fmla="val 24996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47920" y="403296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31201" y="4032961"/>
            <a:ext cx="143451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 15–30 秒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6200821" y="3880531"/>
            <a:ext cx="3524280" cy="533370"/>
          </a:xfrm>
          <a:prstGeom prst="roundRect">
            <a:avLst>
              <a:gd name="adj" fmla="val 24996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81780" y="403296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5011" y="4032961"/>
            <a:ext cx="284799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 1080p／30fps 存進相簿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1327069" y="4575840"/>
            <a:ext cx="9537832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24" name="Shape 21"/>
          <p:cNvSpPr/>
          <p:nvPr/>
        </p:nvSpPr>
        <p:spPr>
          <a:xfrm>
            <a:off x="1327069" y="4575840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5" name="Image 1" descr="/home/user/gogoeveryday/photo-course-2/export-pptx/build/img/p7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420" y="4778380"/>
            <a:ext cx="285750" cy="28575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763238" y="4794931"/>
            <a:ext cx="9161008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來不及的先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輸出目前的版本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，回家再修。 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存在手機裡的半成品，比留在 App 裡的完美作品有用。</a:t>
            </a:r>
            <a:endParaRPr lang="en-US" sz="157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315968" y="1347003"/>
            <a:ext cx="217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成果放映 · 八分鐘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4180" y="1747053"/>
            <a:ext cx="3653028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先跟旁邊的人互看，</a:t>
            </a:r>
            <a:endParaRPr lang="en-US" sz="3000" dirty="0"/>
          </a:p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再挑幾支投影出來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885950" y="3000512"/>
            <a:ext cx="4095780" cy="14859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85950" y="3000512"/>
            <a:ext cx="4095780" cy="5715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" name="Shape 4"/>
          <p:cNvSpPr/>
          <p:nvPr/>
        </p:nvSpPr>
        <p:spPr>
          <a:xfrm>
            <a:off x="5972221" y="3000512"/>
            <a:ext cx="18288" cy="14859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885950" y="4476902"/>
            <a:ext cx="40957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885950" y="3000512"/>
            <a:ext cx="18288" cy="14859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35935" y="3305282"/>
            <a:ext cx="16054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先：兩兩互看</a:t>
            </a:r>
            <a:endParaRPr lang="en-US" sz="1875" dirty="0"/>
          </a:p>
        </p:txBody>
      </p:sp>
      <p:sp>
        <p:nvSpPr>
          <p:cNvPr id="11" name="Text 8"/>
          <p:cNvSpPr txBox="1"/>
          <p:nvPr/>
        </p:nvSpPr>
        <p:spPr>
          <a:xfrm>
            <a:off x="1974830" y="3705332"/>
            <a:ext cx="3927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跟旁邊的人交換手機，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各看一支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看完說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一句喜歡的地方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就好，不要挑毛病。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0330" y="3000512"/>
            <a:ext cx="4095780" cy="14859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0330" y="3000512"/>
            <a:ext cx="4095780" cy="5715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4" name="Shape 11"/>
          <p:cNvSpPr/>
          <p:nvPr/>
        </p:nvSpPr>
        <p:spPr>
          <a:xfrm>
            <a:off x="10296510" y="3000512"/>
            <a:ext cx="18288" cy="14859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210330" y="4476902"/>
            <a:ext cx="40957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210330" y="3000512"/>
            <a:ext cx="18288" cy="14859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05599" y="3305282"/>
            <a:ext cx="19143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再：投影 3–5 支</a:t>
            </a:r>
            <a:endParaRPr lang="en-US" sz="1875" dirty="0"/>
          </a:p>
        </p:txBody>
      </p:sp>
      <p:sp>
        <p:nvSpPr>
          <p:cNvPr id="18" name="Text 15"/>
          <p:cNvSpPr txBox="1"/>
          <p:nvPr/>
        </p:nvSpPr>
        <p:spPr>
          <a:xfrm>
            <a:off x="6299119" y="3705332"/>
            <a:ext cx="3927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自願的優先。</a:t>
            </a:r>
            <a:endParaRPr lang="en-US" sz="15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放的時候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大家一起找出「哪一顆最好看」</a:t>
            </a:r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805105" y="4648352"/>
            <a:ext cx="658176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0" name="Shape 17"/>
          <p:cNvSpPr/>
          <p:nvPr/>
        </p:nvSpPr>
        <p:spPr>
          <a:xfrm>
            <a:off x="2805105" y="4648352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1" name="Image 1" descr="/home/user/gogoeveryday/photo-course-2/export-pptx/build/img/p7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65" y="4850892"/>
            <a:ext cx="285750" cy="28575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329788" y="4867443"/>
            <a:ext cx="602763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今天早上你們手機裡什麼都沒有。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現在每個人都有一支影片了。</a:t>
            </a:r>
            <a:endParaRPr lang="en-US" sz="157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1061893"/>
            <a:ext cx="4464467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回家發之前，用這八項對一次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58072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9610" y="172355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33490" y="1714043"/>
            <a:ext cx="17290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秒抓得住人嗎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33490" y="1980773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第一顆是不是最好看的那一顆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1220" y="158072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3160" y="172355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7040" y="1714043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一支只講一件事嗎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77040" y="1980773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講兩件事就拆成兩支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7670" y="243797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9610" y="258080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33490" y="2571293"/>
            <a:ext cx="1572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總長 15–30 秒嗎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33490" y="2838023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超過就再刪一兩顆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91220" y="243797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3160" y="258080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7040" y="2571293"/>
            <a:ext cx="141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是直式 9:16 嗎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77040" y="2838023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有黑邊就是設錯了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7670" y="329522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9610" y="343805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33490" y="3428543"/>
            <a:ext cx="190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畫面穩、看得清楚嗎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33490" y="3695273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晃的、糊的那一顆直接刪掉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91220" y="329522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53160" y="343805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77040" y="3428543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有過程或動作嗎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677040" y="3695273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全部靜止的商品會很平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7670" y="415247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09610" y="429530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33490" y="4285793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字看得清楚嗎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133490" y="4552523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手機上看，不是電腦上看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191220" y="4152473"/>
            <a:ext cx="5353080" cy="771571"/>
          </a:xfrm>
          <a:prstGeom prst="roundRect">
            <a:avLst>
              <a:gd name="adj" fmla="val 1727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353160" y="4295303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7040" y="4285793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看完知道怎麼找到你嗎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677040" y="4552523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結尾要有店名或訂購方式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47670" y="5028743"/>
            <a:ext cx="10896630" cy="538582"/>
          </a:xfrm>
          <a:prstGeom prst="roundRect">
            <a:avLst>
              <a:gd name="adj" fmla="val 31834"/>
            </a:avLst>
          </a:prstGeom>
          <a:solidFill>
            <a:srgbClr val="DFE8DC"/>
          </a:solidFill>
          <a:ln/>
        </p:spPr>
      </p:sp>
      <p:sp>
        <p:nvSpPr>
          <p:cNvPr id="37" name="Shape 34"/>
          <p:cNvSpPr/>
          <p:nvPr/>
        </p:nvSpPr>
        <p:spPr>
          <a:xfrm>
            <a:off x="647670" y="5028743"/>
            <a:ext cx="47640" cy="53858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38" name="Image 1" descr="/home/user/gogoeveryday/photo-course-2/export-pptx/build/img/p7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5164623"/>
            <a:ext cx="266730" cy="26673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285921" y="5171664"/>
            <a:ext cx="8206831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八項不用全過。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過六項就可以發了—— 發出去再慢慢進步，比放在手機裡永遠不發好。</a:t>
            </a:r>
            <a:endParaRPr lang="en-US" sz="157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602590"/>
            <a:ext cx="5790164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如果影片怪怪的，多半是這三個原因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354226"/>
            <a:ext cx="10591770" cy="1266810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35422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1382360" y="1354226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261152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354226"/>
            <a:ext cx="57150" cy="126681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Shape 6"/>
          <p:cNvSpPr/>
          <p:nvPr/>
        </p:nvSpPr>
        <p:spPr>
          <a:xfrm>
            <a:off x="1066830" y="1554206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9566" y="156371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90620" y="1525676"/>
            <a:ext cx="2413102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看完不知道你在賣什麼</a:t>
            </a:r>
            <a:endParaRPr lang="en-US" sz="1725" dirty="0"/>
          </a:p>
        </p:txBody>
      </p:sp>
      <p:sp>
        <p:nvSpPr>
          <p:cNvPr id="12" name="Text 9"/>
          <p:cNvSpPr txBox="1"/>
          <p:nvPr/>
        </p:nvSpPr>
        <p:spPr>
          <a:xfrm>
            <a:off x="1028700" y="1887596"/>
            <a:ext cx="5341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原因：一支講了太多件事，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或者根本沒有商品的清楚畫面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28700" y="2201875"/>
            <a:ext cx="6350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怎麼改：回到上午的兩句話。刪到只剩一件事，中間補一顆商品全景。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" y="2725826"/>
            <a:ext cx="10591770" cy="1266810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" y="272582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382360" y="2725826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" y="398312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00100" y="2725826"/>
            <a:ext cx="57150" cy="126681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9" name="Shape 16"/>
          <p:cNvSpPr/>
          <p:nvPr/>
        </p:nvSpPr>
        <p:spPr>
          <a:xfrm>
            <a:off x="1066830" y="2925806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D99A4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99566" y="293531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90620" y="2897276"/>
            <a:ext cx="171632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很平、看不下去</a:t>
            </a:r>
            <a:endParaRPr lang="en-US" sz="1725" dirty="0"/>
          </a:p>
        </p:txBody>
      </p:sp>
      <p:sp>
        <p:nvSpPr>
          <p:cNvPr id="22" name="Text 19"/>
          <p:cNvSpPr txBox="1"/>
          <p:nvPr/>
        </p:nvSpPr>
        <p:spPr>
          <a:xfrm>
            <a:off x="1028700" y="3259196"/>
            <a:ext cx="5543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原因：全部都是靜止的商品，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沒有動作、沒有人、沒有過程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028700" y="3573475"/>
            <a:ext cx="6552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怎麼改：補拍兩顆「手在做事」的鏡頭。倒、切、攪、包，哪一個都好。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0100" y="4097426"/>
            <a:ext cx="10591770" cy="1266810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800100" y="409742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382360" y="4097426"/>
            <a:ext cx="18288" cy="126681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00100" y="5354726"/>
            <a:ext cx="10591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00100" y="4097426"/>
            <a:ext cx="57150" cy="126681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9" name="Shape 26"/>
          <p:cNvSpPr/>
          <p:nvPr/>
        </p:nvSpPr>
        <p:spPr>
          <a:xfrm>
            <a:off x="1066830" y="4297406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5F7A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99566" y="430691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390620" y="4268876"/>
            <a:ext cx="1716329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有點暈、有點糊</a:t>
            </a:r>
            <a:endParaRPr lang="en-US" sz="1725" dirty="0"/>
          </a:p>
        </p:txBody>
      </p:sp>
      <p:sp>
        <p:nvSpPr>
          <p:cNvPr id="32" name="Text 29"/>
          <p:cNvSpPr txBox="1"/>
          <p:nvPr/>
        </p:nvSpPr>
        <p:spPr>
          <a:xfrm>
            <a:off x="1028700" y="4630796"/>
            <a:ext cx="43314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原因：鏡頭一直在動，或者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錄影中途放大縮小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28700" y="4945075"/>
            <a:ext cx="6350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怎麼改：晃的那幾顆直接刪掉。運鏡要慢，變焦要在錄之前就決定好。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00100" y="5526176"/>
            <a:ext cx="10591770" cy="538582"/>
          </a:xfrm>
          <a:prstGeom prst="roundRect">
            <a:avLst>
              <a:gd name="adj" fmla="val 31834"/>
            </a:avLst>
          </a:prstGeom>
          <a:solidFill>
            <a:srgbClr val="FBEEE6"/>
          </a:solidFill>
          <a:ln/>
        </p:spPr>
      </p:sp>
      <p:sp>
        <p:nvSpPr>
          <p:cNvPr id="35" name="Shape 32"/>
          <p:cNvSpPr/>
          <p:nvPr/>
        </p:nvSpPr>
        <p:spPr>
          <a:xfrm>
            <a:off x="800100" y="5526176"/>
            <a:ext cx="47640" cy="53858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6" name="Image 1" descr="/home/user/gogoeveryday/photo-course-2/export-pptx/build/img/p7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5662056"/>
            <a:ext cx="266730" cy="26673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438260" y="5669006"/>
            <a:ext cx="6875739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三個問題的解法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都在拍攝，不在剪輯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。這就是今天為什麼把時間放在拍。</a:t>
            </a:r>
            <a:endParaRPr lang="en-US" sz="157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452902"/>
            <a:ext cx="2312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回家之後最重要的一頁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843443"/>
            <a:ext cx="5434096" cy="40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流量來自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累積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，不是來自單支爆紅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00100" y="1594988"/>
            <a:ext cx="3416198" cy="1644000"/>
          </a:xfrm>
          <a:prstGeom prst="roundRect">
            <a:avLst>
              <a:gd name="adj" fmla="val 13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0100" y="1594988"/>
            <a:ext cx="3416198" cy="47640"/>
          </a:xfrm>
          <a:prstGeom prst="rect">
            <a:avLst/>
          </a:prstGeom>
          <a:solidFill>
            <a:srgbClr val="7A6A5D"/>
          </a:solidFill>
          <a:ln/>
        </p:spPr>
      </p:sp>
      <p:sp>
        <p:nvSpPr>
          <p:cNvPr id="7" name="Shape 4"/>
          <p:cNvSpPr/>
          <p:nvPr/>
        </p:nvSpPr>
        <p:spPr>
          <a:xfrm>
            <a:off x="4206789" y="1594988"/>
            <a:ext cx="18288" cy="1644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3229386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1594988"/>
            <a:ext cx="18288" cy="1644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3021" y="1833098"/>
            <a:ext cx="25342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一支影片沒流量是正常的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943021" y="2210288"/>
            <a:ext cx="33217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不要因為第一支只有二十個人看就放棄。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前十支都是在練習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87748" y="1594988"/>
            <a:ext cx="3416381" cy="1644000"/>
          </a:xfrm>
          <a:prstGeom prst="roundRect">
            <a:avLst>
              <a:gd name="adj" fmla="val 13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7748" y="1594988"/>
            <a:ext cx="341638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4" name="Shape 11"/>
          <p:cNvSpPr/>
          <p:nvPr/>
        </p:nvSpPr>
        <p:spPr>
          <a:xfrm>
            <a:off x="7794620" y="1594988"/>
            <a:ext cx="18288" cy="1644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387748" y="3229386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387748" y="1594988"/>
            <a:ext cx="18288" cy="1644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30669" y="1833098"/>
            <a:ext cx="3200583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觀眾要「知道下次看得到什麼」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4530669" y="2210288"/>
            <a:ext cx="33217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每次都拍不一樣的東西，人家不知道追蹤你要幹嘛。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系列會讓人想追蹤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975580" y="1594988"/>
            <a:ext cx="3416198" cy="1644000"/>
          </a:xfrm>
          <a:prstGeom prst="roundRect">
            <a:avLst>
              <a:gd name="adj" fmla="val 13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75580" y="1594988"/>
            <a:ext cx="3416198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1" name="Shape 18"/>
          <p:cNvSpPr/>
          <p:nvPr/>
        </p:nvSpPr>
        <p:spPr>
          <a:xfrm>
            <a:off x="11382268" y="1594988"/>
            <a:ext cx="18288" cy="1644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975580" y="3229386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975580" y="1594988"/>
            <a:ext cx="18288" cy="1644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18409" y="1833098"/>
            <a:ext cx="2090044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對你自己的好處更大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8118409" y="2210288"/>
            <a:ext cx="2917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有系列就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不用每次重新想題材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照著同一個公式再拍一次就好。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0100" y="3400836"/>
            <a:ext cx="3429000" cy="1822216"/>
          </a:xfrm>
          <a:prstGeom prst="roundRect">
            <a:avLst>
              <a:gd name="adj" fmla="val 12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00100" y="3400836"/>
            <a:ext cx="342900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28" name="Shape 25"/>
          <p:cNvSpPr/>
          <p:nvPr/>
        </p:nvSpPr>
        <p:spPr>
          <a:xfrm>
            <a:off x="4219590" y="3400836"/>
            <a:ext cx="18288" cy="182221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" y="5213634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00100" y="3400836"/>
            <a:ext cx="18288" cy="182221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62040" y="3629436"/>
            <a:ext cx="192773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A：製作過程</a:t>
            </a:r>
            <a:endParaRPr lang="en-US" sz="1725" dirty="0"/>
          </a:p>
        </p:txBody>
      </p:sp>
      <p:sp>
        <p:nvSpPr>
          <p:cNvPr id="32" name="Text 29"/>
          <p:cNvSpPr txBox="1"/>
          <p:nvPr/>
        </p:nvSpPr>
        <p:spPr>
          <a:xfrm>
            <a:off x="962040" y="4019977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33" name="Text 30"/>
          <p:cNvSpPr txBox="1"/>
          <p:nvPr/>
        </p:nvSpPr>
        <p:spPr>
          <a:xfrm>
            <a:off x="1197132" y="4029486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草莓果醬怎麼熬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62040" y="4367083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35" name="Text 32"/>
          <p:cNvSpPr txBox="1"/>
          <p:nvPr/>
        </p:nvSpPr>
        <p:spPr>
          <a:xfrm>
            <a:off x="1197132" y="4376593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鳳梨果醬怎麼熬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62040" y="4714098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37" name="Text 34"/>
          <p:cNvSpPr txBox="1"/>
          <p:nvPr/>
        </p:nvSpPr>
        <p:spPr>
          <a:xfrm>
            <a:off x="1197132" y="4723699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為什麼要熬三小時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4381530" y="3400836"/>
            <a:ext cx="3429000" cy="1822216"/>
          </a:xfrm>
          <a:prstGeom prst="roundRect">
            <a:avLst>
              <a:gd name="adj" fmla="val 12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381530" y="3400836"/>
            <a:ext cx="342900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40" name="Shape 37"/>
          <p:cNvSpPr/>
          <p:nvPr/>
        </p:nvSpPr>
        <p:spPr>
          <a:xfrm>
            <a:off x="7801021" y="3400836"/>
            <a:ext cx="18288" cy="182221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381530" y="5213634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381530" y="3400836"/>
            <a:ext cx="18288" cy="182221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43471" y="3629436"/>
            <a:ext cx="192773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B：商品細節</a:t>
            </a:r>
            <a:endParaRPr lang="en-US" sz="1725" dirty="0"/>
          </a:p>
        </p:txBody>
      </p:sp>
      <p:sp>
        <p:nvSpPr>
          <p:cNvPr id="44" name="Text 41"/>
          <p:cNvSpPr txBox="1"/>
          <p:nvPr/>
        </p:nvSpPr>
        <p:spPr>
          <a:xfrm>
            <a:off x="4543471" y="4019977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45" name="Text 42"/>
          <p:cNvSpPr txBox="1"/>
          <p:nvPr/>
        </p:nvSpPr>
        <p:spPr>
          <a:xfrm>
            <a:off x="4778563" y="4029486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果醬的質地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543471" y="4367083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47" name="Text 44"/>
          <p:cNvSpPr txBox="1"/>
          <p:nvPr/>
        </p:nvSpPr>
        <p:spPr>
          <a:xfrm>
            <a:off x="4778563" y="4376593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玻璃罐的封口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4543471" y="4714098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49" name="Text 46"/>
          <p:cNvSpPr txBox="1"/>
          <p:nvPr/>
        </p:nvSpPr>
        <p:spPr>
          <a:xfrm>
            <a:off x="4778563" y="4723699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標籤是手寫的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7962870" y="3400836"/>
            <a:ext cx="3429000" cy="1822216"/>
          </a:xfrm>
          <a:prstGeom prst="roundRect">
            <a:avLst>
              <a:gd name="adj" fmla="val 12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7962870" y="3400836"/>
            <a:ext cx="342900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52" name="Shape 49"/>
          <p:cNvSpPr/>
          <p:nvPr/>
        </p:nvSpPr>
        <p:spPr>
          <a:xfrm>
            <a:off x="11382360" y="3400836"/>
            <a:ext cx="18288" cy="182221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962870" y="5213634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962870" y="3400836"/>
            <a:ext cx="18288" cy="182221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8124810" y="3629436"/>
            <a:ext cx="192773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C：客人常問</a:t>
            </a:r>
            <a:endParaRPr lang="en-US" sz="1725" dirty="0"/>
          </a:p>
        </p:txBody>
      </p:sp>
      <p:sp>
        <p:nvSpPr>
          <p:cNvPr id="56" name="Text 53"/>
          <p:cNvSpPr txBox="1"/>
          <p:nvPr/>
        </p:nvSpPr>
        <p:spPr>
          <a:xfrm>
            <a:off x="8124810" y="4019977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57" name="Text 54"/>
          <p:cNvSpPr txBox="1"/>
          <p:nvPr/>
        </p:nvSpPr>
        <p:spPr>
          <a:xfrm>
            <a:off x="8359993" y="4029486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開封後放多久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8124810" y="4367083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59" name="Text 56"/>
          <p:cNvSpPr txBox="1"/>
          <p:nvPr/>
        </p:nvSpPr>
        <p:spPr>
          <a:xfrm>
            <a:off x="8359993" y="4376593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可以配什麼吃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8124810" y="4714098"/>
            <a:ext cx="252283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61" name="Text 58"/>
          <p:cNvSpPr txBox="1"/>
          <p:nvPr/>
        </p:nvSpPr>
        <p:spPr>
          <a:xfrm>
            <a:off x="8359993" y="4723699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小朋友能吃嗎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00100" y="5385084"/>
            <a:ext cx="10591770" cy="848655"/>
          </a:xfrm>
          <a:prstGeom prst="roundRect">
            <a:avLst>
              <a:gd name="adj" fmla="val 20203"/>
            </a:avLst>
          </a:prstGeom>
          <a:solidFill>
            <a:srgbClr val="F8E6C9"/>
          </a:solidFill>
          <a:ln/>
        </p:spPr>
      </p:sp>
      <p:sp>
        <p:nvSpPr>
          <p:cNvPr id="63" name="Shape 60"/>
          <p:cNvSpPr/>
          <p:nvPr/>
        </p:nvSpPr>
        <p:spPr>
          <a:xfrm>
            <a:off x="800100" y="5385084"/>
            <a:ext cx="47640" cy="848655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64" name="Image 1" descr="/home/user/gogoeveryday/photo-course-2/export-pptx/build/img/p7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5676047"/>
            <a:ext cx="261518" cy="266730"/>
          </a:xfrm>
          <a:prstGeom prst="rect">
            <a:avLst/>
          </a:prstGeom>
        </p:spPr>
      </p:pic>
      <p:sp>
        <p:nvSpPr>
          <p:cNvPr id="65" name="Text 61"/>
          <p:cNvSpPr txBox="1"/>
          <p:nvPr/>
        </p:nvSpPr>
        <p:spPr>
          <a:xfrm>
            <a:off x="1433048" y="5527914"/>
            <a:ext cx="10162733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十一種主題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不是挑一種拍一次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，是十一條可以一直拍下去的路。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 2–3 種輪流發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，比十一種都做一次有用得多。</a:t>
            </a:r>
            <a:endParaRPr lang="en-US" sz="157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931225"/>
            <a:ext cx="4800874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一週一支就夠。</a:t>
            </a:r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四週輪三個系列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450056"/>
            <a:ext cx="1047720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7670" y="1954896"/>
            <a:ext cx="10477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" y="1611996"/>
            <a:ext cx="333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週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695480" y="1450056"/>
            <a:ext cx="3282879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695480" y="1954896"/>
            <a:ext cx="328287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847820" y="1611996"/>
            <a:ext cx="181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A：製作過程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78268" y="1450056"/>
            <a:ext cx="3282879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978268" y="1954896"/>
            <a:ext cx="328287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30698" y="1611996"/>
            <a:ext cx="181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B：商品細節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61147" y="1450056"/>
            <a:ext cx="3283153" cy="5143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261147" y="1954896"/>
            <a:ext cx="3283153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3577" y="1611996"/>
            <a:ext cx="181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C：客人常問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7670" y="1964406"/>
            <a:ext cx="104772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7670" y="2507285"/>
            <a:ext cx="10477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4182" y="2126346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1 週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695480" y="1964406"/>
            <a:ext cx="328287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695480" y="2507285"/>
            <a:ext cx="328287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847820" y="2126346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草莓果醬怎麼熬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978268" y="1964406"/>
            <a:ext cx="328287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978268" y="2507285"/>
            <a:ext cx="328287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130698" y="2116745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261147" y="1964406"/>
            <a:ext cx="3283153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261147" y="2507285"/>
            <a:ext cx="3283153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413577" y="2116745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7670" y="2516795"/>
            <a:ext cx="104772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47670" y="3059765"/>
            <a:ext cx="10477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14182" y="2678735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2 週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695480" y="2516795"/>
            <a:ext cx="328287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695480" y="3059765"/>
            <a:ext cx="328287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847820" y="2669225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978268" y="2516795"/>
            <a:ext cx="328287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978268" y="3059765"/>
            <a:ext cx="328287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130698" y="2678735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果醬的質地特寫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261147" y="2516795"/>
            <a:ext cx="3283153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8261147" y="3059765"/>
            <a:ext cx="3283153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413577" y="2669225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7670" y="3069275"/>
            <a:ext cx="1047720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7670" y="3612246"/>
            <a:ext cx="10477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14182" y="3231215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3 週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1695480" y="3069275"/>
            <a:ext cx="328287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695480" y="3612246"/>
            <a:ext cx="328287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847820" y="3231215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鳳梨果醬怎麼熬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4978268" y="3069275"/>
            <a:ext cx="3282879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978268" y="3612246"/>
            <a:ext cx="328287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130698" y="3221706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261147" y="3069275"/>
            <a:ext cx="3283153" cy="5524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261147" y="3612246"/>
            <a:ext cx="3283153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413577" y="3221706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814182" y="3783696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4 週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847820" y="3774095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5130698" y="3774095"/>
            <a:ext cx="32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8413577" y="3783696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開封後可以放多久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647670" y="4269425"/>
            <a:ext cx="5362590" cy="819120"/>
          </a:xfrm>
          <a:prstGeom prst="roundRect">
            <a:avLst>
              <a:gd name="adj" fmla="val 20931"/>
            </a:avLst>
          </a:prstGeom>
          <a:solidFill>
            <a:srgbClr val="DFE8DC"/>
          </a:solidFill>
          <a:ln/>
        </p:spPr>
      </p:sp>
      <p:sp>
        <p:nvSpPr>
          <p:cNvPr id="57" name="Shape 54"/>
          <p:cNvSpPr/>
          <p:nvPr/>
        </p:nvSpPr>
        <p:spPr>
          <a:xfrm>
            <a:off x="647670" y="4269425"/>
            <a:ext cx="47640" cy="819120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58" name="Image 1" descr="/home/user/gogoeveryday/photo-course-2/export-pptx/build/img/p8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60" y="4545665"/>
            <a:ext cx="165964" cy="266730"/>
          </a:xfrm>
          <a:prstGeom prst="rect">
            <a:avLst/>
          </a:prstGeom>
        </p:spPr>
      </p:pic>
      <p:sp>
        <p:nvSpPr>
          <p:cNvPr id="59" name="Text 55"/>
          <p:cNvSpPr txBox="1"/>
          <p:nvPr/>
        </p:nvSpPr>
        <p:spPr>
          <a:xfrm>
            <a:off x="1147023" y="4412346"/>
            <a:ext cx="4993356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同一個系列的影片，開頭要長得像。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同樣的字卡、同樣的第一顆鏡頭，觀眾才認得出來。</a:t>
            </a:r>
            <a:endParaRPr lang="en-US" sz="1500" dirty="0"/>
          </a:p>
        </p:txBody>
      </p:sp>
      <p:sp>
        <p:nvSpPr>
          <p:cNvPr id="60" name="Shape 56"/>
          <p:cNvSpPr/>
          <p:nvPr/>
        </p:nvSpPr>
        <p:spPr>
          <a:xfrm>
            <a:off x="6181710" y="4269425"/>
            <a:ext cx="5362590" cy="819120"/>
          </a:xfrm>
          <a:prstGeom prst="roundRect">
            <a:avLst>
              <a:gd name="adj" fmla="val 20931"/>
            </a:avLst>
          </a:prstGeom>
          <a:solidFill>
            <a:srgbClr val="F8E6C9"/>
          </a:solidFill>
          <a:ln/>
        </p:spPr>
      </p:sp>
      <p:sp>
        <p:nvSpPr>
          <p:cNvPr id="61" name="Shape 57"/>
          <p:cNvSpPr/>
          <p:nvPr/>
        </p:nvSpPr>
        <p:spPr>
          <a:xfrm>
            <a:off x="6181710" y="4269425"/>
            <a:ext cx="47640" cy="819120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62" name="Image 2" descr="/home/user/gogoeveryday/photo-course-2/export-pptx/build/img/p8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45665"/>
            <a:ext cx="224851" cy="266730"/>
          </a:xfrm>
          <a:prstGeom prst="rect">
            <a:avLst/>
          </a:prstGeom>
        </p:spPr>
      </p:pic>
      <p:sp>
        <p:nvSpPr>
          <p:cNvPr id="63" name="Text 58"/>
          <p:cNvSpPr txBox="1"/>
          <p:nvPr/>
        </p:nvSpPr>
        <p:spPr>
          <a:xfrm>
            <a:off x="6739951" y="4412346"/>
            <a:ext cx="4859213" cy="52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一支影片大約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 30 分鐘、剪 20 分鐘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一週一次，一年五十支。</a:t>
            </a:r>
            <a:endParaRPr lang="en-US" sz="1500" dirty="0"/>
          </a:p>
        </p:txBody>
      </p:sp>
      <p:sp>
        <p:nvSpPr>
          <p:cNvPr id="64" name="Shape 59"/>
          <p:cNvSpPr/>
          <p:nvPr/>
        </p:nvSpPr>
        <p:spPr>
          <a:xfrm>
            <a:off x="647670" y="5193335"/>
            <a:ext cx="10896630" cy="504840"/>
          </a:xfrm>
          <a:prstGeom prst="roundRect">
            <a:avLst>
              <a:gd name="adj" fmla="val 33961"/>
            </a:avLst>
          </a:prstGeom>
          <a:solidFill>
            <a:srgbClr val="FBEEE6"/>
          </a:solidFill>
          <a:ln/>
        </p:spPr>
      </p:sp>
      <p:sp>
        <p:nvSpPr>
          <p:cNvPr id="65" name="Shape 60"/>
          <p:cNvSpPr/>
          <p:nvPr/>
        </p:nvSpPr>
        <p:spPr>
          <a:xfrm>
            <a:off x="647670" y="5193335"/>
            <a:ext cx="47640" cy="504840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66" name="Image 3" descr="/home/user/gogoeveryday/photo-course-2/export-pptx/build/img/p8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71" y="5321899"/>
            <a:ext cx="247620" cy="247620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1247790" y="5326746"/>
            <a:ext cx="6575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今天拍的這一支，就是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1 週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。附錄有空白的計畫表，回家把四週填完。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20417" y="1280251"/>
            <a:ext cx="1201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今天到這裡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2235617" y="1699321"/>
            <a:ext cx="7729972" cy="1205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92"/>
              </a:lnSpc>
              <a:buNone/>
            </a:pPr>
            <a:r>
              <a:rPr lang="en-US" sz="3900" b="1" spc="-1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影片好不好看，</a:t>
            </a:r>
            <a:endParaRPr lang="en-US" sz="3900" dirty="0"/>
          </a:p>
          <a:p>
            <a:pPr algn="ctr" indent="0" marL="0">
              <a:lnSpc>
                <a:spcPts val="4992"/>
              </a:lnSpc>
              <a:buNone/>
            </a:pPr>
            <a:r>
              <a:rPr lang="en-US" sz="3900" b="1" spc="-1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八成在你按下錄影之前就決定了。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3762390" y="3157515"/>
            <a:ext cx="742950" cy="4762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863340" y="3262305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先想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38660" y="3157515"/>
            <a:ext cx="742950" cy="4762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739610" y="3262305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再寫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515021" y="3157515"/>
            <a:ext cx="742950" cy="4762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615970" y="3262305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再畫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391290" y="3157515"/>
            <a:ext cx="742950" cy="47622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92240" y="3262305"/>
            <a:ext cx="550560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再拍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267560" y="3157515"/>
            <a:ext cx="1162020" cy="4762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63663" y="3262305"/>
            <a:ext cx="979322" cy="2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最後才剪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333470" y="3871935"/>
            <a:ext cx="9525030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16" name="Shape 13"/>
          <p:cNvSpPr/>
          <p:nvPr/>
        </p:nvSpPr>
        <p:spPr>
          <a:xfrm>
            <a:off x="1333470" y="3871935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7" name="Image 1" descr="/home/user/gogoeveryday/photo-course-2/export-pptx/build/img/p8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821" y="4220047"/>
            <a:ext cx="259690" cy="30477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803014" y="4091026"/>
            <a:ext cx="9054937" cy="548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今天早上你手機裡什麼都沒有。現在你有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一張分鏡表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 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十幾段素材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一支剪好的影片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，還有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接下來四週要拍什麼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  <p:sp>
        <p:nvSpPr>
          <p:cNvPr id="19" name="Text 15"/>
          <p:cNvSpPr txBox="1"/>
          <p:nvPr/>
        </p:nvSpPr>
        <p:spPr>
          <a:xfrm>
            <a:off x="2511491" y="5082510"/>
            <a:ext cx="717868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回家發出去。第一支沒人看沒關係，</a:t>
            </a:r>
            <a:pPr algn="ctr" indent="0" marL="0">
              <a:buNone/>
            </a:pPr>
            <a:r>
              <a:rPr lang="en-US" sz="19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拍到第十支就不一樣了。</a:t>
            </a:r>
            <a:endParaRPr lang="en-US" sz="1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525780"/>
            <a:ext cx="3030962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b="1" spc="-45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分鏡表 5–8 個鏡頭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7643195" y="611551"/>
            <a:ext cx="41856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主題：＿＿＿＿＿＿＿ 總長：＿＿＿ 秒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7670" y="979140"/>
            <a:ext cx="1397752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7670" y="1407810"/>
            <a:ext cx="139775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2950" y="1083930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045513" y="979140"/>
            <a:ext cx="4838822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045513" y="1407810"/>
            <a:ext cx="483882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140702" y="1083930"/>
            <a:ext cx="116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我要拍什麼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84335" y="979140"/>
            <a:ext cx="2688245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84335" y="1407810"/>
            <a:ext cx="268824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79615" y="1083930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572671" y="979140"/>
            <a:ext cx="1971721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572671" y="1407810"/>
            <a:ext cx="19717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67860" y="1083930"/>
            <a:ext cx="535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秒數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7670" y="1417320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47670" y="1874520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232611" y="153162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045513" y="1417320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045513" y="1874520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884335" y="1417320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84335" y="1874520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572671" y="1417320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572671" y="1874520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47670" y="1884030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47670" y="2341230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232611" y="199833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2045513" y="1884030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045513" y="2341230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884335" y="1884030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884335" y="2341230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9572671" y="1884030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9572671" y="2341230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47670" y="2350740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47670" y="2807940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232611" y="246504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045513" y="2350740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2045513" y="2807940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884335" y="2350740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884335" y="2807940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9572671" y="2350740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9572671" y="2807940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7670" y="2817449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47670" y="3274649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232611" y="2931749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2045513" y="2817449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2045513" y="3274649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884335" y="2817449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84335" y="3274649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9572671" y="2817449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9572671" y="3274649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7670" y="3284159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47670" y="3741359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232611" y="3398459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2045513" y="3284159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2045513" y="3741359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884335" y="3284159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884335" y="3741359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572671" y="3284159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572671" y="3741359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647670" y="3750960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647670" y="4208160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232611" y="386526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2045513" y="3750960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2045513" y="4208160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884335" y="3750960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884335" y="4208160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572671" y="3750960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572671" y="4208160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647670" y="4217670"/>
            <a:ext cx="139775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647670" y="4674870"/>
            <a:ext cx="139775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232611" y="433197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</a:t>
            </a:r>
            <a:endParaRPr lang="en-US" sz="1500" dirty="0"/>
          </a:p>
        </p:txBody>
      </p:sp>
      <p:sp>
        <p:nvSpPr>
          <p:cNvPr id="74" name="Shape 71"/>
          <p:cNvSpPr/>
          <p:nvPr/>
        </p:nvSpPr>
        <p:spPr>
          <a:xfrm>
            <a:off x="2045513" y="4217670"/>
            <a:ext cx="483882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2045513" y="4674870"/>
            <a:ext cx="483882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6884335" y="4217670"/>
            <a:ext cx="268824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6884335" y="4674870"/>
            <a:ext cx="268824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9572671" y="4217670"/>
            <a:ext cx="1971721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9572671" y="4674870"/>
            <a:ext cx="1971721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1232611" y="4798680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647670" y="5246370"/>
            <a:ext cx="5362590" cy="857250"/>
          </a:xfrm>
          <a:prstGeom prst="roundRect">
            <a:avLst>
              <a:gd name="adj" fmla="val 2666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790590" y="5398709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「畫面」欄怎麼填</a:t>
            </a:r>
            <a:endParaRPr lang="en-US" sz="1500" dirty="0"/>
          </a:p>
        </p:txBody>
      </p:sp>
      <p:sp>
        <p:nvSpPr>
          <p:cNvPr id="83" name="Text 80"/>
          <p:cNvSpPr txBox="1"/>
          <p:nvPr/>
        </p:nvSpPr>
        <p:spPr>
          <a:xfrm>
            <a:off x="790590" y="5722590"/>
            <a:ext cx="3321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全景／中景／近景／特寫，四選一。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6181710" y="5246370"/>
            <a:ext cx="5362590" cy="857250"/>
          </a:xfrm>
          <a:prstGeom prst="roundRect">
            <a:avLst>
              <a:gd name="adj" fmla="val 2666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324630" y="5398709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「秒數」欄怎麼填</a:t>
            </a:r>
            <a:endParaRPr lang="en-US" sz="1500" dirty="0"/>
          </a:p>
        </p:txBody>
      </p:sp>
      <p:sp>
        <p:nvSpPr>
          <p:cNvPr id="86" name="Text 83"/>
          <p:cNvSpPr txBox="1"/>
          <p:nvPr/>
        </p:nvSpPr>
        <p:spPr>
          <a:xfrm>
            <a:off x="6324630" y="5722590"/>
            <a:ext cx="3031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每顆 3–5 秒，加起來 15–30 秒。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587685"/>
            <a:ext cx="4840285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5"/>
              </a:lnSpc>
              <a:buNone/>
            </a:pPr>
            <a:r>
              <a:rPr lang="en-US" sz="2250" b="1" spc="-45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素材清單 拍之前先列，拍完打勾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647670" y="1607790"/>
            <a:ext cx="5343571" cy="3886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7670" y="1607790"/>
            <a:ext cx="534357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5981730" y="1607790"/>
            <a:ext cx="18288" cy="38862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7670" y="5484480"/>
            <a:ext cx="53435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7670" y="1607790"/>
            <a:ext cx="18288" cy="38862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610" y="1826880"/>
            <a:ext cx="270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必備六個鏡頭（一定要有）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7740" y="2141159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90570" y="226506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14450" y="2265060"/>
            <a:ext cx="4129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完整商品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全景 看得出來這是什麼、有多大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47740" y="2684130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90570" y="280794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14450" y="2807940"/>
            <a:ext cx="352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商品＋手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中景 有人在用它、在做它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7740" y="3227009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90570" y="335091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14450" y="3350910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商品主角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近景 商品填滿畫面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47740" y="3769980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90570" y="389379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14450" y="3893790"/>
            <a:ext cx="39275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一個細節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特寫 質地、切面、扣環、紋路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47740" y="4312859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90570" y="443676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14450" y="4436760"/>
            <a:ext cx="3321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過程或幕後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中景 正在做的那一刻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47740" y="4855830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0570" y="497964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14450" y="4979640"/>
            <a:ext cx="39275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完成畫面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近景 包好、擺好、可以帶走了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200821" y="1060064"/>
            <a:ext cx="5343571" cy="4981560"/>
          </a:xfrm>
          <a:prstGeom prst="roundRect">
            <a:avLst>
              <a:gd name="adj" fmla="val 4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00821" y="1060064"/>
            <a:ext cx="534357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30" name="Shape 27"/>
          <p:cNvSpPr/>
          <p:nvPr/>
        </p:nvSpPr>
        <p:spPr>
          <a:xfrm>
            <a:off x="11534790" y="1060064"/>
            <a:ext cx="18288" cy="49815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200821" y="6032114"/>
            <a:ext cx="53435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200821" y="1060064"/>
            <a:ext cx="18288" cy="49815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362670" y="1279154"/>
            <a:ext cx="2489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加分素材（有時間就補）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00800" y="1593525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543721" y="171733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67510" y="1717335"/>
            <a:ext cx="251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同一個動作換距離再拍一次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00800" y="2136404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543721" y="226021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67510" y="2260214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再多兩顆「手在做事」的過程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00800" y="2679375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543721" y="280318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67510" y="2803185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運鏡：靠近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400800" y="3222254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543721" y="334606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67510" y="3346064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運鏡：離開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400800" y="3765225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543721" y="388903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67510" y="3889035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運鏡：平移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400800" y="4308104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6543721" y="443191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867510" y="4431914"/>
            <a:ext cx="291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換一個背景，同樣商品再拍一輪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00800" y="4851075"/>
            <a:ext cx="4943521" cy="476220"/>
          </a:xfrm>
          <a:prstGeom prst="roundRect">
            <a:avLst>
              <a:gd name="adj" fmla="val 2799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543721" y="4974885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867510" y="4974885"/>
            <a:ext cx="2715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空景（工作檯、窗邊）當開場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6400800" y="5413065"/>
            <a:ext cx="4943521" cy="466710"/>
          </a:xfrm>
          <a:prstGeom prst="roundRect">
            <a:avLst>
              <a:gd name="adj" fmla="val 36736"/>
            </a:avLst>
          </a:prstGeom>
          <a:solidFill>
            <a:srgbClr val="FBEEE6"/>
          </a:solidFill>
          <a:ln/>
        </p:spPr>
      </p:sp>
      <p:sp>
        <p:nvSpPr>
          <p:cNvPr id="56" name="Shape 53"/>
          <p:cNvSpPr/>
          <p:nvPr/>
        </p:nvSpPr>
        <p:spPr>
          <a:xfrm>
            <a:off x="6400800" y="5413065"/>
            <a:ext cx="47640" cy="466710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57" name="Image 1" descr="/home/user/gogoeveryday/photo-course-2/export-pptx/build/img/p8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760" y="5541630"/>
            <a:ext cx="209580" cy="209580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6905640" y="5527365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目標 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12–15 段</a:t>
            </a:r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。素材多一倍，剪的時候才有得挑。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-2/export-pptx/build/bg/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670" y="433426"/>
            <a:ext cx="5343571" cy="5229271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47670" y="433426"/>
            <a:ext cx="534357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5" name="Shape 2"/>
          <p:cNvSpPr/>
          <p:nvPr/>
        </p:nvSpPr>
        <p:spPr>
          <a:xfrm>
            <a:off x="5981730" y="433426"/>
            <a:ext cx="18288" cy="52292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7670" y="5653095"/>
            <a:ext cx="53435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7670" y="433426"/>
            <a:ext cx="18288" cy="52292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610" y="652424"/>
            <a:ext cx="1542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InShot 九步驟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7740" y="106683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6610" y="1052474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14471" y="1052474"/>
            <a:ext cx="21666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建立專案，比例選 9:16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752880" y="1052474"/>
            <a:ext cx="21101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一進去就先設，之後不能改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47740" y="1652595"/>
            <a:ext cx="4943521" cy="6953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47740" y="1652595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47740" y="176214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6610" y="1747876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14471" y="1747876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匯入今天拍的影片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752880" y="1747876"/>
            <a:ext cx="21101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一次全選，順序等一下再排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47740" y="2347905"/>
            <a:ext cx="494352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47740" y="2347905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47740" y="245745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6610" y="244318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14471" y="2443185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修剪：切掉頭尾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752880" y="2443185"/>
            <a:ext cx="2155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每段留 3–5 秒最精彩的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47740" y="2757465"/>
            <a:ext cx="4943521" cy="6953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47740" y="2757465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47740" y="286701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56610" y="285274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114471" y="2852745"/>
            <a:ext cx="110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分割與刪除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3752880" y="2852745"/>
            <a:ext cx="21101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中間不要的部分切開刪掉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47740" y="3452774"/>
            <a:ext cx="494352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47740" y="3452774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47740" y="356232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56610" y="354805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1114471" y="3548055"/>
            <a:ext cx="898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調整順序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752880" y="3548055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最好看的那顆放第一個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47740" y="3862426"/>
            <a:ext cx="494352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847740" y="3862426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847740" y="3971971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56610" y="395761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114471" y="3957615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加文字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3752880" y="3957615"/>
            <a:ext cx="193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 3 秒那一句最重要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847740" y="4271985"/>
            <a:ext cx="494352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847740" y="4271985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847740" y="438153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56610" y="4367174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114471" y="4367174"/>
            <a:ext cx="1504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加音樂並調音量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3752880" y="4367174"/>
            <a:ext cx="1638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InShot 內建的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47740" y="4681545"/>
            <a:ext cx="494352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47740" y="4681545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47740" y="479109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56610" y="4776826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1114471" y="4776826"/>
            <a:ext cx="1706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轉場：多數直接切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3752880" y="4776826"/>
            <a:ext cx="2110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不要每個接縫都加效果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847740" y="5091105"/>
            <a:ext cx="4943521" cy="409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7740" y="5091105"/>
            <a:ext cx="49435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47740" y="5200650"/>
            <a:ext cx="200071" cy="200071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56610" y="5186385"/>
            <a:ext cx="23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</a:t>
            </a:r>
            <a:endParaRPr lang="en-US" sz="1500" dirty="0"/>
          </a:p>
        </p:txBody>
      </p:sp>
      <p:sp>
        <p:nvSpPr>
          <p:cNvPr id="59" name="Text 56"/>
          <p:cNvSpPr txBox="1"/>
          <p:nvPr/>
        </p:nvSpPr>
        <p:spPr>
          <a:xfrm>
            <a:off x="1114471" y="5186385"/>
            <a:ext cx="1852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 1080p／30fps</a:t>
            </a:r>
            <a:endParaRPr lang="en-US" sz="1500" dirty="0"/>
          </a:p>
        </p:txBody>
      </p:sp>
      <p:sp>
        <p:nvSpPr>
          <p:cNvPr id="60" name="Text 57"/>
          <p:cNvSpPr txBox="1"/>
          <p:nvPr/>
        </p:nvSpPr>
        <p:spPr>
          <a:xfrm>
            <a:off x="3752880" y="5186385"/>
            <a:ext cx="13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存到手機相簿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200821" y="433426"/>
            <a:ext cx="5343571" cy="4105290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6200821" y="433426"/>
            <a:ext cx="534357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63" name="Shape 60"/>
          <p:cNvSpPr/>
          <p:nvPr/>
        </p:nvSpPr>
        <p:spPr>
          <a:xfrm>
            <a:off x="11534790" y="433426"/>
            <a:ext cx="18288" cy="410529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6200821" y="4529115"/>
            <a:ext cx="53435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6200821" y="433426"/>
            <a:ext cx="18288" cy="410529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362670" y="652424"/>
            <a:ext cx="2053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我的一個月發片計畫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6400800" y="966795"/>
            <a:ext cx="62865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400800" y="1395374"/>
            <a:ext cx="6286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6496080" y="1071585"/>
            <a:ext cx="333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週</a:t>
            </a:r>
            <a:endParaRPr lang="en-US" sz="1500" dirty="0"/>
          </a:p>
        </p:txBody>
      </p:sp>
      <p:sp>
        <p:nvSpPr>
          <p:cNvPr id="70" name="Shape 67"/>
          <p:cNvSpPr/>
          <p:nvPr/>
        </p:nvSpPr>
        <p:spPr>
          <a:xfrm>
            <a:off x="7029450" y="966795"/>
            <a:ext cx="143826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7029450" y="1395374"/>
            <a:ext cx="14382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7124730" y="1071585"/>
            <a:ext cx="74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A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8467710" y="966795"/>
            <a:ext cx="143826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8467710" y="1395374"/>
            <a:ext cx="14382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562990" y="1071585"/>
            <a:ext cx="74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B</a:t>
            </a:r>
            <a:endParaRPr lang="en-US" sz="1500" dirty="0"/>
          </a:p>
        </p:txBody>
      </p:sp>
      <p:sp>
        <p:nvSpPr>
          <p:cNvPr id="76" name="Shape 73"/>
          <p:cNvSpPr/>
          <p:nvPr/>
        </p:nvSpPr>
        <p:spPr>
          <a:xfrm>
            <a:off x="9905970" y="966795"/>
            <a:ext cx="1438260" cy="4381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9905970" y="1395374"/>
            <a:ext cx="14382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10001250" y="1071585"/>
            <a:ext cx="748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系列 C</a:t>
            </a:r>
            <a:endParaRPr lang="en-US" sz="1500" dirty="0"/>
          </a:p>
        </p:txBody>
      </p:sp>
      <p:sp>
        <p:nvSpPr>
          <p:cNvPr id="79" name="Shape 76"/>
          <p:cNvSpPr/>
          <p:nvPr/>
        </p:nvSpPr>
        <p:spPr>
          <a:xfrm>
            <a:off x="6400800" y="1404976"/>
            <a:ext cx="62865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6400800" y="2147926"/>
            <a:ext cx="6286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6558900" y="1519276"/>
            <a:ext cx="321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名稱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7029450" y="1404976"/>
            <a:ext cx="143826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3" name="Shape 80"/>
          <p:cNvSpPr/>
          <p:nvPr/>
        </p:nvSpPr>
        <p:spPr>
          <a:xfrm>
            <a:off x="7029450" y="2147926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7124730" y="1662105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</a:t>
            </a:r>
            <a:endParaRPr lang="en-US" sz="1500" dirty="0"/>
          </a:p>
        </p:txBody>
      </p:sp>
      <p:sp>
        <p:nvSpPr>
          <p:cNvPr id="85" name="Shape 82"/>
          <p:cNvSpPr/>
          <p:nvPr/>
        </p:nvSpPr>
        <p:spPr>
          <a:xfrm>
            <a:off x="8467710" y="1404976"/>
            <a:ext cx="143826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6" name="Shape 83"/>
          <p:cNvSpPr/>
          <p:nvPr/>
        </p:nvSpPr>
        <p:spPr>
          <a:xfrm>
            <a:off x="8467710" y="2147926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8562990" y="1662105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</a:t>
            </a:r>
            <a:endParaRPr lang="en-US" sz="1500" dirty="0"/>
          </a:p>
        </p:txBody>
      </p:sp>
      <p:sp>
        <p:nvSpPr>
          <p:cNvPr id="88" name="Shape 85"/>
          <p:cNvSpPr/>
          <p:nvPr/>
        </p:nvSpPr>
        <p:spPr>
          <a:xfrm>
            <a:off x="9905970" y="1404976"/>
            <a:ext cx="1438260" cy="752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9" name="Shape 86"/>
          <p:cNvSpPr/>
          <p:nvPr/>
        </p:nvSpPr>
        <p:spPr>
          <a:xfrm>
            <a:off x="9905970" y="2147926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001250" y="1662105"/>
            <a:ext cx="702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＿＿＿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6400800" y="2157435"/>
            <a:ext cx="6286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6400800" y="2614635"/>
            <a:ext cx="6286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6473220" y="2271735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1 週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7029450" y="215743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5" name="Shape 92"/>
          <p:cNvSpPr/>
          <p:nvPr/>
        </p:nvSpPr>
        <p:spPr>
          <a:xfrm>
            <a:off x="7029450" y="261463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8467710" y="215743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8467710" y="261463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98" name="Shape 95"/>
          <p:cNvSpPr/>
          <p:nvPr/>
        </p:nvSpPr>
        <p:spPr>
          <a:xfrm>
            <a:off x="9905970" y="215743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9905970" y="261463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00" name="Shape 97"/>
          <p:cNvSpPr/>
          <p:nvPr/>
        </p:nvSpPr>
        <p:spPr>
          <a:xfrm>
            <a:off x="6400800" y="2624145"/>
            <a:ext cx="6286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1" name="Shape 98"/>
          <p:cNvSpPr/>
          <p:nvPr/>
        </p:nvSpPr>
        <p:spPr>
          <a:xfrm>
            <a:off x="6400800" y="3081345"/>
            <a:ext cx="6286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6473220" y="2738445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2 週</a:t>
            </a:r>
            <a:endParaRPr lang="en-US" sz="1500" dirty="0"/>
          </a:p>
        </p:txBody>
      </p:sp>
      <p:sp>
        <p:nvSpPr>
          <p:cNvPr id="103" name="Shape 100"/>
          <p:cNvSpPr/>
          <p:nvPr/>
        </p:nvSpPr>
        <p:spPr>
          <a:xfrm>
            <a:off x="7029450" y="262414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4" name="Shape 101"/>
          <p:cNvSpPr/>
          <p:nvPr/>
        </p:nvSpPr>
        <p:spPr>
          <a:xfrm>
            <a:off x="7029450" y="308134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05" name="Shape 102"/>
          <p:cNvSpPr/>
          <p:nvPr/>
        </p:nvSpPr>
        <p:spPr>
          <a:xfrm>
            <a:off x="8467710" y="262414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6" name="Shape 103"/>
          <p:cNvSpPr/>
          <p:nvPr/>
        </p:nvSpPr>
        <p:spPr>
          <a:xfrm>
            <a:off x="8467710" y="308134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07" name="Shape 104"/>
          <p:cNvSpPr/>
          <p:nvPr/>
        </p:nvSpPr>
        <p:spPr>
          <a:xfrm>
            <a:off x="9905970" y="262414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8" name="Shape 105"/>
          <p:cNvSpPr/>
          <p:nvPr/>
        </p:nvSpPr>
        <p:spPr>
          <a:xfrm>
            <a:off x="9905970" y="308134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09" name="Shape 106"/>
          <p:cNvSpPr/>
          <p:nvPr/>
        </p:nvSpPr>
        <p:spPr>
          <a:xfrm>
            <a:off x="6400800" y="3090855"/>
            <a:ext cx="6286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0" name="Shape 107"/>
          <p:cNvSpPr/>
          <p:nvPr/>
        </p:nvSpPr>
        <p:spPr>
          <a:xfrm>
            <a:off x="6400800" y="3548055"/>
            <a:ext cx="6286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6473220" y="3205155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3 週</a:t>
            </a:r>
            <a:endParaRPr lang="en-US" sz="1500" dirty="0"/>
          </a:p>
        </p:txBody>
      </p:sp>
      <p:sp>
        <p:nvSpPr>
          <p:cNvPr id="112" name="Shape 109"/>
          <p:cNvSpPr/>
          <p:nvPr/>
        </p:nvSpPr>
        <p:spPr>
          <a:xfrm>
            <a:off x="7029450" y="309085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7029450" y="354805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14" name="Shape 111"/>
          <p:cNvSpPr/>
          <p:nvPr/>
        </p:nvSpPr>
        <p:spPr>
          <a:xfrm>
            <a:off x="8467710" y="309085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5" name="Shape 112"/>
          <p:cNvSpPr/>
          <p:nvPr/>
        </p:nvSpPr>
        <p:spPr>
          <a:xfrm>
            <a:off x="8467710" y="354805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9905970" y="3090855"/>
            <a:ext cx="143826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7" name="Shape 114"/>
          <p:cNvSpPr/>
          <p:nvPr/>
        </p:nvSpPr>
        <p:spPr>
          <a:xfrm>
            <a:off x="9905970" y="3548055"/>
            <a:ext cx="143826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6473220" y="3671865"/>
            <a:ext cx="72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4 週</a:t>
            </a:r>
            <a:endParaRPr lang="en-US" sz="1500" dirty="0"/>
          </a:p>
        </p:txBody>
      </p:sp>
      <p:sp>
        <p:nvSpPr>
          <p:cNvPr id="119" name="Text 116"/>
          <p:cNvSpPr txBox="1"/>
          <p:nvPr/>
        </p:nvSpPr>
        <p:spPr>
          <a:xfrm>
            <a:off x="6362670" y="4119555"/>
            <a:ext cx="4735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一週一支就夠。同一個系列的影片，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開頭要長得像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</p:txBody>
      </p:sp>
      <p:sp>
        <p:nvSpPr>
          <p:cNvPr id="120" name="Shape 117"/>
          <p:cNvSpPr/>
          <p:nvPr/>
        </p:nvSpPr>
        <p:spPr>
          <a:xfrm>
            <a:off x="6200821" y="4643415"/>
            <a:ext cx="5343571" cy="1552560"/>
          </a:xfrm>
          <a:prstGeom prst="roundRect">
            <a:avLst>
              <a:gd name="adj" fmla="val 147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6200821" y="4643415"/>
            <a:ext cx="5343571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1534790" y="4643415"/>
            <a:ext cx="18288" cy="15525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3" name="Shape 120"/>
          <p:cNvSpPr/>
          <p:nvPr/>
        </p:nvSpPr>
        <p:spPr>
          <a:xfrm>
            <a:off x="6200821" y="6186465"/>
            <a:ext cx="53435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4" name="Shape 121"/>
          <p:cNvSpPr/>
          <p:nvPr/>
        </p:nvSpPr>
        <p:spPr>
          <a:xfrm>
            <a:off x="6200821" y="4643415"/>
            <a:ext cx="18288" cy="155256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6362670" y="4843485"/>
            <a:ext cx="2053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發之前，八項對一次</a:t>
            </a:r>
            <a:endParaRPr lang="en-US" sz="1500" dirty="0"/>
          </a:p>
        </p:txBody>
      </p:sp>
      <p:sp>
        <p:nvSpPr>
          <p:cNvPr id="126" name="Text 123"/>
          <p:cNvSpPr txBox="1"/>
          <p:nvPr/>
        </p:nvSpPr>
        <p:spPr>
          <a:xfrm>
            <a:off x="6362670" y="5176876"/>
            <a:ext cx="5262646" cy="83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前 3 秒抓得住人 · 只講一件事 · 15–30 秒 · 直式 9:16 · 畫面穩 · 有過程或動作 · 字看得清楚 · 看完知道怎麼找到你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手機拍攝商品與影像編修基礎（2）｜商品短影音腳本、拍攝與剪輯</dc:title>
  <dc:subject>PptxGenJS Presentation</dc:subject>
  <dc:creator>PptxGenJS</dc:creator>
  <cp:lastModifiedBy>PptxGenJS</cp:lastModifiedBy>
  <cp:revision>1</cp:revision>
  <dcterms:created xsi:type="dcterms:W3CDTF">2026-09-09T14:25:52Z</dcterms:created>
  <dcterms:modified xsi:type="dcterms:W3CDTF">2026-09-09T14:25:52Z</dcterms:modified>
</cp:coreProperties>
</file>